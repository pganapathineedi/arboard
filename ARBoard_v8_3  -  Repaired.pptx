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1"/>
  </p:notesMasterIdLst>
  <p:sldIdLst>
    <p:sldId id="256" r:id="rId2"/>
    <p:sldId id="257" r:id="rId3"/>
    <p:sldId id="258" r:id="rId4"/>
    <p:sldId id="259" r:id="rId5"/>
    <p:sldId id="260" r:id="rId6"/>
    <p:sldId id="274" r:id="rId7"/>
    <p:sldId id="262" r:id="rId8"/>
    <p:sldId id="263" r:id="rId9"/>
    <p:sldId id="261" r:id="rId10"/>
    <p:sldId id="264" r:id="rId11"/>
    <p:sldId id="265" r:id="rId12"/>
    <p:sldId id="266" r:id="rId13"/>
    <p:sldId id="267" r:id="rId14"/>
    <p:sldId id="268" r:id="rId15"/>
    <p:sldId id="269" r:id="rId16"/>
    <p:sldId id="270" r:id="rId17"/>
    <p:sldId id="271" r:id="rId18"/>
    <p:sldId id="272" r:id="rId19"/>
    <p:sldId id="273" r:id="rId20"/>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10"/>
  </p:normalViewPr>
  <p:slideViewPr>
    <p:cSldViewPr snapToGrid="0" snapToObjects="1">
      <p:cViewPr varScale="1">
        <p:scale>
          <a:sx n="84" d="100"/>
          <a:sy n="84" d="100"/>
        </p:scale>
        <p:origin x="804"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89496317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E3C"/>
        </a:solidFill>
        <a:effectLst/>
      </p:bgPr>
    </p:bg>
    <p:spTree>
      <p:nvGrpSpPr>
        <p:cNvPr id="1" name=""/>
        <p:cNvGrpSpPr/>
        <p:nvPr/>
      </p:nvGrpSpPr>
      <p:grpSpPr>
        <a:xfrm>
          <a:off x="0" y="0"/>
          <a:ext cx="0" cy="0"/>
          <a:chOff x="0" y="0"/>
          <a:chExt cx="0" cy="0"/>
        </a:xfrm>
      </p:grpSpPr>
      <p:sp>
        <p:nvSpPr>
          <p:cNvPr id="2" name="Text 0"/>
          <p:cNvSpPr/>
          <p:nvPr/>
        </p:nvSpPr>
        <p:spPr>
          <a:xfrm>
            <a:off x="502920" y="1005840"/>
            <a:ext cx="8229600" cy="1005840"/>
          </a:xfrm>
          <a:prstGeom prst="rect">
            <a:avLst/>
          </a:prstGeom>
          <a:noFill/>
          <a:ln/>
        </p:spPr>
        <p:txBody>
          <a:bodyPr wrap="square" rtlCol="0" anchor="ctr"/>
          <a:lstStyle/>
          <a:p>
            <a:pPr marL="0" indent="0">
              <a:buNone/>
            </a:pPr>
            <a:r>
              <a:rPr lang="en-US" sz="5600" b="1" dirty="0">
                <a:solidFill>
                  <a:srgbClr val="FFFFFF"/>
                </a:solidFill>
                <a:latin typeface="Arial" pitchFamily="34" charset="0"/>
                <a:ea typeface="Arial" pitchFamily="34" charset="-122"/>
                <a:cs typeface="Arial" pitchFamily="34" charset="-120"/>
              </a:rPr>
              <a:t>ARBoard</a:t>
            </a:r>
            <a:endParaRPr lang="en-US" sz="5600" dirty="0"/>
          </a:p>
        </p:txBody>
      </p:sp>
      <p:sp>
        <p:nvSpPr>
          <p:cNvPr id="3" name="Text 1"/>
          <p:cNvSpPr/>
          <p:nvPr/>
        </p:nvSpPr>
        <p:spPr>
          <a:xfrm>
            <a:off x="502920" y="1965960"/>
            <a:ext cx="7315200" cy="457200"/>
          </a:xfrm>
          <a:prstGeom prst="rect">
            <a:avLst/>
          </a:prstGeom>
          <a:noFill/>
          <a:ln/>
        </p:spPr>
        <p:txBody>
          <a:bodyPr wrap="square" rtlCol="0" anchor="ctr"/>
          <a:lstStyle/>
          <a:p>
            <a:pPr marL="0" indent="0">
              <a:buNone/>
            </a:pPr>
            <a:r>
              <a:rPr lang="en-US" sz="1800" dirty="0">
                <a:solidFill>
                  <a:srgbClr val="A0B8D8"/>
                </a:solidFill>
                <a:latin typeface="Arial" pitchFamily="34" charset="0"/>
                <a:ea typeface="Arial" pitchFamily="34" charset="-122"/>
                <a:cs typeface="Arial" pitchFamily="34" charset="-120"/>
              </a:rPr>
              <a:t>AI-Powered Salesforce Architecture Review Board</a:t>
            </a:r>
            <a:endParaRPr lang="en-US" sz="1800" dirty="0"/>
          </a:p>
        </p:txBody>
      </p:sp>
      <p:sp>
        <p:nvSpPr>
          <p:cNvPr id="4" name="Shape 2"/>
          <p:cNvSpPr/>
          <p:nvPr/>
        </p:nvSpPr>
        <p:spPr>
          <a:xfrm>
            <a:off x="502920" y="1920240"/>
            <a:ext cx="3200400" cy="0"/>
          </a:xfrm>
          <a:prstGeom prst="line">
            <a:avLst/>
          </a:prstGeom>
          <a:noFill/>
          <a:ln w="25400">
            <a:solidFill>
              <a:srgbClr val="2E6DA4"/>
            </a:solidFill>
            <a:prstDash val="solid"/>
          </a:ln>
        </p:spPr>
        <p:txBody>
          <a:bodyPr/>
          <a:lstStyle/>
          <a:p>
            <a:endParaRPr lang="en-US"/>
          </a:p>
        </p:txBody>
      </p:sp>
      <p:sp>
        <p:nvSpPr>
          <p:cNvPr id="5" name="Text 3"/>
          <p:cNvSpPr/>
          <p:nvPr/>
        </p:nvSpPr>
        <p:spPr>
          <a:xfrm>
            <a:off x="502920" y="2743200"/>
            <a:ext cx="8138160" cy="320040"/>
          </a:xfrm>
          <a:prstGeom prst="rect">
            <a:avLst/>
          </a:prstGeom>
          <a:noFill/>
          <a:ln/>
        </p:spPr>
        <p:txBody>
          <a:bodyPr wrap="square" rtlCol="0" anchor="ctr"/>
          <a:lstStyle/>
          <a:p>
            <a:pPr marL="0" indent="0">
              <a:buNone/>
            </a:pPr>
            <a:r>
              <a:rPr lang="en-US" sz="1100" i="1" dirty="0">
                <a:solidFill>
                  <a:srgbClr val="6A84A8"/>
                </a:solidFill>
                <a:latin typeface="Arial" pitchFamily="34" charset="0"/>
                <a:ea typeface="Arial" pitchFamily="34" charset="-122"/>
                <a:cs typeface="Arial" pitchFamily="34" charset="-120"/>
              </a:rPr>
              <a:t>9 specialist agents · Multi-phase debate · ADR output · Jira integration · Cross-session memory</a:t>
            </a:r>
            <a:endParaRPr lang="en-US" sz="1100" dirty="0"/>
          </a:p>
        </p:txBody>
      </p:sp>
      <p:sp>
        <p:nvSpPr>
          <p:cNvPr id="6" name="Text 4"/>
          <p:cNvSpPr/>
          <p:nvPr/>
        </p:nvSpPr>
        <p:spPr>
          <a:xfrm>
            <a:off x="502920" y="4480560"/>
            <a:ext cx="8138160" cy="274320"/>
          </a:xfrm>
          <a:prstGeom prst="rect">
            <a:avLst/>
          </a:prstGeom>
          <a:noFill/>
          <a:ln/>
        </p:spPr>
        <p:txBody>
          <a:bodyPr wrap="square" rtlCol="0" anchor="ctr"/>
          <a:lstStyle/>
          <a:p>
            <a:pPr marL="0" indent="0">
              <a:buNone/>
            </a:pPr>
            <a:r>
              <a:rPr lang="en-US" sz="1000" dirty="0">
                <a:solidFill>
                  <a:srgbClr val="445566"/>
                </a:solidFill>
                <a:latin typeface="Arial" pitchFamily="34" charset="0"/>
                <a:ea typeface="Arial" pitchFamily="34" charset="-122"/>
                <a:cs typeface="Arial" pitchFamily="34" charset="-120"/>
              </a:rPr>
              <a:t>Built with Claude API · Next.js 14 · Supabase · Vercel</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8FA"/>
        </a:solidFill>
        <a:effectLst/>
      </p:bgPr>
    </p:bg>
    <p:spTree>
      <p:nvGrpSpPr>
        <p:cNvPr id="1" name=""/>
        <p:cNvGrpSpPr/>
        <p:nvPr/>
      </p:nvGrpSpPr>
      <p:grpSpPr>
        <a:xfrm>
          <a:off x="0" y="0"/>
          <a:ext cx="0" cy="0"/>
          <a:chOff x="0" y="0"/>
          <a:chExt cx="0" cy="0"/>
        </a:xfrm>
      </p:grpSpPr>
      <p:sp>
        <p:nvSpPr>
          <p:cNvPr id="2" name="Text 0"/>
          <p:cNvSpPr/>
          <p:nvPr/>
        </p:nvSpPr>
        <p:spPr>
          <a:xfrm>
            <a:off x="502920" y="347472"/>
            <a:ext cx="8138160" cy="201168"/>
          </a:xfrm>
          <a:prstGeom prst="rect">
            <a:avLst/>
          </a:prstGeom>
          <a:noFill/>
          <a:ln/>
        </p:spPr>
        <p:txBody>
          <a:bodyPr wrap="square" rtlCol="0" anchor="ctr"/>
          <a:lstStyle/>
          <a:p>
            <a:pPr marL="0" indent="0" algn="l">
              <a:buNone/>
            </a:pPr>
            <a:r>
              <a:rPr lang="en-US" sz="900" b="1" kern="0" spc="300" dirty="0">
                <a:solidFill>
                  <a:srgbClr val="2E6DA4"/>
                </a:solidFill>
                <a:latin typeface="Arial" pitchFamily="34" charset="0"/>
                <a:ea typeface="Arial" pitchFamily="34" charset="-122"/>
                <a:cs typeface="Arial" pitchFamily="34" charset="-120"/>
              </a:rPr>
              <a:t>THE PROBLEM</a:t>
            </a:r>
            <a:endParaRPr lang="en-US" sz="900" dirty="0"/>
          </a:p>
        </p:txBody>
      </p:sp>
      <p:sp>
        <p:nvSpPr>
          <p:cNvPr id="3" name="Text 1"/>
          <p:cNvSpPr/>
          <p:nvPr/>
        </p:nvSpPr>
        <p:spPr>
          <a:xfrm>
            <a:off x="502920" y="594360"/>
            <a:ext cx="8138160" cy="640080"/>
          </a:xfrm>
          <a:prstGeom prst="rect">
            <a:avLst/>
          </a:prstGeom>
          <a:noFill/>
          <a:ln/>
        </p:spPr>
        <p:txBody>
          <a:bodyPr wrap="square" rtlCol="0" anchor="ctr"/>
          <a:lstStyle/>
          <a:p>
            <a:pPr marL="0" indent="0" algn="l">
              <a:buNone/>
            </a:pPr>
            <a:r>
              <a:rPr lang="en-US" sz="2800" b="1" dirty="0">
                <a:solidFill>
                  <a:srgbClr val="1A1A1A"/>
                </a:solidFill>
                <a:latin typeface="Arial" pitchFamily="34" charset="0"/>
                <a:ea typeface="Arial" pitchFamily="34" charset="-122"/>
                <a:cs typeface="Arial" pitchFamily="34" charset="-120"/>
              </a:rPr>
              <a:t>Architecture reviews are slow, inconsistent, and often too late</a:t>
            </a:r>
            <a:endParaRPr lang="en-US" sz="2800" dirty="0"/>
          </a:p>
        </p:txBody>
      </p:sp>
      <p:sp>
        <p:nvSpPr>
          <p:cNvPr id="4" name="Shape 2"/>
          <p:cNvSpPr/>
          <p:nvPr/>
        </p:nvSpPr>
        <p:spPr>
          <a:xfrm>
            <a:off x="502920" y="1207008"/>
            <a:ext cx="8138160" cy="0"/>
          </a:xfrm>
          <a:prstGeom prst="line">
            <a:avLst/>
          </a:prstGeom>
          <a:noFill/>
          <a:ln w="10160">
            <a:solidFill>
              <a:srgbClr val="EBEBEB"/>
            </a:solidFill>
            <a:prstDash val="solid"/>
          </a:ln>
        </p:spPr>
        <p:txBody>
          <a:bodyPr/>
          <a:lstStyle/>
          <a:p>
            <a:endParaRPr lang="en-US"/>
          </a:p>
        </p:txBody>
      </p:sp>
      <p:sp>
        <p:nvSpPr>
          <p:cNvPr id="5" name="Shape 3"/>
          <p:cNvSpPr/>
          <p:nvPr/>
        </p:nvSpPr>
        <p:spPr>
          <a:xfrm>
            <a:off x="502920" y="1417320"/>
            <a:ext cx="2011680" cy="2560320"/>
          </a:xfrm>
          <a:prstGeom prst="roundRect">
            <a:avLst>
              <a:gd name="adj" fmla="val 3636"/>
            </a:avLst>
          </a:prstGeom>
          <a:solidFill>
            <a:srgbClr val="FFFFFF"/>
          </a:solidFill>
          <a:ln w="6350">
            <a:solidFill>
              <a:srgbClr val="D3D1C7"/>
            </a:solidFill>
            <a:prstDash val="solid"/>
          </a:ln>
          <a:effectLst>
            <a:outerShdw blurRad="76200" dist="25400" dir="2700000" algn="bl" rotWithShape="0">
              <a:srgbClr val="000000">
                <a:alpha val="7000"/>
              </a:srgbClr>
            </a:outerShdw>
          </a:effectLst>
        </p:spPr>
        <p:txBody>
          <a:bodyPr/>
          <a:lstStyle/>
          <a:p>
            <a:endParaRPr lang="en-US"/>
          </a:p>
        </p:txBody>
      </p:sp>
      <p:sp>
        <p:nvSpPr>
          <p:cNvPr id="6" name="Text 4"/>
          <p:cNvSpPr/>
          <p:nvPr/>
        </p:nvSpPr>
        <p:spPr>
          <a:xfrm>
            <a:off x="502920" y="1554480"/>
            <a:ext cx="2011680" cy="457200"/>
          </a:xfrm>
          <a:prstGeom prst="rect">
            <a:avLst/>
          </a:prstGeom>
          <a:noFill/>
          <a:ln/>
        </p:spPr>
        <p:txBody>
          <a:bodyPr wrap="square" rtlCol="0" anchor="ctr"/>
          <a:lstStyle/>
          <a:p>
            <a:pPr marL="0" indent="0" algn="ctr">
              <a:buNone/>
            </a:pPr>
            <a:r>
              <a:rPr lang="en-US" sz="2200" dirty="0">
                <a:solidFill>
                  <a:srgbClr val="000000"/>
                </a:solidFill>
                <a:latin typeface="Arial" pitchFamily="34" charset="0"/>
                <a:ea typeface="Arial" pitchFamily="34" charset="-122"/>
                <a:cs typeface="Arial" pitchFamily="34" charset="-120"/>
              </a:rPr>
              <a:t>⏱</a:t>
            </a:r>
            <a:endParaRPr lang="en-US" sz="2200" dirty="0"/>
          </a:p>
        </p:txBody>
      </p:sp>
      <p:sp>
        <p:nvSpPr>
          <p:cNvPr id="7" name="Text 5"/>
          <p:cNvSpPr/>
          <p:nvPr/>
        </p:nvSpPr>
        <p:spPr>
          <a:xfrm>
            <a:off x="502920" y="2011680"/>
            <a:ext cx="2011680" cy="320040"/>
          </a:xfrm>
          <a:prstGeom prst="rect">
            <a:avLst/>
          </a:prstGeom>
          <a:noFill/>
          <a:ln/>
        </p:spPr>
        <p:txBody>
          <a:bodyPr wrap="square" rtlCol="0" anchor="ctr"/>
          <a:lstStyle/>
          <a:p>
            <a:pPr marL="0" indent="0" algn="ctr">
              <a:buNone/>
            </a:pPr>
            <a:r>
              <a:rPr lang="en-US" sz="1300" b="1" dirty="0">
                <a:solidFill>
                  <a:srgbClr val="0F1E3C"/>
                </a:solidFill>
                <a:latin typeface="Arial" pitchFamily="34" charset="0"/>
                <a:ea typeface="Arial" pitchFamily="34" charset="-122"/>
                <a:cs typeface="Arial" pitchFamily="34" charset="-120"/>
              </a:rPr>
              <a:t>Too slow</a:t>
            </a:r>
            <a:endParaRPr lang="en-US" sz="1300" dirty="0"/>
          </a:p>
        </p:txBody>
      </p:sp>
      <p:sp>
        <p:nvSpPr>
          <p:cNvPr id="8" name="Text 6"/>
          <p:cNvSpPr/>
          <p:nvPr/>
        </p:nvSpPr>
        <p:spPr>
          <a:xfrm>
            <a:off x="502920" y="2331720"/>
            <a:ext cx="2011680" cy="822960"/>
          </a:xfrm>
          <a:prstGeom prst="rect">
            <a:avLst/>
          </a:prstGeom>
          <a:noFill/>
          <a:ln/>
        </p:spPr>
        <p:txBody>
          <a:bodyPr wrap="square" rtlCol="0" anchor="t"/>
          <a:lstStyle/>
          <a:p>
            <a:pPr marL="0" indent="0" algn="ctr">
              <a:buNone/>
            </a:pPr>
            <a:r>
              <a:rPr lang="en-US" sz="1050" dirty="0">
                <a:solidFill>
                  <a:srgbClr val="64635E"/>
                </a:solidFill>
                <a:latin typeface="Arial" pitchFamily="34" charset="0"/>
                <a:ea typeface="Arial" pitchFamily="34" charset="-122"/>
                <a:cs typeface="Arial" pitchFamily="34" charset="-120"/>
              </a:rPr>
              <a:t>ARB meetings take weeks to schedule. Design decisions cannot wait.</a:t>
            </a:r>
            <a:endParaRPr lang="en-US" sz="1050" dirty="0"/>
          </a:p>
        </p:txBody>
      </p:sp>
      <p:sp>
        <p:nvSpPr>
          <p:cNvPr id="9" name="Shape 7"/>
          <p:cNvSpPr/>
          <p:nvPr/>
        </p:nvSpPr>
        <p:spPr>
          <a:xfrm>
            <a:off x="2679192" y="1417320"/>
            <a:ext cx="2011680" cy="2560320"/>
          </a:xfrm>
          <a:prstGeom prst="roundRect">
            <a:avLst>
              <a:gd name="adj" fmla="val 3636"/>
            </a:avLst>
          </a:prstGeom>
          <a:solidFill>
            <a:srgbClr val="FFFFFF"/>
          </a:solidFill>
          <a:ln w="6350">
            <a:solidFill>
              <a:srgbClr val="D3D1C7"/>
            </a:solidFill>
            <a:prstDash val="solid"/>
          </a:ln>
          <a:effectLst>
            <a:outerShdw blurRad="76200" dist="25400" dir="2700000" algn="bl" rotWithShape="0">
              <a:srgbClr val="000000">
                <a:alpha val="7000"/>
              </a:srgbClr>
            </a:outerShdw>
          </a:effectLst>
        </p:spPr>
        <p:txBody>
          <a:bodyPr/>
          <a:lstStyle/>
          <a:p>
            <a:endParaRPr lang="en-US"/>
          </a:p>
        </p:txBody>
      </p:sp>
      <p:sp>
        <p:nvSpPr>
          <p:cNvPr id="10" name="Text 8"/>
          <p:cNvSpPr/>
          <p:nvPr/>
        </p:nvSpPr>
        <p:spPr>
          <a:xfrm>
            <a:off x="2679192" y="1554480"/>
            <a:ext cx="2011680" cy="457200"/>
          </a:xfrm>
          <a:prstGeom prst="rect">
            <a:avLst/>
          </a:prstGeom>
          <a:noFill/>
          <a:ln/>
        </p:spPr>
        <p:txBody>
          <a:bodyPr wrap="square" rtlCol="0" anchor="ctr"/>
          <a:lstStyle/>
          <a:p>
            <a:pPr marL="0" indent="0" algn="ctr">
              <a:buNone/>
            </a:pPr>
            <a:r>
              <a:rPr lang="en-US" sz="2200" dirty="0">
                <a:solidFill>
                  <a:srgbClr val="000000"/>
                </a:solidFill>
                <a:latin typeface="Arial" pitchFamily="34" charset="0"/>
                <a:ea typeface="Arial" pitchFamily="34" charset="-122"/>
                <a:cs typeface="Arial" pitchFamily="34" charset="-120"/>
              </a:rPr>
              <a:t>🎲</a:t>
            </a:r>
            <a:endParaRPr lang="en-US" sz="2200" dirty="0"/>
          </a:p>
        </p:txBody>
      </p:sp>
      <p:sp>
        <p:nvSpPr>
          <p:cNvPr id="11" name="Text 9"/>
          <p:cNvSpPr/>
          <p:nvPr/>
        </p:nvSpPr>
        <p:spPr>
          <a:xfrm>
            <a:off x="2679192" y="2011680"/>
            <a:ext cx="2011680" cy="320040"/>
          </a:xfrm>
          <a:prstGeom prst="rect">
            <a:avLst/>
          </a:prstGeom>
          <a:noFill/>
          <a:ln/>
        </p:spPr>
        <p:txBody>
          <a:bodyPr wrap="square" rtlCol="0" anchor="ctr"/>
          <a:lstStyle/>
          <a:p>
            <a:pPr marL="0" indent="0" algn="ctr">
              <a:buNone/>
            </a:pPr>
            <a:r>
              <a:rPr lang="en-US" sz="1300" b="1" dirty="0">
                <a:solidFill>
                  <a:srgbClr val="0F1E3C"/>
                </a:solidFill>
                <a:latin typeface="Arial" pitchFamily="34" charset="0"/>
                <a:ea typeface="Arial" pitchFamily="34" charset="-122"/>
                <a:cs typeface="Arial" pitchFamily="34" charset="-120"/>
              </a:rPr>
              <a:t>Inconsistent</a:t>
            </a:r>
            <a:endParaRPr lang="en-US" sz="1300" dirty="0"/>
          </a:p>
        </p:txBody>
      </p:sp>
      <p:sp>
        <p:nvSpPr>
          <p:cNvPr id="12" name="Text 10"/>
          <p:cNvSpPr/>
          <p:nvPr/>
        </p:nvSpPr>
        <p:spPr>
          <a:xfrm>
            <a:off x="2679192" y="2331720"/>
            <a:ext cx="2011680" cy="822960"/>
          </a:xfrm>
          <a:prstGeom prst="rect">
            <a:avLst/>
          </a:prstGeom>
          <a:noFill/>
          <a:ln/>
        </p:spPr>
        <p:txBody>
          <a:bodyPr wrap="square" rtlCol="0" anchor="t"/>
          <a:lstStyle/>
          <a:p>
            <a:pPr marL="0" indent="0" algn="ctr">
              <a:buNone/>
            </a:pPr>
            <a:r>
              <a:rPr lang="en-US" sz="1050" dirty="0">
                <a:solidFill>
                  <a:srgbClr val="64635E"/>
                </a:solidFill>
                <a:latin typeface="Arial" pitchFamily="34" charset="0"/>
                <a:ea typeface="Arial" pitchFamily="34" charset="-122"/>
                <a:cs typeface="Arial" pitchFamily="34" charset="-120"/>
              </a:rPr>
              <a:t>Quality depends on who is in the room. Same pattern, different outcome.</a:t>
            </a:r>
            <a:endParaRPr lang="en-US" sz="1050" dirty="0"/>
          </a:p>
        </p:txBody>
      </p:sp>
      <p:sp>
        <p:nvSpPr>
          <p:cNvPr id="13" name="Shape 11"/>
          <p:cNvSpPr/>
          <p:nvPr/>
        </p:nvSpPr>
        <p:spPr>
          <a:xfrm>
            <a:off x="4855464" y="1417320"/>
            <a:ext cx="2011680" cy="2560320"/>
          </a:xfrm>
          <a:prstGeom prst="roundRect">
            <a:avLst>
              <a:gd name="adj" fmla="val 3636"/>
            </a:avLst>
          </a:prstGeom>
          <a:solidFill>
            <a:srgbClr val="FFFFFF"/>
          </a:solidFill>
          <a:ln w="6350">
            <a:solidFill>
              <a:srgbClr val="D3D1C7"/>
            </a:solidFill>
            <a:prstDash val="solid"/>
          </a:ln>
          <a:effectLst>
            <a:outerShdw blurRad="76200" dist="25400" dir="2700000" algn="bl" rotWithShape="0">
              <a:srgbClr val="000000">
                <a:alpha val="7000"/>
              </a:srgbClr>
            </a:outerShdw>
          </a:effectLst>
        </p:spPr>
        <p:txBody>
          <a:bodyPr/>
          <a:lstStyle/>
          <a:p>
            <a:endParaRPr lang="en-US"/>
          </a:p>
        </p:txBody>
      </p:sp>
      <p:sp>
        <p:nvSpPr>
          <p:cNvPr id="14" name="Text 12"/>
          <p:cNvSpPr/>
          <p:nvPr/>
        </p:nvSpPr>
        <p:spPr>
          <a:xfrm>
            <a:off x="4855464" y="1554480"/>
            <a:ext cx="2011680" cy="457200"/>
          </a:xfrm>
          <a:prstGeom prst="rect">
            <a:avLst/>
          </a:prstGeom>
          <a:noFill/>
          <a:ln/>
        </p:spPr>
        <p:txBody>
          <a:bodyPr wrap="square" rtlCol="0" anchor="ctr"/>
          <a:lstStyle/>
          <a:p>
            <a:pPr marL="0" indent="0" algn="ctr">
              <a:buNone/>
            </a:pPr>
            <a:r>
              <a:rPr lang="en-US" sz="2200" dirty="0">
                <a:solidFill>
                  <a:srgbClr val="000000"/>
                </a:solidFill>
                <a:latin typeface="Arial" pitchFamily="34" charset="0"/>
                <a:ea typeface="Arial" pitchFamily="34" charset="-122"/>
                <a:cs typeface="Arial" pitchFamily="34" charset="-120"/>
              </a:rPr>
              <a:t>🔁</a:t>
            </a:r>
            <a:endParaRPr lang="en-US" sz="2200" dirty="0"/>
          </a:p>
        </p:txBody>
      </p:sp>
      <p:sp>
        <p:nvSpPr>
          <p:cNvPr id="15" name="Text 13"/>
          <p:cNvSpPr/>
          <p:nvPr/>
        </p:nvSpPr>
        <p:spPr>
          <a:xfrm>
            <a:off x="4855464" y="2011680"/>
            <a:ext cx="2011680" cy="320040"/>
          </a:xfrm>
          <a:prstGeom prst="rect">
            <a:avLst/>
          </a:prstGeom>
          <a:noFill/>
          <a:ln/>
        </p:spPr>
        <p:txBody>
          <a:bodyPr wrap="square" rtlCol="0" anchor="ctr"/>
          <a:lstStyle/>
          <a:p>
            <a:pPr marL="0" indent="0" algn="ctr">
              <a:buNone/>
            </a:pPr>
            <a:r>
              <a:rPr lang="en-US" sz="1300" b="1" dirty="0">
                <a:solidFill>
                  <a:srgbClr val="0F1E3C"/>
                </a:solidFill>
                <a:latin typeface="Arial" pitchFamily="34" charset="0"/>
                <a:ea typeface="Arial" pitchFamily="34" charset="-122"/>
                <a:cs typeface="Arial" pitchFamily="34" charset="-120"/>
              </a:rPr>
              <a:t>Too late</a:t>
            </a:r>
            <a:endParaRPr lang="en-US" sz="1300" dirty="0"/>
          </a:p>
        </p:txBody>
      </p:sp>
      <p:sp>
        <p:nvSpPr>
          <p:cNvPr id="16" name="Text 14"/>
          <p:cNvSpPr/>
          <p:nvPr/>
        </p:nvSpPr>
        <p:spPr>
          <a:xfrm>
            <a:off x="4855464" y="2331720"/>
            <a:ext cx="2011680" cy="822960"/>
          </a:xfrm>
          <a:prstGeom prst="rect">
            <a:avLst/>
          </a:prstGeom>
          <a:noFill/>
          <a:ln/>
        </p:spPr>
        <p:txBody>
          <a:bodyPr wrap="square" rtlCol="0" anchor="t"/>
          <a:lstStyle/>
          <a:p>
            <a:pPr marL="0" indent="0" algn="ctr">
              <a:buNone/>
            </a:pPr>
            <a:r>
              <a:rPr lang="en-US" sz="1050" dirty="0">
                <a:solidFill>
                  <a:srgbClr val="64635E"/>
                </a:solidFill>
                <a:latin typeface="Arial" pitchFamily="34" charset="0"/>
                <a:ea typeface="Arial" pitchFamily="34" charset="-122"/>
                <a:cs typeface="Arial" pitchFamily="34" charset="-120"/>
              </a:rPr>
              <a:t>Review happens after build starts. Rework is expensive.</a:t>
            </a:r>
            <a:endParaRPr lang="en-US" sz="1050" dirty="0"/>
          </a:p>
        </p:txBody>
      </p:sp>
      <p:sp>
        <p:nvSpPr>
          <p:cNvPr id="17" name="Shape 15"/>
          <p:cNvSpPr/>
          <p:nvPr/>
        </p:nvSpPr>
        <p:spPr>
          <a:xfrm>
            <a:off x="7031736" y="1417320"/>
            <a:ext cx="2011680" cy="2560320"/>
          </a:xfrm>
          <a:prstGeom prst="roundRect">
            <a:avLst>
              <a:gd name="adj" fmla="val 3636"/>
            </a:avLst>
          </a:prstGeom>
          <a:solidFill>
            <a:srgbClr val="FFFFFF"/>
          </a:solidFill>
          <a:ln w="6350">
            <a:solidFill>
              <a:srgbClr val="D3D1C7"/>
            </a:solidFill>
            <a:prstDash val="solid"/>
          </a:ln>
          <a:effectLst>
            <a:outerShdw blurRad="76200" dist="25400" dir="2700000" algn="bl" rotWithShape="0">
              <a:srgbClr val="000000">
                <a:alpha val="7000"/>
              </a:srgbClr>
            </a:outerShdw>
          </a:effectLst>
        </p:spPr>
        <p:txBody>
          <a:bodyPr/>
          <a:lstStyle/>
          <a:p>
            <a:endParaRPr lang="en-US"/>
          </a:p>
        </p:txBody>
      </p:sp>
      <p:sp>
        <p:nvSpPr>
          <p:cNvPr id="18" name="Text 16"/>
          <p:cNvSpPr/>
          <p:nvPr/>
        </p:nvSpPr>
        <p:spPr>
          <a:xfrm>
            <a:off x="7031736" y="1554480"/>
            <a:ext cx="2011680" cy="457200"/>
          </a:xfrm>
          <a:prstGeom prst="rect">
            <a:avLst/>
          </a:prstGeom>
          <a:noFill/>
          <a:ln/>
        </p:spPr>
        <p:txBody>
          <a:bodyPr wrap="square" rtlCol="0" anchor="ctr"/>
          <a:lstStyle/>
          <a:p>
            <a:pPr marL="0" indent="0" algn="ctr">
              <a:buNone/>
            </a:pPr>
            <a:r>
              <a:rPr lang="en-US" sz="2200" dirty="0">
                <a:solidFill>
                  <a:srgbClr val="000000"/>
                </a:solidFill>
                <a:latin typeface="Arial" pitchFamily="34" charset="0"/>
                <a:ea typeface="Arial" pitchFamily="34" charset="-122"/>
                <a:cs typeface="Arial" pitchFamily="34" charset="-120"/>
              </a:rPr>
              <a:t>📄</a:t>
            </a:r>
            <a:endParaRPr lang="en-US" sz="2200" dirty="0"/>
          </a:p>
        </p:txBody>
      </p:sp>
      <p:sp>
        <p:nvSpPr>
          <p:cNvPr id="19" name="Text 17"/>
          <p:cNvSpPr/>
          <p:nvPr/>
        </p:nvSpPr>
        <p:spPr>
          <a:xfrm>
            <a:off x="7031736" y="2011680"/>
            <a:ext cx="2011680" cy="320040"/>
          </a:xfrm>
          <a:prstGeom prst="rect">
            <a:avLst/>
          </a:prstGeom>
          <a:noFill/>
          <a:ln/>
        </p:spPr>
        <p:txBody>
          <a:bodyPr wrap="square" rtlCol="0" anchor="ctr"/>
          <a:lstStyle/>
          <a:p>
            <a:pPr marL="0" indent="0" algn="ctr">
              <a:buNone/>
            </a:pPr>
            <a:r>
              <a:rPr lang="en-US" sz="1300" b="1" dirty="0">
                <a:solidFill>
                  <a:srgbClr val="0F1E3C"/>
                </a:solidFill>
                <a:latin typeface="Arial" pitchFamily="34" charset="0"/>
                <a:ea typeface="Arial" pitchFamily="34" charset="-122"/>
                <a:cs typeface="Arial" pitchFamily="34" charset="-120"/>
              </a:rPr>
              <a:t>No memory</a:t>
            </a:r>
            <a:endParaRPr lang="en-US" sz="1300" dirty="0"/>
          </a:p>
        </p:txBody>
      </p:sp>
      <p:sp>
        <p:nvSpPr>
          <p:cNvPr id="20" name="Text 18"/>
          <p:cNvSpPr/>
          <p:nvPr/>
        </p:nvSpPr>
        <p:spPr>
          <a:xfrm>
            <a:off x="7031736" y="2331720"/>
            <a:ext cx="2011680" cy="822960"/>
          </a:xfrm>
          <a:prstGeom prst="rect">
            <a:avLst/>
          </a:prstGeom>
          <a:noFill/>
          <a:ln/>
        </p:spPr>
        <p:txBody>
          <a:bodyPr wrap="square" rtlCol="0" anchor="t"/>
          <a:lstStyle/>
          <a:p>
            <a:pPr marL="0" indent="0" algn="ctr">
              <a:buNone/>
            </a:pPr>
            <a:r>
              <a:rPr lang="en-US" sz="1050" dirty="0">
                <a:solidFill>
                  <a:srgbClr val="64635E"/>
                </a:solidFill>
                <a:latin typeface="Arial" pitchFamily="34" charset="0"/>
                <a:ea typeface="Arial" pitchFamily="34" charset="-122"/>
                <a:cs typeface="Arial" pitchFamily="34" charset="-120"/>
              </a:rPr>
              <a:t>Each review starts from scratch. Past decisions are not enforced.</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8FA"/>
        </a:solidFill>
        <a:effectLst/>
      </p:bgPr>
    </p:bg>
    <p:spTree>
      <p:nvGrpSpPr>
        <p:cNvPr id="1" name=""/>
        <p:cNvGrpSpPr/>
        <p:nvPr/>
      </p:nvGrpSpPr>
      <p:grpSpPr>
        <a:xfrm>
          <a:off x="0" y="0"/>
          <a:ext cx="0" cy="0"/>
          <a:chOff x="0" y="0"/>
          <a:chExt cx="0" cy="0"/>
        </a:xfrm>
      </p:grpSpPr>
      <p:sp>
        <p:nvSpPr>
          <p:cNvPr id="2" name="Text 0"/>
          <p:cNvSpPr/>
          <p:nvPr/>
        </p:nvSpPr>
        <p:spPr>
          <a:xfrm>
            <a:off x="502920" y="347472"/>
            <a:ext cx="8138160" cy="201168"/>
          </a:xfrm>
          <a:prstGeom prst="rect">
            <a:avLst/>
          </a:prstGeom>
          <a:noFill/>
          <a:ln/>
        </p:spPr>
        <p:txBody>
          <a:bodyPr wrap="square" rtlCol="0" anchor="ctr"/>
          <a:lstStyle/>
          <a:p>
            <a:pPr marL="0" indent="0" algn="l">
              <a:buNone/>
            </a:pPr>
            <a:r>
              <a:rPr lang="en-US" sz="900" b="1" kern="0" spc="300" dirty="0">
                <a:solidFill>
                  <a:srgbClr val="2E6DA4"/>
                </a:solidFill>
                <a:latin typeface="Arial" pitchFamily="34" charset="0"/>
                <a:ea typeface="Arial" pitchFamily="34" charset="-122"/>
                <a:cs typeface="Arial" pitchFamily="34" charset="-120"/>
              </a:rPr>
              <a:t>THE SOLUTION</a:t>
            </a:r>
            <a:endParaRPr lang="en-US" sz="900" dirty="0"/>
          </a:p>
        </p:txBody>
      </p:sp>
      <p:sp>
        <p:nvSpPr>
          <p:cNvPr id="3" name="Text 1"/>
          <p:cNvSpPr/>
          <p:nvPr/>
        </p:nvSpPr>
        <p:spPr>
          <a:xfrm>
            <a:off x="502920" y="594360"/>
            <a:ext cx="8138160" cy="640080"/>
          </a:xfrm>
          <a:prstGeom prst="rect">
            <a:avLst/>
          </a:prstGeom>
          <a:noFill/>
          <a:ln/>
        </p:spPr>
        <p:txBody>
          <a:bodyPr wrap="square" rtlCol="0" anchor="ctr"/>
          <a:lstStyle/>
          <a:p>
            <a:pPr marL="0" indent="0" algn="l">
              <a:buNone/>
            </a:pPr>
            <a:r>
              <a:rPr lang="en-US" sz="2800" b="1" dirty="0">
                <a:solidFill>
                  <a:srgbClr val="1A1A1A"/>
                </a:solidFill>
                <a:latin typeface="Arial" pitchFamily="34" charset="0"/>
                <a:ea typeface="Arial" pitchFamily="34" charset="-122"/>
                <a:cs typeface="Arial" pitchFamily="34" charset="-120"/>
              </a:rPr>
              <a:t>ARBoard runs a full architecture review in minutes, not weeks</a:t>
            </a:r>
            <a:endParaRPr lang="en-US" sz="2800" dirty="0"/>
          </a:p>
        </p:txBody>
      </p:sp>
      <p:sp>
        <p:nvSpPr>
          <p:cNvPr id="4" name="Shape 2"/>
          <p:cNvSpPr/>
          <p:nvPr/>
        </p:nvSpPr>
        <p:spPr>
          <a:xfrm>
            <a:off x="502920" y="1207008"/>
            <a:ext cx="8138160" cy="0"/>
          </a:xfrm>
          <a:prstGeom prst="line">
            <a:avLst/>
          </a:prstGeom>
          <a:noFill/>
          <a:ln w="10160">
            <a:solidFill>
              <a:srgbClr val="EBEBEB"/>
            </a:solidFill>
            <a:prstDash val="solid"/>
          </a:ln>
        </p:spPr>
        <p:txBody>
          <a:bodyPr/>
          <a:lstStyle/>
          <a:p>
            <a:endParaRPr lang="en-US"/>
          </a:p>
        </p:txBody>
      </p:sp>
      <p:sp>
        <p:nvSpPr>
          <p:cNvPr id="5" name="Shape 3"/>
          <p:cNvSpPr/>
          <p:nvPr/>
        </p:nvSpPr>
        <p:spPr>
          <a:xfrm>
            <a:off x="365760" y="1371600"/>
            <a:ext cx="1965960" cy="2651760"/>
          </a:xfrm>
          <a:prstGeom prst="roundRect">
            <a:avLst>
              <a:gd name="adj" fmla="val 3721"/>
            </a:avLst>
          </a:prstGeom>
          <a:solidFill>
            <a:srgbClr val="FFFFFF"/>
          </a:solidFill>
          <a:ln w="6350">
            <a:solidFill>
              <a:srgbClr val="D3D1C7"/>
            </a:solidFill>
            <a:prstDash val="solid"/>
          </a:ln>
          <a:effectLst>
            <a:outerShdw blurRad="76200" dist="25400" dir="2700000" algn="bl" rotWithShape="0">
              <a:srgbClr val="000000">
                <a:alpha val="7000"/>
              </a:srgbClr>
            </a:outerShdw>
          </a:effectLst>
        </p:spPr>
        <p:txBody>
          <a:bodyPr/>
          <a:lstStyle/>
          <a:p>
            <a:endParaRPr lang="en-US"/>
          </a:p>
        </p:txBody>
      </p:sp>
      <p:sp>
        <p:nvSpPr>
          <p:cNvPr id="6" name="Shape 4"/>
          <p:cNvSpPr/>
          <p:nvPr/>
        </p:nvSpPr>
        <p:spPr>
          <a:xfrm>
            <a:off x="1097280" y="1481328"/>
            <a:ext cx="502920" cy="502920"/>
          </a:xfrm>
          <a:prstGeom prst="ellipse">
            <a:avLst/>
          </a:prstGeom>
          <a:solidFill>
            <a:srgbClr val="1B4F9B"/>
          </a:solidFill>
          <a:ln w="12700">
            <a:solidFill>
              <a:srgbClr val="1B4F9B"/>
            </a:solidFill>
            <a:prstDash val="solid"/>
          </a:ln>
        </p:spPr>
        <p:txBody>
          <a:bodyPr/>
          <a:lstStyle/>
          <a:p>
            <a:endParaRPr lang="en-US"/>
          </a:p>
        </p:txBody>
      </p:sp>
      <p:sp>
        <p:nvSpPr>
          <p:cNvPr id="7" name="Text 5"/>
          <p:cNvSpPr/>
          <p:nvPr/>
        </p:nvSpPr>
        <p:spPr>
          <a:xfrm>
            <a:off x="1097280" y="1481328"/>
            <a:ext cx="502920" cy="502920"/>
          </a:xfrm>
          <a:prstGeom prst="rect">
            <a:avLst/>
          </a:prstGeom>
          <a:noFill/>
          <a:ln/>
        </p:spPr>
        <p:txBody>
          <a:bodyPr wrap="square" lIns="0" tIns="0" rIns="0" bIns="0"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1</a:t>
            </a:r>
            <a:endParaRPr lang="en-US" sz="1400" dirty="0"/>
          </a:p>
        </p:txBody>
      </p:sp>
      <p:sp>
        <p:nvSpPr>
          <p:cNvPr id="8" name="Text 6"/>
          <p:cNvSpPr/>
          <p:nvPr/>
        </p:nvSpPr>
        <p:spPr>
          <a:xfrm>
            <a:off x="365760" y="2057400"/>
            <a:ext cx="1965960" cy="320040"/>
          </a:xfrm>
          <a:prstGeom prst="rect">
            <a:avLst/>
          </a:prstGeom>
          <a:noFill/>
          <a:ln/>
        </p:spPr>
        <p:txBody>
          <a:bodyPr wrap="square" rtlCol="0" anchor="ctr"/>
          <a:lstStyle/>
          <a:p>
            <a:pPr marL="0" indent="0" algn="ctr">
              <a:buNone/>
            </a:pPr>
            <a:r>
              <a:rPr lang="en-US" sz="1300" b="1" dirty="0">
                <a:solidFill>
                  <a:srgbClr val="0F1E3C"/>
                </a:solidFill>
                <a:latin typeface="Arial" pitchFamily="34" charset="0"/>
                <a:ea typeface="Arial" pitchFamily="34" charset="-122"/>
                <a:cs typeface="Arial" pitchFamily="34" charset="-120"/>
              </a:rPr>
              <a:t>Input</a:t>
            </a:r>
            <a:endParaRPr lang="en-US" sz="1300" dirty="0"/>
          </a:p>
        </p:txBody>
      </p:sp>
      <p:sp>
        <p:nvSpPr>
          <p:cNvPr id="9" name="Text 7"/>
          <p:cNvSpPr/>
          <p:nvPr/>
        </p:nvSpPr>
        <p:spPr>
          <a:xfrm>
            <a:off x="365760" y="2377440"/>
            <a:ext cx="1965960" cy="777240"/>
          </a:xfrm>
          <a:prstGeom prst="rect">
            <a:avLst/>
          </a:prstGeom>
          <a:noFill/>
          <a:ln/>
        </p:spPr>
        <p:txBody>
          <a:bodyPr wrap="square" rtlCol="0" anchor="t"/>
          <a:lstStyle/>
          <a:p>
            <a:pPr marL="0" indent="0" algn="ctr">
              <a:buNone/>
            </a:pPr>
            <a:r>
              <a:rPr lang="en-US" sz="1000" dirty="0">
                <a:solidFill>
                  <a:srgbClr val="64635E"/>
                </a:solidFill>
                <a:latin typeface="Arial" pitchFamily="34" charset="0"/>
                <a:ea typeface="Arial" pitchFamily="34" charset="-122"/>
                <a:cs typeface="Arial" pitchFamily="34" charset="-120"/>
              </a:rPr>
              <a:t>Requirement text or</a:t>
            </a:r>
            <a:endParaRPr lang="en-US" sz="1000" dirty="0"/>
          </a:p>
          <a:p>
            <a:pPr marL="0" indent="0" algn="ctr">
              <a:buNone/>
            </a:pPr>
            <a:r>
              <a:rPr lang="en-US" sz="1000" dirty="0">
                <a:solidFill>
                  <a:srgbClr val="64635E"/>
                </a:solidFill>
                <a:latin typeface="Arial" pitchFamily="34" charset="0"/>
                <a:ea typeface="Arial" pitchFamily="34" charset="-122"/>
                <a:cs typeface="Arial" pitchFamily="34" charset="-120"/>
              </a:rPr>
              <a:t>Solution Design doc</a:t>
            </a:r>
            <a:endParaRPr lang="en-US" sz="1000" dirty="0"/>
          </a:p>
          <a:p>
            <a:pPr marL="0" indent="0" algn="ctr">
              <a:buNone/>
            </a:pPr>
            <a:r>
              <a:rPr lang="en-US" sz="1000" dirty="0">
                <a:solidFill>
                  <a:srgbClr val="64635E"/>
                </a:solidFill>
                <a:latin typeface="Arial" pitchFamily="34" charset="0"/>
                <a:ea typeface="Arial" pitchFamily="34" charset="-122"/>
                <a:cs typeface="Arial" pitchFamily="34" charset="-120"/>
              </a:rPr>
              <a:t>(PDF / Word upload)</a:t>
            </a:r>
            <a:endParaRPr lang="en-US" sz="1000" dirty="0"/>
          </a:p>
        </p:txBody>
      </p:sp>
      <p:sp>
        <p:nvSpPr>
          <p:cNvPr id="10" name="Shape 8"/>
          <p:cNvSpPr/>
          <p:nvPr/>
        </p:nvSpPr>
        <p:spPr>
          <a:xfrm>
            <a:off x="2331720" y="1810512"/>
            <a:ext cx="182880" cy="0"/>
          </a:xfrm>
          <a:prstGeom prst="line">
            <a:avLst/>
          </a:prstGeom>
          <a:noFill/>
          <a:ln w="19050">
            <a:solidFill>
              <a:srgbClr val="2E6DA4"/>
            </a:solidFill>
            <a:prstDash val="solid"/>
          </a:ln>
        </p:spPr>
        <p:txBody>
          <a:bodyPr/>
          <a:lstStyle/>
          <a:p>
            <a:endParaRPr lang="en-US"/>
          </a:p>
        </p:txBody>
      </p:sp>
      <p:sp>
        <p:nvSpPr>
          <p:cNvPr id="11" name="Text 9"/>
          <p:cNvSpPr/>
          <p:nvPr/>
        </p:nvSpPr>
        <p:spPr>
          <a:xfrm>
            <a:off x="2359152" y="1700784"/>
            <a:ext cx="182880" cy="228600"/>
          </a:xfrm>
          <a:prstGeom prst="rect">
            <a:avLst/>
          </a:prstGeom>
          <a:noFill/>
          <a:ln/>
        </p:spPr>
        <p:txBody>
          <a:bodyPr wrap="square" rtlCol="0" anchor="ctr"/>
          <a:lstStyle/>
          <a:p>
            <a:pPr marL="0" indent="0" algn="ctr">
              <a:buNone/>
            </a:pPr>
            <a:r>
              <a:rPr lang="en-US" sz="1400" b="1" dirty="0">
                <a:solidFill>
                  <a:srgbClr val="2E6DA4"/>
                </a:solidFill>
                <a:latin typeface="Arial" pitchFamily="34" charset="0"/>
                <a:ea typeface="Arial" pitchFamily="34" charset="-122"/>
                <a:cs typeface="Arial" pitchFamily="34" charset="-120"/>
              </a:rPr>
              <a:t>›</a:t>
            </a:r>
            <a:endParaRPr lang="en-US" sz="1400" dirty="0"/>
          </a:p>
        </p:txBody>
      </p:sp>
      <p:sp>
        <p:nvSpPr>
          <p:cNvPr id="12" name="Shape 10"/>
          <p:cNvSpPr/>
          <p:nvPr/>
        </p:nvSpPr>
        <p:spPr>
          <a:xfrm>
            <a:off x="2514600" y="1371600"/>
            <a:ext cx="1965960" cy="2651760"/>
          </a:xfrm>
          <a:prstGeom prst="roundRect">
            <a:avLst>
              <a:gd name="adj" fmla="val 3721"/>
            </a:avLst>
          </a:prstGeom>
          <a:solidFill>
            <a:srgbClr val="EBF2FA"/>
          </a:solidFill>
          <a:ln w="6350">
            <a:solidFill>
              <a:srgbClr val="D3D1C7"/>
            </a:solidFill>
            <a:prstDash val="solid"/>
          </a:ln>
          <a:effectLst>
            <a:outerShdw blurRad="76200" dist="25400" dir="2700000" algn="bl" rotWithShape="0">
              <a:srgbClr val="000000">
                <a:alpha val="7000"/>
              </a:srgbClr>
            </a:outerShdw>
          </a:effectLst>
        </p:spPr>
        <p:txBody>
          <a:bodyPr/>
          <a:lstStyle/>
          <a:p>
            <a:endParaRPr lang="en-US"/>
          </a:p>
        </p:txBody>
      </p:sp>
      <p:sp>
        <p:nvSpPr>
          <p:cNvPr id="13" name="Shape 11"/>
          <p:cNvSpPr/>
          <p:nvPr/>
        </p:nvSpPr>
        <p:spPr>
          <a:xfrm>
            <a:off x="3246120" y="1481328"/>
            <a:ext cx="502920" cy="502920"/>
          </a:xfrm>
          <a:prstGeom prst="ellipse">
            <a:avLst/>
          </a:prstGeom>
          <a:solidFill>
            <a:srgbClr val="1B4F9B"/>
          </a:solidFill>
          <a:ln w="12700">
            <a:solidFill>
              <a:srgbClr val="1B4F9B"/>
            </a:solidFill>
            <a:prstDash val="solid"/>
          </a:ln>
        </p:spPr>
        <p:txBody>
          <a:bodyPr/>
          <a:lstStyle/>
          <a:p>
            <a:endParaRPr lang="en-US"/>
          </a:p>
        </p:txBody>
      </p:sp>
      <p:sp>
        <p:nvSpPr>
          <p:cNvPr id="14" name="Text 12"/>
          <p:cNvSpPr/>
          <p:nvPr/>
        </p:nvSpPr>
        <p:spPr>
          <a:xfrm>
            <a:off x="3246120" y="1481328"/>
            <a:ext cx="502920" cy="502920"/>
          </a:xfrm>
          <a:prstGeom prst="rect">
            <a:avLst/>
          </a:prstGeom>
          <a:noFill/>
          <a:ln/>
        </p:spPr>
        <p:txBody>
          <a:bodyPr wrap="square" lIns="0" tIns="0" rIns="0" bIns="0"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2</a:t>
            </a:r>
            <a:endParaRPr lang="en-US" sz="1400" dirty="0"/>
          </a:p>
        </p:txBody>
      </p:sp>
      <p:sp>
        <p:nvSpPr>
          <p:cNvPr id="15" name="Text 13"/>
          <p:cNvSpPr/>
          <p:nvPr/>
        </p:nvSpPr>
        <p:spPr>
          <a:xfrm>
            <a:off x="2514600" y="2057400"/>
            <a:ext cx="1965960" cy="320040"/>
          </a:xfrm>
          <a:prstGeom prst="rect">
            <a:avLst/>
          </a:prstGeom>
          <a:noFill/>
          <a:ln/>
        </p:spPr>
        <p:txBody>
          <a:bodyPr wrap="square" rtlCol="0" anchor="ctr"/>
          <a:lstStyle/>
          <a:p>
            <a:pPr marL="0" indent="0" algn="ctr">
              <a:buNone/>
            </a:pPr>
            <a:r>
              <a:rPr lang="en-US" sz="1300" b="1" dirty="0">
                <a:solidFill>
                  <a:srgbClr val="0F1E3C"/>
                </a:solidFill>
                <a:latin typeface="Arial" pitchFamily="34" charset="0"/>
                <a:ea typeface="Arial" pitchFamily="34" charset="-122"/>
                <a:cs typeface="Arial" pitchFamily="34" charset="-120"/>
              </a:rPr>
              <a:t>Debate</a:t>
            </a:r>
            <a:endParaRPr lang="en-US" sz="1300" dirty="0"/>
          </a:p>
        </p:txBody>
      </p:sp>
      <p:sp>
        <p:nvSpPr>
          <p:cNvPr id="16" name="Text 14"/>
          <p:cNvSpPr/>
          <p:nvPr/>
        </p:nvSpPr>
        <p:spPr>
          <a:xfrm>
            <a:off x="2514600" y="2377440"/>
            <a:ext cx="1965960" cy="777240"/>
          </a:xfrm>
          <a:prstGeom prst="rect">
            <a:avLst/>
          </a:prstGeom>
          <a:noFill/>
          <a:ln/>
        </p:spPr>
        <p:txBody>
          <a:bodyPr wrap="square" rtlCol="0" anchor="t"/>
          <a:lstStyle/>
          <a:p>
            <a:pPr marL="0" indent="0" algn="ctr">
              <a:buNone/>
            </a:pPr>
            <a:r>
              <a:rPr lang="en-US" sz="1000" dirty="0">
                <a:solidFill>
                  <a:srgbClr val="64635E"/>
                </a:solidFill>
                <a:latin typeface="Arial" pitchFamily="34" charset="0"/>
                <a:ea typeface="Arial" pitchFamily="34" charset="-122"/>
                <a:cs typeface="Arial" pitchFamily="34" charset="-120"/>
              </a:rPr>
              <a:t>9 specialist agents run</a:t>
            </a:r>
            <a:endParaRPr lang="en-US" sz="1000" dirty="0"/>
          </a:p>
          <a:p>
            <a:pPr marL="0" indent="0" algn="ctr">
              <a:buNone/>
            </a:pPr>
            <a:r>
              <a:rPr lang="en-US" sz="1000" dirty="0">
                <a:solidFill>
                  <a:srgbClr val="64635E"/>
                </a:solidFill>
                <a:latin typeface="Arial" pitchFamily="34" charset="0"/>
                <a:ea typeface="Arial" pitchFamily="34" charset="-122"/>
                <a:cs typeface="Arial" pitchFamily="34" charset="-120"/>
              </a:rPr>
              <a:t>in sequence, each critiquing</a:t>
            </a:r>
            <a:endParaRPr lang="en-US" sz="1000" dirty="0"/>
          </a:p>
          <a:p>
            <a:pPr marL="0" indent="0" algn="ctr">
              <a:buNone/>
            </a:pPr>
            <a:r>
              <a:rPr lang="en-US" sz="1000" dirty="0">
                <a:solidFill>
                  <a:srgbClr val="64635E"/>
                </a:solidFill>
                <a:latin typeface="Arial" pitchFamily="34" charset="0"/>
                <a:ea typeface="Arial" pitchFamily="34" charset="-122"/>
                <a:cs typeface="Arial" pitchFamily="34" charset="-120"/>
              </a:rPr>
              <a:t>from their domain</a:t>
            </a:r>
            <a:endParaRPr lang="en-US" sz="1000" dirty="0"/>
          </a:p>
        </p:txBody>
      </p:sp>
      <p:sp>
        <p:nvSpPr>
          <p:cNvPr id="17" name="Shape 15"/>
          <p:cNvSpPr/>
          <p:nvPr/>
        </p:nvSpPr>
        <p:spPr>
          <a:xfrm>
            <a:off x="4480560" y="1810512"/>
            <a:ext cx="182880" cy="0"/>
          </a:xfrm>
          <a:prstGeom prst="line">
            <a:avLst/>
          </a:prstGeom>
          <a:noFill/>
          <a:ln w="19050">
            <a:solidFill>
              <a:srgbClr val="2E6DA4"/>
            </a:solidFill>
            <a:prstDash val="solid"/>
          </a:ln>
        </p:spPr>
        <p:txBody>
          <a:bodyPr/>
          <a:lstStyle/>
          <a:p>
            <a:endParaRPr lang="en-US"/>
          </a:p>
        </p:txBody>
      </p:sp>
      <p:sp>
        <p:nvSpPr>
          <p:cNvPr id="18" name="Text 16"/>
          <p:cNvSpPr/>
          <p:nvPr/>
        </p:nvSpPr>
        <p:spPr>
          <a:xfrm>
            <a:off x="4507992" y="1700784"/>
            <a:ext cx="182880" cy="228600"/>
          </a:xfrm>
          <a:prstGeom prst="rect">
            <a:avLst/>
          </a:prstGeom>
          <a:noFill/>
          <a:ln/>
        </p:spPr>
        <p:txBody>
          <a:bodyPr wrap="square" rtlCol="0" anchor="ctr"/>
          <a:lstStyle/>
          <a:p>
            <a:pPr marL="0" indent="0" algn="ctr">
              <a:buNone/>
            </a:pPr>
            <a:r>
              <a:rPr lang="en-US" sz="1400" b="1" dirty="0">
                <a:solidFill>
                  <a:srgbClr val="2E6DA4"/>
                </a:solidFill>
                <a:latin typeface="Arial" pitchFamily="34" charset="0"/>
                <a:ea typeface="Arial" pitchFamily="34" charset="-122"/>
                <a:cs typeface="Arial" pitchFamily="34" charset="-120"/>
              </a:rPr>
              <a:t>›</a:t>
            </a:r>
            <a:endParaRPr lang="en-US" sz="1400" dirty="0"/>
          </a:p>
        </p:txBody>
      </p:sp>
      <p:sp>
        <p:nvSpPr>
          <p:cNvPr id="19" name="Shape 17"/>
          <p:cNvSpPr/>
          <p:nvPr/>
        </p:nvSpPr>
        <p:spPr>
          <a:xfrm>
            <a:off x="4663440" y="1371600"/>
            <a:ext cx="1965960" cy="2651760"/>
          </a:xfrm>
          <a:prstGeom prst="roundRect">
            <a:avLst>
              <a:gd name="adj" fmla="val 3721"/>
            </a:avLst>
          </a:prstGeom>
          <a:solidFill>
            <a:srgbClr val="FFFFFF"/>
          </a:solidFill>
          <a:ln w="6350">
            <a:solidFill>
              <a:srgbClr val="D3D1C7"/>
            </a:solidFill>
            <a:prstDash val="solid"/>
          </a:ln>
          <a:effectLst>
            <a:outerShdw blurRad="76200" dist="25400" dir="2700000" algn="bl" rotWithShape="0">
              <a:srgbClr val="000000">
                <a:alpha val="7000"/>
              </a:srgbClr>
            </a:outerShdw>
          </a:effectLst>
        </p:spPr>
        <p:txBody>
          <a:bodyPr/>
          <a:lstStyle/>
          <a:p>
            <a:endParaRPr lang="en-US"/>
          </a:p>
        </p:txBody>
      </p:sp>
      <p:sp>
        <p:nvSpPr>
          <p:cNvPr id="20" name="Shape 18"/>
          <p:cNvSpPr/>
          <p:nvPr/>
        </p:nvSpPr>
        <p:spPr>
          <a:xfrm>
            <a:off x="5394960" y="1481328"/>
            <a:ext cx="502920" cy="502920"/>
          </a:xfrm>
          <a:prstGeom prst="ellipse">
            <a:avLst/>
          </a:prstGeom>
          <a:solidFill>
            <a:srgbClr val="1B4F9B"/>
          </a:solidFill>
          <a:ln w="12700">
            <a:solidFill>
              <a:srgbClr val="1B4F9B"/>
            </a:solidFill>
            <a:prstDash val="solid"/>
          </a:ln>
        </p:spPr>
        <p:txBody>
          <a:bodyPr/>
          <a:lstStyle/>
          <a:p>
            <a:endParaRPr lang="en-US"/>
          </a:p>
        </p:txBody>
      </p:sp>
      <p:sp>
        <p:nvSpPr>
          <p:cNvPr id="21" name="Text 19"/>
          <p:cNvSpPr/>
          <p:nvPr/>
        </p:nvSpPr>
        <p:spPr>
          <a:xfrm>
            <a:off x="5394960" y="1481328"/>
            <a:ext cx="502920" cy="502920"/>
          </a:xfrm>
          <a:prstGeom prst="rect">
            <a:avLst/>
          </a:prstGeom>
          <a:noFill/>
          <a:ln/>
        </p:spPr>
        <p:txBody>
          <a:bodyPr wrap="square" lIns="0" tIns="0" rIns="0" bIns="0"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3</a:t>
            </a:r>
            <a:endParaRPr lang="en-US" sz="1400" dirty="0"/>
          </a:p>
        </p:txBody>
      </p:sp>
      <p:sp>
        <p:nvSpPr>
          <p:cNvPr id="22" name="Text 20"/>
          <p:cNvSpPr/>
          <p:nvPr/>
        </p:nvSpPr>
        <p:spPr>
          <a:xfrm>
            <a:off x="4663440" y="2057400"/>
            <a:ext cx="1965960" cy="320040"/>
          </a:xfrm>
          <a:prstGeom prst="rect">
            <a:avLst/>
          </a:prstGeom>
          <a:noFill/>
          <a:ln/>
        </p:spPr>
        <p:txBody>
          <a:bodyPr wrap="square" rtlCol="0" anchor="ctr"/>
          <a:lstStyle/>
          <a:p>
            <a:pPr marL="0" indent="0" algn="ctr">
              <a:buNone/>
            </a:pPr>
            <a:r>
              <a:rPr lang="en-US" sz="1300" b="1" dirty="0">
                <a:solidFill>
                  <a:srgbClr val="0F1E3C"/>
                </a:solidFill>
                <a:latin typeface="Arial" pitchFamily="34" charset="0"/>
                <a:ea typeface="Arial" pitchFamily="34" charset="-122"/>
                <a:cs typeface="Arial" pitchFamily="34" charset="-120"/>
              </a:rPr>
              <a:t>Judge</a:t>
            </a:r>
            <a:endParaRPr lang="en-US" sz="1300" dirty="0"/>
          </a:p>
        </p:txBody>
      </p:sp>
      <p:sp>
        <p:nvSpPr>
          <p:cNvPr id="23" name="Text 21"/>
          <p:cNvSpPr/>
          <p:nvPr/>
        </p:nvSpPr>
        <p:spPr>
          <a:xfrm>
            <a:off x="4663440" y="2377440"/>
            <a:ext cx="1965960" cy="777240"/>
          </a:xfrm>
          <a:prstGeom prst="rect">
            <a:avLst/>
          </a:prstGeom>
          <a:noFill/>
          <a:ln/>
        </p:spPr>
        <p:txBody>
          <a:bodyPr wrap="square" rtlCol="0" anchor="t"/>
          <a:lstStyle/>
          <a:p>
            <a:pPr marL="0" indent="0" algn="ctr">
              <a:buNone/>
            </a:pPr>
            <a:r>
              <a:rPr lang="en-US" sz="1000" dirty="0">
                <a:solidFill>
                  <a:srgbClr val="64635E"/>
                </a:solidFill>
                <a:latin typeface="Arial" pitchFamily="34" charset="0"/>
                <a:ea typeface="Arial" pitchFamily="34" charset="-122"/>
                <a:cs typeface="Arial" pitchFamily="34" charset="-120"/>
              </a:rPr>
              <a:t>Judge agent arbitrates</a:t>
            </a:r>
            <a:endParaRPr lang="en-US" sz="1000" dirty="0"/>
          </a:p>
          <a:p>
            <a:pPr marL="0" indent="0" algn="ctr">
              <a:buNone/>
            </a:pPr>
            <a:r>
              <a:rPr lang="en-US" sz="1000" dirty="0">
                <a:solidFill>
                  <a:srgbClr val="64635E"/>
                </a:solidFill>
                <a:latin typeface="Arial" pitchFamily="34" charset="0"/>
                <a:ea typeface="Arial" pitchFamily="34" charset="-122"/>
                <a:cs typeface="Arial" pitchFamily="34" charset="-120"/>
              </a:rPr>
              <a:t>conflicts, assigns</a:t>
            </a:r>
            <a:endParaRPr lang="en-US" sz="1000" dirty="0"/>
          </a:p>
          <a:p>
            <a:pPr marL="0" indent="0" algn="ctr">
              <a:buNone/>
            </a:pPr>
            <a:r>
              <a:rPr lang="en-US" sz="1000" dirty="0">
                <a:solidFill>
                  <a:srgbClr val="64635E"/>
                </a:solidFill>
                <a:latin typeface="Arial" pitchFamily="34" charset="0"/>
                <a:ea typeface="Arial" pitchFamily="34" charset="-122"/>
                <a:cs typeface="Arial" pitchFamily="34" charset="-120"/>
              </a:rPr>
              <a:t>confidence score</a:t>
            </a:r>
            <a:endParaRPr lang="en-US" sz="1000" dirty="0"/>
          </a:p>
        </p:txBody>
      </p:sp>
      <p:sp>
        <p:nvSpPr>
          <p:cNvPr id="24" name="Shape 22"/>
          <p:cNvSpPr/>
          <p:nvPr/>
        </p:nvSpPr>
        <p:spPr>
          <a:xfrm>
            <a:off x="6629400" y="1810512"/>
            <a:ext cx="182880" cy="0"/>
          </a:xfrm>
          <a:prstGeom prst="line">
            <a:avLst/>
          </a:prstGeom>
          <a:noFill/>
          <a:ln w="19050">
            <a:solidFill>
              <a:srgbClr val="2E6DA4"/>
            </a:solidFill>
            <a:prstDash val="solid"/>
          </a:ln>
        </p:spPr>
        <p:txBody>
          <a:bodyPr/>
          <a:lstStyle/>
          <a:p>
            <a:endParaRPr lang="en-US"/>
          </a:p>
        </p:txBody>
      </p:sp>
      <p:sp>
        <p:nvSpPr>
          <p:cNvPr id="25" name="Text 23"/>
          <p:cNvSpPr/>
          <p:nvPr/>
        </p:nvSpPr>
        <p:spPr>
          <a:xfrm>
            <a:off x="6656832" y="1700784"/>
            <a:ext cx="182880" cy="228600"/>
          </a:xfrm>
          <a:prstGeom prst="rect">
            <a:avLst/>
          </a:prstGeom>
          <a:noFill/>
          <a:ln/>
        </p:spPr>
        <p:txBody>
          <a:bodyPr wrap="square" rtlCol="0" anchor="ctr"/>
          <a:lstStyle/>
          <a:p>
            <a:pPr marL="0" indent="0" algn="ctr">
              <a:buNone/>
            </a:pPr>
            <a:r>
              <a:rPr lang="en-US" sz="1400" b="1" dirty="0">
                <a:solidFill>
                  <a:srgbClr val="2E6DA4"/>
                </a:solidFill>
                <a:latin typeface="Arial" pitchFamily="34" charset="0"/>
                <a:ea typeface="Arial" pitchFamily="34" charset="-122"/>
                <a:cs typeface="Arial" pitchFamily="34" charset="-120"/>
              </a:rPr>
              <a:t>›</a:t>
            </a:r>
            <a:endParaRPr lang="en-US" sz="1400" dirty="0"/>
          </a:p>
        </p:txBody>
      </p:sp>
      <p:sp>
        <p:nvSpPr>
          <p:cNvPr id="26" name="Shape 24"/>
          <p:cNvSpPr/>
          <p:nvPr/>
        </p:nvSpPr>
        <p:spPr>
          <a:xfrm>
            <a:off x="6812280" y="1371600"/>
            <a:ext cx="1965960" cy="2651760"/>
          </a:xfrm>
          <a:prstGeom prst="roundRect">
            <a:avLst>
              <a:gd name="adj" fmla="val 3721"/>
            </a:avLst>
          </a:prstGeom>
          <a:solidFill>
            <a:srgbClr val="FFFFFF"/>
          </a:solidFill>
          <a:ln w="6350">
            <a:solidFill>
              <a:srgbClr val="D3D1C7"/>
            </a:solidFill>
            <a:prstDash val="solid"/>
          </a:ln>
          <a:effectLst>
            <a:outerShdw blurRad="76200" dist="25400" dir="2700000" algn="bl" rotWithShape="0">
              <a:srgbClr val="000000">
                <a:alpha val="7000"/>
              </a:srgbClr>
            </a:outerShdw>
          </a:effectLst>
        </p:spPr>
        <p:txBody>
          <a:bodyPr/>
          <a:lstStyle/>
          <a:p>
            <a:endParaRPr lang="en-US"/>
          </a:p>
        </p:txBody>
      </p:sp>
      <p:sp>
        <p:nvSpPr>
          <p:cNvPr id="27" name="Shape 25"/>
          <p:cNvSpPr/>
          <p:nvPr/>
        </p:nvSpPr>
        <p:spPr>
          <a:xfrm>
            <a:off x="7543800" y="1481328"/>
            <a:ext cx="502920" cy="502920"/>
          </a:xfrm>
          <a:prstGeom prst="ellipse">
            <a:avLst/>
          </a:prstGeom>
          <a:solidFill>
            <a:srgbClr val="1B4F9B"/>
          </a:solidFill>
          <a:ln w="12700">
            <a:solidFill>
              <a:srgbClr val="1B4F9B"/>
            </a:solidFill>
            <a:prstDash val="solid"/>
          </a:ln>
        </p:spPr>
        <p:txBody>
          <a:bodyPr/>
          <a:lstStyle/>
          <a:p>
            <a:endParaRPr lang="en-US"/>
          </a:p>
        </p:txBody>
      </p:sp>
      <p:sp>
        <p:nvSpPr>
          <p:cNvPr id="28" name="Text 26"/>
          <p:cNvSpPr/>
          <p:nvPr/>
        </p:nvSpPr>
        <p:spPr>
          <a:xfrm>
            <a:off x="7543800" y="1481328"/>
            <a:ext cx="502920" cy="502920"/>
          </a:xfrm>
          <a:prstGeom prst="rect">
            <a:avLst/>
          </a:prstGeom>
          <a:noFill/>
          <a:ln/>
        </p:spPr>
        <p:txBody>
          <a:bodyPr wrap="square" lIns="0" tIns="0" rIns="0" bIns="0"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4</a:t>
            </a:r>
            <a:endParaRPr lang="en-US" sz="1400" dirty="0"/>
          </a:p>
        </p:txBody>
      </p:sp>
      <p:sp>
        <p:nvSpPr>
          <p:cNvPr id="29" name="Text 27"/>
          <p:cNvSpPr/>
          <p:nvPr/>
        </p:nvSpPr>
        <p:spPr>
          <a:xfrm>
            <a:off x="6812280" y="2057400"/>
            <a:ext cx="1965960" cy="320040"/>
          </a:xfrm>
          <a:prstGeom prst="rect">
            <a:avLst/>
          </a:prstGeom>
          <a:noFill/>
          <a:ln/>
        </p:spPr>
        <p:txBody>
          <a:bodyPr wrap="square" rtlCol="0" anchor="ctr"/>
          <a:lstStyle/>
          <a:p>
            <a:pPr marL="0" indent="0" algn="ctr">
              <a:buNone/>
            </a:pPr>
            <a:r>
              <a:rPr lang="en-US" sz="1300" b="1" dirty="0">
                <a:solidFill>
                  <a:srgbClr val="0F1E3C"/>
                </a:solidFill>
                <a:latin typeface="Arial" pitchFamily="34" charset="0"/>
                <a:ea typeface="Arial" pitchFamily="34" charset="-122"/>
                <a:cs typeface="Arial" pitchFamily="34" charset="-120"/>
              </a:rPr>
              <a:t>Endorse</a:t>
            </a:r>
            <a:endParaRPr lang="en-US" sz="1300" dirty="0"/>
          </a:p>
        </p:txBody>
      </p:sp>
      <p:sp>
        <p:nvSpPr>
          <p:cNvPr id="30" name="Text 28"/>
          <p:cNvSpPr/>
          <p:nvPr/>
        </p:nvSpPr>
        <p:spPr>
          <a:xfrm>
            <a:off x="6812280" y="2377440"/>
            <a:ext cx="1965960" cy="777240"/>
          </a:xfrm>
          <a:prstGeom prst="rect">
            <a:avLst/>
          </a:prstGeom>
          <a:noFill/>
          <a:ln/>
        </p:spPr>
        <p:txBody>
          <a:bodyPr wrap="square" rtlCol="0" anchor="t"/>
          <a:lstStyle/>
          <a:p>
            <a:pPr marL="0" indent="0" algn="ctr">
              <a:buNone/>
            </a:pPr>
            <a:r>
              <a:rPr lang="en-US" sz="1000" dirty="0">
                <a:solidFill>
                  <a:srgbClr val="64635E"/>
                </a:solidFill>
                <a:latin typeface="Arial" pitchFamily="34" charset="0"/>
                <a:ea typeface="Arial" pitchFamily="34" charset="-122"/>
                <a:cs typeface="Arial" pitchFamily="34" charset="-120"/>
              </a:rPr>
              <a:t>Admin countersigns</a:t>
            </a:r>
            <a:endParaRPr lang="en-US" sz="1000" dirty="0"/>
          </a:p>
          <a:p>
            <a:pPr marL="0" indent="0" algn="ctr">
              <a:buNone/>
            </a:pPr>
            <a:r>
              <a:rPr lang="en-US" sz="1000" dirty="0">
                <a:solidFill>
                  <a:srgbClr val="64635E"/>
                </a:solidFill>
                <a:latin typeface="Arial" pitchFamily="34" charset="0"/>
                <a:ea typeface="Arial" pitchFamily="34" charset="-122"/>
                <a:cs typeface="Arial" pitchFamily="34" charset="-120"/>
              </a:rPr>
              <a:t>or assigns to architect</a:t>
            </a:r>
            <a:endParaRPr lang="en-US" sz="1000" dirty="0"/>
          </a:p>
          <a:p>
            <a:pPr marL="0" indent="0" algn="ctr">
              <a:buNone/>
            </a:pPr>
            <a:r>
              <a:rPr lang="en-US" sz="1000" dirty="0">
                <a:solidFill>
                  <a:srgbClr val="64635E"/>
                </a:solidFill>
                <a:latin typeface="Arial" pitchFamily="34" charset="0"/>
                <a:ea typeface="Arial" pitchFamily="34" charset="-122"/>
                <a:cs typeface="Arial" pitchFamily="34" charset="-120"/>
              </a:rPr>
              <a:t>via Jira</a:t>
            </a:r>
            <a:endParaRPr lang="en-US" sz="1000" dirty="0"/>
          </a:p>
        </p:txBody>
      </p:sp>
      <p:sp>
        <p:nvSpPr>
          <p:cNvPr id="31" name="Text 29"/>
          <p:cNvSpPr/>
          <p:nvPr/>
        </p:nvSpPr>
        <p:spPr>
          <a:xfrm>
            <a:off x="502920" y="4206240"/>
            <a:ext cx="8138160" cy="274320"/>
          </a:xfrm>
          <a:prstGeom prst="rect">
            <a:avLst/>
          </a:prstGeom>
          <a:noFill/>
          <a:ln/>
        </p:spPr>
        <p:txBody>
          <a:bodyPr wrap="square" rtlCol="0" anchor="ctr"/>
          <a:lstStyle/>
          <a:p>
            <a:pPr marL="0" indent="0">
              <a:buNone/>
            </a:pPr>
            <a:r>
              <a:rPr lang="en-US" sz="1000" b="1" i="1" dirty="0">
                <a:solidFill>
                  <a:srgbClr val="0F6E56"/>
                </a:solidFill>
                <a:latin typeface="Arial" pitchFamily="34" charset="0"/>
                <a:ea typeface="Arial" pitchFamily="34" charset="-122"/>
                <a:cs typeface="Arial" pitchFamily="34" charset="-120"/>
              </a:rPr>
              <a:t>Three modes: Document Review · Greenfield Design · Debate My Approach</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8FA"/>
        </a:solidFill>
        <a:effectLst/>
      </p:bgPr>
    </p:bg>
    <p:spTree>
      <p:nvGrpSpPr>
        <p:cNvPr id="1" name=""/>
        <p:cNvGrpSpPr/>
        <p:nvPr/>
      </p:nvGrpSpPr>
      <p:grpSpPr>
        <a:xfrm>
          <a:off x="0" y="0"/>
          <a:ext cx="0" cy="0"/>
          <a:chOff x="0" y="0"/>
          <a:chExt cx="0" cy="0"/>
        </a:xfrm>
      </p:grpSpPr>
      <p:sp>
        <p:nvSpPr>
          <p:cNvPr id="2" name="Text 0"/>
          <p:cNvSpPr/>
          <p:nvPr/>
        </p:nvSpPr>
        <p:spPr>
          <a:xfrm>
            <a:off x="502920" y="347472"/>
            <a:ext cx="8138160" cy="201168"/>
          </a:xfrm>
          <a:prstGeom prst="rect">
            <a:avLst/>
          </a:prstGeom>
          <a:noFill/>
          <a:ln/>
        </p:spPr>
        <p:txBody>
          <a:bodyPr wrap="square" rtlCol="0" anchor="ctr"/>
          <a:lstStyle/>
          <a:p>
            <a:pPr marL="0" indent="0" algn="l">
              <a:buNone/>
            </a:pPr>
            <a:r>
              <a:rPr lang="en-US" sz="900" b="1" kern="0" spc="300" dirty="0">
                <a:solidFill>
                  <a:srgbClr val="2E6DA4"/>
                </a:solidFill>
                <a:latin typeface="Arial" pitchFamily="34" charset="0"/>
                <a:ea typeface="Arial" pitchFamily="34" charset="-122"/>
                <a:cs typeface="Arial" pitchFamily="34" charset="-120"/>
              </a:rPr>
              <a:t>MULTI-AGENT ARCHITECTURE</a:t>
            </a:r>
            <a:endParaRPr lang="en-US" sz="900" dirty="0"/>
          </a:p>
        </p:txBody>
      </p:sp>
      <p:sp>
        <p:nvSpPr>
          <p:cNvPr id="3" name="Text 1"/>
          <p:cNvSpPr/>
          <p:nvPr/>
        </p:nvSpPr>
        <p:spPr>
          <a:xfrm>
            <a:off x="502920" y="594360"/>
            <a:ext cx="8138160" cy="640080"/>
          </a:xfrm>
          <a:prstGeom prst="rect">
            <a:avLst/>
          </a:prstGeom>
          <a:noFill/>
          <a:ln/>
        </p:spPr>
        <p:txBody>
          <a:bodyPr wrap="square" rtlCol="0" anchor="ctr"/>
          <a:lstStyle/>
          <a:p>
            <a:pPr marL="0" indent="0" algn="l">
              <a:buNone/>
            </a:pPr>
            <a:r>
              <a:rPr lang="en-US" sz="2800" b="1" dirty="0">
                <a:solidFill>
                  <a:srgbClr val="1A1A1A"/>
                </a:solidFill>
                <a:latin typeface="Arial" pitchFamily="34" charset="0"/>
                <a:ea typeface="Arial" pitchFamily="34" charset="-122"/>
                <a:cs typeface="Arial" pitchFamily="34" charset="-120"/>
              </a:rPr>
              <a:t>Each agent brings genuine domain expertise — and they disagree</a:t>
            </a:r>
            <a:endParaRPr lang="en-US" sz="2800" dirty="0"/>
          </a:p>
        </p:txBody>
      </p:sp>
      <p:sp>
        <p:nvSpPr>
          <p:cNvPr id="4" name="Shape 2"/>
          <p:cNvSpPr/>
          <p:nvPr/>
        </p:nvSpPr>
        <p:spPr>
          <a:xfrm>
            <a:off x="502920" y="1207008"/>
            <a:ext cx="8138160" cy="0"/>
          </a:xfrm>
          <a:prstGeom prst="line">
            <a:avLst/>
          </a:prstGeom>
          <a:noFill/>
          <a:ln w="10160">
            <a:solidFill>
              <a:srgbClr val="EBEBEB"/>
            </a:solidFill>
            <a:prstDash val="solid"/>
          </a:ln>
        </p:spPr>
        <p:txBody>
          <a:bodyPr/>
          <a:lstStyle/>
          <a:p>
            <a:endParaRPr lang="en-US"/>
          </a:p>
        </p:txBody>
      </p:sp>
      <p:sp>
        <p:nvSpPr>
          <p:cNvPr id="5" name="Shape 3"/>
          <p:cNvSpPr/>
          <p:nvPr/>
        </p:nvSpPr>
        <p:spPr>
          <a:xfrm>
            <a:off x="365760" y="1371600"/>
            <a:ext cx="1554480" cy="1234440"/>
          </a:xfrm>
          <a:prstGeom prst="roundRect">
            <a:avLst>
              <a:gd name="adj" fmla="val 5926"/>
            </a:avLst>
          </a:prstGeom>
          <a:solidFill>
            <a:srgbClr val="FFFFFF"/>
          </a:solidFill>
          <a:ln w="6350">
            <a:solidFill>
              <a:srgbClr val="D3D1C7"/>
            </a:solidFill>
            <a:prstDash val="solid"/>
          </a:ln>
          <a:effectLst>
            <a:outerShdw blurRad="76200" dist="25400" dir="2700000" algn="bl" rotWithShape="0">
              <a:srgbClr val="000000">
                <a:alpha val="7000"/>
              </a:srgbClr>
            </a:outerShdw>
          </a:effectLst>
        </p:spPr>
        <p:txBody>
          <a:bodyPr/>
          <a:lstStyle/>
          <a:p>
            <a:endParaRPr lang="en-US"/>
          </a:p>
        </p:txBody>
      </p:sp>
      <p:sp>
        <p:nvSpPr>
          <p:cNvPr id="6" name="Text 4"/>
          <p:cNvSpPr/>
          <p:nvPr/>
        </p:nvSpPr>
        <p:spPr>
          <a:xfrm>
            <a:off x="365760" y="1481328"/>
            <a:ext cx="1554480" cy="320040"/>
          </a:xfrm>
          <a:prstGeom prst="rect">
            <a:avLst/>
          </a:prstGeom>
          <a:noFill/>
          <a:ln/>
        </p:spPr>
        <p:txBody>
          <a:bodyPr wrap="square" rtlCol="0" anchor="ctr"/>
          <a:lstStyle/>
          <a:p>
            <a:pPr marL="0" indent="0" algn="ctr">
              <a:buNone/>
            </a:pPr>
            <a:r>
              <a:rPr lang="en-US" sz="1200" b="1" dirty="0">
                <a:solidFill>
                  <a:srgbClr val="1B4F9B"/>
                </a:solidFill>
                <a:latin typeface="Arial" pitchFamily="34" charset="0"/>
                <a:ea typeface="Arial" pitchFamily="34" charset="-122"/>
                <a:cs typeface="Arial" pitchFamily="34" charset="-120"/>
              </a:rPr>
              <a:t>Designer</a:t>
            </a:r>
            <a:endParaRPr lang="en-US" sz="1200" dirty="0"/>
          </a:p>
        </p:txBody>
      </p:sp>
      <p:sp>
        <p:nvSpPr>
          <p:cNvPr id="7" name="Text 5"/>
          <p:cNvSpPr/>
          <p:nvPr/>
        </p:nvSpPr>
        <p:spPr>
          <a:xfrm>
            <a:off x="365760" y="1828800"/>
            <a:ext cx="1554480" cy="640080"/>
          </a:xfrm>
          <a:prstGeom prst="rect">
            <a:avLst/>
          </a:prstGeom>
          <a:noFill/>
          <a:ln/>
        </p:spPr>
        <p:txBody>
          <a:bodyPr wrap="square" rtlCol="0" anchor="t"/>
          <a:lstStyle/>
          <a:p>
            <a:pPr marL="0" indent="0" algn="ctr">
              <a:buNone/>
            </a:pPr>
            <a:r>
              <a:rPr lang="en-US" sz="900" dirty="0">
                <a:solidFill>
                  <a:srgbClr val="64635E"/>
                </a:solidFill>
                <a:latin typeface="Arial" pitchFamily="34" charset="0"/>
                <a:ea typeface="Arial" pitchFamily="34" charset="-122"/>
                <a:cs typeface="Arial" pitchFamily="34" charset="-120"/>
              </a:rPr>
              <a:t>Overall architecture</a:t>
            </a:r>
            <a:endParaRPr lang="en-US" sz="900" dirty="0"/>
          </a:p>
          <a:p>
            <a:pPr marL="0" indent="0" algn="ctr">
              <a:buNone/>
            </a:pPr>
            <a:r>
              <a:rPr lang="en-US" sz="900" dirty="0">
                <a:solidFill>
                  <a:srgbClr val="64635E"/>
                </a:solidFill>
                <a:latin typeface="Arial" pitchFamily="34" charset="0"/>
                <a:ea typeface="Arial" pitchFamily="34" charset="-122"/>
                <a:cs typeface="Arial" pitchFamily="34" charset="-120"/>
              </a:rPr>
              <a:t>and patterns</a:t>
            </a:r>
            <a:endParaRPr lang="en-US" sz="900" dirty="0"/>
          </a:p>
        </p:txBody>
      </p:sp>
      <p:sp>
        <p:nvSpPr>
          <p:cNvPr id="8" name="Shape 6"/>
          <p:cNvSpPr/>
          <p:nvPr/>
        </p:nvSpPr>
        <p:spPr>
          <a:xfrm>
            <a:off x="2057400" y="1371600"/>
            <a:ext cx="1554480" cy="1234440"/>
          </a:xfrm>
          <a:prstGeom prst="roundRect">
            <a:avLst>
              <a:gd name="adj" fmla="val 5926"/>
            </a:avLst>
          </a:prstGeom>
          <a:solidFill>
            <a:srgbClr val="FFFFFF"/>
          </a:solidFill>
          <a:ln w="6350">
            <a:solidFill>
              <a:srgbClr val="D3D1C7"/>
            </a:solidFill>
            <a:prstDash val="solid"/>
          </a:ln>
          <a:effectLst>
            <a:outerShdw blurRad="76200" dist="25400" dir="2700000" algn="bl" rotWithShape="0">
              <a:srgbClr val="000000">
                <a:alpha val="7000"/>
              </a:srgbClr>
            </a:outerShdw>
          </a:effectLst>
        </p:spPr>
        <p:txBody>
          <a:bodyPr/>
          <a:lstStyle/>
          <a:p>
            <a:endParaRPr lang="en-US"/>
          </a:p>
        </p:txBody>
      </p:sp>
      <p:sp>
        <p:nvSpPr>
          <p:cNvPr id="9" name="Text 7"/>
          <p:cNvSpPr/>
          <p:nvPr/>
        </p:nvSpPr>
        <p:spPr>
          <a:xfrm>
            <a:off x="2057400" y="1481328"/>
            <a:ext cx="1554480" cy="320040"/>
          </a:xfrm>
          <a:prstGeom prst="rect">
            <a:avLst/>
          </a:prstGeom>
          <a:noFill/>
          <a:ln/>
        </p:spPr>
        <p:txBody>
          <a:bodyPr wrap="square" rtlCol="0" anchor="ctr"/>
          <a:lstStyle/>
          <a:p>
            <a:pPr marL="0" indent="0" algn="ctr">
              <a:buNone/>
            </a:pPr>
            <a:r>
              <a:rPr lang="en-US" sz="1200" b="1" dirty="0">
                <a:solidFill>
                  <a:srgbClr val="1B4F9B"/>
                </a:solidFill>
                <a:latin typeface="Arial" pitchFamily="34" charset="0"/>
                <a:ea typeface="Arial" pitchFamily="34" charset="-122"/>
                <a:cs typeface="Arial" pitchFamily="34" charset="-120"/>
              </a:rPr>
              <a:t>Apex</a:t>
            </a:r>
            <a:endParaRPr lang="en-US" sz="1200" dirty="0"/>
          </a:p>
        </p:txBody>
      </p:sp>
      <p:sp>
        <p:nvSpPr>
          <p:cNvPr id="10" name="Text 8"/>
          <p:cNvSpPr/>
          <p:nvPr/>
        </p:nvSpPr>
        <p:spPr>
          <a:xfrm>
            <a:off x="2057400" y="1828800"/>
            <a:ext cx="1554480" cy="640080"/>
          </a:xfrm>
          <a:prstGeom prst="rect">
            <a:avLst/>
          </a:prstGeom>
          <a:noFill/>
          <a:ln/>
        </p:spPr>
        <p:txBody>
          <a:bodyPr wrap="square" rtlCol="0" anchor="t"/>
          <a:lstStyle/>
          <a:p>
            <a:pPr marL="0" indent="0" algn="ctr">
              <a:buNone/>
            </a:pPr>
            <a:r>
              <a:rPr lang="en-US" sz="900" dirty="0">
                <a:solidFill>
                  <a:srgbClr val="64635E"/>
                </a:solidFill>
                <a:latin typeface="Arial" pitchFamily="34" charset="0"/>
                <a:ea typeface="Arial" pitchFamily="34" charset="-122"/>
                <a:cs typeface="Arial" pitchFamily="34" charset="-120"/>
              </a:rPr>
              <a:t>Governor limits,</a:t>
            </a:r>
            <a:endParaRPr lang="en-US" sz="900" dirty="0"/>
          </a:p>
          <a:p>
            <a:pPr marL="0" indent="0" algn="ctr">
              <a:buNone/>
            </a:pPr>
            <a:r>
              <a:rPr lang="en-US" sz="900" dirty="0">
                <a:solidFill>
                  <a:srgbClr val="64635E"/>
                </a:solidFill>
                <a:latin typeface="Arial" pitchFamily="34" charset="0"/>
                <a:ea typeface="Arial" pitchFamily="34" charset="-122"/>
                <a:cs typeface="Arial" pitchFamily="34" charset="-120"/>
              </a:rPr>
              <a:t>triggers, async</a:t>
            </a:r>
            <a:endParaRPr lang="en-US" sz="900" dirty="0"/>
          </a:p>
        </p:txBody>
      </p:sp>
      <p:sp>
        <p:nvSpPr>
          <p:cNvPr id="11" name="Shape 9"/>
          <p:cNvSpPr/>
          <p:nvPr/>
        </p:nvSpPr>
        <p:spPr>
          <a:xfrm>
            <a:off x="3749040" y="1371600"/>
            <a:ext cx="1554480" cy="1234440"/>
          </a:xfrm>
          <a:prstGeom prst="roundRect">
            <a:avLst>
              <a:gd name="adj" fmla="val 5926"/>
            </a:avLst>
          </a:prstGeom>
          <a:solidFill>
            <a:srgbClr val="FFFFFF"/>
          </a:solidFill>
          <a:ln w="6350">
            <a:solidFill>
              <a:srgbClr val="D3D1C7"/>
            </a:solidFill>
            <a:prstDash val="solid"/>
          </a:ln>
          <a:effectLst>
            <a:outerShdw blurRad="76200" dist="25400" dir="2700000" algn="bl" rotWithShape="0">
              <a:srgbClr val="000000">
                <a:alpha val="7000"/>
              </a:srgbClr>
            </a:outerShdw>
          </a:effectLst>
        </p:spPr>
        <p:txBody>
          <a:bodyPr/>
          <a:lstStyle/>
          <a:p>
            <a:endParaRPr lang="en-US"/>
          </a:p>
        </p:txBody>
      </p:sp>
      <p:sp>
        <p:nvSpPr>
          <p:cNvPr id="12" name="Text 10"/>
          <p:cNvSpPr/>
          <p:nvPr/>
        </p:nvSpPr>
        <p:spPr>
          <a:xfrm>
            <a:off x="3749040" y="1481328"/>
            <a:ext cx="1554480" cy="320040"/>
          </a:xfrm>
          <a:prstGeom prst="rect">
            <a:avLst/>
          </a:prstGeom>
          <a:noFill/>
          <a:ln/>
        </p:spPr>
        <p:txBody>
          <a:bodyPr wrap="square" rtlCol="0" anchor="ctr"/>
          <a:lstStyle/>
          <a:p>
            <a:pPr marL="0" indent="0" algn="ctr">
              <a:buNone/>
            </a:pPr>
            <a:r>
              <a:rPr lang="en-US" sz="1200" b="1" dirty="0">
                <a:solidFill>
                  <a:srgbClr val="1B4F9B"/>
                </a:solidFill>
                <a:latin typeface="Arial" pitchFamily="34" charset="0"/>
                <a:ea typeface="Arial" pitchFamily="34" charset="-122"/>
                <a:cs typeface="Arial" pitchFamily="34" charset="-120"/>
              </a:rPr>
              <a:t>LWC</a:t>
            </a:r>
            <a:endParaRPr lang="en-US" sz="1200" dirty="0"/>
          </a:p>
        </p:txBody>
      </p:sp>
      <p:sp>
        <p:nvSpPr>
          <p:cNvPr id="13" name="Text 11"/>
          <p:cNvSpPr/>
          <p:nvPr/>
        </p:nvSpPr>
        <p:spPr>
          <a:xfrm>
            <a:off x="3749040" y="1828800"/>
            <a:ext cx="1554480" cy="640080"/>
          </a:xfrm>
          <a:prstGeom prst="rect">
            <a:avLst/>
          </a:prstGeom>
          <a:noFill/>
          <a:ln/>
        </p:spPr>
        <p:txBody>
          <a:bodyPr wrap="square" rtlCol="0" anchor="t"/>
          <a:lstStyle/>
          <a:p>
            <a:pPr marL="0" indent="0" algn="ctr">
              <a:buNone/>
            </a:pPr>
            <a:r>
              <a:rPr lang="en-US" sz="900" dirty="0">
                <a:solidFill>
                  <a:srgbClr val="64635E"/>
                </a:solidFill>
                <a:latin typeface="Arial" pitchFamily="34" charset="0"/>
                <a:ea typeface="Arial" pitchFamily="34" charset="-122"/>
                <a:cs typeface="Arial" pitchFamily="34" charset="-120"/>
              </a:rPr>
              <a:t>UI components,</a:t>
            </a:r>
            <a:endParaRPr lang="en-US" sz="900" dirty="0"/>
          </a:p>
          <a:p>
            <a:pPr marL="0" indent="0" algn="ctr">
              <a:buNone/>
            </a:pPr>
            <a:r>
              <a:rPr lang="en-US" sz="900" dirty="0">
                <a:solidFill>
                  <a:srgbClr val="64635E"/>
                </a:solidFill>
                <a:latin typeface="Arial" pitchFamily="34" charset="0"/>
                <a:ea typeface="Arial" pitchFamily="34" charset="-122"/>
                <a:cs typeface="Arial" pitchFamily="34" charset="-120"/>
              </a:rPr>
              <a:t>portal performance</a:t>
            </a:r>
            <a:endParaRPr lang="en-US" sz="900" dirty="0"/>
          </a:p>
        </p:txBody>
      </p:sp>
      <p:sp>
        <p:nvSpPr>
          <p:cNvPr id="14" name="Shape 12"/>
          <p:cNvSpPr/>
          <p:nvPr/>
        </p:nvSpPr>
        <p:spPr>
          <a:xfrm>
            <a:off x="5440680" y="1371600"/>
            <a:ext cx="1554480" cy="1234440"/>
          </a:xfrm>
          <a:prstGeom prst="roundRect">
            <a:avLst>
              <a:gd name="adj" fmla="val 5926"/>
            </a:avLst>
          </a:prstGeom>
          <a:solidFill>
            <a:srgbClr val="FFFFFF"/>
          </a:solidFill>
          <a:ln w="6350">
            <a:solidFill>
              <a:srgbClr val="D3D1C7"/>
            </a:solidFill>
            <a:prstDash val="solid"/>
          </a:ln>
          <a:effectLst>
            <a:outerShdw blurRad="76200" dist="25400" dir="2700000" algn="bl" rotWithShape="0">
              <a:srgbClr val="000000">
                <a:alpha val="7000"/>
              </a:srgbClr>
            </a:outerShdw>
          </a:effectLst>
        </p:spPr>
        <p:txBody>
          <a:bodyPr/>
          <a:lstStyle/>
          <a:p>
            <a:endParaRPr lang="en-US"/>
          </a:p>
        </p:txBody>
      </p:sp>
      <p:sp>
        <p:nvSpPr>
          <p:cNvPr id="15" name="Text 13"/>
          <p:cNvSpPr/>
          <p:nvPr/>
        </p:nvSpPr>
        <p:spPr>
          <a:xfrm>
            <a:off x="5440680" y="1481328"/>
            <a:ext cx="1554480" cy="320040"/>
          </a:xfrm>
          <a:prstGeom prst="rect">
            <a:avLst/>
          </a:prstGeom>
          <a:noFill/>
          <a:ln/>
        </p:spPr>
        <p:txBody>
          <a:bodyPr wrap="square" rtlCol="0" anchor="ctr"/>
          <a:lstStyle/>
          <a:p>
            <a:pPr marL="0" indent="0" algn="ctr">
              <a:buNone/>
            </a:pPr>
            <a:r>
              <a:rPr lang="en-US" sz="1200" b="1" dirty="0">
                <a:solidFill>
                  <a:srgbClr val="1B4F9B"/>
                </a:solidFill>
                <a:latin typeface="Arial" pitchFamily="34" charset="0"/>
                <a:ea typeface="Arial" pitchFamily="34" charset="-122"/>
                <a:cs typeface="Arial" pitchFamily="34" charset="-120"/>
              </a:rPr>
              <a:t>Flow</a:t>
            </a:r>
            <a:endParaRPr lang="en-US" sz="1200" dirty="0"/>
          </a:p>
        </p:txBody>
      </p:sp>
      <p:sp>
        <p:nvSpPr>
          <p:cNvPr id="16" name="Text 14"/>
          <p:cNvSpPr/>
          <p:nvPr/>
        </p:nvSpPr>
        <p:spPr>
          <a:xfrm>
            <a:off x="5440680" y="1828800"/>
            <a:ext cx="1554480" cy="640080"/>
          </a:xfrm>
          <a:prstGeom prst="rect">
            <a:avLst/>
          </a:prstGeom>
          <a:noFill/>
          <a:ln/>
        </p:spPr>
        <p:txBody>
          <a:bodyPr wrap="square" rtlCol="0" anchor="t"/>
          <a:lstStyle/>
          <a:p>
            <a:pPr marL="0" indent="0" algn="ctr">
              <a:buNone/>
            </a:pPr>
            <a:r>
              <a:rPr lang="en-US" sz="900" dirty="0">
                <a:solidFill>
                  <a:srgbClr val="64635E"/>
                </a:solidFill>
                <a:latin typeface="Arial" pitchFamily="34" charset="0"/>
                <a:ea typeface="Arial" pitchFamily="34" charset="-122"/>
                <a:cs typeface="Arial" pitchFamily="34" charset="-120"/>
              </a:rPr>
              <a:t>Automation,</a:t>
            </a:r>
            <a:endParaRPr lang="en-US" sz="900" dirty="0"/>
          </a:p>
          <a:p>
            <a:pPr marL="0" indent="0" algn="ctr">
              <a:buNone/>
            </a:pPr>
            <a:r>
              <a:rPr lang="en-US" sz="900" dirty="0">
                <a:solidFill>
                  <a:srgbClr val="64635E"/>
                </a:solidFill>
                <a:latin typeface="Arial" pitchFamily="34" charset="0"/>
                <a:ea typeface="Arial" pitchFamily="34" charset="-122"/>
                <a:cs typeface="Arial" pitchFamily="34" charset="-120"/>
              </a:rPr>
              <a:t>declarative logic</a:t>
            </a:r>
            <a:endParaRPr lang="en-US" sz="900" dirty="0"/>
          </a:p>
        </p:txBody>
      </p:sp>
      <p:sp>
        <p:nvSpPr>
          <p:cNvPr id="17" name="Shape 15"/>
          <p:cNvSpPr/>
          <p:nvPr/>
        </p:nvSpPr>
        <p:spPr>
          <a:xfrm>
            <a:off x="7132320" y="1371600"/>
            <a:ext cx="1554480" cy="1234440"/>
          </a:xfrm>
          <a:prstGeom prst="roundRect">
            <a:avLst>
              <a:gd name="adj" fmla="val 5926"/>
            </a:avLst>
          </a:prstGeom>
          <a:solidFill>
            <a:srgbClr val="FFFFFF"/>
          </a:solidFill>
          <a:ln w="6350">
            <a:solidFill>
              <a:srgbClr val="D3D1C7"/>
            </a:solidFill>
            <a:prstDash val="solid"/>
          </a:ln>
          <a:effectLst>
            <a:outerShdw blurRad="76200" dist="25400" dir="2700000" algn="bl" rotWithShape="0">
              <a:srgbClr val="000000">
                <a:alpha val="7000"/>
              </a:srgbClr>
            </a:outerShdw>
          </a:effectLst>
        </p:spPr>
        <p:txBody>
          <a:bodyPr/>
          <a:lstStyle/>
          <a:p>
            <a:endParaRPr lang="en-US"/>
          </a:p>
        </p:txBody>
      </p:sp>
      <p:sp>
        <p:nvSpPr>
          <p:cNvPr id="18" name="Text 16"/>
          <p:cNvSpPr/>
          <p:nvPr/>
        </p:nvSpPr>
        <p:spPr>
          <a:xfrm>
            <a:off x="7132320" y="1481328"/>
            <a:ext cx="1554480" cy="320040"/>
          </a:xfrm>
          <a:prstGeom prst="rect">
            <a:avLst/>
          </a:prstGeom>
          <a:noFill/>
          <a:ln/>
        </p:spPr>
        <p:txBody>
          <a:bodyPr wrap="square" rtlCol="0" anchor="ctr"/>
          <a:lstStyle/>
          <a:p>
            <a:pPr marL="0" indent="0" algn="ctr">
              <a:buNone/>
            </a:pPr>
            <a:r>
              <a:rPr lang="en-US" sz="1200" b="1" dirty="0">
                <a:solidFill>
                  <a:srgbClr val="1B4F9B"/>
                </a:solidFill>
                <a:latin typeface="Arial" pitchFamily="34" charset="0"/>
                <a:ea typeface="Arial" pitchFamily="34" charset="-122"/>
                <a:cs typeface="Arial" pitchFamily="34" charset="-120"/>
              </a:rPr>
              <a:t>Integration</a:t>
            </a:r>
            <a:endParaRPr lang="en-US" sz="1200" dirty="0"/>
          </a:p>
        </p:txBody>
      </p:sp>
      <p:sp>
        <p:nvSpPr>
          <p:cNvPr id="19" name="Text 17"/>
          <p:cNvSpPr/>
          <p:nvPr/>
        </p:nvSpPr>
        <p:spPr>
          <a:xfrm>
            <a:off x="7132320" y="1828800"/>
            <a:ext cx="1554480" cy="640080"/>
          </a:xfrm>
          <a:prstGeom prst="rect">
            <a:avLst/>
          </a:prstGeom>
          <a:noFill/>
          <a:ln/>
        </p:spPr>
        <p:txBody>
          <a:bodyPr wrap="square" rtlCol="0" anchor="t"/>
          <a:lstStyle/>
          <a:p>
            <a:pPr marL="0" indent="0" algn="ctr">
              <a:buNone/>
            </a:pPr>
            <a:r>
              <a:rPr lang="en-US" sz="900" dirty="0">
                <a:solidFill>
                  <a:srgbClr val="64635E"/>
                </a:solidFill>
                <a:latin typeface="Arial" pitchFamily="34" charset="0"/>
                <a:ea typeface="Arial" pitchFamily="34" charset="-122"/>
                <a:cs typeface="Arial" pitchFamily="34" charset="-120"/>
              </a:rPr>
              <a:t>APIs, events,</a:t>
            </a:r>
            <a:endParaRPr lang="en-US" sz="900" dirty="0"/>
          </a:p>
          <a:p>
            <a:pPr marL="0" indent="0" algn="ctr">
              <a:buNone/>
            </a:pPr>
            <a:r>
              <a:rPr lang="en-US" sz="900" dirty="0">
                <a:solidFill>
                  <a:srgbClr val="64635E"/>
                </a:solidFill>
                <a:latin typeface="Arial" pitchFamily="34" charset="0"/>
                <a:ea typeface="Arial" pitchFamily="34" charset="-122"/>
                <a:cs typeface="Arial" pitchFamily="34" charset="-120"/>
              </a:rPr>
              <a:t>middleware</a:t>
            </a:r>
            <a:endParaRPr lang="en-US" sz="900" dirty="0"/>
          </a:p>
        </p:txBody>
      </p:sp>
      <p:sp>
        <p:nvSpPr>
          <p:cNvPr id="20" name="Shape 18"/>
          <p:cNvSpPr/>
          <p:nvPr/>
        </p:nvSpPr>
        <p:spPr>
          <a:xfrm>
            <a:off x="365760" y="2788920"/>
            <a:ext cx="1554480" cy="1234440"/>
          </a:xfrm>
          <a:prstGeom prst="roundRect">
            <a:avLst>
              <a:gd name="adj" fmla="val 5926"/>
            </a:avLst>
          </a:prstGeom>
          <a:solidFill>
            <a:srgbClr val="FFFFFF"/>
          </a:solidFill>
          <a:ln w="6350">
            <a:solidFill>
              <a:srgbClr val="D3D1C7"/>
            </a:solidFill>
            <a:prstDash val="solid"/>
          </a:ln>
          <a:effectLst>
            <a:outerShdw blurRad="76200" dist="25400" dir="2700000" algn="bl" rotWithShape="0">
              <a:srgbClr val="000000">
                <a:alpha val="7000"/>
              </a:srgbClr>
            </a:outerShdw>
          </a:effectLst>
        </p:spPr>
        <p:txBody>
          <a:bodyPr/>
          <a:lstStyle/>
          <a:p>
            <a:endParaRPr lang="en-US"/>
          </a:p>
        </p:txBody>
      </p:sp>
      <p:sp>
        <p:nvSpPr>
          <p:cNvPr id="21" name="Text 19"/>
          <p:cNvSpPr/>
          <p:nvPr/>
        </p:nvSpPr>
        <p:spPr>
          <a:xfrm>
            <a:off x="365760" y="2898648"/>
            <a:ext cx="1554480" cy="320040"/>
          </a:xfrm>
          <a:prstGeom prst="rect">
            <a:avLst/>
          </a:prstGeom>
          <a:noFill/>
          <a:ln/>
        </p:spPr>
        <p:txBody>
          <a:bodyPr wrap="square" rtlCol="0" anchor="ctr"/>
          <a:lstStyle/>
          <a:p>
            <a:pPr marL="0" indent="0" algn="ctr">
              <a:buNone/>
            </a:pPr>
            <a:r>
              <a:rPr lang="en-US" sz="1200" b="1" dirty="0">
                <a:solidFill>
                  <a:srgbClr val="1B4F9B"/>
                </a:solidFill>
                <a:latin typeface="Arial" pitchFamily="34" charset="0"/>
                <a:ea typeface="Arial" pitchFamily="34" charset="-122"/>
                <a:cs typeface="Arial" pitchFamily="34" charset="-120"/>
              </a:rPr>
              <a:t>Data</a:t>
            </a:r>
            <a:endParaRPr lang="en-US" sz="1200" dirty="0"/>
          </a:p>
        </p:txBody>
      </p:sp>
      <p:sp>
        <p:nvSpPr>
          <p:cNvPr id="22" name="Text 20"/>
          <p:cNvSpPr/>
          <p:nvPr/>
        </p:nvSpPr>
        <p:spPr>
          <a:xfrm>
            <a:off x="365760" y="3246120"/>
            <a:ext cx="1554480" cy="640080"/>
          </a:xfrm>
          <a:prstGeom prst="rect">
            <a:avLst/>
          </a:prstGeom>
          <a:noFill/>
          <a:ln/>
        </p:spPr>
        <p:txBody>
          <a:bodyPr wrap="square" rtlCol="0" anchor="t"/>
          <a:lstStyle/>
          <a:p>
            <a:pPr marL="0" indent="0" algn="ctr">
              <a:buNone/>
            </a:pPr>
            <a:r>
              <a:rPr lang="en-US" sz="900" dirty="0">
                <a:solidFill>
                  <a:srgbClr val="64635E"/>
                </a:solidFill>
                <a:latin typeface="Arial" pitchFamily="34" charset="0"/>
                <a:ea typeface="Arial" pitchFamily="34" charset="-122"/>
                <a:cs typeface="Arial" pitchFamily="34" charset="-120"/>
              </a:rPr>
              <a:t>Schema, volume,</a:t>
            </a:r>
            <a:endParaRPr lang="en-US" sz="900" dirty="0"/>
          </a:p>
          <a:p>
            <a:pPr marL="0" indent="0" algn="ctr">
              <a:buNone/>
            </a:pPr>
            <a:r>
              <a:rPr lang="en-US" sz="900" dirty="0">
                <a:solidFill>
                  <a:srgbClr val="64635E"/>
                </a:solidFill>
                <a:latin typeface="Arial" pitchFamily="34" charset="0"/>
                <a:ea typeface="Arial" pitchFamily="34" charset="-122"/>
                <a:cs typeface="Arial" pitchFamily="34" charset="-120"/>
              </a:rPr>
              <a:t>security model</a:t>
            </a:r>
            <a:endParaRPr lang="en-US" sz="900" dirty="0"/>
          </a:p>
        </p:txBody>
      </p:sp>
      <p:sp>
        <p:nvSpPr>
          <p:cNvPr id="23" name="Shape 21"/>
          <p:cNvSpPr/>
          <p:nvPr/>
        </p:nvSpPr>
        <p:spPr>
          <a:xfrm>
            <a:off x="2057400" y="2788920"/>
            <a:ext cx="1554480" cy="1234440"/>
          </a:xfrm>
          <a:prstGeom prst="roundRect">
            <a:avLst>
              <a:gd name="adj" fmla="val 5926"/>
            </a:avLst>
          </a:prstGeom>
          <a:solidFill>
            <a:srgbClr val="FFFFFF"/>
          </a:solidFill>
          <a:ln w="6350">
            <a:solidFill>
              <a:srgbClr val="D3D1C7"/>
            </a:solidFill>
            <a:prstDash val="solid"/>
          </a:ln>
          <a:effectLst>
            <a:outerShdw blurRad="76200" dist="25400" dir="2700000" algn="bl" rotWithShape="0">
              <a:srgbClr val="000000">
                <a:alpha val="7000"/>
              </a:srgbClr>
            </a:outerShdw>
          </a:effectLst>
        </p:spPr>
        <p:txBody>
          <a:bodyPr/>
          <a:lstStyle/>
          <a:p>
            <a:endParaRPr lang="en-US"/>
          </a:p>
        </p:txBody>
      </p:sp>
      <p:sp>
        <p:nvSpPr>
          <p:cNvPr id="24" name="Text 22"/>
          <p:cNvSpPr/>
          <p:nvPr/>
        </p:nvSpPr>
        <p:spPr>
          <a:xfrm>
            <a:off x="2057400" y="2898648"/>
            <a:ext cx="1554480" cy="320040"/>
          </a:xfrm>
          <a:prstGeom prst="rect">
            <a:avLst/>
          </a:prstGeom>
          <a:noFill/>
          <a:ln/>
        </p:spPr>
        <p:txBody>
          <a:bodyPr wrap="square" rtlCol="0" anchor="ctr"/>
          <a:lstStyle/>
          <a:p>
            <a:pPr marL="0" indent="0" algn="ctr">
              <a:buNone/>
            </a:pPr>
            <a:r>
              <a:rPr lang="en-US" sz="1200" b="1" dirty="0">
                <a:solidFill>
                  <a:srgbClr val="1B4F9B"/>
                </a:solidFill>
                <a:latin typeface="Arial" pitchFamily="34" charset="0"/>
                <a:ea typeface="Arial" pitchFamily="34" charset="-122"/>
                <a:cs typeface="Arial" pitchFamily="34" charset="-120"/>
              </a:rPr>
              <a:t>OmniStudio</a:t>
            </a:r>
            <a:endParaRPr lang="en-US" sz="1200" dirty="0"/>
          </a:p>
        </p:txBody>
      </p:sp>
      <p:sp>
        <p:nvSpPr>
          <p:cNvPr id="25" name="Text 23"/>
          <p:cNvSpPr/>
          <p:nvPr/>
        </p:nvSpPr>
        <p:spPr>
          <a:xfrm>
            <a:off x="2057400" y="3246120"/>
            <a:ext cx="1554480" cy="640080"/>
          </a:xfrm>
          <a:prstGeom prst="rect">
            <a:avLst/>
          </a:prstGeom>
          <a:noFill/>
          <a:ln/>
        </p:spPr>
        <p:txBody>
          <a:bodyPr wrap="square" rtlCol="0" anchor="t"/>
          <a:lstStyle/>
          <a:p>
            <a:pPr marL="0" indent="0" algn="ctr">
              <a:buNone/>
            </a:pPr>
            <a:r>
              <a:rPr lang="en-US" sz="900" dirty="0">
                <a:solidFill>
                  <a:srgbClr val="64635E"/>
                </a:solidFill>
                <a:latin typeface="Arial" pitchFamily="34" charset="0"/>
                <a:ea typeface="Arial" pitchFamily="34" charset="-122"/>
                <a:cs typeface="Arial" pitchFamily="34" charset="-120"/>
              </a:rPr>
              <a:t>Vlocity, DataRaptor,</a:t>
            </a:r>
            <a:endParaRPr lang="en-US" sz="900" dirty="0"/>
          </a:p>
          <a:p>
            <a:pPr marL="0" indent="0" algn="ctr">
              <a:buNone/>
            </a:pPr>
            <a:r>
              <a:rPr lang="en-US" sz="900" dirty="0">
                <a:solidFill>
                  <a:srgbClr val="64635E"/>
                </a:solidFill>
                <a:latin typeface="Arial" pitchFamily="34" charset="0"/>
                <a:ea typeface="Arial" pitchFamily="34" charset="-122"/>
                <a:cs typeface="Arial" pitchFamily="34" charset="-120"/>
              </a:rPr>
              <a:t>OmniScript</a:t>
            </a:r>
            <a:endParaRPr lang="en-US" sz="900" dirty="0"/>
          </a:p>
        </p:txBody>
      </p:sp>
      <p:sp>
        <p:nvSpPr>
          <p:cNvPr id="26" name="Shape 24"/>
          <p:cNvSpPr/>
          <p:nvPr/>
        </p:nvSpPr>
        <p:spPr>
          <a:xfrm>
            <a:off x="3749040" y="2788920"/>
            <a:ext cx="1554480" cy="1234440"/>
          </a:xfrm>
          <a:prstGeom prst="roundRect">
            <a:avLst>
              <a:gd name="adj" fmla="val 5926"/>
            </a:avLst>
          </a:prstGeom>
          <a:solidFill>
            <a:srgbClr val="FFFFFF"/>
          </a:solidFill>
          <a:ln w="6350">
            <a:solidFill>
              <a:srgbClr val="D3D1C7"/>
            </a:solidFill>
            <a:prstDash val="solid"/>
          </a:ln>
          <a:effectLst>
            <a:outerShdw blurRad="76200" dist="25400" dir="2700000" algn="bl" rotWithShape="0">
              <a:srgbClr val="000000">
                <a:alpha val="7000"/>
              </a:srgbClr>
            </a:outerShdw>
          </a:effectLst>
        </p:spPr>
        <p:txBody>
          <a:bodyPr/>
          <a:lstStyle/>
          <a:p>
            <a:endParaRPr lang="en-US"/>
          </a:p>
        </p:txBody>
      </p:sp>
      <p:sp>
        <p:nvSpPr>
          <p:cNvPr id="27" name="Text 25"/>
          <p:cNvSpPr/>
          <p:nvPr/>
        </p:nvSpPr>
        <p:spPr>
          <a:xfrm>
            <a:off x="3749040" y="2898648"/>
            <a:ext cx="1554480" cy="320040"/>
          </a:xfrm>
          <a:prstGeom prst="rect">
            <a:avLst/>
          </a:prstGeom>
          <a:noFill/>
          <a:ln/>
        </p:spPr>
        <p:txBody>
          <a:bodyPr wrap="square" rtlCol="0" anchor="ctr"/>
          <a:lstStyle/>
          <a:p>
            <a:pPr marL="0" indent="0" algn="ctr">
              <a:buNone/>
            </a:pPr>
            <a:r>
              <a:rPr lang="en-US" sz="1200" b="1" dirty="0">
                <a:solidFill>
                  <a:srgbClr val="1B4F9B"/>
                </a:solidFill>
                <a:latin typeface="Arial" pitchFamily="34" charset="0"/>
                <a:ea typeface="Arial" pitchFamily="34" charset="-122"/>
                <a:cs typeface="Arial" pitchFamily="34" charset="-120"/>
              </a:rPr>
              <a:t>Patterns</a:t>
            </a:r>
            <a:endParaRPr lang="en-US" sz="1200" dirty="0"/>
          </a:p>
        </p:txBody>
      </p:sp>
      <p:sp>
        <p:nvSpPr>
          <p:cNvPr id="28" name="Text 26"/>
          <p:cNvSpPr/>
          <p:nvPr/>
        </p:nvSpPr>
        <p:spPr>
          <a:xfrm>
            <a:off x="3749040" y="3246120"/>
            <a:ext cx="1554480" cy="640080"/>
          </a:xfrm>
          <a:prstGeom prst="rect">
            <a:avLst/>
          </a:prstGeom>
          <a:noFill/>
          <a:ln/>
        </p:spPr>
        <p:txBody>
          <a:bodyPr wrap="square" rtlCol="0" anchor="t"/>
          <a:lstStyle/>
          <a:p>
            <a:pPr marL="0" indent="0" algn="ctr">
              <a:buNone/>
            </a:pPr>
            <a:r>
              <a:rPr lang="en-US" sz="900" dirty="0">
                <a:solidFill>
                  <a:srgbClr val="64635E"/>
                </a:solidFill>
                <a:latin typeface="Arial" pitchFamily="34" charset="0"/>
                <a:ea typeface="Arial" pitchFamily="34" charset="-122"/>
                <a:cs typeface="Arial" pitchFamily="34" charset="-120"/>
              </a:rPr>
              <a:t>SI failure patterns,</a:t>
            </a:r>
            <a:endParaRPr lang="en-US" sz="900" dirty="0"/>
          </a:p>
          <a:p>
            <a:pPr marL="0" indent="0" algn="ctr">
              <a:buNone/>
            </a:pPr>
            <a:r>
              <a:rPr lang="en-US" sz="900" dirty="0">
                <a:solidFill>
                  <a:srgbClr val="64635E"/>
                </a:solidFill>
                <a:latin typeface="Arial" pitchFamily="34" charset="0"/>
                <a:ea typeface="Arial" pitchFamily="34" charset="-122"/>
                <a:cs typeface="Arial" pitchFamily="34" charset="-120"/>
              </a:rPr>
              <a:t>anti-patterns</a:t>
            </a:r>
            <a:endParaRPr lang="en-US" sz="900" dirty="0"/>
          </a:p>
        </p:txBody>
      </p:sp>
      <p:sp>
        <p:nvSpPr>
          <p:cNvPr id="29" name="Shape 27"/>
          <p:cNvSpPr/>
          <p:nvPr/>
        </p:nvSpPr>
        <p:spPr>
          <a:xfrm>
            <a:off x="5440680" y="2788920"/>
            <a:ext cx="1554480" cy="1234440"/>
          </a:xfrm>
          <a:prstGeom prst="roundRect">
            <a:avLst>
              <a:gd name="adj" fmla="val 5926"/>
            </a:avLst>
          </a:prstGeom>
          <a:solidFill>
            <a:srgbClr val="0F1E3C"/>
          </a:solidFill>
          <a:ln w="6350">
            <a:solidFill>
              <a:srgbClr val="D3D1C7"/>
            </a:solidFill>
            <a:prstDash val="solid"/>
          </a:ln>
          <a:effectLst>
            <a:outerShdw blurRad="76200" dist="25400" dir="2700000" algn="bl" rotWithShape="0">
              <a:srgbClr val="000000">
                <a:alpha val="7000"/>
              </a:srgbClr>
            </a:outerShdw>
          </a:effectLst>
        </p:spPr>
        <p:txBody>
          <a:bodyPr/>
          <a:lstStyle/>
          <a:p>
            <a:endParaRPr lang="en-US"/>
          </a:p>
        </p:txBody>
      </p:sp>
      <p:sp>
        <p:nvSpPr>
          <p:cNvPr id="30" name="Text 28"/>
          <p:cNvSpPr/>
          <p:nvPr/>
        </p:nvSpPr>
        <p:spPr>
          <a:xfrm>
            <a:off x="5440680" y="2898648"/>
            <a:ext cx="1554480" cy="320040"/>
          </a:xfrm>
          <a:prstGeom prst="rect">
            <a:avLst/>
          </a:prstGeom>
          <a:noFill/>
          <a:ln/>
        </p:spPr>
        <p:txBody>
          <a:bodyPr wrap="square"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Judge</a:t>
            </a:r>
            <a:endParaRPr lang="en-US" sz="1200" dirty="0"/>
          </a:p>
        </p:txBody>
      </p:sp>
      <p:sp>
        <p:nvSpPr>
          <p:cNvPr id="31" name="Text 29"/>
          <p:cNvSpPr/>
          <p:nvPr/>
        </p:nvSpPr>
        <p:spPr>
          <a:xfrm>
            <a:off x="5440680" y="3246120"/>
            <a:ext cx="1554480" cy="640080"/>
          </a:xfrm>
          <a:prstGeom prst="rect">
            <a:avLst/>
          </a:prstGeom>
          <a:noFill/>
          <a:ln/>
        </p:spPr>
        <p:txBody>
          <a:bodyPr wrap="square" rtlCol="0" anchor="t"/>
          <a:lstStyle/>
          <a:p>
            <a:pPr marL="0" indent="0" algn="ctr">
              <a:buNone/>
            </a:pPr>
            <a:r>
              <a:rPr lang="en-US" sz="900" dirty="0">
                <a:solidFill>
                  <a:srgbClr val="A0B8D8"/>
                </a:solidFill>
                <a:latin typeface="Arial" pitchFamily="34" charset="0"/>
                <a:ea typeface="Arial" pitchFamily="34" charset="-122"/>
                <a:cs typeface="Arial" pitchFamily="34" charset="-120"/>
              </a:rPr>
              <a:t>Arbitrates conflicts,</a:t>
            </a:r>
            <a:endParaRPr lang="en-US" sz="900" dirty="0"/>
          </a:p>
          <a:p>
            <a:pPr marL="0" indent="0" algn="ctr">
              <a:buNone/>
            </a:pPr>
            <a:r>
              <a:rPr lang="en-US" sz="900" dirty="0">
                <a:solidFill>
                  <a:srgbClr val="A0B8D8"/>
                </a:solidFill>
                <a:latin typeface="Arial" pitchFamily="34" charset="0"/>
                <a:ea typeface="Arial" pitchFamily="34" charset="-122"/>
                <a:cs typeface="Arial" pitchFamily="34" charset="-120"/>
              </a:rPr>
              <a:t>final verdict</a:t>
            </a:r>
            <a:endParaRPr lang="en-US" sz="900" dirty="0"/>
          </a:p>
        </p:txBody>
      </p:sp>
      <p:sp>
        <p:nvSpPr>
          <p:cNvPr id="32" name="Text 30"/>
          <p:cNvSpPr/>
          <p:nvPr/>
        </p:nvSpPr>
        <p:spPr>
          <a:xfrm>
            <a:off x="502920" y="4480560"/>
            <a:ext cx="8138160" cy="256032"/>
          </a:xfrm>
          <a:prstGeom prst="rect">
            <a:avLst/>
          </a:prstGeom>
          <a:noFill/>
          <a:ln/>
        </p:spPr>
        <p:txBody>
          <a:bodyPr wrap="square" rtlCol="0" anchor="ctr"/>
          <a:lstStyle/>
          <a:p>
            <a:pPr marL="0" indent="0" algn="ctr">
              <a:buNone/>
            </a:pPr>
            <a:r>
              <a:rPr lang="en-US" sz="1000" i="1" dirty="0">
                <a:solidFill>
                  <a:srgbClr val="64635E"/>
                </a:solidFill>
                <a:latin typeface="Arial" pitchFamily="34" charset="0"/>
                <a:ea typeface="Arial" pitchFamily="34" charset="-122"/>
                <a:cs typeface="Arial" pitchFamily="34" charset="-120"/>
              </a:rPr>
              <a:t>Phase 1: Designer (skipped on doc upload) → Phase 2: 7 specialists in sequence → Phase 3: Judge + Scribe + Learner</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8FA"/>
        </a:solidFill>
        <a:effectLst/>
      </p:bgPr>
    </p:bg>
    <p:spTree>
      <p:nvGrpSpPr>
        <p:cNvPr id="1" name=""/>
        <p:cNvGrpSpPr/>
        <p:nvPr/>
      </p:nvGrpSpPr>
      <p:grpSpPr>
        <a:xfrm>
          <a:off x="0" y="0"/>
          <a:ext cx="0" cy="0"/>
          <a:chOff x="0" y="0"/>
          <a:chExt cx="0" cy="0"/>
        </a:xfrm>
      </p:grpSpPr>
      <p:sp>
        <p:nvSpPr>
          <p:cNvPr id="2" name="Text 0"/>
          <p:cNvSpPr/>
          <p:nvPr/>
        </p:nvSpPr>
        <p:spPr>
          <a:xfrm>
            <a:off x="502920" y="347472"/>
            <a:ext cx="8138160" cy="201168"/>
          </a:xfrm>
          <a:prstGeom prst="rect">
            <a:avLst/>
          </a:prstGeom>
          <a:noFill/>
          <a:ln/>
        </p:spPr>
        <p:txBody>
          <a:bodyPr wrap="square" rtlCol="0" anchor="ctr"/>
          <a:lstStyle/>
          <a:p>
            <a:pPr marL="0" indent="0" algn="l">
              <a:buNone/>
            </a:pPr>
            <a:r>
              <a:rPr lang="en-US" sz="900" b="1" kern="0" spc="300" dirty="0">
                <a:solidFill>
                  <a:srgbClr val="2E6DA4"/>
                </a:solidFill>
                <a:latin typeface="Arial" pitchFamily="34" charset="0"/>
                <a:ea typeface="Arial" pitchFamily="34" charset="-122"/>
                <a:cs typeface="Arial" pitchFamily="34" charset="-120"/>
              </a:rPr>
              <a:t>AGENT GROUNDING</a:t>
            </a:r>
            <a:endParaRPr lang="en-US" sz="900" dirty="0"/>
          </a:p>
        </p:txBody>
      </p:sp>
      <p:sp>
        <p:nvSpPr>
          <p:cNvPr id="3" name="Text 1"/>
          <p:cNvSpPr/>
          <p:nvPr/>
        </p:nvSpPr>
        <p:spPr>
          <a:xfrm>
            <a:off x="502920" y="594360"/>
            <a:ext cx="8138160" cy="640080"/>
          </a:xfrm>
          <a:prstGeom prst="rect">
            <a:avLst/>
          </a:prstGeom>
          <a:noFill/>
          <a:ln/>
        </p:spPr>
        <p:txBody>
          <a:bodyPr wrap="square" rtlCol="0" anchor="ctr"/>
          <a:lstStyle/>
          <a:p>
            <a:pPr marL="0" indent="0" algn="l">
              <a:buNone/>
            </a:pPr>
            <a:r>
              <a:rPr lang="en-US" sz="2800" b="1" dirty="0">
                <a:solidFill>
                  <a:srgbClr val="1A1A1A"/>
                </a:solidFill>
                <a:latin typeface="Arial" pitchFamily="34" charset="0"/>
                <a:ea typeface="Arial" pitchFamily="34" charset="-122"/>
                <a:cs typeface="Arial" pitchFamily="34" charset="-120"/>
              </a:rPr>
              <a:t>Agents are grounded in four layers of knowledge</a:t>
            </a:r>
            <a:endParaRPr lang="en-US" sz="2800" dirty="0"/>
          </a:p>
        </p:txBody>
      </p:sp>
      <p:sp>
        <p:nvSpPr>
          <p:cNvPr id="4" name="Shape 2"/>
          <p:cNvSpPr/>
          <p:nvPr/>
        </p:nvSpPr>
        <p:spPr>
          <a:xfrm>
            <a:off x="502920" y="1207008"/>
            <a:ext cx="8138160" cy="0"/>
          </a:xfrm>
          <a:prstGeom prst="line">
            <a:avLst/>
          </a:prstGeom>
          <a:noFill/>
          <a:ln w="10160">
            <a:solidFill>
              <a:srgbClr val="EBEBEB"/>
            </a:solidFill>
            <a:prstDash val="solid"/>
          </a:ln>
        </p:spPr>
        <p:txBody>
          <a:bodyPr/>
          <a:lstStyle/>
          <a:p>
            <a:endParaRPr lang="en-US"/>
          </a:p>
        </p:txBody>
      </p:sp>
      <p:sp>
        <p:nvSpPr>
          <p:cNvPr id="5" name="Shape 3"/>
          <p:cNvSpPr/>
          <p:nvPr/>
        </p:nvSpPr>
        <p:spPr>
          <a:xfrm>
            <a:off x="502920" y="1371600"/>
            <a:ext cx="8138160" cy="640080"/>
          </a:xfrm>
          <a:prstGeom prst="roundRect">
            <a:avLst>
              <a:gd name="adj" fmla="val 11429"/>
            </a:avLst>
          </a:prstGeom>
          <a:solidFill>
            <a:srgbClr val="EBEBEB"/>
          </a:solidFill>
          <a:ln w="6350">
            <a:solidFill>
              <a:srgbClr val="D3D1C7"/>
            </a:solidFill>
            <a:prstDash val="solid"/>
          </a:ln>
        </p:spPr>
        <p:txBody>
          <a:bodyPr/>
          <a:lstStyle/>
          <a:p>
            <a:endParaRPr lang="en-US"/>
          </a:p>
        </p:txBody>
      </p:sp>
      <p:sp>
        <p:nvSpPr>
          <p:cNvPr id="6" name="Shape 4"/>
          <p:cNvSpPr/>
          <p:nvPr/>
        </p:nvSpPr>
        <p:spPr>
          <a:xfrm>
            <a:off x="658368" y="1463040"/>
            <a:ext cx="411480" cy="411480"/>
          </a:xfrm>
          <a:prstGeom prst="ellipse">
            <a:avLst/>
          </a:prstGeom>
          <a:solidFill>
            <a:srgbClr val="0F1E3C"/>
          </a:solidFill>
          <a:ln w="12700">
            <a:solidFill>
              <a:srgbClr val="0F1E3C"/>
            </a:solidFill>
            <a:prstDash val="solid"/>
          </a:ln>
        </p:spPr>
        <p:txBody>
          <a:bodyPr/>
          <a:lstStyle/>
          <a:p>
            <a:endParaRPr lang="en-US"/>
          </a:p>
        </p:txBody>
      </p:sp>
      <p:sp>
        <p:nvSpPr>
          <p:cNvPr id="7" name="Text 5"/>
          <p:cNvSpPr/>
          <p:nvPr/>
        </p:nvSpPr>
        <p:spPr>
          <a:xfrm>
            <a:off x="658368" y="1463040"/>
            <a:ext cx="411480" cy="411480"/>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1</a:t>
            </a:r>
            <a:endParaRPr lang="en-US" sz="1300" dirty="0"/>
          </a:p>
        </p:txBody>
      </p:sp>
      <p:sp>
        <p:nvSpPr>
          <p:cNvPr id="8" name="Text 6"/>
          <p:cNvSpPr/>
          <p:nvPr/>
        </p:nvSpPr>
        <p:spPr>
          <a:xfrm>
            <a:off x="1207008" y="1426464"/>
            <a:ext cx="2926080" cy="256032"/>
          </a:xfrm>
          <a:prstGeom prst="rect">
            <a:avLst/>
          </a:prstGeom>
          <a:noFill/>
          <a:ln/>
        </p:spPr>
        <p:txBody>
          <a:bodyPr wrap="square" rtlCol="0" anchor="ctr"/>
          <a:lstStyle/>
          <a:p>
            <a:pPr marL="0" indent="0">
              <a:buNone/>
            </a:pPr>
            <a:r>
              <a:rPr lang="en-US" sz="1200" b="1" dirty="0">
                <a:solidFill>
                  <a:srgbClr val="0F1E3C"/>
                </a:solidFill>
                <a:latin typeface="Arial" pitchFamily="34" charset="0"/>
                <a:ea typeface="Arial" pitchFamily="34" charset="-122"/>
                <a:cs typeface="Arial" pitchFamily="34" charset="-120"/>
              </a:rPr>
              <a:t>Base model knowledge</a:t>
            </a:r>
            <a:endParaRPr lang="en-US" sz="1200" dirty="0"/>
          </a:p>
        </p:txBody>
      </p:sp>
      <p:sp>
        <p:nvSpPr>
          <p:cNvPr id="9" name="Text 7"/>
          <p:cNvSpPr/>
          <p:nvPr/>
        </p:nvSpPr>
        <p:spPr>
          <a:xfrm>
            <a:off x="1207008" y="1700784"/>
            <a:ext cx="7223760" cy="219456"/>
          </a:xfrm>
          <a:prstGeom prst="rect">
            <a:avLst/>
          </a:prstGeom>
          <a:noFill/>
          <a:ln/>
        </p:spPr>
        <p:txBody>
          <a:bodyPr wrap="square" rtlCol="0" anchor="ctr"/>
          <a:lstStyle/>
          <a:p>
            <a:pPr marL="0" indent="0">
              <a:buNone/>
            </a:pPr>
            <a:r>
              <a:rPr lang="en-US" sz="1000" dirty="0">
                <a:solidFill>
                  <a:srgbClr val="64635E"/>
                </a:solidFill>
                <a:latin typeface="Arial" pitchFamily="34" charset="0"/>
                <a:ea typeface="Arial" pitchFamily="34" charset="-122"/>
                <a:cs typeface="Arial" pitchFamily="34" charset="-120"/>
              </a:rPr>
              <a:t>Claude's training — Salesforce patterns, anti-patterns, best practices</a:t>
            </a:r>
            <a:endParaRPr lang="en-US" sz="1000" dirty="0"/>
          </a:p>
        </p:txBody>
      </p:sp>
      <p:sp>
        <p:nvSpPr>
          <p:cNvPr id="10" name="Shape 8"/>
          <p:cNvSpPr/>
          <p:nvPr/>
        </p:nvSpPr>
        <p:spPr>
          <a:xfrm>
            <a:off x="502920" y="2121408"/>
            <a:ext cx="8138160" cy="640080"/>
          </a:xfrm>
          <a:prstGeom prst="roundRect">
            <a:avLst>
              <a:gd name="adj" fmla="val 11429"/>
            </a:avLst>
          </a:prstGeom>
          <a:solidFill>
            <a:srgbClr val="EBF2FA"/>
          </a:solidFill>
          <a:ln w="6350">
            <a:solidFill>
              <a:srgbClr val="D3D1C7"/>
            </a:solidFill>
            <a:prstDash val="solid"/>
          </a:ln>
        </p:spPr>
        <p:txBody>
          <a:bodyPr/>
          <a:lstStyle/>
          <a:p>
            <a:endParaRPr lang="en-US"/>
          </a:p>
        </p:txBody>
      </p:sp>
      <p:sp>
        <p:nvSpPr>
          <p:cNvPr id="11" name="Shape 9"/>
          <p:cNvSpPr/>
          <p:nvPr/>
        </p:nvSpPr>
        <p:spPr>
          <a:xfrm>
            <a:off x="658368" y="2212848"/>
            <a:ext cx="411480" cy="411480"/>
          </a:xfrm>
          <a:prstGeom prst="ellipse">
            <a:avLst/>
          </a:prstGeom>
          <a:solidFill>
            <a:srgbClr val="1B4F9B"/>
          </a:solidFill>
          <a:ln w="12700">
            <a:solidFill>
              <a:srgbClr val="1B4F9B"/>
            </a:solidFill>
            <a:prstDash val="solid"/>
          </a:ln>
        </p:spPr>
        <p:txBody>
          <a:bodyPr/>
          <a:lstStyle/>
          <a:p>
            <a:endParaRPr lang="en-US"/>
          </a:p>
        </p:txBody>
      </p:sp>
      <p:sp>
        <p:nvSpPr>
          <p:cNvPr id="12" name="Text 10"/>
          <p:cNvSpPr/>
          <p:nvPr/>
        </p:nvSpPr>
        <p:spPr>
          <a:xfrm>
            <a:off x="658368" y="2212848"/>
            <a:ext cx="411480" cy="411480"/>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2</a:t>
            </a:r>
            <a:endParaRPr lang="en-US" sz="1300" dirty="0"/>
          </a:p>
        </p:txBody>
      </p:sp>
      <p:sp>
        <p:nvSpPr>
          <p:cNvPr id="13" name="Text 11"/>
          <p:cNvSpPr/>
          <p:nvPr/>
        </p:nvSpPr>
        <p:spPr>
          <a:xfrm>
            <a:off x="1207008" y="2176272"/>
            <a:ext cx="2926080" cy="256032"/>
          </a:xfrm>
          <a:prstGeom prst="rect">
            <a:avLst/>
          </a:prstGeom>
          <a:noFill/>
          <a:ln/>
        </p:spPr>
        <p:txBody>
          <a:bodyPr wrap="square" rtlCol="0" anchor="ctr"/>
          <a:lstStyle/>
          <a:p>
            <a:pPr marL="0" indent="0">
              <a:buNone/>
            </a:pPr>
            <a:r>
              <a:rPr lang="en-US" sz="1200" b="1" dirty="0">
                <a:solidFill>
                  <a:srgbClr val="1B4F9B"/>
                </a:solidFill>
                <a:latin typeface="Arial" pitchFamily="34" charset="0"/>
                <a:ea typeface="Arial" pitchFamily="34" charset="-122"/>
                <a:cs typeface="Arial" pitchFamily="34" charset="-120"/>
              </a:rPr>
              <a:t>Static principles</a:t>
            </a:r>
            <a:endParaRPr lang="en-US" sz="1200" dirty="0"/>
          </a:p>
        </p:txBody>
      </p:sp>
      <p:sp>
        <p:nvSpPr>
          <p:cNvPr id="14" name="Text 12"/>
          <p:cNvSpPr/>
          <p:nvPr/>
        </p:nvSpPr>
        <p:spPr>
          <a:xfrm>
            <a:off x="1207008" y="2450592"/>
            <a:ext cx="7223760" cy="219456"/>
          </a:xfrm>
          <a:prstGeom prst="rect">
            <a:avLst/>
          </a:prstGeom>
          <a:noFill/>
          <a:ln/>
        </p:spPr>
        <p:txBody>
          <a:bodyPr wrap="square" rtlCol="0" anchor="ctr"/>
          <a:lstStyle/>
          <a:p>
            <a:pPr marL="0" indent="0">
              <a:buNone/>
            </a:pPr>
            <a:r>
              <a:rPr lang="en-US" sz="1000" dirty="0">
                <a:solidFill>
                  <a:srgbClr val="64635E"/>
                </a:solidFill>
                <a:latin typeface="Arial" pitchFamily="34" charset="0"/>
                <a:ea typeface="Arial" pitchFamily="34" charset="-122"/>
                <a:cs typeface="Arial" pitchFamily="34" charset="-120"/>
              </a:rPr>
              <a:t>Curated Salesforce Well-Architected principles injected per agent. Zero latency.</a:t>
            </a:r>
            <a:endParaRPr lang="en-US" sz="1000" dirty="0"/>
          </a:p>
        </p:txBody>
      </p:sp>
      <p:sp>
        <p:nvSpPr>
          <p:cNvPr id="15" name="Shape 13"/>
          <p:cNvSpPr/>
          <p:nvPr/>
        </p:nvSpPr>
        <p:spPr>
          <a:xfrm>
            <a:off x="502920" y="2871216"/>
            <a:ext cx="8138160" cy="640080"/>
          </a:xfrm>
          <a:prstGeom prst="roundRect">
            <a:avLst>
              <a:gd name="adj" fmla="val 11429"/>
            </a:avLst>
          </a:prstGeom>
          <a:solidFill>
            <a:srgbClr val="E1F5EE"/>
          </a:solidFill>
          <a:ln w="6350">
            <a:solidFill>
              <a:srgbClr val="D3D1C7"/>
            </a:solidFill>
            <a:prstDash val="solid"/>
          </a:ln>
        </p:spPr>
        <p:txBody>
          <a:bodyPr/>
          <a:lstStyle/>
          <a:p>
            <a:endParaRPr lang="en-US"/>
          </a:p>
        </p:txBody>
      </p:sp>
      <p:sp>
        <p:nvSpPr>
          <p:cNvPr id="16" name="Shape 14"/>
          <p:cNvSpPr/>
          <p:nvPr/>
        </p:nvSpPr>
        <p:spPr>
          <a:xfrm>
            <a:off x="658368" y="2962656"/>
            <a:ext cx="411480" cy="411480"/>
          </a:xfrm>
          <a:prstGeom prst="ellipse">
            <a:avLst/>
          </a:prstGeom>
          <a:solidFill>
            <a:srgbClr val="0F6E56"/>
          </a:solidFill>
          <a:ln w="12700">
            <a:solidFill>
              <a:srgbClr val="0F6E56"/>
            </a:solidFill>
            <a:prstDash val="solid"/>
          </a:ln>
        </p:spPr>
        <p:txBody>
          <a:bodyPr/>
          <a:lstStyle/>
          <a:p>
            <a:endParaRPr lang="en-US"/>
          </a:p>
        </p:txBody>
      </p:sp>
      <p:sp>
        <p:nvSpPr>
          <p:cNvPr id="17" name="Text 15"/>
          <p:cNvSpPr/>
          <p:nvPr/>
        </p:nvSpPr>
        <p:spPr>
          <a:xfrm>
            <a:off x="658368" y="2962656"/>
            <a:ext cx="411480" cy="411480"/>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3</a:t>
            </a:r>
            <a:endParaRPr lang="en-US" sz="1300" dirty="0"/>
          </a:p>
        </p:txBody>
      </p:sp>
      <p:sp>
        <p:nvSpPr>
          <p:cNvPr id="18" name="Text 16"/>
          <p:cNvSpPr/>
          <p:nvPr/>
        </p:nvSpPr>
        <p:spPr>
          <a:xfrm>
            <a:off x="1207008" y="2926080"/>
            <a:ext cx="2926080" cy="256032"/>
          </a:xfrm>
          <a:prstGeom prst="rect">
            <a:avLst/>
          </a:prstGeom>
          <a:noFill/>
          <a:ln/>
        </p:spPr>
        <p:txBody>
          <a:bodyPr wrap="square" rtlCol="0" anchor="ctr"/>
          <a:lstStyle/>
          <a:p>
            <a:pPr marL="0" indent="0">
              <a:buNone/>
            </a:pPr>
            <a:r>
              <a:rPr lang="en-US" sz="1200" b="1" dirty="0">
                <a:solidFill>
                  <a:srgbClr val="0F6E56"/>
                </a:solidFill>
                <a:latin typeface="Arial" pitchFamily="34" charset="0"/>
                <a:ea typeface="Arial" pitchFamily="34" charset="-122"/>
                <a:cs typeface="Arial" pitchFamily="34" charset="-120"/>
              </a:rPr>
              <a:t>SI failure pattern library</a:t>
            </a:r>
            <a:endParaRPr lang="en-US" sz="1200" dirty="0"/>
          </a:p>
        </p:txBody>
      </p:sp>
      <p:sp>
        <p:nvSpPr>
          <p:cNvPr id="19" name="Text 17"/>
          <p:cNvSpPr/>
          <p:nvPr/>
        </p:nvSpPr>
        <p:spPr>
          <a:xfrm>
            <a:off x="1207008" y="3200400"/>
            <a:ext cx="7223760" cy="219456"/>
          </a:xfrm>
          <a:prstGeom prst="rect">
            <a:avLst/>
          </a:prstGeom>
          <a:noFill/>
          <a:ln/>
        </p:spPr>
        <p:txBody>
          <a:bodyPr wrap="square" rtlCol="0" anchor="ctr"/>
          <a:lstStyle/>
          <a:p>
            <a:pPr marL="0" indent="0">
              <a:buNone/>
            </a:pPr>
            <a:r>
              <a:rPr lang="en-US" sz="1000" dirty="0">
                <a:solidFill>
                  <a:srgbClr val="64635E"/>
                </a:solidFill>
                <a:latin typeface="Arial" pitchFamily="34" charset="0"/>
                <a:ea typeface="Arial" pitchFamily="34" charset="-122"/>
                <a:cs typeface="Arial" pitchFamily="34" charset="-120"/>
              </a:rPr>
              <a:t>Real patterns from past engagements (FP-004 to FP-012). Agents cite by ID.</a:t>
            </a:r>
            <a:endParaRPr lang="en-US" sz="1000" dirty="0"/>
          </a:p>
        </p:txBody>
      </p:sp>
      <p:sp>
        <p:nvSpPr>
          <p:cNvPr id="20" name="Shape 18"/>
          <p:cNvSpPr/>
          <p:nvPr/>
        </p:nvSpPr>
        <p:spPr>
          <a:xfrm>
            <a:off x="502920" y="3621024"/>
            <a:ext cx="8138160" cy="640080"/>
          </a:xfrm>
          <a:prstGeom prst="roundRect">
            <a:avLst>
              <a:gd name="adj" fmla="val 11429"/>
            </a:avLst>
          </a:prstGeom>
          <a:solidFill>
            <a:srgbClr val="FAEEDA"/>
          </a:solidFill>
          <a:ln w="6350">
            <a:solidFill>
              <a:srgbClr val="D3D1C7"/>
            </a:solidFill>
            <a:prstDash val="solid"/>
          </a:ln>
        </p:spPr>
        <p:txBody>
          <a:bodyPr/>
          <a:lstStyle/>
          <a:p>
            <a:endParaRPr lang="en-US"/>
          </a:p>
        </p:txBody>
      </p:sp>
      <p:sp>
        <p:nvSpPr>
          <p:cNvPr id="21" name="Shape 19"/>
          <p:cNvSpPr/>
          <p:nvPr/>
        </p:nvSpPr>
        <p:spPr>
          <a:xfrm>
            <a:off x="658368" y="3712464"/>
            <a:ext cx="411480" cy="411480"/>
          </a:xfrm>
          <a:prstGeom prst="ellipse">
            <a:avLst/>
          </a:prstGeom>
          <a:solidFill>
            <a:srgbClr val="BA7517"/>
          </a:solidFill>
          <a:ln w="12700">
            <a:solidFill>
              <a:srgbClr val="BA7517"/>
            </a:solidFill>
            <a:prstDash val="solid"/>
          </a:ln>
        </p:spPr>
        <p:txBody>
          <a:bodyPr/>
          <a:lstStyle/>
          <a:p>
            <a:endParaRPr lang="en-US"/>
          </a:p>
        </p:txBody>
      </p:sp>
      <p:sp>
        <p:nvSpPr>
          <p:cNvPr id="22" name="Text 20"/>
          <p:cNvSpPr/>
          <p:nvPr/>
        </p:nvSpPr>
        <p:spPr>
          <a:xfrm>
            <a:off x="658368" y="3712464"/>
            <a:ext cx="411480" cy="411480"/>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4</a:t>
            </a:r>
            <a:endParaRPr lang="en-US" sz="1300" dirty="0"/>
          </a:p>
        </p:txBody>
      </p:sp>
      <p:sp>
        <p:nvSpPr>
          <p:cNvPr id="23" name="Text 21"/>
          <p:cNvSpPr/>
          <p:nvPr/>
        </p:nvSpPr>
        <p:spPr>
          <a:xfrm>
            <a:off x="1207008" y="3675888"/>
            <a:ext cx="2926080" cy="256032"/>
          </a:xfrm>
          <a:prstGeom prst="rect">
            <a:avLst/>
          </a:prstGeom>
          <a:noFill/>
          <a:ln/>
        </p:spPr>
        <p:txBody>
          <a:bodyPr wrap="square" rtlCol="0" anchor="ctr"/>
          <a:lstStyle/>
          <a:p>
            <a:pPr marL="0" indent="0">
              <a:buNone/>
            </a:pPr>
            <a:r>
              <a:rPr lang="en-US" sz="1200" b="1" dirty="0">
                <a:solidFill>
                  <a:srgbClr val="BA7517"/>
                </a:solidFill>
                <a:latin typeface="Arial" pitchFamily="34" charset="0"/>
                <a:ea typeface="Arial" pitchFamily="34" charset="-122"/>
                <a:cs typeface="Arial" pitchFamily="34" charset="-120"/>
              </a:rPr>
              <a:t>Cross-session memory</a:t>
            </a:r>
            <a:endParaRPr lang="en-US" sz="1200" dirty="0"/>
          </a:p>
        </p:txBody>
      </p:sp>
      <p:sp>
        <p:nvSpPr>
          <p:cNvPr id="24" name="Text 22"/>
          <p:cNvSpPr/>
          <p:nvPr/>
        </p:nvSpPr>
        <p:spPr>
          <a:xfrm>
            <a:off x="1207008" y="3950208"/>
            <a:ext cx="7223760" cy="219456"/>
          </a:xfrm>
          <a:prstGeom prst="rect">
            <a:avLst/>
          </a:prstGeom>
          <a:noFill/>
          <a:ln/>
        </p:spPr>
        <p:txBody>
          <a:bodyPr wrap="square" rtlCol="0" anchor="ctr"/>
          <a:lstStyle/>
          <a:p>
            <a:pPr marL="0" indent="0">
              <a:buNone/>
            </a:pPr>
            <a:r>
              <a:rPr lang="en-US" sz="1000" dirty="0">
                <a:solidFill>
                  <a:srgbClr val="64635E"/>
                </a:solidFill>
                <a:latin typeface="Arial" pitchFamily="34" charset="0"/>
                <a:ea typeface="Arial" pitchFamily="34" charset="-122"/>
                <a:cs typeface="Arial" pitchFamily="34" charset="-120"/>
              </a:rPr>
              <a:t>Past ADR decisions retrieved from Jira. Agents enforce consistency across sessions.</a:t>
            </a:r>
            <a:endParaRPr lang="en-US" sz="1000" dirty="0"/>
          </a:p>
        </p:txBody>
      </p:sp>
      <p:sp>
        <p:nvSpPr>
          <p:cNvPr id="25" name="Text 23"/>
          <p:cNvSpPr/>
          <p:nvPr/>
        </p:nvSpPr>
        <p:spPr>
          <a:xfrm>
            <a:off x="502920" y="4480560"/>
            <a:ext cx="8138160" cy="256032"/>
          </a:xfrm>
          <a:prstGeom prst="rect">
            <a:avLst/>
          </a:prstGeom>
          <a:noFill/>
          <a:ln/>
        </p:spPr>
        <p:txBody>
          <a:bodyPr wrap="square" rtlCol="0" anchor="ctr"/>
          <a:lstStyle/>
          <a:p>
            <a:pPr marL="0" indent="0">
              <a:buNone/>
            </a:pPr>
            <a:r>
              <a:rPr lang="en-US" sz="1000" b="1" i="1" dirty="0">
                <a:solidFill>
                  <a:srgbClr val="0F6E56"/>
                </a:solidFill>
                <a:latin typeface="Arial" pitchFamily="34" charset="0"/>
                <a:ea typeface="Arial" pitchFamily="34" charset="-122"/>
                <a:cs typeface="Arial" pitchFamily="34" charset="-120"/>
              </a:rPr>
              <a:t>Planned: pgvector RAG in Supabase — Well-Architected Framework + delivery standards as searchable vector store</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19">
    <p:bg>
      <p:bgPr>
        <a:solidFill>
          <a:srgbClr val="F7F8FA"/>
        </a:solidFill>
        <a:effectLst/>
      </p:bgPr>
    </p:bg>
    <p:spTree>
      <p:nvGrpSpPr>
        <p:cNvPr id="1" name=""/>
        <p:cNvGrpSpPr/>
        <p:nvPr/>
      </p:nvGrpSpPr>
      <p:grpSpPr>
        <a:xfrm>
          <a:off x="0" y="0"/>
          <a:ext cx="0" cy="0"/>
          <a:chOff x="0" y="0"/>
          <a:chExt cx="0" cy="0"/>
        </a:xfrm>
      </p:grpSpPr>
      <p:sp>
        <p:nvSpPr>
          <p:cNvPr id="2" name="Text 0"/>
          <p:cNvSpPr/>
          <p:nvPr/>
        </p:nvSpPr>
        <p:spPr>
          <a:xfrm>
            <a:off x="502920" y="347472"/>
            <a:ext cx="8138160" cy="201168"/>
          </a:xfrm>
          <a:prstGeom prst="rect">
            <a:avLst/>
          </a:prstGeom>
          <a:noFill/>
          <a:ln/>
        </p:spPr>
        <p:txBody>
          <a:bodyPr wrap="square" rtlCol="0" anchor="ctr"/>
          <a:lstStyle/>
          <a:p>
            <a:pPr marL="0" indent="0" algn="l">
              <a:buNone/>
            </a:pPr>
            <a:r>
              <a:rPr lang="en-US" sz="900" b="1" kern="0" spc="300" dirty="0">
                <a:solidFill>
                  <a:srgbClr val="2E6DA4"/>
                </a:solidFill>
                <a:latin typeface="Arial" pitchFamily="34" charset="0"/>
              </a:rPr>
              <a:t>CAPABILITIES</a:t>
            </a:r>
          </a:p>
        </p:txBody>
      </p:sp>
      <p:sp>
        <p:nvSpPr>
          <p:cNvPr id="3" name="Text 1"/>
          <p:cNvSpPr/>
          <p:nvPr/>
        </p:nvSpPr>
        <p:spPr>
          <a:xfrm>
            <a:off x="502920" y="594360"/>
            <a:ext cx="8138160" cy="640080"/>
          </a:xfrm>
          <a:prstGeom prst="rect">
            <a:avLst/>
          </a:prstGeom>
          <a:noFill/>
          <a:ln/>
        </p:spPr>
        <p:txBody>
          <a:bodyPr wrap="square" rtlCol="0" anchor="ctr"/>
          <a:lstStyle/>
          <a:p>
            <a:pPr marL="0" indent="0" algn="l">
              <a:buNone/>
            </a:pPr>
            <a:r>
              <a:rPr lang="en-US" sz="2800" b="1" dirty="0">
                <a:solidFill>
                  <a:srgbClr val="1A1A1A"/>
                </a:solidFill>
                <a:latin typeface="Arial" pitchFamily="34" charset="0"/>
              </a:rPr>
              <a:t>What ARBoard does today</a:t>
            </a:r>
          </a:p>
        </p:txBody>
      </p:sp>
      <p:sp>
        <p:nvSpPr>
          <p:cNvPr id="4" name="Shape 2"/>
          <p:cNvSpPr/>
          <p:nvPr/>
        </p:nvSpPr>
        <p:spPr>
          <a:xfrm>
            <a:off x="502920" y="1207008"/>
            <a:ext cx="8138160" cy="0"/>
          </a:xfrm>
          <a:prstGeom prst="line">
            <a:avLst/>
          </a:prstGeom>
          <a:noFill/>
          <a:ln w="10160">
            <a:solidFill>
              <a:srgbClr val="EBEBEB"/>
            </a:solidFill>
            <a:prstDash val="solid"/>
          </a:ln>
        </p:spPr>
        <p:txBody>
          <a:bodyPr/>
          <a:lstStyle/>
          <a:p>
            <a:endParaRPr lang="en-US"/>
          </a:p>
        </p:txBody>
      </p:sp>
      <p:sp>
        <p:nvSpPr>
          <p:cNvPr id="5" name="Card1Bg"/>
          <p:cNvSpPr/>
          <p:nvPr/>
        </p:nvSpPr>
        <p:spPr>
          <a:xfrm>
            <a:off x="411480" y="1325880"/>
            <a:ext cx="2651760" cy="3246120"/>
          </a:xfrm>
          <a:prstGeom prst="roundRect">
            <a:avLst>
              <a:gd name="adj" fmla="val 2759"/>
            </a:avLst>
          </a:prstGeom>
          <a:solidFill>
            <a:srgbClr val="E1F5EE"/>
          </a:solidFill>
          <a:ln w="6350">
            <a:solidFill>
              <a:srgbClr val="D3D1C7"/>
            </a:solidFill>
          </a:ln>
        </p:spPr>
        <p:txBody>
          <a:bodyPr/>
          <a:lstStyle/>
          <a:p>
            <a:endParaRPr lang="en-US"/>
          </a:p>
        </p:txBody>
      </p:sp>
      <p:sp>
        <p:nvSpPr>
          <p:cNvPr id="6" name="Card1Header"/>
          <p:cNvSpPr/>
          <p:nvPr/>
        </p:nvSpPr>
        <p:spPr>
          <a:xfrm>
            <a:off x="411480" y="1325880"/>
            <a:ext cx="2651760" cy="384048"/>
          </a:xfrm>
          <a:prstGeom prst="roundRect">
            <a:avLst>
              <a:gd name="adj" fmla="val 19048"/>
            </a:avLst>
          </a:prstGeom>
          <a:solidFill>
            <a:srgbClr val="0F6E56"/>
          </a:solidFill>
          <a:ln w="12700">
            <a:solidFill>
              <a:srgbClr val="0F6E56"/>
            </a:solidFill>
          </a:ln>
        </p:spPr>
        <p:txBody>
          <a:bodyPr/>
          <a:lstStyle/>
          <a:p>
            <a:endParaRPr lang="en-US"/>
          </a:p>
        </p:txBody>
      </p:sp>
      <p:sp>
        <p:nvSpPr>
          <p:cNvPr id="7" name="Card1Title"/>
          <p:cNvSpPr/>
          <p:nvPr/>
        </p:nvSpPr>
        <p:spPr>
          <a:xfrm>
            <a:off x="411480" y="1335024"/>
            <a:ext cx="265176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Arial" pitchFamily="34" charset="0"/>
              </a:rPr>
              <a:t>Review</a:t>
            </a:r>
          </a:p>
        </p:txBody>
      </p:sp>
      <p:sp>
        <p:nvSpPr>
          <p:cNvPr id="8" name="Card1Items"/>
          <p:cNvSpPr/>
          <p:nvPr/>
        </p:nvSpPr>
        <p:spPr>
          <a:xfrm>
            <a:off x="548640" y="1792224"/>
            <a:ext cx="2377440" cy="2700000"/>
          </a:xfrm>
          <a:prstGeom prst="rect">
            <a:avLst/>
          </a:prstGeom>
          <a:noFill/>
          <a:ln/>
        </p:spPr>
        <p:txBody>
          <a:bodyPr wrap="square" rtlCol="0" anchor="t"/>
          <a:lstStyle/>
          <a:p>
            <a:pPr marL="0" indent="0">
              <a:buNone/>
            </a:pPr>
            <a:r>
              <a:rPr lang="en-US" sz="950" b="1" dirty="0">
                <a:solidFill>
                  <a:srgbClr val="0F6E56"/>
                </a:solidFill>
                <a:latin typeface="Arial" pitchFamily="34" charset="0"/>
              </a:rPr>
              <a:t>→  </a:t>
            </a:r>
            <a:r>
              <a:rPr lang="en-US" sz="950" dirty="0">
                <a:solidFill>
                  <a:srgbClr val="1A1A1A"/>
                </a:solidFill>
                <a:latin typeface="Arial" pitchFamily="34" charset="0"/>
              </a:rPr>
              <a:t>Mode 1: Document Review (upload SDD)</a:t>
            </a:r>
          </a:p>
          <a:p>
            <a:pPr marL="0" indent="0">
              <a:buNone/>
            </a:pPr>
            <a:r>
              <a:rPr lang="en-US" sz="950" b="1" dirty="0">
                <a:solidFill>
                  <a:srgbClr val="0F6E56"/>
                </a:solidFill>
                <a:latin typeface="Arial" pitchFamily="34" charset="0"/>
              </a:rPr>
              <a:t>→  </a:t>
            </a:r>
            <a:r>
              <a:rPr lang="en-US" sz="950" dirty="0">
                <a:solidFill>
                  <a:srgbClr val="1A1A1A"/>
                </a:solidFill>
                <a:latin typeface="Arial" pitchFamily="34" charset="0"/>
              </a:rPr>
              <a:t>Mode 2: Greenfield Design (requirement text)</a:t>
            </a:r>
          </a:p>
          <a:p>
            <a:pPr marL="0" indent="0">
              <a:buNone/>
            </a:pPr>
            <a:r>
              <a:rPr lang="en-US" sz="950" b="1" dirty="0">
                <a:solidFill>
                  <a:srgbClr val="0F6E56"/>
                </a:solidFill>
                <a:latin typeface="Arial" pitchFamily="34" charset="0"/>
              </a:rPr>
              <a:t>→  </a:t>
            </a:r>
            <a:r>
              <a:rPr lang="en-US" sz="950" dirty="0">
                <a:solidFill>
                  <a:srgbClr val="1A1A1A"/>
                </a:solidFill>
                <a:latin typeface="Arial" pitchFamily="34" charset="0"/>
              </a:rPr>
              <a:t>Mode 3: Debate My Approach (critique free text)</a:t>
            </a:r>
          </a:p>
          <a:p>
            <a:pPr marL="0" indent="0">
              <a:buNone/>
            </a:pPr>
            <a:r>
              <a:rPr lang="en-US" sz="950" b="1" dirty="0">
                <a:solidFill>
                  <a:srgbClr val="0F6E56"/>
                </a:solidFill>
                <a:latin typeface="Arial" pitchFamily="34" charset="0"/>
              </a:rPr>
              <a:t>→  </a:t>
            </a:r>
            <a:r>
              <a:rPr lang="en-US" sz="950" dirty="0">
                <a:solidFill>
                  <a:srgbClr val="1A1A1A"/>
                </a:solidFill>
                <a:latin typeface="Arial" pitchFamily="34" charset="0"/>
              </a:rPr>
              <a:t>9 specialist agents review in sequence</a:t>
            </a:r>
          </a:p>
          <a:p>
            <a:pPr marL="0" indent="0">
              <a:buNone/>
            </a:pPr>
            <a:r>
              <a:rPr lang="en-US" sz="950" b="1" dirty="0">
                <a:solidFill>
                  <a:srgbClr val="0F6E56"/>
                </a:solidFill>
                <a:latin typeface="Arial" pitchFamily="34" charset="0"/>
              </a:rPr>
              <a:t>→  </a:t>
            </a:r>
            <a:r>
              <a:rPr lang="en-US" sz="950" dirty="0">
                <a:solidFill>
                  <a:srgbClr val="1A1A1A"/>
                </a:solidFill>
                <a:latin typeface="Arial" pitchFamily="34" charset="0"/>
              </a:rPr>
              <a:t>Judge arbitrates + confidence score</a:t>
            </a:r>
          </a:p>
          <a:p>
            <a:pPr marL="0" indent="0">
              <a:buNone/>
            </a:pPr>
            <a:r>
              <a:rPr lang="en-US" sz="950" b="1" dirty="0">
                <a:solidFill>
                  <a:srgbClr val="0F6E56"/>
                </a:solidFill>
                <a:latin typeface="Arial" pitchFamily="34" charset="0"/>
              </a:rPr>
              <a:t>→  </a:t>
            </a:r>
            <a:r>
              <a:rPr lang="en-US" sz="950" dirty="0">
                <a:solidFill>
                  <a:srgbClr val="1A1A1A"/>
                </a:solidFill>
                <a:latin typeface="Arial" pitchFamily="34" charset="0"/>
              </a:rPr>
              <a:t>Smart agent selection (Impact Analyser)</a:t>
            </a:r>
          </a:p>
        </p:txBody>
      </p:sp>
      <p:sp>
        <p:nvSpPr>
          <p:cNvPr id="9" name="Card2Bg"/>
          <p:cNvSpPr/>
          <p:nvPr/>
        </p:nvSpPr>
        <p:spPr>
          <a:xfrm>
            <a:off x="3227832" y="1325880"/>
            <a:ext cx="2651760" cy="3246120"/>
          </a:xfrm>
          <a:prstGeom prst="roundRect">
            <a:avLst>
              <a:gd name="adj" fmla="val 2759"/>
            </a:avLst>
          </a:prstGeom>
          <a:solidFill>
            <a:srgbClr val="EBF2FA"/>
          </a:solidFill>
          <a:ln w="6350">
            <a:solidFill>
              <a:srgbClr val="D3D1C7"/>
            </a:solidFill>
          </a:ln>
        </p:spPr>
        <p:txBody>
          <a:bodyPr/>
          <a:lstStyle/>
          <a:p>
            <a:endParaRPr lang="en-US"/>
          </a:p>
        </p:txBody>
      </p:sp>
      <p:sp>
        <p:nvSpPr>
          <p:cNvPr id="10" name="Card2Header"/>
          <p:cNvSpPr/>
          <p:nvPr/>
        </p:nvSpPr>
        <p:spPr>
          <a:xfrm>
            <a:off x="3227832" y="1325880"/>
            <a:ext cx="2651760" cy="384048"/>
          </a:xfrm>
          <a:prstGeom prst="roundRect">
            <a:avLst>
              <a:gd name="adj" fmla="val 19048"/>
            </a:avLst>
          </a:prstGeom>
          <a:solidFill>
            <a:srgbClr val="1B4F9B"/>
          </a:solidFill>
          <a:ln w="12700">
            <a:solidFill>
              <a:srgbClr val="1B4F9B"/>
            </a:solidFill>
          </a:ln>
        </p:spPr>
        <p:txBody>
          <a:bodyPr/>
          <a:lstStyle/>
          <a:p>
            <a:endParaRPr lang="en-US"/>
          </a:p>
        </p:txBody>
      </p:sp>
      <p:sp>
        <p:nvSpPr>
          <p:cNvPr id="11" name="Card2Title"/>
          <p:cNvSpPr/>
          <p:nvPr/>
        </p:nvSpPr>
        <p:spPr>
          <a:xfrm>
            <a:off x="3227832" y="1335024"/>
            <a:ext cx="265176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Arial" pitchFamily="34" charset="0"/>
              </a:rPr>
              <a:t>Memory &amp; Grounding</a:t>
            </a:r>
          </a:p>
        </p:txBody>
      </p:sp>
      <p:sp>
        <p:nvSpPr>
          <p:cNvPr id="12" name="Card2Items"/>
          <p:cNvSpPr/>
          <p:nvPr/>
        </p:nvSpPr>
        <p:spPr>
          <a:xfrm>
            <a:off x="3364992" y="1792224"/>
            <a:ext cx="2377440" cy="2700000"/>
          </a:xfrm>
          <a:prstGeom prst="rect">
            <a:avLst/>
          </a:prstGeom>
          <a:noFill/>
          <a:ln/>
        </p:spPr>
        <p:txBody>
          <a:bodyPr wrap="square" rtlCol="0" anchor="t"/>
          <a:lstStyle/>
          <a:p>
            <a:pPr marL="0" indent="0">
              <a:buNone/>
            </a:pPr>
            <a:r>
              <a:rPr lang="en-US" sz="950" b="1" dirty="0">
                <a:solidFill>
                  <a:srgbClr val="1B4F9B"/>
                </a:solidFill>
                <a:latin typeface="Arial" pitchFamily="34" charset="0"/>
              </a:rPr>
              <a:t>→  </a:t>
            </a:r>
            <a:r>
              <a:rPr lang="en-US" sz="950" dirty="0">
                <a:solidFill>
                  <a:srgbClr val="1A1A1A"/>
                </a:solidFill>
                <a:latin typeface="Arial" pitchFamily="34" charset="0"/>
              </a:rPr>
              <a:t>Cross-session Jira memory</a:t>
            </a:r>
          </a:p>
          <a:p>
            <a:pPr marL="0" indent="0">
              <a:buNone/>
            </a:pPr>
            <a:r>
              <a:rPr lang="en-US" sz="950" b="1" dirty="0">
                <a:solidFill>
                  <a:srgbClr val="1B4F9B"/>
                </a:solidFill>
                <a:latin typeface="Arial" pitchFamily="34" charset="0"/>
              </a:rPr>
              <a:t>→  </a:t>
            </a:r>
            <a:r>
              <a:rPr lang="en-US" sz="950" dirty="0">
                <a:solidFill>
                  <a:srgbClr val="1A1A1A"/>
                </a:solidFill>
                <a:latin typeface="Arial" pitchFamily="34" charset="0"/>
              </a:rPr>
              <a:t>Prior ADR reconciliation (RESOLVED / PERSISTS)</a:t>
            </a:r>
          </a:p>
          <a:p>
            <a:pPr marL="0" indent="0">
              <a:buNone/>
            </a:pPr>
            <a:r>
              <a:rPr lang="en-US" sz="950" b="1" dirty="0">
                <a:solidFill>
                  <a:srgbClr val="1B4F9B"/>
                </a:solidFill>
                <a:latin typeface="Arial" pitchFamily="34" charset="0"/>
              </a:rPr>
              <a:t>→  </a:t>
            </a:r>
            <a:r>
              <a:rPr lang="en-US" sz="950" dirty="0">
                <a:solidFill>
                  <a:srgbClr val="1A1A1A"/>
                </a:solidFill>
                <a:latin typeface="Arial" pitchFamily="34" charset="0"/>
              </a:rPr>
              <a:t>SI failure pattern library (FP-004 to FP-012)</a:t>
            </a:r>
          </a:p>
          <a:p>
            <a:pPr marL="0" indent="0">
              <a:buNone/>
            </a:pPr>
            <a:r>
              <a:rPr lang="en-US" sz="950" b="1" dirty="0">
                <a:solidFill>
                  <a:srgbClr val="1B4F9B"/>
                </a:solidFill>
                <a:latin typeface="Arial" pitchFamily="34" charset="0"/>
              </a:rPr>
              <a:t>→  </a:t>
            </a:r>
            <a:r>
              <a:rPr lang="en-US" sz="950" dirty="0">
                <a:solidFill>
                  <a:srgbClr val="1A1A1A"/>
                </a:solidFill>
                <a:latin typeface="Arial" pitchFamily="34" charset="0"/>
              </a:rPr>
              <a:t>Salesforce Well-Architected principles</a:t>
            </a:r>
          </a:p>
          <a:p>
            <a:pPr marL="0" indent="0">
              <a:buNone/>
            </a:pPr>
            <a:r>
              <a:rPr lang="en-US" sz="950" b="1" dirty="0">
                <a:solidFill>
                  <a:srgbClr val="1B4F9B"/>
                </a:solidFill>
                <a:latin typeface="Arial" pitchFamily="34" charset="0"/>
              </a:rPr>
              <a:t>→  </a:t>
            </a:r>
            <a:r>
              <a:rPr lang="en-US" sz="950" dirty="0">
                <a:solidFill>
                  <a:srgbClr val="1A1A1A"/>
                </a:solidFill>
                <a:latin typeface="Arial" pitchFamily="34" charset="0"/>
              </a:rPr>
              <a:t>Live Salesforce org metadata injection</a:t>
            </a:r>
          </a:p>
          <a:p>
            <a:pPr marL="0" indent="0">
              <a:buNone/>
            </a:pPr>
            <a:r>
              <a:rPr lang="en-US" sz="950" b="1" dirty="0">
                <a:solidFill>
                  <a:srgbClr val="1B4F9B"/>
                </a:solidFill>
                <a:latin typeface="Arial" pitchFamily="34" charset="0"/>
              </a:rPr>
              <a:t>→  </a:t>
            </a:r>
            <a:r>
              <a:rPr lang="en-US" sz="950" dirty="0">
                <a:solidFill>
                  <a:srgbClr val="1A1A1A"/>
                </a:solidFill>
                <a:latin typeface="Arial" pitchFamily="34" charset="0"/>
              </a:rPr>
              <a:t>Contradiction detection across sessions</a:t>
            </a:r>
          </a:p>
        </p:txBody>
      </p:sp>
      <p:sp>
        <p:nvSpPr>
          <p:cNvPr id="13" name="Card3Bg"/>
          <p:cNvSpPr/>
          <p:nvPr/>
        </p:nvSpPr>
        <p:spPr>
          <a:xfrm>
            <a:off x="6044184" y="1325880"/>
            <a:ext cx="2651760" cy="3246120"/>
          </a:xfrm>
          <a:prstGeom prst="roundRect">
            <a:avLst>
              <a:gd name="adj" fmla="val 2759"/>
            </a:avLst>
          </a:prstGeom>
          <a:solidFill>
            <a:srgbClr val="FAEEDA"/>
          </a:solidFill>
          <a:ln w="6350">
            <a:solidFill>
              <a:srgbClr val="D3D1C7"/>
            </a:solidFill>
          </a:ln>
        </p:spPr>
        <p:txBody>
          <a:bodyPr/>
          <a:lstStyle/>
          <a:p>
            <a:endParaRPr lang="en-US"/>
          </a:p>
        </p:txBody>
      </p:sp>
      <p:sp>
        <p:nvSpPr>
          <p:cNvPr id="14" name="Card3Header"/>
          <p:cNvSpPr/>
          <p:nvPr/>
        </p:nvSpPr>
        <p:spPr>
          <a:xfrm>
            <a:off x="6044184" y="1325880"/>
            <a:ext cx="2651760" cy="384048"/>
          </a:xfrm>
          <a:prstGeom prst="roundRect">
            <a:avLst>
              <a:gd name="adj" fmla="val 19048"/>
            </a:avLst>
          </a:prstGeom>
          <a:solidFill>
            <a:srgbClr val="BA7517"/>
          </a:solidFill>
          <a:ln w="12700">
            <a:solidFill>
              <a:srgbClr val="BA7517"/>
            </a:solidFill>
          </a:ln>
        </p:spPr>
        <p:txBody>
          <a:bodyPr/>
          <a:lstStyle/>
          <a:p>
            <a:endParaRPr lang="en-US"/>
          </a:p>
        </p:txBody>
      </p:sp>
      <p:sp>
        <p:nvSpPr>
          <p:cNvPr id="15" name="Card3Title"/>
          <p:cNvSpPr/>
          <p:nvPr/>
        </p:nvSpPr>
        <p:spPr>
          <a:xfrm>
            <a:off x="6044184" y="1335024"/>
            <a:ext cx="265176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Arial" pitchFamily="34" charset="0"/>
              </a:rPr>
              <a:t>Output &amp; Workflow</a:t>
            </a:r>
          </a:p>
        </p:txBody>
      </p:sp>
      <p:sp>
        <p:nvSpPr>
          <p:cNvPr id="16" name="Card3Items"/>
          <p:cNvSpPr/>
          <p:nvPr/>
        </p:nvSpPr>
        <p:spPr>
          <a:xfrm>
            <a:off x="6181344" y="1792224"/>
            <a:ext cx="2377440" cy="2700000"/>
          </a:xfrm>
          <a:prstGeom prst="rect">
            <a:avLst/>
          </a:prstGeom>
          <a:noFill/>
          <a:ln/>
        </p:spPr>
        <p:txBody>
          <a:bodyPr wrap="square" rtlCol="0" anchor="t"/>
          <a:lstStyle/>
          <a:p>
            <a:pPr marL="0" indent="0">
              <a:buNone/>
            </a:pPr>
            <a:r>
              <a:rPr lang="en-US" sz="950" b="1" dirty="0">
                <a:solidFill>
                  <a:srgbClr val="BA7517"/>
                </a:solidFill>
                <a:latin typeface="Arial" pitchFamily="34" charset="0"/>
              </a:rPr>
              <a:t>→  </a:t>
            </a:r>
            <a:r>
              <a:rPr lang="en-US" sz="950" dirty="0">
                <a:solidFill>
                  <a:srgbClr val="1A1A1A"/>
                </a:solidFill>
                <a:latin typeface="Arial" pitchFamily="34" charset="0"/>
              </a:rPr>
              <a:t>Formal ADR output per session</a:t>
            </a:r>
          </a:p>
          <a:p>
            <a:pPr marL="0" indent="0">
              <a:buNone/>
            </a:pPr>
            <a:r>
              <a:rPr lang="en-US" sz="950" b="1" dirty="0">
                <a:solidFill>
                  <a:srgbClr val="BA7517"/>
                </a:solidFill>
                <a:latin typeface="Arial" pitchFamily="34" charset="0"/>
              </a:rPr>
              <a:t>→  </a:t>
            </a:r>
            <a:r>
              <a:rPr lang="en-US" sz="950" dirty="0">
                <a:solidFill>
                  <a:srgbClr val="1A1A1A"/>
                </a:solidFill>
                <a:latin typeface="Arial" pitchFamily="34" charset="0"/>
              </a:rPr>
              <a:t>Jira ticket creation (ARBOARD project)</a:t>
            </a:r>
          </a:p>
          <a:p>
            <a:pPr marL="0" indent="0">
              <a:buNone/>
            </a:pPr>
            <a:r>
              <a:rPr lang="en-US" sz="950" b="1" dirty="0">
                <a:solidFill>
                  <a:srgbClr val="BA7517"/>
                </a:solidFill>
                <a:latin typeface="Arial" pitchFamily="34" charset="0"/>
              </a:rPr>
              <a:t>→  </a:t>
            </a:r>
            <a:r>
              <a:rPr lang="en-US" sz="950" dirty="0">
                <a:solidFill>
                  <a:srgbClr val="1A1A1A"/>
                </a:solidFill>
                <a:latin typeface="Arial" pitchFamily="34" charset="0"/>
              </a:rPr>
              <a:t>Endorsement review panel</a:t>
            </a:r>
          </a:p>
          <a:p>
            <a:pPr marL="0" indent="0">
              <a:buNone/>
            </a:pPr>
            <a:r>
              <a:rPr lang="en-US" sz="950" b="1" dirty="0">
                <a:solidFill>
                  <a:srgbClr val="BA7517"/>
                </a:solidFill>
                <a:latin typeface="Arial" pitchFamily="34" charset="0"/>
              </a:rPr>
              <a:t>→  </a:t>
            </a:r>
            <a:r>
              <a:rPr lang="en-US" sz="950" dirty="0">
                <a:solidFill>
                  <a:srgbClr val="1A1A1A"/>
                </a:solidFill>
                <a:latin typeface="Arial" pitchFamily="34" charset="0"/>
              </a:rPr>
              <a:t>Human countersign + Jira assign</a:t>
            </a:r>
          </a:p>
          <a:p>
            <a:pPr marL="0" indent="0">
              <a:buNone/>
            </a:pPr>
            <a:r>
              <a:rPr lang="en-US" sz="950" b="1" dirty="0">
                <a:solidFill>
                  <a:srgbClr val="BA7517"/>
                </a:solidFill>
                <a:latin typeface="Arial" pitchFamily="34" charset="0"/>
              </a:rPr>
              <a:t>→  </a:t>
            </a:r>
            <a:r>
              <a:rPr lang="en-US" sz="950" dirty="0">
                <a:solidFill>
                  <a:srgbClr val="1A1A1A"/>
                </a:solidFill>
                <a:latin typeface="Arial" pitchFamily="34" charset="0"/>
              </a:rPr>
              <a:t>Supabase audit trail + cost analytics</a:t>
            </a:r>
          </a:p>
          <a:p>
            <a:pPr marL="0" indent="0">
              <a:buNone/>
            </a:pPr>
            <a:r>
              <a:rPr lang="en-US" sz="950" b="1" dirty="0">
                <a:solidFill>
                  <a:srgbClr val="BA7517"/>
                </a:solidFill>
                <a:latin typeface="Arial" pitchFamily="34" charset="0"/>
              </a:rPr>
              <a:t>→  </a:t>
            </a:r>
            <a:r>
              <a:rPr lang="en-US" sz="950" dirty="0">
                <a:solidFill>
                  <a:srgbClr val="1A1A1A"/>
                </a:solidFill>
                <a:latin typeface="Arial" pitchFamily="34" charset="0"/>
              </a:rPr>
              <a:t>~$0.08 per full session (optimised)</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8FA"/>
        </a:solidFill>
        <a:effectLst/>
      </p:bgPr>
    </p:bg>
    <p:spTree>
      <p:nvGrpSpPr>
        <p:cNvPr id="1" name=""/>
        <p:cNvGrpSpPr/>
        <p:nvPr/>
      </p:nvGrpSpPr>
      <p:grpSpPr>
        <a:xfrm>
          <a:off x="0" y="0"/>
          <a:ext cx="0" cy="0"/>
          <a:chOff x="0" y="0"/>
          <a:chExt cx="0" cy="0"/>
        </a:xfrm>
      </p:grpSpPr>
      <p:sp>
        <p:nvSpPr>
          <p:cNvPr id="2" name="Text 0"/>
          <p:cNvSpPr/>
          <p:nvPr/>
        </p:nvSpPr>
        <p:spPr>
          <a:xfrm>
            <a:off x="502920" y="347472"/>
            <a:ext cx="8138160" cy="201168"/>
          </a:xfrm>
          <a:prstGeom prst="rect">
            <a:avLst/>
          </a:prstGeom>
          <a:noFill/>
          <a:ln/>
        </p:spPr>
        <p:txBody>
          <a:bodyPr wrap="square" rtlCol="0" anchor="ctr"/>
          <a:lstStyle/>
          <a:p>
            <a:pPr marL="0" indent="0" algn="l">
              <a:buNone/>
            </a:pPr>
            <a:r>
              <a:rPr lang="en-US" sz="900" b="1" kern="0" spc="300" dirty="0">
                <a:solidFill>
                  <a:srgbClr val="2E6DA4"/>
                </a:solidFill>
                <a:latin typeface="Arial" pitchFamily="34" charset="0"/>
                <a:ea typeface="Arial" pitchFamily="34" charset="-122"/>
                <a:cs typeface="Arial" pitchFamily="34" charset="-120"/>
              </a:rPr>
              <a:t>SYSTEM ARCHITECTURE</a:t>
            </a:r>
            <a:endParaRPr lang="en-US" sz="900" dirty="0"/>
          </a:p>
        </p:txBody>
      </p:sp>
      <p:sp>
        <p:nvSpPr>
          <p:cNvPr id="3" name="Text 1"/>
          <p:cNvSpPr/>
          <p:nvPr/>
        </p:nvSpPr>
        <p:spPr>
          <a:xfrm>
            <a:off x="502920" y="594360"/>
            <a:ext cx="8138160" cy="640080"/>
          </a:xfrm>
          <a:prstGeom prst="rect">
            <a:avLst/>
          </a:prstGeom>
          <a:noFill/>
          <a:ln/>
        </p:spPr>
        <p:txBody>
          <a:bodyPr wrap="square" rtlCol="0" anchor="ctr"/>
          <a:lstStyle/>
          <a:p>
            <a:pPr marL="0" indent="0" algn="l">
              <a:buNone/>
            </a:pPr>
            <a:r>
              <a:rPr lang="en-US" sz="2800" b="1" dirty="0">
                <a:solidFill>
                  <a:srgbClr val="1A1A1A"/>
                </a:solidFill>
                <a:latin typeface="Arial" pitchFamily="34" charset="0"/>
                <a:ea typeface="Arial" pitchFamily="34" charset="-122"/>
                <a:cs typeface="Arial" pitchFamily="34" charset="-120"/>
              </a:rPr>
              <a:t>Every user action maps to a deliberate backend decision</a:t>
            </a:r>
            <a:endParaRPr lang="en-US" sz="2800" dirty="0"/>
          </a:p>
        </p:txBody>
      </p:sp>
      <p:sp>
        <p:nvSpPr>
          <p:cNvPr id="4" name="Shape 2"/>
          <p:cNvSpPr/>
          <p:nvPr/>
        </p:nvSpPr>
        <p:spPr>
          <a:xfrm>
            <a:off x="502920" y="1207008"/>
            <a:ext cx="8138160" cy="0"/>
          </a:xfrm>
          <a:prstGeom prst="line">
            <a:avLst/>
          </a:prstGeom>
          <a:noFill/>
          <a:ln w="10160">
            <a:solidFill>
              <a:srgbClr val="EBEBEB"/>
            </a:solidFill>
            <a:prstDash val="solid"/>
          </a:ln>
        </p:spPr>
        <p:txBody>
          <a:bodyPr/>
          <a:lstStyle/>
          <a:p>
            <a:endParaRPr lang="en-US"/>
          </a:p>
        </p:txBody>
      </p:sp>
      <p:sp>
        <p:nvSpPr>
          <p:cNvPr id="5" name="Shape 3"/>
          <p:cNvSpPr/>
          <p:nvPr/>
        </p:nvSpPr>
        <p:spPr>
          <a:xfrm>
            <a:off x="411480" y="1298448"/>
            <a:ext cx="8321040" cy="365760"/>
          </a:xfrm>
          <a:prstGeom prst="rect">
            <a:avLst/>
          </a:prstGeom>
          <a:solidFill>
            <a:srgbClr val="0F1E3C"/>
          </a:solidFill>
          <a:ln w="6350">
            <a:solidFill>
              <a:srgbClr val="EBEBEB"/>
            </a:solidFill>
            <a:prstDash val="solid"/>
          </a:ln>
        </p:spPr>
        <p:txBody>
          <a:bodyPr/>
          <a:lstStyle/>
          <a:p>
            <a:endParaRPr lang="en-US"/>
          </a:p>
        </p:txBody>
      </p:sp>
      <p:sp>
        <p:nvSpPr>
          <p:cNvPr id="6" name="Text 4"/>
          <p:cNvSpPr/>
          <p:nvPr/>
        </p:nvSpPr>
        <p:spPr>
          <a:xfrm>
            <a:off x="502920" y="1362456"/>
            <a:ext cx="2560320" cy="237744"/>
          </a:xfrm>
          <a:prstGeom prst="rect">
            <a:avLst/>
          </a:prstGeom>
          <a:noFill/>
          <a:ln/>
        </p:spPr>
        <p:txBody>
          <a:bodyPr wrap="square" rtlCol="0" anchor="ctr"/>
          <a:lstStyle/>
          <a:p>
            <a:pPr marL="0" indent="0">
              <a:buNone/>
            </a:pPr>
            <a:r>
              <a:rPr lang="en-US" sz="900" b="1" dirty="0">
                <a:solidFill>
                  <a:srgbClr val="FFFFFF"/>
                </a:solidFill>
                <a:latin typeface="Arial" pitchFamily="34" charset="0"/>
                <a:ea typeface="Arial" pitchFamily="34" charset="-122"/>
                <a:cs typeface="Arial" pitchFamily="34" charset="-120"/>
              </a:rPr>
              <a:t>User action</a:t>
            </a:r>
            <a:endParaRPr lang="en-US" sz="900" dirty="0"/>
          </a:p>
        </p:txBody>
      </p:sp>
      <p:sp>
        <p:nvSpPr>
          <p:cNvPr id="7" name="Text 5"/>
          <p:cNvSpPr/>
          <p:nvPr/>
        </p:nvSpPr>
        <p:spPr>
          <a:xfrm>
            <a:off x="3108960" y="1362456"/>
            <a:ext cx="2743200" cy="237744"/>
          </a:xfrm>
          <a:prstGeom prst="rect">
            <a:avLst/>
          </a:prstGeom>
          <a:noFill/>
          <a:ln/>
        </p:spPr>
        <p:txBody>
          <a:bodyPr wrap="square" rtlCol="0" anchor="ctr"/>
          <a:lstStyle/>
          <a:p>
            <a:pPr marL="0" indent="0">
              <a:buNone/>
            </a:pPr>
            <a:r>
              <a:rPr lang="en-US" sz="900" b="1" dirty="0">
                <a:solidFill>
                  <a:srgbClr val="FFFFFF"/>
                </a:solidFill>
                <a:latin typeface="Arial" pitchFamily="34" charset="0"/>
                <a:ea typeface="Arial" pitchFamily="34" charset="-122"/>
                <a:cs typeface="Arial" pitchFamily="34" charset="-120"/>
              </a:rPr>
              <a:t>What happens</a:t>
            </a:r>
            <a:endParaRPr lang="en-US" sz="900" dirty="0"/>
          </a:p>
        </p:txBody>
      </p:sp>
      <p:sp>
        <p:nvSpPr>
          <p:cNvPr id="8" name="Text 6"/>
          <p:cNvSpPr/>
          <p:nvPr/>
        </p:nvSpPr>
        <p:spPr>
          <a:xfrm>
            <a:off x="5897880" y="1362456"/>
            <a:ext cx="2697480" cy="237744"/>
          </a:xfrm>
          <a:prstGeom prst="rect">
            <a:avLst/>
          </a:prstGeom>
          <a:noFill/>
          <a:ln/>
        </p:spPr>
        <p:txBody>
          <a:bodyPr wrap="square" rtlCol="0" anchor="ctr"/>
          <a:lstStyle/>
          <a:p>
            <a:pPr marL="0" indent="0">
              <a:buNone/>
            </a:pPr>
            <a:r>
              <a:rPr lang="en-US" sz="900" b="1" dirty="0">
                <a:solidFill>
                  <a:srgbClr val="FFFFFF"/>
                </a:solidFill>
                <a:latin typeface="Arial" pitchFamily="34" charset="0"/>
                <a:ea typeface="Arial" pitchFamily="34" charset="-122"/>
                <a:cs typeface="Arial" pitchFamily="34" charset="-120"/>
              </a:rPr>
              <a:t>Backend system</a:t>
            </a:r>
            <a:endParaRPr lang="en-US" sz="900" dirty="0"/>
          </a:p>
        </p:txBody>
      </p:sp>
      <p:sp>
        <p:nvSpPr>
          <p:cNvPr id="9" name="Shape 7"/>
          <p:cNvSpPr/>
          <p:nvPr/>
        </p:nvSpPr>
        <p:spPr>
          <a:xfrm>
            <a:off x="411480" y="1682496"/>
            <a:ext cx="8321040" cy="365760"/>
          </a:xfrm>
          <a:prstGeom prst="rect">
            <a:avLst/>
          </a:prstGeom>
          <a:solidFill>
            <a:srgbClr val="F7F8FA"/>
          </a:solidFill>
          <a:ln w="6350">
            <a:solidFill>
              <a:srgbClr val="EBEBEB"/>
            </a:solidFill>
            <a:prstDash val="solid"/>
          </a:ln>
        </p:spPr>
        <p:txBody>
          <a:bodyPr/>
          <a:lstStyle/>
          <a:p>
            <a:endParaRPr lang="en-US"/>
          </a:p>
        </p:txBody>
      </p:sp>
      <p:sp>
        <p:nvSpPr>
          <p:cNvPr id="10" name="Text 8"/>
          <p:cNvSpPr/>
          <p:nvPr/>
        </p:nvSpPr>
        <p:spPr>
          <a:xfrm>
            <a:off x="502920" y="1746504"/>
            <a:ext cx="2560320" cy="237744"/>
          </a:xfrm>
          <a:prstGeom prst="rect">
            <a:avLst/>
          </a:prstGeom>
          <a:noFill/>
          <a:ln/>
        </p:spPr>
        <p:txBody>
          <a:bodyPr wrap="square" rtlCol="0" anchor="ctr"/>
          <a:lstStyle/>
          <a:p>
            <a:pPr marL="0" indent="0">
              <a:buNone/>
            </a:pPr>
            <a:r>
              <a:rPr lang="en-US" sz="950" dirty="0">
                <a:solidFill>
                  <a:srgbClr val="0F1E3C"/>
                </a:solidFill>
                <a:latin typeface="Arial" pitchFamily="34" charset="0"/>
                <a:ea typeface="Arial" pitchFamily="34" charset="-122"/>
                <a:cs typeface="Arial" pitchFamily="34" charset="-120"/>
              </a:rPr>
              <a:t>Submit requirement or doc</a:t>
            </a:r>
            <a:endParaRPr lang="en-US" sz="950" dirty="0"/>
          </a:p>
        </p:txBody>
      </p:sp>
      <p:sp>
        <p:nvSpPr>
          <p:cNvPr id="11" name="Text 9"/>
          <p:cNvSpPr/>
          <p:nvPr/>
        </p:nvSpPr>
        <p:spPr>
          <a:xfrm>
            <a:off x="3108960" y="1746504"/>
            <a:ext cx="2743200" cy="237744"/>
          </a:xfrm>
          <a:prstGeom prst="rect">
            <a:avLst/>
          </a:prstGeom>
          <a:noFill/>
          <a:ln/>
        </p:spPr>
        <p:txBody>
          <a:bodyPr wrap="square" rtlCol="0" anchor="ctr"/>
          <a:lstStyle/>
          <a:p>
            <a:pPr marL="0" indent="0">
              <a:buNone/>
            </a:pPr>
            <a:r>
              <a:rPr lang="en-US" sz="950" dirty="0">
                <a:solidFill>
                  <a:srgbClr val="1A1A1A"/>
                </a:solidFill>
                <a:latin typeface="Arial" pitchFamily="34" charset="0"/>
                <a:ea typeface="Arial" pitchFamily="34" charset="-122"/>
                <a:cs typeface="Arial" pitchFamily="34" charset="-120"/>
              </a:rPr>
              <a:t>ForumOrchestrator triggers 3-phase pipeline</a:t>
            </a:r>
            <a:endParaRPr lang="en-US" sz="950" dirty="0"/>
          </a:p>
        </p:txBody>
      </p:sp>
      <p:sp>
        <p:nvSpPr>
          <p:cNvPr id="12" name="Text 10"/>
          <p:cNvSpPr/>
          <p:nvPr/>
        </p:nvSpPr>
        <p:spPr>
          <a:xfrm>
            <a:off x="5897880" y="1746504"/>
            <a:ext cx="2697480" cy="237744"/>
          </a:xfrm>
          <a:prstGeom prst="rect">
            <a:avLst/>
          </a:prstGeom>
          <a:noFill/>
          <a:ln/>
        </p:spPr>
        <p:txBody>
          <a:bodyPr wrap="square" rtlCol="0" anchor="ctr"/>
          <a:lstStyle/>
          <a:p>
            <a:pPr marL="0" indent="0">
              <a:buNone/>
            </a:pPr>
            <a:r>
              <a:rPr lang="en-US" sz="950" dirty="0">
                <a:solidFill>
                  <a:srgbClr val="2E6DA4"/>
                </a:solidFill>
                <a:latin typeface="Arial" pitchFamily="34" charset="0"/>
                <a:ea typeface="Arial" pitchFamily="34" charset="-122"/>
                <a:cs typeface="Arial" pitchFamily="34" charset="-120"/>
              </a:rPr>
              <a:t>Anthropic Claude API (SSE streaming)</a:t>
            </a:r>
            <a:endParaRPr lang="en-US" sz="950" dirty="0"/>
          </a:p>
        </p:txBody>
      </p:sp>
      <p:sp>
        <p:nvSpPr>
          <p:cNvPr id="13" name="Shape 11"/>
          <p:cNvSpPr/>
          <p:nvPr/>
        </p:nvSpPr>
        <p:spPr>
          <a:xfrm>
            <a:off x="411480" y="2066544"/>
            <a:ext cx="8321040" cy="365760"/>
          </a:xfrm>
          <a:prstGeom prst="rect">
            <a:avLst/>
          </a:prstGeom>
          <a:solidFill>
            <a:srgbClr val="FFFFFF"/>
          </a:solidFill>
          <a:ln w="6350">
            <a:solidFill>
              <a:srgbClr val="EBEBEB"/>
            </a:solidFill>
            <a:prstDash val="solid"/>
          </a:ln>
        </p:spPr>
        <p:txBody>
          <a:bodyPr/>
          <a:lstStyle/>
          <a:p>
            <a:endParaRPr lang="en-US"/>
          </a:p>
        </p:txBody>
      </p:sp>
      <p:sp>
        <p:nvSpPr>
          <p:cNvPr id="14" name="Text 12"/>
          <p:cNvSpPr/>
          <p:nvPr/>
        </p:nvSpPr>
        <p:spPr>
          <a:xfrm>
            <a:off x="502920" y="2130552"/>
            <a:ext cx="2560320" cy="237744"/>
          </a:xfrm>
          <a:prstGeom prst="rect">
            <a:avLst/>
          </a:prstGeom>
          <a:noFill/>
          <a:ln/>
        </p:spPr>
        <p:txBody>
          <a:bodyPr wrap="square" rtlCol="0" anchor="ctr"/>
          <a:lstStyle/>
          <a:p>
            <a:pPr marL="0" indent="0">
              <a:buNone/>
            </a:pPr>
            <a:r>
              <a:rPr lang="en-US" sz="950" dirty="0">
                <a:solidFill>
                  <a:srgbClr val="0F1E3C"/>
                </a:solidFill>
                <a:latin typeface="Arial" pitchFamily="34" charset="0"/>
                <a:ea typeface="Arial" pitchFamily="34" charset="-122"/>
                <a:cs typeface="Arial" pitchFamily="34" charset="-120"/>
              </a:rPr>
              <a:t>Doc upload (PDF/Word)</a:t>
            </a:r>
            <a:endParaRPr lang="en-US" sz="950" dirty="0"/>
          </a:p>
        </p:txBody>
      </p:sp>
      <p:sp>
        <p:nvSpPr>
          <p:cNvPr id="15" name="Text 13"/>
          <p:cNvSpPr/>
          <p:nvPr/>
        </p:nvSpPr>
        <p:spPr>
          <a:xfrm>
            <a:off x="3108960" y="2130552"/>
            <a:ext cx="2743200" cy="237744"/>
          </a:xfrm>
          <a:prstGeom prst="rect">
            <a:avLst/>
          </a:prstGeom>
          <a:noFill/>
          <a:ln/>
        </p:spPr>
        <p:txBody>
          <a:bodyPr wrap="square" rtlCol="0" anchor="ctr"/>
          <a:lstStyle/>
          <a:p>
            <a:pPr marL="0" indent="0">
              <a:buNone/>
            </a:pPr>
            <a:r>
              <a:rPr lang="en-US" sz="950" dirty="0">
                <a:solidFill>
                  <a:srgbClr val="1A1A1A"/>
                </a:solidFill>
                <a:latin typeface="Arial" pitchFamily="34" charset="0"/>
                <a:ea typeface="Arial" pitchFamily="34" charset="-122"/>
                <a:cs typeface="Arial" pitchFamily="34" charset="-120"/>
              </a:rPr>
              <a:t>Text extracted, chunked by section</a:t>
            </a:r>
            <a:endParaRPr lang="en-US" sz="950" dirty="0"/>
          </a:p>
        </p:txBody>
      </p:sp>
      <p:sp>
        <p:nvSpPr>
          <p:cNvPr id="16" name="Text 14"/>
          <p:cNvSpPr/>
          <p:nvPr/>
        </p:nvSpPr>
        <p:spPr>
          <a:xfrm>
            <a:off x="5897880" y="2130552"/>
            <a:ext cx="2697480" cy="237744"/>
          </a:xfrm>
          <a:prstGeom prst="rect">
            <a:avLst/>
          </a:prstGeom>
          <a:noFill/>
          <a:ln/>
        </p:spPr>
        <p:txBody>
          <a:bodyPr wrap="square" rtlCol="0" anchor="ctr"/>
          <a:lstStyle/>
          <a:p>
            <a:pPr marL="0" indent="0">
              <a:buNone/>
            </a:pPr>
            <a:r>
              <a:rPr lang="en-US" sz="950" dirty="0">
                <a:solidFill>
                  <a:srgbClr val="2E6DA4"/>
                </a:solidFill>
                <a:latin typeface="Arial" pitchFamily="34" charset="0"/>
                <a:ea typeface="Arial" pitchFamily="34" charset="-122"/>
                <a:cs typeface="Arial" pitchFamily="34" charset="-120"/>
              </a:rPr>
              <a:t>Next.js API route → agent context</a:t>
            </a:r>
            <a:endParaRPr lang="en-US" sz="950" dirty="0"/>
          </a:p>
        </p:txBody>
      </p:sp>
      <p:sp>
        <p:nvSpPr>
          <p:cNvPr id="17" name="Shape 15"/>
          <p:cNvSpPr/>
          <p:nvPr/>
        </p:nvSpPr>
        <p:spPr>
          <a:xfrm>
            <a:off x="411480" y="2450592"/>
            <a:ext cx="8321040" cy="365760"/>
          </a:xfrm>
          <a:prstGeom prst="rect">
            <a:avLst/>
          </a:prstGeom>
          <a:solidFill>
            <a:srgbClr val="F7F8FA"/>
          </a:solidFill>
          <a:ln w="6350">
            <a:solidFill>
              <a:srgbClr val="EBEBEB"/>
            </a:solidFill>
            <a:prstDash val="solid"/>
          </a:ln>
        </p:spPr>
        <p:txBody>
          <a:bodyPr/>
          <a:lstStyle/>
          <a:p>
            <a:endParaRPr lang="en-US"/>
          </a:p>
        </p:txBody>
      </p:sp>
      <p:sp>
        <p:nvSpPr>
          <p:cNvPr id="18" name="Text 16"/>
          <p:cNvSpPr/>
          <p:nvPr/>
        </p:nvSpPr>
        <p:spPr>
          <a:xfrm>
            <a:off x="502920" y="2514600"/>
            <a:ext cx="2560320" cy="237744"/>
          </a:xfrm>
          <a:prstGeom prst="rect">
            <a:avLst/>
          </a:prstGeom>
          <a:noFill/>
          <a:ln/>
        </p:spPr>
        <p:txBody>
          <a:bodyPr wrap="square" rtlCol="0" anchor="ctr"/>
          <a:lstStyle/>
          <a:p>
            <a:pPr marL="0" indent="0">
              <a:buNone/>
            </a:pPr>
            <a:r>
              <a:rPr lang="en-US" sz="950" dirty="0">
                <a:solidFill>
                  <a:srgbClr val="0F1E3C"/>
                </a:solidFill>
                <a:latin typeface="Arial" pitchFamily="34" charset="0"/>
                <a:ea typeface="Arial" pitchFamily="34" charset="-122"/>
                <a:cs typeface="Arial" pitchFamily="34" charset="-120"/>
              </a:rPr>
              <a:t>Session runs</a:t>
            </a:r>
            <a:endParaRPr lang="en-US" sz="950" dirty="0"/>
          </a:p>
        </p:txBody>
      </p:sp>
      <p:sp>
        <p:nvSpPr>
          <p:cNvPr id="19" name="Text 17"/>
          <p:cNvSpPr/>
          <p:nvPr/>
        </p:nvSpPr>
        <p:spPr>
          <a:xfrm>
            <a:off x="3108960" y="2514600"/>
            <a:ext cx="2743200" cy="237744"/>
          </a:xfrm>
          <a:prstGeom prst="rect">
            <a:avLst/>
          </a:prstGeom>
          <a:noFill/>
          <a:ln/>
        </p:spPr>
        <p:txBody>
          <a:bodyPr wrap="square" rtlCol="0" anchor="ctr"/>
          <a:lstStyle/>
          <a:p>
            <a:pPr marL="0" indent="0">
              <a:buNone/>
            </a:pPr>
            <a:r>
              <a:rPr lang="en-US" sz="950" dirty="0">
                <a:solidFill>
                  <a:srgbClr val="1A1A1A"/>
                </a:solidFill>
                <a:latin typeface="Arial" pitchFamily="34" charset="0"/>
                <a:ea typeface="Arial" pitchFamily="34" charset="-122"/>
                <a:cs typeface="Arial" pitchFamily="34" charset="-120"/>
              </a:rPr>
              <a:t>Jira memory retrieved before agents start</a:t>
            </a:r>
            <a:endParaRPr lang="en-US" sz="950" dirty="0"/>
          </a:p>
        </p:txBody>
      </p:sp>
      <p:sp>
        <p:nvSpPr>
          <p:cNvPr id="20" name="Text 18"/>
          <p:cNvSpPr/>
          <p:nvPr/>
        </p:nvSpPr>
        <p:spPr>
          <a:xfrm>
            <a:off x="5897880" y="2514600"/>
            <a:ext cx="2697480" cy="237744"/>
          </a:xfrm>
          <a:prstGeom prst="rect">
            <a:avLst/>
          </a:prstGeom>
          <a:noFill/>
          <a:ln/>
        </p:spPr>
        <p:txBody>
          <a:bodyPr wrap="square" rtlCol="0" anchor="ctr"/>
          <a:lstStyle/>
          <a:p>
            <a:pPr marL="0" indent="0">
              <a:buNone/>
            </a:pPr>
            <a:r>
              <a:rPr lang="en-US" sz="950" dirty="0">
                <a:solidFill>
                  <a:srgbClr val="2E6DA4"/>
                </a:solidFill>
                <a:latin typeface="Arial" pitchFamily="34" charset="0"/>
                <a:ea typeface="Arial" pitchFamily="34" charset="-122"/>
                <a:cs typeface="Arial" pitchFamily="34" charset="-120"/>
              </a:rPr>
              <a:t>Jira REST API (ARBOARD project)</a:t>
            </a:r>
            <a:endParaRPr lang="en-US" sz="950" dirty="0"/>
          </a:p>
        </p:txBody>
      </p:sp>
      <p:sp>
        <p:nvSpPr>
          <p:cNvPr id="21" name="Shape 19"/>
          <p:cNvSpPr/>
          <p:nvPr/>
        </p:nvSpPr>
        <p:spPr>
          <a:xfrm>
            <a:off x="411480" y="2834640"/>
            <a:ext cx="8321040" cy="365760"/>
          </a:xfrm>
          <a:prstGeom prst="rect">
            <a:avLst/>
          </a:prstGeom>
          <a:solidFill>
            <a:srgbClr val="FFFFFF"/>
          </a:solidFill>
          <a:ln w="6350">
            <a:solidFill>
              <a:srgbClr val="EBEBEB"/>
            </a:solidFill>
            <a:prstDash val="solid"/>
          </a:ln>
        </p:spPr>
        <p:txBody>
          <a:bodyPr/>
          <a:lstStyle/>
          <a:p>
            <a:endParaRPr lang="en-US"/>
          </a:p>
        </p:txBody>
      </p:sp>
      <p:sp>
        <p:nvSpPr>
          <p:cNvPr id="22" name="Text 20"/>
          <p:cNvSpPr/>
          <p:nvPr/>
        </p:nvSpPr>
        <p:spPr>
          <a:xfrm>
            <a:off x="502920" y="2898648"/>
            <a:ext cx="2560320" cy="237744"/>
          </a:xfrm>
          <a:prstGeom prst="rect">
            <a:avLst/>
          </a:prstGeom>
          <a:noFill/>
          <a:ln/>
        </p:spPr>
        <p:txBody>
          <a:bodyPr wrap="square" rtlCol="0" anchor="ctr"/>
          <a:lstStyle/>
          <a:p>
            <a:pPr marL="0" indent="0">
              <a:buNone/>
            </a:pPr>
            <a:r>
              <a:rPr lang="en-US" sz="950" dirty="0">
                <a:solidFill>
                  <a:srgbClr val="0F1E3C"/>
                </a:solidFill>
                <a:latin typeface="Arial" pitchFamily="34" charset="0"/>
                <a:ea typeface="Arial" pitchFamily="34" charset="-122"/>
                <a:cs typeface="Arial" pitchFamily="34" charset="-120"/>
              </a:rPr>
              <a:t>Agent outputs</a:t>
            </a:r>
            <a:endParaRPr lang="en-US" sz="950" dirty="0"/>
          </a:p>
        </p:txBody>
      </p:sp>
      <p:sp>
        <p:nvSpPr>
          <p:cNvPr id="23" name="Text 21"/>
          <p:cNvSpPr/>
          <p:nvPr/>
        </p:nvSpPr>
        <p:spPr>
          <a:xfrm>
            <a:off x="3108960" y="2898648"/>
            <a:ext cx="2743200" cy="237744"/>
          </a:xfrm>
          <a:prstGeom prst="rect">
            <a:avLst/>
          </a:prstGeom>
          <a:noFill/>
          <a:ln/>
        </p:spPr>
        <p:txBody>
          <a:bodyPr wrap="square" rtlCol="0" anchor="ctr"/>
          <a:lstStyle/>
          <a:p>
            <a:pPr marL="0" indent="0">
              <a:buNone/>
            </a:pPr>
            <a:r>
              <a:rPr lang="en-US" sz="950" dirty="0">
                <a:solidFill>
                  <a:srgbClr val="1A1A1A"/>
                </a:solidFill>
                <a:latin typeface="Arial" pitchFamily="34" charset="0"/>
                <a:ea typeface="Arial" pitchFamily="34" charset="-122"/>
                <a:cs typeface="Arial" pitchFamily="34" charset="-120"/>
              </a:rPr>
              <a:t>Failure patterns matched, FP-xxx cited</a:t>
            </a:r>
            <a:endParaRPr lang="en-US" sz="950" dirty="0"/>
          </a:p>
        </p:txBody>
      </p:sp>
      <p:sp>
        <p:nvSpPr>
          <p:cNvPr id="24" name="Text 22"/>
          <p:cNvSpPr/>
          <p:nvPr/>
        </p:nvSpPr>
        <p:spPr>
          <a:xfrm>
            <a:off x="5897880" y="2898648"/>
            <a:ext cx="2697480" cy="237744"/>
          </a:xfrm>
          <a:prstGeom prst="rect">
            <a:avLst/>
          </a:prstGeom>
          <a:noFill/>
          <a:ln/>
        </p:spPr>
        <p:txBody>
          <a:bodyPr wrap="square" rtlCol="0" anchor="ctr"/>
          <a:lstStyle/>
          <a:p>
            <a:pPr marL="0" indent="0">
              <a:buNone/>
            </a:pPr>
            <a:r>
              <a:rPr lang="en-US" sz="950" dirty="0">
                <a:solidFill>
                  <a:srgbClr val="2E6DA4"/>
                </a:solidFill>
                <a:latin typeface="Arial" pitchFamily="34" charset="0"/>
                <a:ea typeface="Arial" pitchFamily="34" charset="-122"/>
                <a:cs typeface="Arial" pitchFamily="34" charset="-120"/>
              </a:rPr>
              <a:t>Supabase — failure_patterns table</a:t>
            </a:r>
            <a:endParaRPr lang="en-US" sz="950" dirty="0"/>
          </a:p>
        </p:txBody>
      </p:sp>
      <p:sp>
        <p:nvSpPr>
          <p:cNvPr id="25" name="Shape 23"/>
          <p:cNvSpPr/>
          <p:nvPr/>
        </p:nvSpPr>
        <p:spPr>
          <a:xfrm>
            <a:off x="411480" y="3218688"/>
            <a:ext cx="8321040" cy="365760"/>
          </a:xfrm>
          <a:prstGeom prst="rect">
            <a:avLst/>
          </a:prstGeom>
          <a:solidFill>
            <a:srgbClr val="F7F8FA"/>
          </a:solidFill>
          <a:ln w="6350">
            <a:solidFill>
              <a:srgbClr val="EBEBEB"/>
            </a:solidFill>
            <a:prstDash val="solid"/>
          </a:ln>
        </p:spPr>
        <p:txBody>
          <a:bodyPr/>
          <a:lstStyle/>
          <a:p>
            <a:endParaRPr lang="en-US"/>
          </a:p>
        </p:txBody>
      </p:sp>
      <p:sp>
        <p:nvSpPr>
          <p:cNvPr id="26" name="Text 24"/>
          <p:cNvSpPr/>
          <p:nvPr/>
        </p:nvSpPr>
        <p:spPr>
          <a:xfrm>
            <a:off x="502920" y="3282696"/>
            <a:ext cx="2560320" cy="237744"/>
          </a:xfrm>
          <a:prstGeom prst="rect">
            <a:avLst/>
          </a:prstGeom>
          <a:noFill/>
          <a:ln/>
        </p:spPr>
        <p:txBody>
          <a:bodyPr wrap="square" rtlCol="0" anchor="ctr"/>
          <a:lstStyle/>
          <a:p>
            <a:pPr marL="0" indent="0">
              <a:buNone/>
            </a:pPr>
            <a:r>
              <a:rPr lang="en-US" sz="950" dirty="0">
                <a:solidFill>
                  <a:srgbClr val="0F1E3C"/>
                </a:solidFill>
                <a:latin typeface="Arial" pitchFamily="34" charset="0"/>
                <a:ea typeface="Arial" pitchFamily="34" charset="-122"/>
                <a:cs typeface="Arial" pitchFamily="34" charset="-120"/>
              </a:rPr>
              <a:t>Session completes</a:t>
            </a:r>
            <a:endParaRPr lang="en-US" sz="950" dirty="0"/>
          </a:p>
        </p:txBody>
      </p:sp>
      <p:sp>
        <p:nvSpPr>
          <p:cNvPr id="27" name="Text 25"/>
          <p:cNvSpPr/>
          <p:nvPr/>
        </p:nvSpPr>
        <p:spPr>
          <a:xfrm>
            <a:off x="3108960" y="3282696"/>
            <a:ext cx="2743200" cy="237744"/>
          </a:xfrm>
          <a:prstGeom prst="rect">
            <a:avLst/>
          </a:prstGeom>
          <a:noFill/>
          <a:ln/>
        </p:spPr>
        <p:txBody>
          <a:bodyPr wrap="square" rtlCol="0" anchor="ctr"/>
          <a:lstStyle/>
          <a:p>
            <a:pPr marL="0" indent="0">
              <a:buNone/>
            </a:pPr>
            <a:r>
              <a:rPr lang="en-US" sz="950" dirty="0">
                <a:solidFill>
                  <a:srgbClr val="1A1A1A"/>
                </a:solidFill>
                <a:latin typeface="Arial" pitchFamily="34" charset="0"/>
                <a:ea typeface="Arial" pitchFamily="34" charset="-122"/>
                <a:cs typeface="Arial" pitchFamily="34" charset="-120"/>
              </a:rPr>
              <a:t>Admin makes endorsement decision</a:t>
            </a:r>
            <a:endParaRPr lang="en-US" sz="950" dirty="0"/>
          </a:p>
        </p:txBody>
      </p:sp>
      <p:sp>
        <p:nvSpPr>
          <p:cNvPr id="28" name="Text 26"/>
          <p:cNvSpPr/>
          <p:nvPr/>
        </p:nvSpPr>
        <p:spPr>
          <a:xfrm>
            <a:off x="5897880" y="3282696"/>
            <a:ext cx="2697480" cy="237744"/>
          </a:xfrm>
          <a:prstGeom prst="rect">
            <a:avLst/>
          </a:prstGeom>
          <a:noFill/>
          <a:ln/>
        </p:spPr>
        <p:txBody>
          <a:bodyPr wrap="square" rtlCol="0" anchor="ctr"/>
          <a:lstStyle/>
          <a:p>
            <a:pPr marL="0" indent="0">
              <a:buNone/>
            </a:pPr>
            <a:r>
              <a:rPr lang="en-US" sz="950" dirty="0">
                <a:solidFill>
                  <a:srgbClr val="2E6DA4"/>
                </a:solidFill>
                <a:latin typeface="Arial" pitchFamily="34" charset="0"/>
                <a:ea typeface="Arial" pitchFamily="34" charset="-122"/>
                <a:cs typeface="Arial" pitchFamily="34" charset="-120"/>
              </a:rPr>
              <a:t>Endorsement Review Panel (new)</a:t>
            </a:r>
            <a:endParaRPr lang="en-US" sz="950" dirty="0"/>
          </a:p>
        </p:txBody>
      </p:sp>
      <p:sp>
        <p:nvSpPr>
          <p:cNvPr id="29" name="Shape 27"/>
          <p:cNvSpPr/>
          <p:nvPr/>
        </p:nvSpPr>
        <p:spPr>
          <a:xfrm>
            <a:off x="411480" y="3602736"/>
            <a:ext cx="8321040" cy="365760"/>
          </a:xfrm>
          <a:prstGeom prst="rect">
            <a:avLst/>
          </a:prstGeom>
          <a:solidFill>
            <a:srgbClr val="FFFFFF"/>
          </a:solidFill>
          <a:ln w="6350">
            <a:solidFill>
              <a:srgbClr val="EBEBEB"/>
            </a:solidFill>
            <a:prstDash val="solid"/>
          </a:ln>
        </p:spPr>
        <p:txBody>
          <a:bodyPr/>
          <a:lstStyle/>
          <a:p>
            <a:endParaRPr lang="en-US"/>
          </a:p>
        </p:txBody>
      </p:sp>
      <p:sp>
        <p:nvSpPr>
          <p:cNvPr id="30" name="Text 28"/>
          <p:cNvSpPr/>
          <p:nvPr/>
        </p:nvSpPr>
        <p:spPr>
          <a:xfrm>
            <a:off x="502920" y="3666744"/>
            <a:ext cx="2560320" cy="237744"/>
          </a:xfrm>
          <a:prstGeom prst="rect">
            <a:avLst/>
          </a:prstGeom>
          <a:noFill/>
          <a:ln/>
        </p:spPr>
        <p:txBody>
          <a:bodyPr wrap="square" rtlCol="0" anchor="ctr"/>
          <a:lstStyle/>
          <a:p>
            <a:pPr marL="0" indent="0">
              <a:buNone/>
            </a:pPr>
            <a:r>
              <a:rPr lang="en-US" sz="950" dirty="0">
                <a:solidFill>
                  <a:srgbClr val="0F1E3C"/>
                </a:solidFill>
                <a:latin typeface="Arial" pitchFamily="34" charset="0"/>
                <a:ea typeface="Arial" pitchFamily="34" charset="-122"/>
                <a:cs typeface="Arial" pitchFamily="34" charset="-120"/>
              </a:rPr>
              <a:t>Endorse / assign</a:t>
            </a:r>
            <a:endParaRPr lang="en-US" sz="950" dirty="0"/>
          </a:p>
        </p:txBody>
      </p:sp>
      <p:sp>
        <p:nvSpPr>
          <p:cNvPr id="31" name="Text 29"/>
          <p:cNvSpPr/>
          <p:nvPr/>
        </p:nvSpPr>
        <p:spPr>
          <a:xfrm>
            <a:off x="3108960" y="3666744"/>
            <a:ext cx="2743200" cy="237744"/>
          </a:xfrm>
          <a:prstGeom prst="rect">
            <a:avLst/>
          </a:prstGeom>
          <a:noFill/>
          <a:ln/>
        </p:spPr>
        <p:txBody>
          <a:bodyPr wrap="square" rtlCol="0" anchor="ctr"/>
          <a:lstStyle/>
          <a:p>
            <a:pPr marL="0" indent="0">
              <a:buNone/>
            </a:pPr>
            <a:r>
              <a:rPr lang="en-US" sz="950" dirty="0">
                <a:solidFill>
                  <a:srgbClr val="1A1A1A"/>
                </a:solidFill>
                <a:latin typeface="Arial" pitchFamily="34" charset="0"/>
                <a:ea typeface="Arial" pitchFamily="34" charset="-122"/>
                <a:cs typeface="Arial" pitchFamily="34" charset="-120"/>
              </a:rPr>
              <a:t>Jira ticket created with assignee + comment</a:t>
            </a:r>
            <a:endParaRPr lang="en-US" sz="950" dirty="0"/>
          </a:p>
        </p:txBody>
      </p:sp>
      <p:sp>
        <p:nvSpPr>
          <p:cNvPr id="32" name="Text 30"/>
          <p:cNvSpPr/>
          <p:nvPr/>
        </p:nvSpPr>
        <p:spPr>
          <a:xfrm>
            <a:off x="5897880" y="3666744"/>
            <a:ext cx="2697480" cy="237744"/>
          </a:xfrm>
          <a:prstGeom prst="rect">
            <a:avLst/>
          </a:prstGeom>
          <a:noFill/>
          <a:ln/>
        </p:spPr>
        <p:txBody>
          <a:bodyPr wrap="square" rtlCol="0" anchor="ctr"/>
          <a:lstStyle/>
          <a:p>
            <a:pPr marL="0" indent="0">
              <a:buNone/>
            </a:pPr>
            <a:r>
              <a:rPr lang="en-US" sz="950" dirty="0">
                <a:solidFill>
                  <a:srgbClr val="2E6DA4"/>
                </a:solidFill>
                <a:latin typeface="Arial" pitchFamily="34" charset="0"/>
                <a:ea typeface="Arial" pitchFamily="34" charset="-122"/>
                <a:cs typeface="Arial" pitchFamily="34" charset="-120"/>
              </a:rPr>
              <a:t>Jira REST — arboard-adr / arboard-signed</a:t>
            </a:r>
            <a:endParaRPr lang="en-US" sz="950" dirty="0"/>
          </a:p>
        </p:txBody>
      </p:sp>
      <p:sp>
        <p:nvSpPr>
          <p:cNvPr id="33" name="Shape 31"/>
          <p:cNvSpPr/>
          <p:nvPr/>
        </p:nvSpPr>
        <p:spPr>
          <a:xfrm>
            <a:off x="411480" y="3986784"/>
            <a:ext cx="8321040" cy="365760"/>
          </a:xfrm>
          <a:prstGeom prst="rect">
            <a:avLst/>
          </a:prstGeom>
          <a:solidFill>
            <a:srgbClr val="F7F8FA"/>
          </a:solidFill>
          <a:ln w="6350">
            <a:solidFill>
              <a:srgbClr val="EBEBEB"/>
            </a:solidFill>
            <a:prstDash val="solid"/>
          </a:ln>
        </p:spPr>
        <p:txBody>
          <a:bodyPr/>
          <a:lstStyle/>
          <a:p>
            <a:endParaRPr lang="en-US"/>
          </a:p>
        </p:txBody>
      </p:sp>
      <p:sp>
        <p:nvSpPr>
          <p:cNvPr id="34" name="Text 32"/>
          <p:cNvSpPr/>
          <p:nvPr/>
        </p:nvSpPr>
        <p:spPr>
          <a:xfrm>
            <a:off x="502920" y="4050792"/>
            <a:ext cx="2560320" cy="237744"/>
          </a:xfrm>
          <a:prstGeom prst="rect">
            <a:avLst/>
          </a:prstGeom>
          <a:noFill/>
          <a:ln/>
        </p:spPr>
        <p:txBody>
          <a:bodyPr wrap="square" rtlCol="0" anchor="ctr"/>
          <a:lstStyle/>
          <a:p>
            <a:pPr marL="0" indent="0">
              <a:buNone/>
            </a:pPr>
            <a:r>
              <a:rPr lang="en-US" sz="950" dirty="0">
                <a:solidFill>
                  <a:srgbClr val="0F1E3C"/>
                </a:solidFill>
                <a:latin typeface="Arial" pitchFamily="34" charset="0"/>
                <a:ea typeface="Arial" pitchFamily="34" charset="-122"/>
                <a:cs typeface="Arial" pitchFamily="34" charset="-120"/>
              </a:rPr>
              <a:t>Countersign</a:t>
            </a:r>
            <a:endParaRPr lang="en-US" sz="950" dirty="0"/>
          </a:p>
        </p:txBody>
      </p:sp>
      <p:sp>
        <p:nvSpPr>
          <p:cNvPr id="35" name="Text 33"/>
          <p:cNvSpPr/>
          <p:nvPr/>
        </p:nvSpPr>
        <p:spPr>
          <a:xfrm>
            <a:off x="3108960" y="4050792"/>
            <a:ext cx="2743200" cy="237744"/>
          </a:xfrm>
          <a:prstGeom prst="rect">
            <a:avLst/>
          </a:prstGeom>
          <a:noFill/>
          <a:ln/>
        </p:spPr>
        <p:txBody>
          <a:bodyPr wrap="square" rtlCol="0" anchor="ctr"/>
          <a:lstStyle/>
          <a:p>
            <a:pPr marL="0" indent="0">
              <a:buNone/>
            </a:pPr>
            <a:r>
              <a:rPr lang="en-US" sz="950" dirty="0">
                <a:solidFill>
                  <a:srgbClr val="1A1A1A"/>
                </a:solidFill>
                <a:latin typeface="Arial" pitchFamily="34" charset="0"/>
                <a:ea typeface="Arial" pitchFamily="34" charset="-122"/>
                <a:cs typeface="Arial" pitchFamily="34" charset="-120"/>
              </a:rPr>
              <a:t>Sign-off written to Supabase audit trail</a:t>
            </a:r>
            <a:endParaRPr lang="en-US" sz="950" dirty="0"/>
          </a:p>
        </p:txBody>
      </p:sp>
      <p:sp>
        <p:nvSpPr>
          <p:cNvPr id="36" name="Text 34"/>
          <p:cNvSpPr/>
          <p:nvPr/>
        </p:nvSpPr>
        <p:spPr>
          <a:xfrm>
            <a:off x="5897880" y="4050792"/>
            <a:ext cx="2697480" cy="237744"/>
          </a:xfrm>
          <a:prstGeom prst="rect">
            <a:avLst/>
          </a:prstGeom>
          <a:noFill/>
          <a:ln/>
        </p:spPr>
        <p:txBody>
          <a:bodyPr wrap="square" rtlCol="0" anchor="ctr"/>
          <a:lstStyle/>
          <a:p>
            <a:pPr marL="0" indent="0">
              <a:buNone/>
            </a:pPr>
            <a:r>
              <a:rPr lang="en-US" sz="950" dirty="0">
                <a:solidFill>
                  <a:srgbClr val="2E6DA4"/>
                </a:solidFill>
                <a:latin typeface="Arial" pitchFamily="34" charset="0"/>
                <a:ea typeface="Arial" pitchFamily="34" charset="-122"/>
                <a:cs typeface="Arial" pitchFamily="34" charset="-120"/>
              </a:rPr>
              <a:t>Supabase — signoffs table</a:t>
            </a:r>
            <a:endParaRPr lang="en-US" sz="950" dirty="0"/>
          </a:p>
        </p:txBody>
      </p:sp>
      <p:sp>
        <p:nvSpPr>
          <p:cNvPr id="37" name="Shape 35"/>
          <p:cNvSpPr/>
          <p:nvPr/>
        </p:nvSpPr>
        <p:spPr>
          <a:xfrm>
            <a:off x="411480" y="4370832"/>
            <a:ext cx="8321040" cy="365760"/>
          </a:xfrm>
          <a:prstGeom prst="rect">
            <a:avLst/>
          </a:prstGeom>
          <a:solidFill>
            <a:srgbClr val="FFFFFF"/>
          </a:solidFill>
          <a:ln w="6350">
            <a:solidFill>
              <a:srgbClr val="EBEBEB"/>
            </a:solidFill>
            <a:prstDash val="solid"/>
          </a:ln>
        </p:spPr>
        <p:txBody>
          <a:bodyPr/>
          <a:lstStyle/>
          <a:p>
            <a:endParaRPr lang="en-US"/>
          </a:p>
        </p:txBody>
      </p:sp>
      <p:sp>
        <p:nvSpPr>
          <p:cNvPr id="38" name="Text 36"/>
          <p:cNvSpPr/>
          <p:nvPr/>
        </p:nvSpPr>
        <p:spPr>
          <a:xfrm>
            <a:off x="502920" y="4434840"/>
            <a:ext cx="2560320" cy="237744"/>
          </a:xfrm>
          <a:prstGeom prst="rect">
            <a:avLst/>
          </a:prstGeom>
          <a:noFill/>
          <a:ln/>
        </p:spPr>
        <p:txBody>
          <a:bodyPr wrap="square" rtlCol="0" anchor="ctr"/>
          <a:lstStyle/>
          <a:p>
            <a:pPr marL="0" indent="0">
              <a:buNone/>
            </a:pPr>
            <a:r>
              <a:rPr lang="en-US" sz="950" dirty="0">
                <a:solidFill>
                  <a:srgbClr val="0F1E3C"/>
                </a:solidFill>
                <a:latin typeface="Arial" pitchFamily="34" charset="0"/>
                <a:ea typeface="Arial" pitchFamily="34" charset="-122"/>
                <a:cs typeface="Arial" pitchFamily="34" charset="-120"/>
              </a:rPr>
              <a:t>Org connect</a:t>
            </a:r>
            <a:endParaRPr lang="en-US" sz="950" dirty="0"/>
          </a:p>
        </p:txBody>
      </p:sp>
      <p:sp>
        <p:nvSpPr>
          <p:cNvPr id="39" name="Text 37"/>
          <p:cNvSpPr/>
          <p:nvPr/>
        </p:nvSpPr>
        <p:spPr>
          <a:xfrm>
            <a:off x="3108960" y="4434840"/>
            <a:ext cx="2743200" cy="237744"/>
          </a:xfrm>
          <a:prstGeom prst="rect">
            <a:avLst/>
          </a:prstGeom>
          <a:noFill/>
          <a:ln/>
        </p:spPr>
        <p:txBody>
          <a:bodyPr wrap="square" rtlCol="0" anchor="ctr"/>
          <a:lstStyle/>
          <a:p>
            <a:pPr marL="0" indent="0">
              <a:buNone/>
            </a:pPr>
            <a:r>
              <a:rPr lang="en-US" sz="950" dirty="0">
                <a:solidFill>
                  <a:srgbClr val="1A1A1A"/>
                </a:solidFill>
                <a:latin typeface="Arial" pitchFamily="34" charset="0"/>
                <a:ea typeface="Arial" pitchFamily="34" charset="-122"/>
                <a:cs typeface="Arial" pitchFamily="34" charset="-120"/>
              </a:rPr>
              <a:t>Live metadata injected into agent prompts</a:t>
            </a:r>
            <a:endParaRPr lang="en-US" sz="950" dirty="0"/>
          </a:p>
        </p:txBody>
      </p:sp>
      <p:sp>
        <p:nvSpPr>
          <p:cNvPr id="40" name="Text 38"/>
          <p:cNvSpPr/>
          <p:nvPr/>
        </p:nvSpPr>
        <p:spPr>
          <a:xfrm>
            <a:off x="5897880" y="4434840"/>
            <a:ext cx="2697480" cy="237744"/>
          </a:xfrm>
          <a:prstGeom prst="rect">
            <a:avLst/>
          </a:prstGeom>
          <a:noFill/>
          <a:ln/>
        </p:spPr>
        <p:txBody>
          <a:bodyPr wrap="square" rtlCol="0" anchor="ctr"/>
          <a:lstStyle/>
          <a:p>
            <a:pPr marL="0" indent="0">
              <a:buNone/>
            </a:pPr>
            <a:r>
              <a:rPr lang="en-US" sz="950" dirty="0">
                <a:solidFill>
                  <a:srgbClr val="2E6DA4"/>
                </a:solidFill>
                <a:latin typeface="Arial" pitchFamily="34" charset="0"/>
                <a:ea typeface="Arial" pitchFamily="34" charset="-122"/>
                <a:cs typeface="Arial" pitchFamily="34" charset="-120"/>
              </a:rPr>
              <a:t>Salesforce MCP / jsforce fallback</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8FA"/>
        </a:solidFill>
        <a:effectLst/>
      </p:bgPr>
    </p:bg>
    <p:spTree>
      <p:nvGrpSpPr>
        <p:cNvPr id="1" name=""/>
        <p:cNvGrpSpPr/>
        <p:nvPr/>
      </p:nvGrpSpPr>
      <p:grpSpPr>
        <a:xfrm>
          <a:off x="0" y="0"/>
          <a:ext cx="0" cy="0"/>
          <a:chOff x="0" y="0"/>
          <a:chExt cx="0" cy="0"/>
        </a:xfrm>
      </p:grpSpPr>
      <p:sp>
        <p:nvSpPr>
          <p:cNvPr id="2" name="Text 0"/>
          <p:cNvSpPr/>
          <p:nvPr/>
        </p:nvSpPr>
        <p:spPr>
          <a:xfrm>
            <a:off x="502920" y="347472"/>
            <a:ext cx="8138160" cy="201168"/>
          </a:xfrm>
          <a:prstGeom prst="rect">
            <a:avLst/>
          </a:prstGeom>
          <a:noFill/>
          <a:ln/>
        </p:spPr>
        <p:txBody>
          <a:bodyPr wrap="square" rtlCol="0" anchor="ctr"/>
          <a:lstStyle/>
          <a:p>
            <a:pPr marL="0" indent="0" algn="l">
              <a:buNone/>
            </a:pPr>
            <a:r>
              <a:rPr lang="en-US" sz="900" b="1" kern="0" spc="300" dirty="0">
                <a:solidFill>
                  <a:srgbClr val="2E6DA4"/>
                </a:solidFill>
                <a:latin typeface="Arial" pitchFamily="34" charset="0"/>
                <a:ea typeface="Arial" pitchFamily="34" charset="-122"/>
                <a:cs typeface="Arial" pitchFamily="34" charset="-120"/>
              </a:rPr>
              <a:t>BUILD JOURNEY</a:t>
            </a:r>
            <a:endParaRPr lang="en-US" sz="900" dirty="0"/>
          </a:p>
        </p:txBody>
      </p:sp>
      <p:sp>
        <p:nvSpPr>
          <p:cNvPr id="3" name="Text 1"/>
          <p:cNvSpPr/>
          <p:nvPr/>
        </p:nvSpPr>
        <p:spPr>
          <a:xfrm>
            <a:off x="502920" y="594360"/>
            <a:ext cx="8138160" cy="640080"/>
          </a:xfrm>
          <a:prstGeom prst="rect">
            <a:avLst/>
          </a:prstGeom>
          <a:noFill/>
          <a:ln/>
        </p:spPr>
        <p:txBody>
          <a:bodyPr wrap="square" rtlCol="0" anchor="ctr"/>
          <a:lstStyle/>
          <a:p>
            <a:pPr marL="0" indent="0" algn="l">
              <a:buNone/>
            </a:pPr>
            <a:r>
              <a:rPr lang="en-US" sz="2800" b="1" dirty="0">
                <a:solidFill>
                  <a:srgbClr val="1A1A1A"/>
                </a:solidFill>
                <a:latin typeface="Arial" pitchFamily="34" charset="0"/>
                <a:ea typeface="Arial" pitchFamily="34" charset="-122"/>
                <a:cs typeface="Arial" pitchFamily="34" charset="-120"/>
              </a:rPr>
              <a:t>From requirement input to production-grade review platform</a:t>
            </a:r>
            <a:endParaRPr lang="en-US" sz="2800" dirty="0"/>
          </a:p>
        </p:txBody>
      </p:sp>
      <p:sp>
        <p:nvSpPr>
          <p:cNvPr id="4" name="Shape 2"/>
          <p:cNvSpPr/>
          <p:nvPr/>
        </p:nvSpPr>
        <p:spPr>
          <a:xfrm>
            <a:off x="502920" y="1207008"/>
            <a:ext cx="8138160" cy="0"/>
          </a:xfrm>
          <a:prstGeom prst="line">
            <a:avLst/>
          </a:prstGeom>
          <a:noFill/>
          <a:ln w="10160">
            <a:solidFill>
              <a:srgbClr val="EBEBEB"/>
            </a:solidFill>
            <a:prstDash val="solid"/>
          </a:ln>
        </p:spPr>
        <p:txBody>
          <a:bodyPr/>
          <a:lstStyle/>
          <a:p>
            <a:endParaRPr lang="en-US"/>
          </a:p>
        </p:txBody>
      </p:sp>
      <p:sp>
        <p:nvSpPr>
          <p:cNvPr id="5" name="Shape 3"/>
          <p:cNvSpPr/>
          <p:nvPr/>
        </p:nvSpPr>
        <p:spPr>
          <a:xfrm>
            <a:off x="411480" y="1371600"/>
            <a:ext cx="1965960" cy="2834640"/>
          </a:xfrm>
          <a:prstGeom prst="roundRect">
            <a:avLst>
              <a:gd name="adj" fmla="val 3721"/>
            </a:avLst>
          </a:prstGeom>
          <a:solidFill>
            <a:srgbClr val="EBF2FA"/>
          </a:solidFill>
          <a:ln w="6350">
            <a:solidFill>
              <a:srgbClr val="D3D1C7"/>
            </a:solidFill>
            <a:prstDash val="solid"/>
          </a:ln>
          <a:effectLst>
            <a:outerShdw blurRad="76200" dist="25400" dir="2700000" algn="bl" rotWithShape="0">
              <a:srgbClr val="000000">
                <a:alpha val="7000"/>
              </a:srgbClr>
            </a:outerShdw>
          </a:effectLst>
        </p:spPr>
        <p:txBody>
          <a:bodyPr/>
          <a:lstStyle/>
          <a:p>
            <a:endParaRPr lang="en-US"/>
          </a:p>
        </p:txBody>
      </p:sp>
      <p:sp>
        <p:nvSpPr>
          <p:cNvPr id="6" name="Text 4"/>
          <p:cNvSpPr/>
          <p:nvPr/>
        </p:nvSpPr>
        <p:spPr>
          <a:xfrm>
            <a:off x="411480" y="1463040"/>
            <a:ext cx="1965960" cy="320040"/>
          </a:xfrm>
          <a:prstGeom prst="rect">
            <a:avLst/>
          </a:prstGeom>
          <a:noFill/>
          <a:ln/>
        </p:spPr>
        <p:txBody>
          <a:bodyPr wrap="square" rtlCol="0" anchor="ctr"/>
          <a:lstStyle/>
          <a:p>
            <a:pPr marL="0" indent="0" algn="ctr">
              <a:buNone/>
            </a:pPr>
            <a:r>
              <a:rPr lang="en-US" sz="1200" b="1" dirty="0">
                <a:solidFill>
                  <a:srgbClr val="1B4F9B"/>
                </a:solidFill>
                <a:latin typeface="Arial" pitchFamily="34" charset="0"/>
                <a:ea typeface="Arial" pitchFamily="34" charset="-122"/>
                <a:cs typeface="Arial" pitchFamily="34" charset="-120"/>
              </a:rPr>
              <a:t>Foundation</a:t>
            </a:r>
            <a:endParaRPr lang="en-US" sz="1200" dirty="0"/>
          </a:p>
        </p:txBody>
      </p:sp>
      <p:sp>
        <p:nvSpPr>
          <p:cNvPr id="7" name="Shape 5"/>
          <p:cNvSpPr/>
          <p:nvPr/>
        </p:nvSpPr>
        <p:spPr>
          <a:xfrm>
            <a:off x="594360" y="1828800"/>
            <a:ext cx="1600200" cy="0"/>
          </a:xfrm>
          <a:prstGeom prst="line">
            <a:avLst/>
          </a:prstGeom>
          <a:noFill/>
          <a:ln w="6350">
            <a:solidFill>
              <a:srgbClr val="EBEBEB"/>
            </a:solidFill>
            <a:prstDash val="solid"/>
          </a:ln>
        </p:spPr>
        <p:txBody>
          <a:bodyPr/>
          <a:lstStyle/>
          <a:p>
            <a:endParaRPr lang="en-US"/>
          </a:p>
        </p:txBody>
      </p:sp>
      <p:sp>
        <p:nvSpPr>
          <p:cNvPr id="8" name="Text 6"/>
          <p:cNvSpPr/>
          <p:nvPr/>
        </p:nvSpPr>
        <p:spPr>
          <a:xfrm>
            <a:off x="521208" y="1901952"/>
            <a:ext cx="1737360" cy="420624"/>
          </a:xfrm>
          <a:prstGeom prst="rect">
            <a:avLst/>
          </a:prstGeom>
          <a:noFill/>
          <a:ln/>
        </p:spPr>
        <p:txBody>
          <a:bodyPr wrap="square" rtlCol="0" anchor="t"/>
          <a:lstStyle/>
          <a:p>
            <a:pPr marL="0" indent="0">
              <a:buNone/>
            </a:pPr>
            <a:r>
              <a:rPr lang="en-US" sz="950" dirty="0">
                <a:solidFill>
                  <a:srgbClr val="64635E"/>
                </a:solidFill>
                <a:latin typeface="Arial" pitchFamily="34" charset="0"/>
                <a:ea typeface="Arial" pitchFamily="34" charset="-122"/>
                <a:cs typeface="Arial" pitchFamily="34" charset="-120"/>
              </a:rPr>
              <a:t>→  9 specialist agents + ForumOrchestrator</a:t>
            </a:r>
            <a:endParaRPr lang="en-US" sz="950" dirty="0"/>
          </a:p>
        </p:txBody>
      </p:sp>
      <p:sp>
        <p:nvSpPr>
          <p:cNvPr id="9" name="Text 7"/>
          <p:cNvSpPr/>
          <p:nvPr/>
        </p:nvSpPr>
        <p:spPr>
          <a:xfrm>
            <a:off x="521208" y="2377440"/>
            <a:ext cx="1737360" cy="420624"/>
          </a:xfrm>
          <a:prstGeom prst="rect">
            <a:avLst/>
          </a:prstGeom>
          <a:noFill/>
          <a:ln/>
        </p:spPr>
        <p:txBody>
          <a:bodyPr wrap="square" rtlCol="0" anchor="t"/>
          <a:lstStyle/>
          <a:p>
            <a:pPr marL="0" indent="0">
              <a:buNone/>
            </a:pPr>
            <a:r>
              <a:rPr lang="en-US" sz="950" dirty="0">
                <a:solidFill>
                  <a:srgbClr val="64635E"/>
                </a:solidFill>
                <a:latin typeface="Arial" pitchFamily="34" charset="0"/>
                <a:ea typeface="Arial" pitchFamily="34" charset="-122"/>
                <a:cs typeface="Arial" pitchFamily="34" charset="-120"/>
              </a:rPr>
              <a:t>→  3-phase parallel execution</a:t>
            </a:r>
            <a:endParaRPr lang="en-US" sz="950" dirty="0"/>
          </a:p>
        </p:txBody>
      </p:sp>
      <p:sp>
        <p:nvSpPr>
          <p:cNvPr id="10" name="Text 8"/>
          <p:cNvSpPr/>
          <p:nvPr/>
        </p:nvSpPr>
        <p:spPr>
          <a:xfrm>
            <a:off x="521208" y="2852928"/>
            <a:ext cx="1737360" cy="420624"/>
          </a:xfrm>
          <a:prstGeom prst="rect">
            <a:avLst/>
          </a:prstGeom>
          <a:noFill/>
          <a:ln/>
        </p:spPr>
        <p:txBody>
          <a:bodyPr wrap="square" rtlCol="0" anchor="t"/>
          <a:lstStyle/>
          <a:p>
            <a:pPr marL="0" indent="0">
              <a:buNone/>
            </a:pPr>
            <a:r>
              <a:rPr lang="en-US" sz="950" dirty="0">
                <a:solidFill>
                  <a:srgbClr val="64635E"/>
                </a:solidFill>
                <a:latin typeface="Arial" pitchFamily="34" charset="0"/>
                <a:ea typeface="Arial" pitchFamily="34" charset="-122"/>
                <a:cs typeface="Arial" pitchFamily="34" charset="-120"/>
              </a:rPr>
              <a:t>→  Impact Analyser — selective agent loading</a:t>
            </a:r>
            <a:endParaRPr lang="en-US" sz="950" dirty="0"/>
          </a:p>
        </p:txBody>
      </p:sp>
      <p:sp>
        <p:nvSpPr>
          <p:cNvPr id="11" name="Shape 9"/>
          <p:cNvSpPr/>
          <p:nvPr/>
        </p:nvSpPr>
        <p:spPr>
          <a:xfrm>
            <a:off x="2560320" y="1371600"/>
            <a:ext cx="1965960" cy="2834640"/>
          </a:xfrm>
          <a:prstGeom prst="roundRect">
            <a:avLst>
              <a:gd name="adj" fmla="val 3721"/>
            </a:avLst>
          </a:prstGeom>
          <a:solidFill>
            <a:srgbClr val="E1F5EE"/>
          </a:solidFill>
          <a:ln w="6350">
            <a:solidFill>
              <a:srgbClr val="D3D1C7"/>
            </a:solidFill>
            <a:prstDash val="solid"/>
          </a:ln>
          <a:effectLst>
            <a:outerShdw blurRad="76200" dist="25400" dir="2700000" algn="bl" rotWithShape="0">
              <a:srgbClr val="000000">
                <a:alpha val="7000"/>
              </a:srgbClr>
            </a:outerShdw>
          </a:effectLst>
        </p:spPr>
        <p:txBody>
          <a:bodyPr/>
          <a:lstStyle/>
          <a:p>
            <a:endParaRPr lang="en-US"/>
          </a:p>
        </p:txBody>
      </p:sp>
      <p:sp>
        <p:nvSpPr>
          <p:cNvPr id="12" name="Text 10"/>
          <p:cNvSpPr/>
          <p:nvPr/>
        </p:nvSpPr>
        <p:spPr>
          <a:xfrm>
            <a:off x="2560320" y="1463040"/>
            <a:ext cx="1965960" cy="320040"/>
          </a:xfrm>
          <a:prstGeom prst="rect">
            <a:avLst/>
          </a:prstGeom>
          <a:noFill/>
          <a:ln/>
        </p:spPr>
        <p:txBody>
          <a:bodyPr wrap="square" rtlCol="0" anchor="ctr"/>
          <a:lstStyle/>
          <a:p>
            <a:pPr marL="0" indent="0" algn="ctr">
              <a:buNone/>
            </a:pPr>
            <a:r>
              <a:rPr lang="en-US" sz="1200" b="1" dirty="0">
                <a:solidFill>
                  <a:srgbClr val="0F6E56"/>
                </a:solidFill>
                <a:latin typeface="Arial" pitchFamily="34" charset="0"/>
                <a:ea typeface="Arial" pitchFamily="34" charset="-122"/>
                <a:cs typeface="Arial" pitchFamily="34" charset="-120"/>
              </a:rPr>
              <a:t>Integrations</a:t>
            </a:r>
            <a:endParaRPr lang="en-US" sz="1200" dirty="0"/>
          </a:p>
        </p:txBody>
      </p:sp>
      <p:sp>
        <p:nvSpPr>
          <p:cNvPr id="13" name="Shape 11"/>
          <p:cNvSpPr/>
          <p:nvPr/>
        </p:nvSpPr>
        <p:spPr>
          <a:xfrm>
            <a:off x="2743200" y="1828800"/>
            <a:ext cx="1600200" cy="0"/>
          </a:xfrm>
          <a:prstGeom prst="line">
            <a:avLst/>
          </a:prstGeom>
          <a:noFill/>
          <a:ln w="6350">
            <a:solidFill>
              <a:srgbClr val="EBEBEB"/>
            </a:solidFill>
            <a:prstDash val="solid"/>
          </a:ln>
        </p:spPr>
        <p:txBody>
          <a:bodyPr/>
          <a:lstStyle/>
          <a:p>
            <a:endParaRPr lang="en-US"/>
          </a:p>
        </p:txBody>
      </p:sp>
      <p:sp>
        <p:nvSpPr>
          <p:cNvPr id="14" name="Text 12"/>
          <p:cNvSpPr/>
          <p:nvPr/>
        </p:nvSpPr>
        <p:spPr>
          <a:xfrm>
            <a:off x="2670048" y="1901952"/>
            <a:ext cx="1737360" cy="420624"/>
          </a:xfrm>
          <a:prstGeom prst="rect">
            <a:avLst/>
          </a:prstGeom>
          <a:noFill/>
          <a:ln/>
        </p:spPr>
        <p:txBody>
          <a:bodyPr wrap="square" rtlCol="0" anchor="t"/>
          <a:lstStyle/>
          <a:p>
            <a:pPr marL="0" indent="0">
              <a:buNone/>
            </a:pPr>
            <a:r>
              <a:rPr lang="en-US" sz="950" dirty="0">
                <a:solidFill>
                  <a:srgbClr val="64635E"/>
                </a:solidFill>
                <a:latin typeface="Arial" pitchFamily="34" charset="0"/>
                <a:ea typeface="Arial" pitchFamily="34" charset="-122"/>
                <a:cs typeface="Arial" pitchFamily="34" charset="-120"/>
              </a:rPr>
              <a:t>→  Jira ADR ticket creation + countersign</a:t>
            </a:r>
            <a:endParaRPr lang="en-US" sz="950" dirty="0"/>
          </a:p>
        </p:txBody>
      </p:sp>
      <p:sp>
        <p:nvSpPr>
          <p:cNvPr id="15" name="Text 13"/>
          <p:cNvSpPr/>
          <p:nvPr/>
        </p:nvSpPr>
        <p:spPr>
          <a:xfrm>
            <a:off x="2670048" y="2377440"/>
            <a:ext cx="1737360" cy="420624"/>
          </a:xfrm>
          <a:prstGeom prst="rect">
            <a:avLst/>
          </a:prstGeom>
          <a:noFill/>
          <a:ln/>
        </p:spPr>
        <p:txBody>
          <a:bodyPr wrap="square" rtlCol="0" anchor="t"/>
          <a:lstStyle/>
          <a:p>
            <a:pPr marL="0" indent="0">
              <a:buNone/>
            </a:pPr>
            <a:r>
              <a:rPr lang="en-US" sz="950" dirty="0">
                <a:solidFill>
                  <a:srgbClr val="64635E"/>
                </a:solidFill>
                <a:latin typeface="Arial" pitchFamily="34" charset="0"/>
                <a:ea typeface="Arial" pitchFamily="34" charset="-122"/>
                <a:cs typeface="Arial" pitchFamily="34" charset="-120"/>
              </a:rPr>
              <a:t>→  Supabase operational store</a:t>
            </a:r>
            <a:endParaRPr lang="en-US" sz="950" dirty="0"/>
          </a:p>
        </p:txBody>
      </p:sp>
      <p:sp>
        <p:nvSpPr>
          <p:cNvPr id="16" name="Text 14"/>
          <p:cNvSpPr/>
          <p:nvPr/>
        </p:nvSpPr>
        <p:spPr>
          <a:xfrm>
            <a:off x="2670048" y="2852928"/>
            <a:ext cx="1737360" cy="420624"/>
          </a:xfrm>
          <a:prstGeom prst="rect">
            <a:avLst/>
          </a:prstGeom>
          <a:noFill/>
          <a:ln/>
        </p:spPr>
        <p:txBody>
          <a:bodyPr wrap="square" rtlCol="0" anchor="t"/>
          <a:lstStyle/>
          <a:p>
            <a:pPr marL="0" indent="0">
              <a:buNone/>
            </a:pPr>
            <a:r>
              <a:rPr lang="en-US" sz="950" dirty="0">
                <a:solidFill>
                  <a:srgbClr val="64635E"/>
                </a:solidFill>
                <a:latin typeface="Arial" pitchFamily="34" charset="0"/>
                <a:ea typeface="Arial" pitchFamily="34" charset="-122"/>
                <a:cs typeface="Arial" pitchFamily="34" charset="-120"/>
              </a:rPr>
              <a:t>→  Salesforce MCP + jsforce fallback</a:t>
            </a:r>
            <a:endParaRPr lang="en-US" sz="950" dirty="0"/>
          </a:p>
        </p:txBody>
      </p:sp>
      <p:sp>
        <p:nvSpPr>
          <p:cNvPr id="17" name="Shape 15"/>
          <p:cNvSpPr/>
          <p:nvPr/>
        </p:nvSpPr>
        <p:spPr>
          <a:xfrm>
            <a:off x="4709160" y="1371600"/>
            <a:ext cx="1965960" cy="2834640"/>
          </a:xfrm>
          <a:prstGeom prst="roundRect">
            <a:avLst>
              <a:gd name="adj" fmla="val 3721"/>
            </a:avLst>
          </a:prstGeom>
          <a:solidFill>
            <a:srgbClr val="FAEEDA"/>
          </a:solidFill>
          <a:ln w="6350">
            <a:solidFill>
              <a:srgbClr val="D3D1C7"/>
            </a:solidFill>
            <a:prstDash val="solid"/>
          </a:ln>
          <a:effectLst>
            <a:outerShdw blurRad="76200" dist="25400" dir="2700000" algn="bl" rotWithShape="0">
              <a:srgbClr val="000000">
                <a:alpha val="7000"/>
              </a:srgbClr>
            </a:outerShdw>
          </a:effectLst>
        </p:spPr>
        <p:txBody>
          <a:bodyPr/>
          <a:lstStyle/>
          <a:p>
            <a:endParaRPr lang="en-US"/>
          </a:p>
        </p:txBody>
      </p:sp>
      <p:sp>
        <p:nvSpPr>
          <p:cNvPr id="18" name="Text 16"/>
          <p:cNvSpPr/>
          <p:nvPr/>
        </p:nvSpPr>
        <p:spPr>
          <a:xfrm>
            <a:off x="4709160" y="1463040"/>
            <a:ext cx="1965960" cy="320040"/>
          </a:xfrm>
          <a:prstGeom prst="rect">
            <a:avLst/>
          </a:prstGeom>
          <a:noFill/>
          <a:ln/>
        </p:spPr>
        <p:txBody>
          <a:bodyPr wrap="square" rtlCol="0" anchor="ctr"/>
          <a:lstStyle/>
          <a:p>
            <a:pPr marL="0" indent="0" algn="ctr">
              <a:buNone/>
            </a:pPr>
            <a:r>
              <a:rPr lang="en-US" sz="1200" b="1" dirty="0">
                <a:solidFill>
                  <a:srgbClr val="BA7517"/>
                </a:solidFill>
                <a:latin typeface="Arial" pitchFamily="34" charset="0"/>
                <a:ea typeface="Arial" pitchFamily="34" charset="-122"/>
                <a:cs typeface="Arial" pitchFamily="34" charset="-120"/>
              </a:rPr>
              <a:t>Intelligence</a:t>
            </a:r>
            <a:endParaRPr lang="en-US" sz="1200" dirty="0"/>
          </a:p>
        </p:txBody>
      </p:sp>
      <p:sp>
        <p:nvSpPr>
          <p:cNvPr id="19" name="Shape 17"/>
          <p:cNvSpPr/>
          <p:nvPr/>
        </p:nvSpPr>
        <p:spPr>
          <a:xfrm>
            <a:off x="4892040" y="1828800"/>
            <a:ext cx="1600200" cy="0"/>
          </a:xfrm>
          <a:prstGeom prst="line">
            <a:avLst/>
          </a:prstGeom>
          <a:noFill/>
          <a:ln w="6350">
            <a:solidFill>
              <a:srgbClr val="EBEBEB"/>
            </a:solidFill>
            <a:prstDash val="solid"/>
          </a:ln>
        </p:spPr>
        <p:txBody>
          <a:bodyPr/>
          <a:lstStyle/>
          <a:p>
            <a:endParaRPr lang="en-US"/>
          </a:p>
        </p:txBody>
      </p:sp>
      <p:sp>
        <p:nvSpPr>
          <p:cNvPr id="20" name="Text 18"/>
          <p:cNvSpPr/>
          <p:nvPr/>
        </p:nvSpPr>
        <p:spPr>
          <a:xfrm>
            <a:off x="4818888" y="1901952"/>
            <a:ext cx="1737360" cy="420624"/>
          </a:xfrm>
          <a:prstGeom prst="rect">
            <a:avLst/>
          </a:prstGeom>
          <a:noFill/>
          <a:ln/>
        </p:spPr>
        <p:txBody>
          <a:bodyPr wrap="square" rtlCol="0" anchor="t"/>
          <a:lstStyle/>
          <a:p>
            <a:pPr marL="0" indent="0">
              <a:buNone/>
            </a:pPr>
            <a:r>
              <a:rPr lang="en-US" sz="950" dirty="0">
                <a:solidFill>
                  <a:srgbClr val="64635E"/>
                </a:solidFill>
                <a:latin typeface="Arial" pitchFamily="34" charset="0"/>
                <a:ea typeface="Arial" pitchFamily="34" charset="-122"/>
                <a:cs typeface="Arial" pitchFamily="34" charset="-120"/>
              </a:rPr>
              <a:t>→  SI failure pattern library (FP-004→FP-012)</a:t>
            </a:r>
            <a:endParaRPr lang="en-US" sz="950" dirty="0"/>
          </a:p>
        </p:txBody>
      </p:sp>
      <p:sp>
        <p:nvSpPr>
          <p:cNvPr id="21" name="Text 19"/>
          <p:cNvSpPr/>
          <p:nvPr/>
        </p:nvSpPr>
        <p:spPr>
          <a:xfrm>
            <a:off x="4818888" y="2377440"/>
            <a:ext cx="1737360" cy="420624"/>
          </a:xfrm>
          <a:prstGeom prst="rect">
            <a:avLst/>
          </a:prstGeom>
          <a:noFill/>
          <a:ln/>
        </p:spPr>
        <p:txBody>
          <a:bodyPr wrap="square" rtlCol="0" anchor="t"/>
          <a:lstStyle/>
          <a:p>
            <a:pPr marL="0" indent="0">
              <a:buNone/>
            </a:pPr>
            <a:r>
              <a:rPr lang="en-US" sz="950" dirty="0">
                <a:solidFill>
                  <a:srgbClr val="64635E"/>
                </a:solidFill>
                <a:latin typeface="Arial" pitchFamily="34" charset="0"/>
                <a:ea typeface="Arial" pitchFamily="34" charset="-122"/>
                <a:cs typeface="Arial" pitchFamily="34" charset="-120"/>
              </a:rPr>
              <a:t>→  Cross-session memory via Jira</a:t>
            </a:r>
            <a:endParaRPr lang="en-US" sz="950" dirty="0"/>
          </a:p>
        </p:txBody>
      </p:sp>
      <p:sp>
        <p:nvSpPr>
          <p:cNvPr id="22" name="Text 20"/>
          <p:cNvSpPr/>
          <p:nvPr/>
        </p:nvSpPr>
        <p:spPr>
          <a:xfrm>
            <a:off x="4818888" y="2852928"/>
            <a:ext cx="1737360" cy="420624"/>
          </a:xfrm>
          <a:prstGeom prst="rect">
            <a:avLst/>
          </a:prstGeom>
          <a:noFill/>
          <a:ln/>
        </p:spPr>
        <p:txBody>
          <a:bodyPr wrap="square" rtlCol="0" anchor="t"/>
          <a:lstStyle/>
          <a:p>
            <a:pPr marL="0" indent="0">
              <a:buNone/>
            </a:pPr>
            <a:r>
              <a:rPr lang="en-US" sz="950" dirty="0">
                <a:solidFill>
                  <a:srgbClr val="64635E"/>
                </a:solidFill>
                <a:latin typeface="Arial" pitchFamily="34" charset="0"/>
                <a:ea typeface="Arial" pitchFamily="34" charset="-122"/>
                <a:cs typeface="Arial" pitchFamily="34" charset="-120"/>
              </a:rPr>
              <a:t>→  Endorsement Review Panel</a:t>
            </a:r>
            <a:endParaRPr lang="en-US" sz="950" dirty="0"/>
          </a:p>
        </p:txBody>
      </p:sp>
      <p:sp>
        <p:nvSpPr>
          <p:cNvPr id="23" name="Shape 21"/>
          <p:cNvSpPr/>
          <p:nvPr/>
        </p:nvSpPr>
        <p:spPr>
          <a:xfrm>
            <a:off x="6858000" y="1371600"/>
            <a:ext cx="1965960" cy="2834640"/>
          </a:xfrm>
          <a:prstGeom prst="roundRect">
            <a:avLst>
              <a:gd name="adj" fmla="val 3721"/>
            </a:avLst>
          </a:prstGeom>
          <a:solidFill>
            <a:srgbClr val="0F1E3C"/>
          </a:solidFill>
          <a:ln w="6350">
            <a:solidFill>
              <a:srgbClr val="D3D1C7"/>
            </a:solidFill>
            <a:prstDash val="solid"/>
          </a:ln>
          <a:effectLst>
            <a:outerShdw blurRad="76200" dist="25400" dir="2700000" algn="bl" rotWithShape="0">
              <a:srgbClr val="000000">
                <a:alpha val="7000"/>
              </a:srgbClr>
            </a:outerShdw>
          </a:effectLst>
        </p:spPr>
        <p:txBody>
          <a:bodyPr/>
          <a:lstStyle/>
          <a:p>
            <a:endParaRPr lang="en-US"/>
          </a:p>
        </p:txBody>
      </p:sp>
      <p:sp>
        <p:nvSpPr>
          <p:cNvPr id="24" name="Text 22"/>
          <p:cNvSpPr/>
          <p:nvPr/>
        </p:nvSpPr>
        <p:spPr>
          <a:xfrm>
            <a:off x="6858000" y="1463040"/>
            <a:ext cx="1965960" cy="320040"/>
          </a:xfrm>
          <a:prstGeom prst="rect">
            <a:avLst/>
          </a:prstGeom>
          <a:noFill/>
          <a:ln/>
        </p:spPr>
        <p:txBody>
          <a:bodyPr wrap="square"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Optimisation</a:t>
            </a:r>
            <a:endParaRPr lang="en-US" sz="1200" dirty="0"/>
          </a:p>
        </p:txBody>
      </p:sp>
      <p:sp>
        <p:nvSpPr>
          <p:cNvPr id="25" name="Shape 23"/>
          <p:cNvSpPr/>
          <p:nvPr/>
        </p:nvSpPr>
        <p:spPr>
          <a:xfrm>
            <a:off x="7040880" y="1828800"/>
            <a:ext cx="1600200" cy="0"/>
          </a:xfrm>
          <a:prstGeom prst="line">
            <a:avLst/>
          </a:prstGeom>
          <a:noFill/>
          <a:ln w="6350">
            <a:solidFill>
              <a:srgbClr val="445566"/>
            </a:solidFill>
            <a:prstDash val="solid"/>
          </a:ln>
        </p:spPr>
        <p:txBody>
          <a:bodyPr/>
          <a:lstStyle/>
          <a:p>
            <a:endParaRPr lang="en-US"/>
          </a:p>
        </p:txBody>
      </p:sp>
      <p:sp>
        <p:nvSpPr>
          <p:cNvPr id="26" name="Text 24"/>
          <p:cNvSpPr/>
          <p:nvPr/>
        </p:nvSpPr>
        <p:spPr>
          <a:xfrm>
            <a:off x="6967728" y="1901952"/>
            <a:ext cx="1737360" cy="420624"/>
          </a:xfrm>
          <a:prstGeom prst="rect">
            <a:avLst/>
          </a:prstGeom>
          <a:noFill/>
          <a:ln/>
        </p:spPr>
        <p:txBody>
          <a:bodyPr wrap="square" rtlCol="0" anchor="t"/>
          <a:lstStyle/>
          <a:p>
            <a:pPr marL="0" indent="0">
              <a:buNone/>
            </a:pPr>
            <a:r>
              <a:rPr lang="en-US" sz="950" dirty="0">
                <a:solidFill>
                  <a:srgbClr val="A0B8D8"/>
                </a:solidFill>
                <a:latin typeface="Arial" pitchFamily="34" charset="0"/>
                <a:ea typeface="Arial" pitchFamily="34" charset="-122"/>
                <a:cs typeface="Arial" pitchFamily="34" charset="-120"/>
              </a:rPr>
              <a:t>→  Document review mode (NEW)</a:t>
            </a:r>
            <a:endParaRPr lang="en-US" sz="950" dirty="0"/>
          </a:p>
        </p:txBody>
      </p:sp>
      <p:sp>
        <p:nvSpPr>
          <p:cNvPr id="27" name="Text 25"/>
          <p:cNvSpPr/>
          <p:nvPr/>
        </p:nvSpPr>
        <p:spPr>
          <a:xfrm>
            <a:off x="6967728" y="2377440"/>
            <a:ext cx="1737360" cy="420624"/>
          </a:xfrm>
          <a:prstGeom prst="rect">
            <a:avLst/>
          </a:prstGeom>
          <a:noFill/>
          <a:ln/>
        </p:spPr>
        <p:txBody>
          <a:bodyPr wrap="square" rtlCol="0" anchor="t"/>
          <a:lstStyle/>
          <a:p>
            <a:pPr marL="0" indent="0">
              <a:buNone/>
            </a:pPr>
            <a:r>
              <a:rPr lang="en-US" sz="950" dirty="0">
                <a:solidFill>
                  <a:srgbClr val="A0B8D8"/>
                </a:solidFill>
                <a:latin typeface="Arial" pitchFamily="34" charset="0"/>
                <a:ea typeface="Arial" pitchFamily="34" charset="-122"/>
                <a:cs typeface="Arial" pitchFamily="34" charset="-120"/>
              </a:rPr>
              <a:t>→  Well-Architected principles injection</a:t>
            </a:r>
            <a:endParaRPr lang="en-US" sz="950" dirty="0"/>
          </a:p>
        </p:txBody>
      </p:sp>
      <p:sp>
        <p:nvSpPr>
          <p:cNvPr id="28" name="Text 26"/>
          <p:cNvSpPr/>
          <p:nvPr/>
        </p:nvSpPr>
        <p:spPr>
          <a:xfrm>
            <a:off x="6967728" y="2852928"/>
            <a:ext cx="1737360" cy="420624"/>
          </a:xfrm>
          <a:prstGeom prst="rect">
            <a:avLst/>
          </a:prstGeom>
          <a:noFill/>
          <a:ln/>
        </p:spPr>
        <p:txBody>
          <a:bodyPr wrap="square" rtlCol="0" anchor="t"/>
          <a:lstStyle/>
          <a:p>
            <a:pPr marL="0" indent="0">
              <a:buNone/>
            </a:pPr>
            <a:r>
              <a:rPr lang="en-US" sz="950" dirty="0">
                <a:solidFill>
                  <a:srgbClr val="A0B8D8"/>
                </a:solidFill>
                <a:latin typeface="Arial" pitchFamily="34" charset="0"/>
                <a:ea typeface="Arial" pitchFamily="34" charset="-122"/>
                <a:cs typeface="Arial" pitchFamily="34" charset="-120"/>
              </a:rPr>
              <a:t>→  Token optimisation</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6">
    <p:bg>
      <p:bgPr>
        <a:solidFill>
          <a:srgbClr val="F7F8FA"/>
        </a:solidFill>
        <a:effectLst/>
      </p:bgPr>
    </p:bg>
    <p:spTree>
      <p:nvGrpSpPr>
        <p:cNvPr id="1" name=""/>
        <p:cNvGrpSpPr/>
        <p:nvPr/>
      </p:nvGrpSpPr>
      <p:grpSpPr>
        <a:xfrm>
          <a:off x="0" y="0"/>
          <a:ext cx="0" cy="0"/>
          <a:chOff x="0" y="0"/>
          <a:chExt cx="0" cy="0"/>
        </a:xfrm>
      </p:grpSpPr>
      <p:sp>
        <p:nvSpPr>
          <p:cNvPr id="2" name="Text 0"/>
          <p:cNvSpPr/>
          <p:nvPr/>
        </p:nvSpPr>
        <p:spPr>
          <a:xfrm>
            <a:off x="502920" y="347472"/>
            <a:ext cx="8138160" cy="201168"/>
          </a:xfrm>
          <a:prstGeom prst="rect">
            <a:avLst/>
          </a:prstGeom>
          <a:noFill/>
          <a:ln/>
        </p:spPr>
        <p:txBody>
          <a:bodyPr wrap="square" rtlCol="0" anchor="ctr"/>
          <a:lstStyle/>
          <a:p>
            <a:pPr marL="0" indent="0" algn="l">
              <a:buNone/>
            </a:pPr>
            <a:r>
              <a:rPr lang="en-US" sz="900" b="1" kern="0" spc="300" dirty="0">
                <a:solidFill>
                  <a:srgbClr val="2E6DA4"/>
                </a:solidFill>
                <a:latin typeface="Arial" pitchFamily="34" charset="0"/>
                <a:ea typeface="Arial" pitchFamily="34" charset="-122"/>
                <a:cs typeface="Arial" pitchFamily="34" charset="-120"/>
              </a:rPr>
              <a:t>COST ENGINEERING — LEARNINGS</a:t>
            </a:r>
            <a:endParaRPr lang="en-US" sz="900" dirty="0"/>
          </a:p>
        </p:txBody>
      </p:sp>
      <p:sp>
        <p:nvSpPr>
          <p:cNvPr id="3" name="Text 1"/>
          <p:cNvSpPr/>
          <p:nvPr/>
        </p:nvSpPr>
        <p:spPr>
          <a:xfrm>
            <a:off x="502920" y="594360"/>
            <a:ext cx="8138160" cy="640080"/>
          </a:xfrm>
          <a:prstGeom prst="rect">
            <a:avLst/>
          </a:prstGeom>
          <a:noFill/>
          <a:ln/>
        </p:spPr>
        <p:txBody>
          <a:bodyPr wrap="square" rtlCol="0" anchor="ctr"/>
          <a:lstStyle/>
          <a:p>
            <a:pPr marL="0" indent="0" algn="l">
              <a:buNone/>
            </a:pPr>
            <a:r>
              <a:rPr lang="en-US" sz="2800" b="1" dirty="0">
                <a:solidFill>
                  <a:srgbClr val="1A1A1A"/>
                </a:solidFill>
                <a:latin typeface="Arial" pitchFamily="34" charset="0"/>
                <a:ea typeface="Arial" pitchFamily="34" charset="-122"/>
                <a:cs typeface="Arial" pitchFamily="34" charset="-120"/>
              </a:rPr>
              <a:t>Token consumption: measured, then engineered down</a:t>
            </a:r>
            <a:endParaRPr lang="en-US" sz="2800" dirty="0"/>
          </a:p>
        </p:txBody>
      </p:sp>
      <p:sp>
        <p:nvSpPr>
          <p:cNvPr id="4" name="Shape 2"/>
          <p:cNvSpPr/>
          <p:nvPr/>
        </p:nvSpPr>
        <p:spPr>
          <a:xfrm>
            <a:off x="502920" y="1207008"/>
            <a:ext cx="8138160" cy="0"/>
          </a:xfrm>
          <a:prstGeom prst="line">
            <a:avLst/>
          </a:prstGeom>
          <a:noFill/>
          <a:ln w="10160">
            <a:solidFill>
              <a:srgbClr val="EBEBEB"/>
            </a:solidFill>
            <a:prstDash val="solid"/>
          </a:ln>
        </p:spPr>
        <p:txBody>
          <a:bodyPr/>
          <a:lstStyle/>
          <a:p>
            <a:endParaRPr lang="en-US"/>
          </a:p>
        </p:txBody>
      </p:sp>
      <p:sp>
        <p:nvSpPr>
          <p:cNvPr id="5" name="Text 3"/>
          <p:cNvSpPr/>
          <p:nvPr/>
        </p:nvSpPr>
        <p:spPr>
          <a:xfrm>
            <a:off x="502920" y="1325880"/>
            <a:ext cx="3840480" cy="274320"/>
          </a:xfrm>
          <a:prstGeom prst="rect">
            <a:avLst/>
          </a:prstGeom>
          <a:noFill/>
          <a:ln/>
        </p:spPr>
        <p:txBody>
          <a:bodyPr wrap="square" rtlCol="0" anchor="ctr"/>
          <a:lstStyle/>
          <a:p>
            <a:pPr marL="0" indent="0">
              <a:buNone/>
            </a:pPr>
            <a:r>
              <a:rPr lang="en-US" sz="1200" b="1" dirty="0">
                <a:solidFill>
                  <a:srgbClr val="0F1E3C"/>
                </a:solidFill>
                <a:latin typeface="Arial" pitchFamily="34" charset="0"/>
                <a:ea typeface="Arial" pitchFamily="34" charset="-122"/>
                <a:cs typeface="Arial" pitchFamily="34" charset="-120"/>
              </a:rPr>
              <a:t>Baseline per session (9 agents, real doc)</a:t>
            </a:r>
            <a:endParaRPr lang="en-US" sz="1200" dirty="0"/>
          </a:p>
        </p:txBody>
      </p:sp>
      <p:sp>
        <p:nvSpPr>
          <p:cNvPr id="6" name="Shape 4"/>
          <p:cNvSpPr/>
          <p:nvPr/>
        </p:nvSpPr>
        <p:spPr>
          <a:xfrm>
            <a:off x="502920" y="1627632"/>
            <a:ext cx="5029200" cy="329184"/>
          </a:xfrm>
          <a:prstGeom prst="rect">
            <a:avLst/>
          </a:prstGeom>
          <a:solidFill>
            <a:srgbClr val="0F1E3C"/>
          </a:solidFill>
          <a:ln w="6350">
            <a:solidFill>
              <a:srgbClr val="EBEBEB"/>
            </a:solidFill>
            <a:prstDash val="solid"/>
          </a:ln>
        </p:spPr>
        <p:txBody>
          <a:bodyPr/>
          <a:lstStyle/>
          <a:p>
            <a:endParaRPr lang="en-US"/>
          </a:p>
        </p:txBody>
      </p:sp>
      <p:sp>
        <p:nvSpPr>
          <p:cNvPr id="7" name="Text 5"/>
          <p:cNvSpPr/>
          <p:nvPr/>
        </p:nvSpPr>
        <p:spPr>
          <a:xfrm>
            <a:off x="594360" y="1673352"/>
            <a:ext cx="2834640" cy="237744"/>
          </a:xfrm>
          <a:prstGeom prst="rect">
            <a:avLst/>
          </a:prstGeom>
          <a:noFill/>
          <a:ln/>
        </p:spPr>
        <p:txBody>
          <a:bodyPr wrap="square" rtlCol="0" anchor="ctr"/>
          <a:lstStyle/>
          <a:p>
            <a:pPr marL="0" indent="0">
              <a:buNone/>
            </a:pPr>
            <a:r>
              <a:rPr lang="en-US" sz="900" b="1" dirty="0">
                <a:solidFill>
                  <a:srgbClr val="FFFFFF"/>
                </a:solidFill>
                <a:latin typeface="Arial" pitchFamily="34" charset="0"/>
                <a:ea typeface="Arial" pitchFamily="34" charset="-122"/>
                <a:cs typeface="Arial" pitchFamily="34" charset="-120"/>
              </a:rPr>
              <a:t>Source</a:t>
            </a:r>
            <a:endParaRPr lang="en-US" sz="900" dirty="0"/>
          </a:p>
        </p:txBody>
      </p:sp>
      <p:sp>
        <p:nvSpPr>
          <p:cNvPr id="8" name="Text 6"/>
          <p:cNvSpPr/>
          <p:nvPr/>
        </p:nvSpPr>
        <p:spPr>
          <a:xfrm>
            <a:off x="3474720" y="1673352"/>
            <a:ext cx="685800" cy="237744"/>
          </a:xfrm>
          <a:prstGeom prst="rect">
            <a:avLst/>
          </a:prstGeom>
          <a:noFill/>
          <a:ln/>
        </p:spPr>
        <p:txBody>
          <a:bodyPr wrap="square" rtlCol="0" anchor="ctr"/>
          <a:lstStyle/>
          <a:p>
            <a:pPr marL="0" indent="0">
              <a:buNone/>
            </a:pPr>
            <a:r>
              <a:rPr lang="en-US" sz="900" b="1" dirty="0">
                <a:solidFill>
                  <a:srgbClr val="FFFFFF"/>
                </a:solidFill>
                <a:latin typeface="Arial" pitchFamily="34" charset="0"/>
                <a:ea typeface="Arial" pitchFamily="34" charset="-122"/>
                <a:cs typeface="Arial" pitchFamily="34" charset="-120"/>
              </a:rPr>
              <a:t>Tokens</a:t>
            </a:r>
            <a:endParaRPr lang="en-US" sz="900" dirty="0"/>
          </a:p>
        </p:txBody>
      </p:sp>
      <p:sp>
        <p:nvSpPr>
          <p:cNvPr id="9" name="Text 7"/>
          <p:cNvSpPr/>
          <p:nvPr/>
        </p:nvSpPr>
        <p:spPr>
          <a:xfrm>
            <a:off x="4206240" y="1673352"/>
            <a:ext cx="1234440" cy="237744"/>
          </a:xfrm>
          <a:prstGeom prst="rect">
            <a:avLst/>
          </a:prstGeom>
          <a:noFill/>
          <a:ln/>
        </p:spPr>
        <p:txBody>
          <a:bodyPr wrap="square" rtlCol="0" anchor="ctr"/>
          <a:lstStyle/>
          <a:p>
            <a:pPr marL="0" indent="0">
              <a:buNone/>
            </a:pPr>
            <a:r>
              <a:rPr lang="en-US" sz="900" b="1" dirty="0">
                <a:solidFill>
                  <a:srgbClr val="FFFFFF"/>
                </a:solidFill>
                <a:latin typeface="Arial" pitchFamily="34" charset="0"/>
                <a:ea typeface="Arial" pitchFamily="34" charset="-122"/>
                <a:cs typeface="Arial" pitchFamily="34" charset="-120"/>
              </a:rPr>
              <a:t>Notes</a:t>
            </a:r>
            <a:endParaRPr lang="en-US" sz="900" dirty="0"/>
          </a:p>
        </p:txBody>
      </p:sp>
      <p:sp>
        <p:nvSpPr>
          <p:cNvPr id="10" name="Shape 8"/>
          <p:cNvSpPr/>
          <p:nvPr/>
        </p:nvSpPr>
        <p:spPr>
          <a:xfrm>
            <a:off x="502920" y="1975104"/>
            <a:ext cx="5029200" cy="329184"/>
          </a:xfrm>
          <a:prstGeom prst="rect">
            <a:avLst/>
          </a:prstGeom>
          <a:solidFill>
            <a:srgbClr val="F7F8FA"/>
          </a:solidFill>
          <a:ln w="6350">
            <a:solidFill>
              <a:srgbClr val="EBEBEB"/>
            </a:solidFill>
            <a:prstDash val="solid"/>
          </a:ln>
        </p:spPr>
        <p:txBody>
          <a:bodyPr/>
          <a:lstStyle/>
          <a:p>
            <a:endParaRPr lang="en-US"/>
          </a:p>
        </p:txBody>
      </p:sp>
      <p:sp>
        <p:nvSpPr>
          <p:cNvPr id="11" name="Text 9"/>
          <p:cNvSpPr/>
          <p:nvPr/>
        </p:nvSpPr>
        <p:spPr>
          <a:xfrm>
            <a:off x="594360" y="2020824"/>
            <a:ext cx="2834640" cy="237744"/>
          </a:xfrm>
          <a:prstGeom prst="rect">
            <a:avLst/>
          </a:prstGeom>
          <a:noFill/>
          <a:ln/>
        </p:spPr>
        <p:txBody>
          <a:bodyPr wrap="square" rtlCol="0" anchor="ctr"/>
          <a:lstStyle/>
          <a:p>
            <a:pPr marL="0" indent="0">
              <a:buNone/>
            </a:pPr>
            <a:r>
              <a:rPr lang="en-US" sz="950" dirty="0">
                <a:solidFill>
                  <a:srgbClr val="1A1A1A"/>
                </a:solidFill>
                <a:latin typeface="Arial" pitchFamily="34" charset="0"/>
                <a:ea typeface="Arial" pitchFamily="34" charset="-122"/>
                <a:cs typeface="Arial" pitchFamily="34" charset="-120"/>
              </a:rPr>
              <a:t>Document input (NovaPeak SDD)</a:t>
            </a:r>
            <a:endParaRPr lang="en-US" sz="950" dirty="0"/>
          </a:p>
        </p:txBody>
      </p:sp>
      <p:sp>
        <p:nvSpPr>
          <p:cNvPr id="12" name="Text 10"/>
          <p:cNvSpPr/>
          <p:nvPr/>
        </p:nvSpPr>
        <p:spPr>
          <a:xfrm>
            <a:off x="3474720" y="2020824"/>
            <a:ext cx="685800" cy="237744"/>
          </a:xfrm>
          <a:prstGeom prst="rect">
            <a:avLst/>
          </a:prstGeom>
          <a:noFill/>
          <a:ln/>
        </p:spPr>
        <p:txBody>
          <a:bodyPr wrap="square" rtlCol="0" anchor="ctr"/>
          <a:lstStyle/>
          <a:p>
            <a:pPr marL="0" indent="0">
              <a:buNone/>
            </a:pPr>
            <a:r>
              <a:rPr lang="en-US" sz="950" dirty="0">
                <a:solidFill>
                  <a:srgbClr val="1A1A1A"/>
                </a:solidFill>
                <a:latin typeface="Arial" pitchFamily="34" charset="0"/>
                <a:ea typeface="Arial" pitchFamily="34" charset="-122"/>
                <a:cs typeface="Arial" pitchFamily="34" charset="-120"/>
              </a:rPr>
              <a:t>~4,000</a:t>
            </a:r>
            <a:endParaRPr lang="en-US" sz="950" dirty="0"/>
          </a:p>
        </p:txBody>
      </p:sp>
      <p:sp>
        <p:nvSpPr>
          <p:cNvPr id="13" name="Text 11"/>
          <p:cNvSpPr/>
          <p:nvPr/>
        </p:nvSpPr>
        <p:spPr>
          <a:xfrm>
            <a:off x="4206240" y="2020824"/>
            <a:ext cx="1234440" cy="237744"/>
          </a:xfrm>
          <a:prstGeom prst="rect">
            <a:avLst/>
          </a:prstGeom>
          <a:noFill/>
          <a:ln/>
        </p:spPr>
        <p:txBody>
          <a:bodyPr wrap="square" rtlCol="0" anchor="ctr"/>
          <a:lstStyle/>
          <a:p>
            <a:pPr marL="0" indent="0">
              <a:buNone/>
            </a:pPr>
            <a:r>
              <a:rPr lang="en-US" sz="950" dirty="0">
                <a:solidFill>
                  <a:srgbClr val="1A1A1A"/>
                </a:solidFill>
                <a:latin typeface="Arial" pitchFamily="34" charset="0"/>
                <a:ea typeface="Arial" pitchFamily="34" charset="-122"/>
                <a:cs typeface="Arial" pitchFamily="34" charset="-120"/>
              </a:rPr>
              <a:t>Injected to all agents</a:t>
            </a:r>
            <a:endParaRPr lang="en-US" sz="950" dirty="0"/>
          </a:p>
        </p:txBody>
      </p:sp>
      <p:sp>
        <p:nvSpPr>
          <p:cNvPr id="14" name="Shape 12"/>
          <p:cNvSpPr/>
          <p:nvPr/>
        </p:nvSpPr>
        <p:spPr>
          <a:xfrm>
            <a:off x="502920" y="2322576"/>
            <a:ext cx="5029200" cy="329184"/>
          </a:xfrm>
          <a:prstGeom prst="rect">
            <a:avLst/>
          </a:prstGeom>
          <a:solidFill>
            <a:srgbClr val="FFFFFF"/>
          </a:solidFill>
          <a:ln w="6350">
            <a:solidFill>
              <a:srgbClr val="EBEBEB"/>
            </a:solidFill>
            <a:prstDash val="solid"/>
          </a:ln>
        </p:spPr>
        <p:txBody>
          <a:bodyPr/>
          <a:lstStyle/>
          <a:p>
            <a:endParaRPr lang="en-US"/>
          </a:p>
        </p:txBody>
      </p:sp>
      <p:sp>
        <p:nvSpPr>
          <p:cNvPr id="15" name="Text 13"/>
          <p:cNvSpPr/>
          <p:nvPr/>
        </p:nvSpPr>
        <p:spPr>
          <a:xfrm>
            <a:off x="594360" y="2368296"/>
            <a:ext cx="2834640" cy="237744"/>
          </a:xfrm>
          <a:prstGeom prst="rect">
            <a:avLst/>
          </a:prstGeom>
          <a:noFill/>
          <a:ln/>
        </p:spPr>
        <p:txBody>
          <a:bodyPr wrap="square" rtlCol="0" anchor="ctr"/>
          <a:lstStyle/>
          <a:p>
            <a:pPr marL="0" indent="0">
              <a:buNone/>
            </a:pPr>
            <a:r>
              <a:rPr lang="en-US" sz="950" dirty="0">
                <a:solidFill>
                  <a:srgbClr val="1A1A1A"/>
                </a:solidFill>
                <a:latin typeface="Arial" pitchFamily="34" charset="0"/>
                <a:ea typeface="Arial" pitchFamily="34" charset="-122"/>
                <a:cs typeface="Arial" pitchFamily="34" charset="-120"/>
              </a:rPr>
              <a:t>9 agent system prompts</a:t>
            </a:r>
            <a:endParaRPr lang="en-US" sz="950" dirty="0"/>
          </a:p>
        </p:txBody>
      </p:sp>
      <p:sp>
        <p:nvSpPr>
          <p:cNvPr id="16" name="Text 14"/>
          <p:cNvSpPr/>
          <p:nvPr/>
        </p:nvSpPr>
        <p:spPr>
          <a:xfrm>
            <a:off x="3474720" y="2368296"/>
            <a:ext cx="685800" cy="237744"/>
          </a:xfrm>
          <a:prstGeom prst="rect">
            <a:avLst/>
          </a:prstGeom>
          <a:noFill/>
          <a:ln/>
        </p:spPr>
        <p:txBody>
          <a:bodyPr wrap="square" rtlCol="0" anchor="ctr"/>
          <a:lstStyle/>
          <a:p>
            <a:pPr marL="0" indent="0">
              <a:buNone/>
            </a:pPr>
            <a:r>
              <a:rPr lang="en-US" sz="950" dirty="0">
                <a:solidFill>
                  <a:srgbClr val="1A1A1A"/>
                </a:solidFill>
                <a:latin typeface="Arial" pitchFamily="34" charset="0"/>
                <a:ea typeface="Arial" pitchFamily="34" charset="-122"/>
                <a:cs typeface="Arial" pitchFamily="34" charset="-120"/>
              </a:rPr>
              <a:t>~18,000</a:t>
            </a:r>
            <a:endParaRPr lang="en-US" sz="950" dirty="0"/>
          </a:p>
        </p:txBody>
      </p:sp>
      <p:sp>
        <p:nvSpPr>
          <p:cNvPr id="17" name="Text 15"/>
          <p:cNvSpPr/>
          <p:nvPr/>
        </p:nvSpPr>
        <p:spPr>
          <a:xfrm>
            <a:off x="4206240" y="2368296"/>
            <a:ext cx="1234440" cy="237744"/>
          </a:xfrm>
          <a:prstGeom prst="rect">
            <a:avLst/>
          </a:prstGeom>
          <a:noFill/>
          <a:ln/>
        </p:spPr>
        <p:txBody>
          <a:bodyPr wrap="square" rtlCol="0" anchor="ctr"/>
          <a:lstStyle/>
          <a:p>
            <a:pPr marL="0" indent="0">
              <a:buNone/>
            </a:pPr>
            <a:r>
              <a:rPr lang="en-US" sz="950" dirty="0">
                <a:solidFill>
                  <a:srgbClr val="1A1A1A"/>
                </a:solidFill>
                <a:latin typeface="Arial" pitchFamily="34" charset="0"/>
                <a:ea typeface="Arial" pitchFamily="34" charset="-122"/>
                <a:cs typeface="Arial" pitchFamily="34" charset="-120"/>
              </a:rPr>
              <a:t>Duplicated boilerplate = waste</a:t>
            </a:r>
            <a:endParaRPr lang="en-US" sz="950" dirty="0"/>
          </a:p>
        </p:txBody>
      </p:sp>
      <p:sp>
        <p:nvSpPr>
          <p:cNvPr id="18" name="Shape 16"/>
          <p:cNvSpPr/>
          <p:nvPr/>
        </p:nvSpPr>
        <p:spPr>
          <a:xfrm>
            <a:off x="502920" y="2670048"/>
            <a:ext cx="5029200" cy="329184"/>
          </a:xfrm>
          <a:prstGeom prst="rect">
            <a:avLst/>
          </a:prstGeom>
          <a:solidFill>
            <a:srgbClr val="F7F8FA"/>
          </a:solidFill>
          <a:ln w="6350">
            <a:solidFill>
              <a:srgbClr val="EBEBEB"/>
            </a:solidFill>
            <a:prstDash val="solid"/>
          </a:ln>
        </p:spPr>
        <p:txBody>
          <a:bodyPr/>
          <a:lstStyle/>
          <a:p>
            <a:endParaRPr lang="en-US"/>
          </a:p>
        </p:txBody>
      </p:sp>
      <p:sp>
        <p:nvSpPr>
          <p:cNvPr id="19" name="Text 17"/>
          <p:cNvSpPr/>
          <p:nvPr/>
        </p:nvSpPr>
        <p:spPr>
          <a:xfrm>
            <a:off x="594360" y="2715768"/>
            <a:ext cx="2834640" cy="237744"/>
          </a:xfrm>
          <a:prstGeom prst="rect">
            <a:avLst/>
          </a:prstGeom>
          <a:noFill/>
          <a:ln/>
        </p:spPr>
        <p:txBody>
          <a:bodyPr wrap="square" rtlCol="0" anchor="ctr"/>
          <a:lstStyle/>
          <a:p>
            <a:pPr marL="0" indent="0">
              <a:buNone/>
            </a:pPr>
            <a:r>
              <a:rPr lang="en-US" sz="950" dirty="0">
                <a:solidFill>
                  <a:srgbClr val="1A1A1A"/>
                </a:solidFill>
                <a:latin typeface="Arial" pitchFamily="34" charset="0"/>
                <a:ea typeface="Arial" pitchFamily="34" charset="-122"/>
                <a:cs typeface="Arial" pitchFamily="34" charset="-120"/>
              </a:rPr>
              <a:t>Jira memory (50 tickets fetched)</a:t>
            </a:r>
            <a:endParaRPr lang="en-US" sz="950" dirty="0"/>
          </a:p>
        </p:txBody>
      </p:sp>
      <p:sp>
        <p:nvSpPr>
          <p:cNvPr id="20" name="Text 18"/>
          <p:cNvSpPr/>
          <p:nvPr/>
        </p:nvSpPr>
        <p:spPr>
          <a:xfrm>
            <a:off x="3474720" y="2715768"/>
            <a:ext cx="685800" cy="237744"/>
          </a:xfrm>
          <a:prstGeom prst="rect">
            <a:avLst/>
          </a:prstGeom>
          <a:noFill/>
          <a:ln/>
        </p:spPr>
        <p:txBody>
          <a:bodyPr wrap="square" rtlCol="0" anchor="ctr"/>
          <a:lstStyle/>
          <a:p>
            <a:pPr marL="0" indent="0">
              <a:buNone/>
            </a:pPr>
            <a:r>
              <a:rPr lang="en-US" sz="950" dirty="0">
                <a:solidFill>
                  <a:srgbClr val="1A1A1A"/>
                </a:solidFill>
                <a:latin typeface="Arial" pitchFamily="34" charset="0"/>
                <a:ea typeface="Arial" pitchFamily="34" charset="-122"/>
                <a:cs typeface="Arial" pitchFamily="34" charset="-120"/>
              </a:rPr>
              <a:t>~50,000</a:t>
            </a:r>
            <a:endParaRPr lang="en-US" sz="950" dirty="0"/>
          </a:p>
        </p:txBody>
      </p:sp>
      <p:sp>
        <p:nvSpPr>
          <p:cNvPr id="21" name="Text 19"/>
          <p:cNvSpPr/>
          <p:nvPr/>
        </p:nvSpPr>
        <p:spPr>
          <a:xfrm>
            <a:off x="4206240" y="2715768"/>
            <a:ext cx="1234440" cy="237744"/>
          </a:xfrm>
          <a:prstGeom prst="rect">
            <a:avLst/>
          </a:prstGeom>
          <a:noFill/>
          <a:ln/>
        </p:spPr>
        <p:txBody>
          <a:bodyPr wrap="square" rtlCol="0" anchor="ctr"/>
          <a:lstStyle/>
          <a:p>
            <a:pPr marL="0" indent="0">
              <a:buNone/>
            </a:pPr>
            <a:r>
              <a:rPr lang="en-US" sz="950" dirty="0">
                <a:solidFill>
                  <a:srgbClr val="1A1A1A"/>
                </a:solidFill>
                <a:latin typeface="Arial" pitchFamily="34" charset="0"/>
                <a:ea typeface="Arial" pitchFamily="34" charset="-122"/>
                <a:cs typeface="Arial" pitchFamily="34" charset="-120"/>
              </a:rPr>
              <a:t>Over-fetching, scored client-side</a:t>
            </a:r>
            <a:endParaRPr lang="en-US" sz="950" dirty="0"/>
          </a:p>
        </p:txBody>
      </p:sp>
      <p:sp>
        <p:nvSpPr>
          <p:cNvPr id="22" name="Shape 20"/>
          <p:cNvSpPr/>
          <p:nvPr/>
        </p:nvSpPr>
        <p:spPr>
          <a:xfrm>
            <a:off x="502920" y="3017520"/>
            <a:ext cx="5029200" cy="329184"/>
          </a:xfrm>
          <a:prstGeom prst="rect">
            <a:avLst/>
          </a:prstGeom>
          <a:solidFill>
            <a:srgbClr val="FFFFFF"/>
          </a:solidFill>
          <a:ln w="6350">
            <a:solidFill>
              <a:srgbClr val="EBEBEB"/>
            </a:solidFill>
            <a:prstDash val="solid"/>
          </a:ln>
        </p:spPr>
        <p:txBody>
          <a:bodyPr/>
          <a:lstStyle/>
          <a:p>
            <a:endParaRPr lang="en-US"/>
          </a:p>
        </p:txBody>
      </p:sp>
      <p:sp>
        <p:nvSpPr>
          <p:cNvPr id="23" name="Text 21"/>
          <p:cNvSpPr/>
          <p:nvPr/>
        </p:nvSpPr>
        <p:spPr>
          <a:xfrm>
            <a:off x="594360" y="3063240"/>
            <a:ext cx="2834640" cy="237744"/>
          </a:xfrm>
          <a:prstGeom prst="rect">
            <a:avLst/>
          </a:prstGeom>
          <a:noFill/>
          <a:ln/>
        </p:spPr>
        <p:txBody>
          <a:bodyPr wrap="square" rtlCol="0" anchor="ctr"/>
          <a:lstStyle/>
          <a:p>
            <a:pPr marL="0" indent="0">
              <a:buNone/>
            </a:pPr>
            <a:r>
              <a:rPr lang="en-US" sz="950" dirty="0">
                <a:solidFill>
                  <a:srgbClr val="1A1A1A"/>
                </a:solidFill>
                <a:latin typeface="Arial" pitchFamily="34" charset="0"/>
                <a:ea typeface="Arial" pitchFamily="34" charset="-122"/>
                <a:cs typeface="Arial" pitchFamily="34" charset="-120"/>
              </a:rPr>
              <a:t>Scribe + Learner full context</a:t>
            </a:r>
            <a:endParaRPr lang="en-US" sz="950" dirty="0"/>
          </a:p>
        </p:txBody>
      </p:sp>
      <p:sp>
        <p:nvSpPr>
          <p:cNvPr id="24" name="Text 22"/>
          <p:cNvSpPr/>
          <p:nvPr/>
        </p:nvSpPr>
        <p:spPr>
          <a:xfrm>
            <a:off x="3474720" y="3063240"/>
            <a:ext cx="685800" cy="237744"/>
          </a:xfrm>
          <a:prstGeom prst="rect">
            <a:avLst/>
          </a:prstGeom>
          <a:noFill/>
          <a:ln/>
        </p:spPr>
        <p:txBody>
          <a:bodyPr wrap="square" rtlCol="0" anchor="ctr"/>
          <a:lstStyle/>
          <a:p>
            <a:pPr marL="0" indent="0">
              <a:buNone/>
            </a:pPr>
            <a:r>
              <a:rPr lang="en-US" sz="950" dirty="0">
                <a:solidFill>
                  <a:srgbClr val="1A1A1A"/>
                </a:solidFill>
                <a:latin typeface="Arial" pitchFamily="34" charset="0"/>
                <a:ea typeface="Arial" pitchFamily="34" charset="-122"/>
                <a:cs typeface="Arial" pitchFamily="34" charset="-120"/>
              </a:rPr>
              <a:t>~6,000</a:t>
            </a:r>
            <a:endParaRPr lang="en-US" sz="950" dirty="0"/>
          </a:p>
        </p:txBody>
      </p:sp>
      <p:sp>
        <p:nvSpPr>
          <p:cNvPr id="25" name="Text 23"/>
          <p:cNvSpPr/>
          <p:nvPr/>
        </p:nvSpPr>
        <p:spPr>
          <a:xfrm>
            <a:off x="4206240" y="3063240"/>
            <a:ext cx="1234440" cy="237744"/>
          </a:xfrm>
          <a:prstGeom prst="rect">
            <a:avLst/>
          </a:prstGeom>
          <a:noFill/>
          <a:ln/>
        </p:spPr>
        <p:txBody>
          <a:bodyPr wrap="square" rtlCol="0" anchor="ctr"/>
          <a:lstStyle/>
          <a:p>
            <a:pPr marL="0" indent="0">
              <a:buNone/>
            </a:pPr>
            <a:r>
              <a:rPr lang="en-US" sz="950" dirty="0">
                <a:solidFill>
                  <a:srgbClr val="1A1A1A"/>
                </a:solidFill>
                <a:latin typeface="Arial" pitchFamily="34" charset="0"/>
                <a:ea typeface="Arial" pitchFamily="34" charset="-122"/>
                <a:cs typeface="Arial" pitchFamily="34" charset="-120"/>
              </a:rPr>
              <a:t>Unnecessary — only need Judge output</a:t>
            </a:r>
            <a:endParaRPr lang="en-US" sz="950" dirty="0"/>
          </a:p>
        </p:txBody>
      </p:sp>
      <p:sp>
        <p:nvSpPr>
          <p:cNvPr id="26" name="Shape 24"/>
          <p:cNvSpPr/>
          <p:nvPr/>
        </p:nvSpPr>
        <p:spPr>
          <a:xfrm>
            <a:off x="502920" y="3364992"/>
            <a:ext cx="5029200" cy="329184"/>
          </a:xfrm>
          <a:prstGeom prst="rect">
            <a:avLst/>
          </a:prstGeom>
          <a:solidFill>
            <a:srgbClr val="F7F8FA"/>
          </a:solidFill>
          <a:ln w="6350">
            <a:solidFill>
              <a:srgbClr val="EBEBEB"/>
            </a:solidFill>
            <a:prstDash val="solid"/>
          </a:ln>
        </p:spPr>
        <p:txBody>
          <a:bodyPr/>
          <a:lstStyle/>
          <a:p>
            <a:endParaRPr lang="en-US"/>
          </a:p>
        </p:txBody>
      </p:sp>
      <p:sp>
        <p:nvSpPr>
          <p:cNvPr id="27" name="Text 25"/>
          <p:cNvSpPr/>
          <p:nvPr/>
        </p:nvSpPr>
        <p:spPr>
          <a:xfrm>
            <a:off x="594360" y="3410712"/>
            <a:ext cx="2834640" cy="237744"/>
          </a:xfrm>
          <a:prstGeom prst="rect">
            <a:avLst/>
          </a:prstGeom>
          <a:noFill/>
          <a:ln/>
        </p:spPr>
        <p:txBody>
          <a:bodyPr wrap="square" rtlCol="0" anchor="ctr"/>
          <a:lstStyle/>
          <a:p>
            <a:pPr marL="0" indent="0">
              <a:buNone/>
            </a:pPr>
            <a:r>
              <a:rPr lang="en-US" sz="950" dirty="0">
                <a:solidFill>
                  <a:srgbClr val="1A1A1A"/>
                </a:solidFill>
                <a:latin typeface="Arial" pitchFamily="34" charset="0"/>
                <a:ea typeface="Arial" pitchFamily="34" charset="-122"/>
                <a:cs typeface="Arial" pitchFamily="34" charset="-120"/>
              </a:rPr>
              <a:t>Agent outputs (9 × 500)</a:t>
            </a:r>
            <a:endParaRPr lang="en-US" sz="950" dirty="0"/>
          </a:p>
        </p:txBody>
      </p:sp>
      <p:sp>
        <p:nvSpPr>
          <p:cNvPr id="28" name="Text 26"/>
          <p:cNvSpPr/>
          <p:nvPr/>
        </p:nvSpPr>
        <p:spPr>
          <a:xfrm>
            <a:off x="3474720" y="3410712"/>
            <a:ext cx="685800" cy="237744"/>
          </a:xfrm>
          <a:prstGeom prst="rect">
            <a:avLst/>
          </a:prstGeom>
          <a:noFill/>
          <a:ln/>
        </p:spPr>
        <p:txBody>
          <a:bodyPr wrap="square" rtlCol="0" anchor="ctr"/>
          <a:lstStyle/>
          <a:p>
            <a:pPr marL="0" indent="0">
              <a:buNone/>
            </a:pPr>
            <a:r>
              <a:rPr lang="en-US" sz="950" dirty="0">
                <a:solidFill>
                  <a:srgbClr val="1A1A1A"/>
                </a:solidFill>
                <a:latin typeface="Arial" pitchFamily="34" charset="0"/>
                <a:ea typeface="Arial" pitchFamily="34" charset="-122"/>
                <a:cs typeface="Arial" pitchFamily="34" charset="-120"/>
              </a:rPr>
              <a:t>~4,500</a:t>
            </a:r>
            <a:endParaRPr lang="en-US" sz="950" dirty="0"/>
          </a:p>
        </p:txBody>
      </p:sp>
      <p:sp>
        <p:nvSpPr>
          <p:cNvPr id="29" name="Text 27"/>
          <p:cNvSpPr/>
          <p:nvPr/>
        </p:nvSpPr>
        <p:spPr>
          <a:xfrm>
            <a:off x="4206240" y="3410712"/>
            <a:ext cx="1234440" cy="237744"/>
          </a:xfrm>
          <a:prstGeom prst="rect">
            <a:avLst/>
          </a:prstGeom>
          <a:noFill/>
          <a:ln/>
        </p:spPr>
        <p:txBody>
          <a:bodyPr wrap="square" rtlCol="0" anchor="ctr"/>
          <a:lstStyle/>
          <a:p>
            <a:pPr marL="0" indent="0">
              <a:buNone/>
            </a:pPr>
            <a:r>
              <a:rPr lang="en-US" sz="950" dirty="0">
                <a:solidFill>
                  <a:srgbClr val="1A1A1A"/>
                </a:solidFill>
                <a:latin typeface="Arial" pitchFamily="34" charset="0"/>
                <a:ea typeface="Arial" pitchFamily="34" charset="-122"/>
                <a:cs typeface="Arial" pitchFamily="34" charset="-120"/>
              </a:rPr>
              <a:t>Output tokens</a:t>
            </a:r>
            <a:endParaRPr lang="en-US" sz="950" dirty="0"/>
          </a:p>
        </p:txBody>
      </p:sp>
      <p:sp>
        <p:nvSpPr>
          <p:cNvPr id="30" name="Shape 28"/>
          <p:cNvSpPr/>
          <p:nvPr/>
        </p:nvSpPr>
        <p:spPr>
          <a:xfrm>
            <a:off x="502920" y="3712464"/>
            <a:ext cx="5029200" cy="329184"/>
          </a:xfrm>
          <a:prstGeom prst="rect">
            <a:avLst/>
          </a:prstGeom>
          <a:solidFill>
            <a:srgbClr val="EBF2FA"/>
          </a:solidFill>
          <a:ln w="6350">
            <a:solidFill>
              <a:srgbClr val="EBEBEB"/>
            </a:solidFill>
            <a:prstDash val="solid"/>
          </a:ln>
        </p:spPr>
        <p:txBody>
          <a:bodyPr/>
          <a:lstStyle/>
          <a:p>
            <a:endParaRPr lang="en-US"/>
          </a:p>
        </p:txBody>
      </p:sp>
      <p:sp>
        <p:nvSpPr>
          <p:cNvPr id="31" name="Text 29"/>
          <p:cNvSpPr/>
          <p:nvPr/>
        </p:nvSpPr>
        <p:spPr>
          <a:xfrm>
            <a:off x="594360" y="3758184"/>
            <a:ext cx="2834640" cy="237744"/>
          </a:xfrm>
          <a:prstGeom prst="rect">
            <a:avLst/>
          </a:prstGeom>
          <a:noFill/>
          <a:ln/>
        </p:spPr>
        <p:txBody>
          <a:bodyPr wrap="square" rtlCol="0" anchor="ctr"/>
          <a:lstStyle/>
          <a:p>
            <a:pPr marL="0" indent="0">
              <a:buNone/>
            </a:pPr>
            <a:r>
              <a:rPr lang="en-US" sz="950" b="1" dirty="0">
                <a:solidFill>
                  <a:srgbClr val="1B4F9B"/>
                </a:solidFill>
                <a:latin typeface="Arial" pitchFamily="34" charset="0"/>
                <a:ea typeface="Arial" pitchFamily="34" charset="-122"/>
                <a:cs typeface="Arial" pitchFamily="34" charset="-120"/>
              </a:rPr>
              <a:t>Total baseline</a:t>
            </a:r>
            <a:endParaRPr lang="en-US" sz="950" dirty="0"/>
          </a:p>
        </p:txBody>
      </p:sp>
      <p:sp>
        <p:nvSpPr>
          <p:cNvPr id="32" name="Text 30"/>
          <p:cNvSpPr/>
          <p:nvPr/>
        </p:nvSpPr>
        <p:spPr>
          <a:xfrm>
            <a:off x="3474720" y="3758184"/>
            <a:ext cx="685800" cy="237744"/>
          </a:xfrm>
          <a:prstGeom prst="rect">
            <a:avLst/>
          </a:prstGeom>
          <a:noFill/>
          <a:ln/>
        </p:spPr>
        <p:txBody>
          <a:bodyPr wrap="square" rtlCol="0" anchor="ctr"/>
          <a:lstStyle/>
          <a:p>
            <a:pPr marL="0" indent="0">
              <a:buNone/>
            </a:pPr>
            <a:r>
              <a:rPr lang="en-US" sz="950" b="1" dirty="0">
                <a:solidFill>
                  <a:srgbClr val="1B4F9B"/>
                </a:solidFill>
                <a:latin typeface="Arial" pitchFamily="34" charset="0"/>
                <a:ea typeface="Arial" pitchFamily="34" charset="-122"/>
                <a:cs typeface="Arial" pitchFamily="34" charset="-120"/>
              </a:rPr>
              <a:t>~82,500</a:t>
            </a:r>
            <a:endParaRPr lang="en-US" sz="950" dirty="0"/>
          </a:p>
        </p:txBody>
      </p:sp>
      <p:sp>
        <p:nvSpPr>
          <p:cNvPr id="33" name="Text 31"/>
          <p:cNvSpPr/>
          <p:nvPr/>
        </p:nvSpPr>
        <p:spPr>
          <a:xfrm>
            <a:off x="4206240" y="3758184"/>
            <a:ext cx="1234440" cy="237744"/>
          </a:xfrm>
          <a:prstGeom prst="rect">
            <a:avLst/>
          </a:prstGeom>
          <a:noFill/>
          <a:ln/>
        </p:spPr>
        <p:txBody>
          <a:bodyPr wrap="square" rtlCol="0" anchor="ctr"/>
          <a:lstStyle/>
          <a:p>
            <a:pPr marL="0" indent="0">
              <a:buNone/>
            </a:pPr>
            <a:r>
              <a:rPr lang="en-US" sz="950" b="1" dirty="0">
                <a:solidFill>
                  <a:srgbClr val="1B4F9B"/>
                </a:solidFill>
                <a:latin typeface="Arial" pitchFamily="34" charset="0"/>
                <a:ea typeface="Arial" pitchFamily="34" charset="-122"/>
                <a:cs typeface="Arial" pitchFamily="34" charset="-120"/>
              </a:rPr>
              <a:t>~$0.29 per session on Sonnet</a:t>
            </a:r>
            <a:endParaRPr lang="en-US" sz="950" dirty="0"/>
          </a:p>
        </p:txBody>
      </p:sp>
      <p:sp>
        <p:nvSpPr>
          <p:cNvPr id="34" name="Text 32"/>
          <p:cNvSpPr/>
          <p:nvPr/>
        </p:nvSpPr>
        <p:spPr>
          <a:xfrm>
            <a:off x="5806440" y="1325880"/>
            <a:ext cx="2880360" cy="274320"/>
          </a:xfrm>
          <a:prstGeom prst="rect">
            <a:avLst/>
          </a:prstGeom>
          <a:noFill/>
          <a:ln/>
        </p:spPr>
        <p:txBody>
          <a:bodyPr wrap="square" rtlCol="0" anchor="ctr"/>
          <a:lstStyle/>
          <a:p>
            <a:pPr marL="0" indent="0">
              <a:buNone/>
            </a:pPr>
            <a:r>
              <a:rPr lang="en-US" sz="1200" b="1" dirty="0">
                <a:solidFill>
                  <a:srgbClr val="0F1E3C"/>
                </a:solidFill>
                <a:latin typeface="Arial" pitchFamily="34" charset="0"/>
                <a:ea typeface="Arial" pitchFamily="34" charset="-122"/>
                <a:cs typeface="Arial" pitchFamily="34" charset="-120"/>
              </a:rPr>
              <a:t>Optimisations implemented</a:t>
            </a:r>
            <a:endParaRPr lang="en-US" sz="1200" dirty="0"/>
          </a:p>
        </p:txBody>
      </p:sp>
      <p:sp>
        <p:nvSpPr>
          <p:cNvPr id="35" name="Shape 33"/>
          <p:cNvSpPr/>
          <p:nvPr/>
        </p:nvSpPr>
        <p:spPr>
          <a:xfrm>
            <a:off x="5806440" y="1627632"/>
            <a:ext cx="2880360" cy="402336"/>
          </a:xfrm>
          <a:prstGeom prst="roundRect">
            <a:avLst>
              <a:gd name="adj" fmla="val 18182"/>
            </a:avLst>
          </a:prstGeom>
          <a:solidFill>
            <a:srgbClr val="E1F5EE"/>
          </a:solidFill>
          <a:ln w="6350">
            <a:solidFill>
              <a:srgbClr val="D3D1C7"/>
            </a:solidFill>
            <a:prstDash val="solid"/>
          </a:ln>
        </p:spPr>
        <p:txBody>
          <a:bodyPr/>
          <a:lstStyle/>
          <a:p>
            <a:endParaRPr lang="en-US"/>
          </a:p>
        </p:txBody>
      </p:sp>
      <p:sp>
        <p:nvSpPr>
          <p:cNvPr id="36" name="Text 34"/>
          <p:cNvSpPr/>
          <p:nvPr/>
        </p:nvSpPr>
        <p:spPr>
          <a:xfrm>
            <a:off x="5897880" y="1664208"/>
            <a:ext cx="1828800" cy="182880"/>
          </a:xfrm>
          <a:prstGeom prst="rect">
            <a:avLst/>
          </a:prstGeom>
          <a:noFill/>
          <a:ln/>
        </p:spPr>
        <p:txBody>
          <a:bodyPr wrap="square" rtlCol="0" anchor="ctr"/>
          <a:lstStyle/>
          <a:p>
            <a:pPr marL="0" indent="0">
              <a:buNone/>
            </a:pPr>
            <a:r>
              <a:rPr lang="en-US" sz="950" b="1" dirty="0">
                <a:solidFill>
                  <a:srgbClr val="0F1E3C"/>
                </a:solidFill>
                <a:latin typeface="Arial" pitchFamily="34" charset="0"/>
                <a:ea typeface="Arial" pitchFamily="34" charset="-122"/>
                <a:cs typeface="Arial" pitchFamily="34" charset="-120"/>
              </a:rPr>
              <a:t>Jira JQL tightening</a:t>
            </a:r>
            <a:endParaRPr lang="en-US" sz="950" dirty="0"/>
          </a:p>
        </p:txBody>
      </p:sp>
      <p:sp>
        <p:nvSpPr>
          <p:cNvPr id="37" name="Text 35"/>
          <p:cNvSpPr/>
          <p:nvPr/>
        </p:nvSpPr>
        <p:spPr>
          <a:xfrm>
            <a:off x="5897880" y="1847088"/>
            <a:ext cx="2697480" cy="164592"/>
          </a:xfrm>
          <a:prstGeom prst="rect">
            <a:avLst/>
          </a:prstGeom>
          <a:noFill/>
          <a:ln/>
        </p:spPr>
        <p:txBody>
          <a:bodyPr wrap="square" rtlCol="0" anchor="ctr"/>
          <a:lstStyle/>
          <a:p>
            <a:pPr marL="0" indent="0">
              <a:buNone/>
            </a:pPr>
            <a:r>
              <a:rPr lang="en-US" sz="900" b="1" dirty="0">
                <a:solidFill>
                  <a:srgbClr val="0F6E56"/>
                </a:solidFill>
                <a:latin typeface="Arial" pitchFamily="34" charset="0"/>
                <a:ea typeface="Arial" pitchFamily="34" charset="-122"/>
                <a:cs typeface="Arial" pitchFamily="34" charset="-120"/>
              </a:rPr>
              <a:t>saves ~30,000 tokens</a:t>
            </a:r>
            <a:endParaRPr lang="en-US" sz="900" dirty="0"/>
          </a:p>
        </p:txBody>
      </p:sp>
      <p:sp>
        <p:nvSpPr>
          <p:cNvPr id="38" name="Shape 36"/>
          <p:cNvSpPr/>
          <p:nvPr/>
        </p:nvSpPr>
        <p:spPr>
          <a:xfrm>
            <a:off x="5806440" y="2103120"/>
            <a:ext cx="2880360" cy="402336"/>
          </a:xfrm>
          <a:prstGeom prst="roundRect">
            <a:avLst>
              <a:gd name="adj" fmla="val 18182"/>
            </a:avLst>
          </a:prstGeom>
          <a:solidFill>
            <a:srgbClr val="FAEEDA"/>
          </a:solidFill>
          <a:ln w="6350">
            <a:solidFill>
              <a:srgbClr val="D3D1C7"/>
            </a:solidFill>
            <a:prstDash val="solid"/>
          </a:ln>
        </p:spPr>
        <p:txBody>
          <a:bodyPr/>
          <a:lstStyle/>
          <a:p>
            <a:endParaRPr lang="en-US"/>
          </a:p>
        </p:txBody>
      </p:sp>
      <p:sp>
        <p:nvSpPr>
          <p:cNvPr id="39" name="Text 37"/>
          <p:cNvSpPr/>
          <p:nvPr/>
        </p:nvSpPr>
        <p:spPr>
          <a:xfrm>
            <a:off x="5897880" y="2139696"/>
            <a:ext cx="1828800" cy="182880"/>
          </a:xfrm>
          <a:prstGeom prst="rect">
            <a:avLst/>
          </a:prstGeom>
          <a:noFill/>
          <a:ln/>
        </p:spPr>
        <p:txBody>
          <a:bodyPr wrap="square" rtlCol="0" anchor="ctr"/>
          <a:lstStyle/>
          <a:p>
            <a:pPr marL="0" indent="0">
              <a:buNone/>
            </a:pPr>
            <a:r>
              <a:rPr lang="en-US" sz="950" b="1" dirty="0">
                <a:solidFill>
                  <a:srgbClr val="0F1E3C"/>
                </a:solidFill>
                <a:latin typeface="Arial" pitchFamily="34" charset="0"/>
                <a:ea typeface="Arial" pitchFamily="34" charset="-122"/>
                <a:cs typeface="Arial" pitchFamily="34" charset="-120"/>
              </a:rPr>
              <a:t>Scribe/Learner context trim</a:t>
            </a:r>
            <a:endParaRPr lang="en-US" sz="950" dirty="0"/>
          </a:p>
        </p:txBody>
      </p:sp>
      <p:sp>
        <p:nvSpPr>
          <p:cNvPr id="40" name="Text 38"/>
          <p:cNvSpPr/>
          <p:nvPr/>
        </p:nvSpPr>
        <p:spPr>
          <a:xfrm>
            <a:off x="5897880" y="2322576"/>
            <a:ext cx="2697480" cy="164592"/>
          </a:xfrm>
          <a:prstGeom prst="rect">
            <a:avLst/>
          </a:prstGeom>
          <a:noFill/>
          <a:ln/>
        </p:spPr>
        <p:txBody>
          <a:bodyPr wrap="square" rtlCol="0" anchor="ctr"/>
          <a:lstStyle/>
          <a:p>
            <a:pPr marL="0" indent="0">
              <a:buNone/>
            </a:pPr>
            <a:r>
              <a:rPr lang="en-US" sz="900" b="1" dirty="0">
                <a:solidFill>
                  <a:srgbClr val="BA7517"/>
                </a:solidFill>
                <a:latin typeface="Arial" pitchFamily="34" charset="0"/>
                <a:ea typeface="Arial" pitchFamily="34" charset="-122"/>
                <a:cs typeface="Arial" pitchFamily="34" charset="-120"/>
              </a:rPr>
              <a:t>saves ~6,000 tokens</a:t>
            </a:r>
            <a:endParaRPr lang="en-US" sz="900" dirty="0"/>
          </a:p>
        </p:txBody>
      </p:sp>
      <p:sp>
        <p:nvSpPr>
          <p:cNvPr id="41" name="Shape 39"/>
          <p:cNvSpPr/>
          <p:nvPr/>
        </p:nvSpPr>
        <p:spPr>
          <a:xfrm>
            <a:off x="5806440" y="2578608"/>
            <a:ext cx="2880360" cy="402336"/>
          </a:xfrm>
          <a:prstGeom prst="roundRect">
            <a:avLst>
              <a:gd name="adj" fmla="val 18182"/>
            </a:avLst>
          </a:prstGeom>
          <a:solidFill>
            <a:srgbClr val="EBF2FA"/>
          </a:solidFill>
          <a:ln w="6350">
            <a:solidFill>
              <a:srgbClr val="D3D1C7"/>
            </a:solidFill>
            <a:prstDash val="solid"/>
          </a:ln>
        </p:spPr>
        <p:txBody>
          <a:bodyPr/>
          <a:lstStyle/>
          <a:p>
            <a:endParaRPr lang="en-US"/>
          </a:p>
        </p:txBody>
      </p:sp>
      <p:sp>
        <p:nvSpPr>
          <p:cNvPr id="42" name="Text 40"/>
          <p:cNvSpPr/>
          <p:nvPr/>
        </p:nvSpPr>
        <p:spPr>
          <a:xfrm>
            <a:off x="5897880" y="2615184"/>
            <a:ext cx="1828800" cy="182880"/>
          </a:xfrm>
          <a:prstGeom prst="rect">
            <a:avLst/>
          </a:prstGeom>
          <a:noFill/>
          <a:ln/>
        </p:spPr>
        <p:txBody>
          <a:bodyPr wrap="square" rtlCol="0" anchor="ctr"/>
          <a:lstStyle/>
          <a:p>
            <a:pPr marL="0" indent="0">
              <a:buNone/>
            </a:pPr>
            <a:r>
              <a:rPr lang="en-US" sz="950" b="1" dirty="0">
                <a:solidFill>
                  <a:srgbClr val="0F1E3C"/>
                </a:solidFill>
                <a:latin typeface="Arial" pitchFamily="34" charset="0"/>
                <a:ea typeface="Arial" pitchFamily="34" charset="-122"/>
                <a:cs typeface="Arial" pitchFamily="34" charset="-120"/>
              </a:rPr>
              <a:t>Shared base prompt</a:t>
            </a:r>
            <a:endParaRPr lang="en-US" sz="950" dirty="0"/>
          </a:p>
        </p:txBody>
      </p:sp>
      <p:sp>
        <p:nvSpPr>
          <p:cNvPr id="43" name="Text 41"/>
          <p:cNvSpPr/>
          <p:nvPr/>
        </p:nvSpPr>
        <p:spPr>
          <a:xfrm>
            <a:off x="5897880" y="2798064"/>
            <a:ext cx="2697480" cy="164592"/>
          </a:xfrm>
          <a:prstGeom prst="rect">
            <a:avLst/>
          </a:prstGeom>
          <a:noFill/>
          <a:ln/>
        </p:spPr>
        <p:txBody>
          <a:bodyPr wrap="square" rtlCol="0" anchor="ctr"/>
          <a:lstStyle/>
          <a:p>
            <a:pPr marL="0" indent="0">
              <a:buNone/>
            </a:pPr>
            <a:r>
              <a:rPr lang="en-US" sz="900" b="1" dirty="0">
                <a:solidFill>
                  <a:srgbClr val="1B4F9B"/>
                </a:solidFill>
                <a:latin typeface="Arial" pitchFamily="34" charset="0"/>
                <a:ea typeface="Arial" pitchFamily="34" charset="-122"/>
                <a:cs typeface="Arial" pitchFamily="34" charset="-120"/>
              </a:rPr>
              <a:t>saves ~5,000 tokens</a:t>
            </a:r>
            <a:endParaRPr lang="en-US" sz="900" dirty="0"/>
          </a:p>
        </p:txBody>
      </p:sp>
      <p:sp>
        <p:nvSpPr>
          <p:cNvPr id="44" name="Shape 42"/>
          <p:cNvSpPr/>
          <p:nvPr/>
        </p:nvSpPr>
        <p:spPr>
          <a:xfrm>
            <a:off x="5806440" y="3054096"/>
            <a:ext cx="2880360" cy="402336"/>
          </a:xfrm>
          <a:prstGeom prst="roundRect">
            <a:avLst>
              <a:gd name="adj" fmla="val 18182"/>
            </a:avLst>
          </a:prstGeom>
          <a:solidFill>
            <a:srgbClr val="EBEBEB"/>
          </a:solidFill>
          <a:ln w="6350">
            <a:solidFill>
              <a:srgbClr val="D3D1C7"/>
            </a:solidFill>
            <a:prstDash val="solid"/>
          </a:ln>
        </p:spPr>
        <p:txBody>
          <a:bodyPr/>
          <a:lstStyle/>
          <a:p>
            <a:endParaRPr lang="en-US"/>
          </a:p>
        </p:txBody>
      </p:sp>
      <p:sp>
        <p:nvSpPr>
          <p:cNvPr id="45" name="Text 43"/>
          <p:cNvSpPr/>
          <p:nvPr/>
        </p:nvSpPr>
        <p:spPr>
          <a:xfrm>
            <a:off x="5897880" y="3090672"/>
            <a:ext cx="1828800" cy="182880"/>
          </a:xfrm>
          <a:prstGeom prst="rect">
            <a:avLst/>
          </a:prstGeom>
          <a:noFill/>
          <a:ln/>
        </p:spPr>
        <p:txBody>
          <a:bodyPr wrap="square" rtlCol="0" anchor="ctr"/>
          <a:lstStyle/>
          <a:p>
            <a:pPr marL="0" indent="0">
              <a:buNone/>
            </a:pPr>
            <a:r>
              <a:rPr lang="en-US" sz="950" b="1" dirty="0">
                <a:solidFill>
                  <a:srgbClr val="0F1E3C"/>
                </a:solidFill>
                <a:latin typeface="Arial" pitchFamily="34" charset="0"/>
                <a:ea typeface="Arial" pitchFamily="34" charset="-122"/>
                <a:cs typeface="Arial" pitchFamily="34" charset="-120"/>
              </a:rPr>
              <a:t>Doc section routing (planned)</a:t>
            </a:r>
            <a:endParaRPr lang="en-US" sz="950" dirty="0"/>
          </a:p>
        </p:txBody>
      </p:sp>
      <p:sp>
        <p:nvSpPr>
          <p:cNvPr id="46" name="Text 44"/>
          <p:cNvSpPr/>
          <p:nvPr/>
        </p:nvSpPr>
        <p:spPr>
          <a:xfrm>
            <a:off x="5897880" y="3273552"/>
            <a:ext cx="2697480" cy="164592"/>
          </a:xfrm>
          <a:prstGeom prst="rect">
            <a:avLst/>
          </a:prstGeom>
          <a:noFill/>
          <a:ln/>
        </p:spPr>
        <p:txBody>
          <a:bodyPr wrap="square" rtlCol="0" anchor="ctr"/>
          <a:lstStyle/>
          <a:p>
            <a:pPr marL="0" indent="0">
              <a:buNone/>
            </a:pPr>
            <a:r>
              <a:rPr lang="en-US" sz="900" b="1" dirty="0">
                <a:solidFill>
                  <a:srgbClr val="64635E"/>
                </a:solidFill>
                <a:latin typeface="Arial" pitchFamily="34" charset="0"/>
                <a:ea typeface="Arial" pitchFamily="34" charset="-122"/>
                <a:cs typeface="Arial" pitchFamily="34" charset="-120"/>
              </a:rPr>
              <a:t>saves ~20,000 tokens</a:t>
            </a:r>
            <a:endParaRPr lang="en-US" sz="900" dirty="0"/>
          </a:p>
        </p:txBody>
      </p:sp>
      <p:sp>
        <p:nvSpPr>
          <p:cNvPr id="47" name="Shape 45"/>
          <p:cNvSpPr/>
          <p:nvPr/>
        </p:nvSpPr>
        <p:spPr>
          <a:xfrm>
            <a:off x="5806440" y="3529584"/>
            <a:ext cx="2880360" cy="402336"/>
          </a:xfrm>
          <a:prstGeom prst="roundRect">
            <a:avLst>
              <a:gd name="adj" fmla="val 18182"/>
            </a:avLst>
          </a:prstGeom>
          <a:solidFill>
            <a:srgbClr val="E1F5EE"/>
          </a:solidFill>
          <a:ln w="6350">
            <a:solidFill>
              <a:srgbClr val="D3D1C7"/>
            </a:solidFill>
            <a:prstDash val="solid"/>
          </a:ln>
        </p:spPr>
        <p:txBody>
          <a:bodyPr/>
          <a:lstStyle/>
          <a:p>
            <a:endParaRPr lang="en-US"/>
          </a:p>
        </p:txBody>
      </p:sp>
      <p:sp>
        <p:nvSpPr>
          <p:cNvPr id="48" name="Text 46"/>
          <p:cNvSpPr/>
          <p:nvPr/>
        </p:nvSpPr>
        <p:spPr>
          <a:xfrm>
            <a:off x="5897880" y="3566160"/>
            <a:ext cx="1828800" cy="182880"/>
          </a:xfrm>
          <a:prstGeom prst="rect">
            <a:avLst/>
          </a:prstGeom>
          <a:noFill/>
          <a:ln/>
        </p:spPr>
        <p:txBody>
          <a:bodyPr wrap="square" rtlCol="0" anchor="ctr"/>
          <a:lstStyle/>
          <a:p>
            <a:pPr marL="0" indent="0">
              <a:buNone/>
            </a:pPr>
            <a:r>
              <a:rPr lang="en-US" sz="950" b="1" dirty="0">
                <a:solidFill>
                  <a:srgbClr val="0F1E3C"/>
                </a:solidFill>
                <a:latin typeface="Arial" pitchFamily="34" charset="0"/>
                <a:ea typeface="Arial" pitchFamily="34" charset="-122"/>
                <a:cs typeface="Arial" pitchFamily="34" charset="-120"/>
              </a:rPr>
              <a:t>Prompt caching (planned)</a:t>
            </a:r>
            <a:endParaRPr lang="en-US" sz="950" dirty="0"/>
          </a:p>
        </p:txBody>
      </p:sp>
      <p:sp>
        <p:nvSpPr>
          <p:cNvPr id="49" name="Text 47"/>
          <p:cNvSpPr/>
          <p:nvPr/>
        </p:nvSpPr>
        <p:spPr>
          <a:xfrm>
            <a:off x="5897880" y="3749040"/>
            <a:ext cx="2697480" cy="164592"/>
          </a:xfrm>
          <a:prstGeom prst="rect">
            <a:avLst/>
          </a:prstGeom>
          <a:noFill/>
          <a:ln/>
        </p:spPr>
        <p:txBody>
          <a:bodyPr wrap="square" rtlCol="0" anchor="ctr"/>
          <a:lstStyle/>
          <a:p>
            <a:pPr marL="0" indent="0">
              <a:buNone/>
            </a:pPr>
            <a:r>
              <a:rPr lang="en-US" sz="900" b="1" dirty="0">
                <a:solidFill>
                  <a:srgbClr val="0F6E56"/>
                </a:solidFill>
                <a:latin typeface="Arial" pitchFamily="34" charset="0"/>
                <a:ea typeface="Arial" pitchFamily="34" charset="-122"/>
                <a:cs typeface="Arial" pitchFamily="34" charset="-120"/>
              </a:rPr>
              <a:t>saves 90% on system prompts</a:t>
            </a:r>
            <a:endParaRPr lang="en-US" sz="900" dirty="0"/>
          </a:p>
        </p:txBody>
      </p:sp>
      <p:sp>
        <p:nvSpPr>
          <p:cNvPr id="50" name="Text 48"/>
          <p:cNvSpPr/>
          <p:nvPr/>
        </p:nvSpPr>
        <p:spPr>
          <a:xfrm>
            <a:off x="502920" y="4462272"/>
            <a:ext cx="8138160" cy="256032"/>
          </a:xfrm>
          <a:prstGeom prst="rect">
            <a:avLst/>
          </a:prstGeom>
          <a:noFill/>
          <a:ln/>
        </p:spPr>
        <p:txBody>
          <a:bodyPr wrap="square" rtlCol="0" anchor="ctr"/>
          <a:lstStyle/>
          <a:p>
            <a:pPr marL="0" indent="0">
              <a:buNone/>
            </a:pPr>
            <a:r>
              <a:rPr lang="en-US" sz="1000" b="1" i="1" dirty="0">
                <a:solidFill>
                  <a:srgbClr val="0F6E56"/>
                </a:solidFill>
                <a:latin typeface="Arial" pitchFamily="34" charset="0"/>
                <a:ea typeface="Arial" pitchFamily="34" charset="-122"/>
                <a:cs typeface="Arial" pitchFamily="34" charset="-120"/>
              </a:rPr>
              <a:t>After optimisations: ~$0.08–0.12 per session  ·  Full 9-agent run reserved for demo rehearsal only</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bg>
      <p:bgPr>
        <a:solidFill>
          <a:srgbClr val="F7F8FA"/>
        </a:solidFill>
        <a:effectLst/>
      </p:bgPr>
    </p:bg>
    <p:spTree>
      <p:nvGrpSpPr>
        <p:cNvPr id="1" name=""/>
        <p:cNvGrpSpPr/>
        <p:nvPr/>
      </p:nvGrpSpPr>
      <p:grpSpPr>
        <a:xfrm>
          <a:off x="0" y="0"/>
          <a:ext cx="0" cy="0"/>
          <a:chOff x="0" y="0"/>
          <a:chExt cx="0" cy="0"/>
        </a:xfrm>
      </p:grpSpPr>
      <p:sp>
        <p:nvSpPr>
          <p:cNvPr id="2" name="Text 0"/>
          <p:cNvSpPr/>
          <p:nvPr/>
        </p:nvSpPr>
        <p:spPr>
          <a:xfrm>
            <a:off x="502920" y="347472"/>
            <a:ext cx="8138160" cy="201168"/>
          </a:xfrm>
          <a:prstGeom prst="rect">
            <a:avLst/>
          </a:prstGeom>
          <a:noFill/>
          <a:ln/>
        </p:spPr>
        <p:txBody>
          <a:bodyPr wrap="square" rtlCol="0" anchor="ctr"/>
          <a:lstStyle/>
          <a:p>
            <a:pPr marL="0" indent="0" algn="l">
              <a:buNone/>
            </a:pPr>
            <a:r>
              <a:rPr lang="en-US" sz="900" b="1" kern="0" spc="300" dirty="0">
                <a:solidFill>
                  <a:srgbClr val="2E6DA4"/>
                </a:solidFill>
                <a:latin typeface="Arial" pitchFamily="34" charset="0"/>
                <a:ea typeface="Arial" pitchFamily="34" charset="-122"/>
                <a:cs typeface="Arial" pitchFamily="34" charset="-120"/>
              </a:rPr>
              <a:t>ROADMAP</a:t>
            </a:r>
            <a:endParaRPr lang="en-US" sz="900" dirty="0"/>
          </a:p>
        </p:txBody>
      </p:sp>
      <p:sp>
        <p:nvSpPr>
          <p:cNvPr id="3" name="Text 1"/>
          <p:cNvSpPr/>
          <p:nvPr/>
        </p:nvSpPr>
        <p:spPr>
          <a:xfrm>
            <a:off x="502920" y="594360"/>
            <a:ext cx="8138160" cy="640080"/>
          </a:xfrm>
          <a:prstGeom prst="rect">
            <a:avLst/>
          </a:prstGeom>
          <a:noFill/>
          <a:ln/>
        </p:spPr>
        <p:txBody>
          <a:bodyPr wrap="square" rtlCol="0" anchor="ctr"/>
          <a:lstStyle/>
          <a:p>
            <a:pPr marL="0" indent="0" algn="l">
              <a:buNone/>
            </a:pPr>
            <a:r>
              <a:rPr lang="en-US" sz="2800" b="1" dirty="0">
                <a:solidFill>
                  <a:srgbClr val="1A1A1A"/>
                </a:solidFill>
                <a:latin typeface="Arial" pitchFamily="34" charset="0"/>
                <a:ea typeface="Arial" pitchFamily="34" charset="-122"/>
                <a:cs typeface="Arial" pitchFamily="34" charset="-120"/>
              </a:rPr>
              <a:t>Engineered to deepen over time — not a one-shot tool</a:t>
            </a:r>
            <a:endParaRPr lang="en-US" sz="2800" dirty="0"/>
          </a:p>
        </p:txBody>
      </p:sp>
      <p:sp>
        <p:nvSpPr>
          <p:cNvPr id="4" name="Shape 2"/>
          <p:cNvSpPr/>
          <p:nvPr/>
        </p:nvSpPr>
        <p:spPr>
          <a:xfrm>
            <a:off x="502920" y="1207008"/>
            <a:ext cx="8138160" cy="0"/>
          </a:xfrm>
          <a:prstGeom prst="line">
            <a:avLst/>
          </a:prstGeom>
          <a:noFill/>
          <a:ln w="10160">
            <a:solidFill>
              <a:srgbClr val="EBEBEB"/>
            </a:solidFill>
            <a:prstDash val="solid"/>
          </a:ln>
        </p:spPr>
        <p:txBody>
          <a:bodyPr/>
          <a:lstStyle/>
          <a:p>
            <a:endParaRPr lang="en-US"/>
          </a:p>
        </p:txBody>
      </p:sp>
      <p:sp>
        <p:nvSpPr>
          <p:cNvPr id="5" name="Shape 3"/>
          <p:cNvSpPr/>
          <p:nvPr/>
        </p:nvSpPr>
        <p:spPr>
          <a:xfrm>
            <a:off x="411480" y="1325880"/>
            <a:ext cx="2651760" cy="3246120"/>
          </a:xfrm>
          <a:prstGeom prst="roundRect">
            <a:avLst>
              <a:gd name="adj" fmla="val 2759"/>
            </a:avLst>
          </a:prstGeom>
          <a:solidFill>
            <a:srgbClr val="E1F5EE"/>
          </a:solidFill>
          <a:ln w="6350">
            <a:solidFill>
              <a:srgbClr val="D3D1C7"/>
            </a:solidFill>
            <a:prstDash val="solid"/>
          </a:ln>
        </p:spPr>
        <p:txBody>
          <a:bodyPr/>
          <a:lstStyle/>
          <a:p>
            <a:endParaRPr lang="en-US"/>
          </a:p>
        </p:txBody>
      </p:sp>
      <p:sp>
        <p:nvSpPr>
          <p:cNvPr id="6" name="Shape 4"/>
          <p:cNvSpPr/>
          <p:nvPr/>
        </p:nvSpPr>
        <p:spPr>
          <a:xfrm>
            <a:off x="411480" y="1325880"/>
            <a:ext cx="2651760" cy="384048"/>
          </a:xfrm>
          <a:prstGeom prst="roundRect">
            <a:avLst>
              <a:gd name="adj" fmla="val 19048"/>
            </a:avLst>
          </a:prstGeom>
          <a:solidFill>
            <a:srgbClr val="0F6E56"/>
          </a:solidFill>
          <a:ln w="12700">
            <a:solidFill>
              <a:srgbClr val="0F6E56"/>
            </a:solidFill>
            <a:prstDash val="solid"/>
          </a:ln>
        </p:spPr>
        <p:txBody>
          <a:bodyPr/>
          <a:lstStyle/>
          <a:p>
            <a:endParaRPr lang="en-US"/>
          </a:p>
        </p:txBody>
      </p:sp>
      <p:sp>
        <p:nvSpPr>
          <p:cNvPr id="7" name="Text 5"/>
          <p:cNvSpPr/>
          <p:nvPr/>
        </p:nvSpPr>
        <p:spPr>
          <a:xfrm>
            <a:off x="411480" y="1335024"/>
            <a:ext cx="265176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Now — done</a:t>
            </a:r>
            <a:endParaRPr lang="en-US" sz="1200" dirty="0"/>
          </a:p>
        </p:txBody>
      </p:sp>
      <p:sp>
        <p:nvSpPr>
          <p:cNvPr id="8" name="Text 6"/>
          <p:cNvSpPr/>
          <p:nvPr/>
        </p:nvSpPr>
        <p:spPr>
          <a:xfrm>
            <a:off x="548640" y="1792224"/>
            <a:ext cx="2377440" cy="457200"/>
          </a:xfrm>
          <a:prstGeom prst="rect">
            <a:avLst/>
          </a:prstGeom>
          <a:noFill/>
          <a:ln/>
        </p:spPr>
        <p:txBody>
          <a:bodyPr wrap="square" rtlCol="0" anchor="t"/>
          <a:lstStyle/>
          <a:p>
            <a:pPr marL="0" indent="0">
              <a:buNone/>
            </a:pPr>
            <a:r>
              <a:rPr lang="en-US" sz="1000" b="1" dirty="0">
                <a:solidFill>
                  <a:srgbClr val="0F6E56"/>
                </a:solidFill>
                <a:latin typeface="Arial" pitchFamily="34" charset="0"/>
                <a:ea typeface="Arial" pitchFamily="34" charset="-122"/>
                <a:cs typeface="Arial" pitchFamily="34" charset="-120"/>
              </a:rPr>
              <a:t>✓  </a:t>
            </a:r>
            <a:r>
              <a:rPr lang="en-US" sz="1000" dirty="0">
                <a:solidFill>
                  <a:srgbClr val="1A1A1A"/>
                </a:solidFill>
                <a:latin typeface="Arial" pitchFamily="34" charset="0"/>
                <a:ea typeface="Arial" pitchFamily="34" charset="-122"/>
                <a:cs typeface="Arial" pitchFamily="34" charset="-120"/>
              </a:rPr>
              <a:t>Cross-session Jira memory</a:t>
            </a:r>
            <a:endParaRPr lang="en-US" sz="1000" dirty="0"/>
          </a:p>
        </p:txBody>
      </p:sp>
      <p:sp>
        <p:nvSpPr>
          <p:cNvPr id="9" name="Text 7"/>
          <p:cNvSpPr/>
          <p:nvPr/>
        </p:nvSpPr>
        <p:spPr>
          <a:xfrm>
            <a:off x="548640" y="2304288"/>
            <a:ext cx="2377440" cy="457200"/>
          </a:xfrm>
          <a:prstGeom prst="rect">
            <a:avLst/>
          </a:prstGeom>
          <a:noFill/>
          <a:ln/>
        </p:spPr>
        <p:txBody>
          <a:bodyPr wrap="square" rtlCol="0" anchor="t"/>
          <a:lstStyle/>
          <a:p>
            <a:pPr marL="0" indent="0">
              <a:buNone/>
            </a:pPr>
            <a:r>
              <a:rPr lang="en-US" sz="1000" b="1" dirty="0">
                <a:solidFill>
                  <a:srgbClr val="0F6E56"/>
                </a:solidFill>
                <a:latin typeface="Arial" pitchFamily="34" charset="0"/>
                <a:ea typeface="Arial" pitchFamily="34" charset="-122"/>
                <a:cs typeface="Arial" pitchFamily="34" charset="-120"/>
              </a:rPr>
              <a:t>✓  </a:t>
            </a:r>
            <a:r>
              <a:rPr lang="en-US" sz="1000" dirty="0">
                <a:solidFill>
                  <a:srgbClr val="1A1A1A"/>
                </a:solidFill>
                <a:latin typeface="Arial" pitchFamily="34" charset="0"/>
                <a:ea typeface="Arial" pitchFamily="34" charset="-122"/>
                <a:cs typeface="Arial" pitchFamily="34" charset="-120"/>
              </a:rPr>
              <a:t>SI failure pattern library</a:t>
            </a:r>
            <a:endParaRPr lang="en-US" sz="1000" dirty="0"/>
          </a:p>
        </p:txBody>
      </p:sp>
      <p:sp>
        <p:nvSpPr>
          <p:cNvPr id="10" name="Text 8"/>
          <p:cNvSpPr/>
          <p:nvPr/>
        </p:nvSpPr>
        <p:spPr>
          <a:xfrm>
            <a:off x="548640" y="2816352"/>
            <a:ext cx="2377440" cy="457200"/>
          </a:xfrm>
          <a:prstGeom prst="rect">
            <a:avLst/>
          </a:prstGeom>
          <a:noFill/>
          <a:ln/>
        </p:spPr>
        <p:txBody>
          <a:bodyPr wrap="square" rtlCol="0" anchor="t"/>
          <a:lstStyle/>
          <a:p>
            <a:pPr marL="0" indent="0">
              <a:buNone/>
            </a:pPr>
            <a:r>
              <a:rPr lang="en-US" sz="1000" b="1" dirty="0">
                <a:solidFill>
                  <a:srgbClr val="0F6E56"/>
                </a:solidFill>
                <a:latin typeface="Arial" pitchFamily="34" charset="0"/>
                <a:ea typeface="Arial" pitchFamily="34" charset="-122"/>
                <a:cs typeface="Arial" pitchFamily="34" charset="-120"/>
              </a:rPr>
              <a:t>✓  </a:t>
            </a:r>
            <a:r>
              <a:rPr lang="en-US" sz="1000" dirty="0">
                <a:solidFill>
                  <a:srgbClr val="1A1A1A"/>
                </a:solidFill>
                <a:latin typeface="Arial" pitchFamily="34" charset="0"/>
                <a:ea typeface="Arial" pitchFamily="34" charset="-122"/>
                <a:cs typeface="Arial" pitchFamily="34" charset="-120"/>
              </a:rPr>
              <a:t>Confidence badges + endorsement flow</a:t>
            </a:r>
            <a:endParaRPr lang="en-US" sz="1000" dirty="0"/>
          </a:p>
        </p:txBody>
      </p:sp>
      <p:sp>
        <p:nvSpPr>
          <p:cNvPr id="11" name="Text 9"/>
          <p:cNvSpPr/>
          <p:nvPr/>
        </p:nvSpPr>
        <p:spPr>
          <a:xfrm>
            <a:off x="548640" y="3328416"/>
            <a:ext cx="2377440" cy="457200"/>
          </a:xfrm>
          <a:prstGeom prst="rect">
            <a:avLst/>
          </a:prstGeom>
          <a:noFill/>
          <a:ln/>
        </p:spPr>
        <p:txBody>
          <a:bodyPr wrap="square" rtlCol="0" anchor="t"/>
          <a:lstStyle/>
          <a:p>
            <a:pPr marL="0" indent="0">
              <a:buNone/>
            </a:pPr>
            <a:r>
              <a:rPr lang="en-US" sz="1000" b="1" dirty="0">
                <a:solidFill>
                  <a:srgbClr val="0F6E56"/>
                </a:solidFill>
                <a:latin typeface="Arial" pitchFamily="34" charset="0"/>
                <a:ea typeface="Arial" pitchFamily="34" charset="-122"/>
                <a:cs typeface="Arial" pitchFamily="34" charset="-120"/>
              </a:rPr>
              <a:t>✓  </a:t>
            </a:r>
            <a:r>
              <a:rPr lang="en-US" sz="1000" dirty="0">
                <a:solidFill>
                  <a:srgbClr val="1A1A1A"/>
                </a:solidFill>
                <a:latin typeface="Arial" pitchFamily="34" charset="0"/>
                <a:ea typeface="Arial" pitchFamily="34" charset="-122"/>
                <a:cs typeface="Arial" pitchFamily="34" charset="-120"/>
              </a:rPr>
              <a:t>Salesforce org metadata injection</a:t>
            </a:r>
            <a:endParaRPr lang="en-US" sz="1000" dirty="0"/>
          </a:p>
        </p:txBody>
      </p:sp>
      <p:sp>
        <p:nvSpPr>
          <p:cNvPr id="12" name="Text 10"/>
          <p:cNvSpPr/>
          <p:nvPr/>
        </p:nvSpPr>
        <p:spPr>
          <a:xfrm>
            <a:off x="548640" y="3840480"/>
            <a:ext cx="2377440" cy="457200"/>
          </a:xfrm>
          <a:prstGeom prst="rect">
            <a:avLst/>
          </a:prstGeom>
          <a:noFill/>
          <a:ln/>
        </p:spPr>
        <p:txBody>
          <a:bodyPr wrap="square" rtlCol="0" anchor="t"/>
          <a:lstStyle/>
          <a:p>
            <a:pPr marL="0" indent="0">
              <a:buNone/>
            </a:pPr>
            <a:r>
              <a:rPr lang="en-US" sz="1000" b="1" dirty="0">
                <a:solidFill>
                  <a:srgbClr val="0F6E56"/>
                </a:solidFill>
                <a:latin typeface="Arial" pitchFamily="34" charset="0"/>
                <a:ea typeface="Arial" pitchFamily="34" charset="-122"/>
                <a:cs typeface="Arial" pitchFamily="34" charset="-120"/>
              </a:rPr>
              <a:t>✓  </a:t>
            </a:r>
            <a:r>
              <a:rPr lang="en-US" sz="1000" dirty="0">
                <a:solidFill>
                  <a:srgbClr val="1A1A1A"/>
                </a:solidFill>
                <a:latin typeface="Arial" pitchFamily="34" charset="0"/>
                <a:ea typeface="Arial" pitchFamily="34" charset="-122"/>
                <a:cs typeface="Arial" pitchFamily="34" charset="-120"/>
              </a:rPr>
              <a:t>Supabase cost analytics</a:t>
            </a:r>
            <a:endParaRPr lang="en-US" sz="1000" dirty="0"/>
          </a:p>
        </p:txBody>
      </p:sp>
      <p:sp>
        <p:nvSpPr>
          <p:cNvPr id="13" name="Shape 11"/>
          <p:cNvSpPr/>
          <p:nvPr/>
        </p:nvSpPr>
        <p:spPr>
          <a:xfrm>
            <a:off x="3227832" y="1325880"/>
            <a:ext cx="2651760" cy="3246120"/>
          </a:xfrm>
          <a:prstGeom prst="roundRect">
            <a:avLst>
              <a:gd name="adj" fmla="val 2759"/>
            </a:avLst>
          </a:prstGeom>
          <a:solidFill>
            <a:srgbClr val="EBF2FA"/>
          </a:solidFill>
          <a:ln w="6350">
            <a:solidFill>
              <a:srgbClr val="D3D1C7"/>
            </a:solidFill>
            <a:prstDash val="solid"/>
          </a:ln>
        </p:spPr>
        <p:txBody>
          <a:bodyPr/>
          <a:lstStyle/>
          <a:p>
            <a:endParaRPr lang="en-US"/>
          </a:p>
        </p:txBody>
      </p:sp>
      <p:sp>
        <p:nvSpPr>
          <p:cNvPr id="14" name="Shape 12"/>
          <p:cNvSpPr/>
          <p:nvPr/>
        </p:nvSpPr>
        <p:spPr>
          <a:xfrm>
            <a:off x="3227832" y="1325880"/>
            <a:ext cx="2651760" cy="384048"/>
          </a:xfrm>
          <a:prstGeom prst="roundRect">
            <a:avLst>
              <a:gd name="adj" fmla="val 19048"/>
            </a:avLst>
          </a:prstGeom>
          <a:solidFill>
            <a:srgbClr val="1B4F9B"/>
          </a:solidFill>
          <a:ln w="12700">
            <a:solidFill>
              <a:srgbClr val="1B4F9B"/>
            </a:solidFill>
            <a:prstDash val="solid"/>
          </a:ln>
        </p:spPr>
        <p:txBody>
          <a:bodyPr/>
          <a:lstStyle/>
          <a:p>
            <a:endParaRPr lang="en-US"/>
          </a:p>
        </p:txBody>
      </p:sp>
      <p:sp>
        <p:nvSpPr>
          <p:cNvPr id="15" name="Text 13"/>
          <p:cNvSpPr/>
          <p:nvPr/>
        </p:nvSpPr>
        <p:spPr>
          <a:xfrm>
            <a:off x="3227832" y="1335024"/>
            <a:ext cx="265176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Also done</a:t>
            </a:r>
            <a:endParaRPr lang="en-US" sz="1200" dirty="0"/>
          </a:p>
        </p:txBody>
      </p:sp>
      <p:sp>
        <p:nvSpPr>
          <p:cNvPr id="16" name="Text 14"/>
          <p:cNvSpPr/>
          <p:nvPr/>
        </p:nvSpPr>
        <p:spPr>
          <a:xfrm>
            <a:off x="3364992" y="1792224"/>
            <a:ext cx="2377440" cy="457200"/>
          </a:xfrm>
          <a:prstGeom prst="rect">
            <a:avLst/>
          </a:prstGeom>
          <a:noFill/>
          <a:ln/>
        </p:spPr>
        <p:txBody>
          <a:bodyPr wrap="square" rtlCol="0" anchor="t"/>
          <a:lstStyle/>
          <a:p>
            <a:pPr marL="0" indent="0">
              <a:buNone/>
            </a:pPr>
            <a:r>
              <a:rPr lang="en-US" sz="1000" b="1" dirty="0">
                <a:solidFill>
                  <a:srgbClr val="1B4F9B"/>
                </a:solidFill>
                <a:latin typeface="Arial" pitchFamily="34" charset="0"/>
                <a:ea typeface="Arial" pitchFamily="34" charset="-122"/>
                <a:cs typeface="Arial" pitchFamily="34" charset="-120"/>
              </a:rPr>
              <a:t>✓  </a:t>
            </a:r>
            <a:r>
              <a:rPr lang="en-US" sz="1000" dirty="0">
                <a:solidFill>
                  <a:srgbClr val="1A1A1A"/>
                </a:solidFill>
                <a:latin typeface="Arial" pitchFamily="34" charset="0"/>
                <a:ea typeface="Arial" pitchFamily="34" charset="-122"/>
                <a:cs typeface="Arial" pitchFamily="34" charset="-120"/>
              </a:rPr>
              <a:t>Document review mode</a:t>
            </a:r>
            <a:endParaRPr lang="en-US" sz="1000" dirty="0"/>
          </a:p>
        </p:txBody>
      </p:sp>
      <p:sp>
        <p:nvSpPr>
          <p:cNvPr id="17" name="Text 15"/>
          <p:cNvSpPr/>
          <p:nvPr/>
        </p:nvSpPr>
        <p:spPr>
          <a:xfrm>
            <a:off x="3364992" y="2304288"/>
            <a:ext cx="2377440" cy="457200"/>
          </a:xfrm>
          <a:prstGeom prst="rect">
            <a:avLst/>
          </a:prstGeom>
          <a:noFill/>
          <a:ln/>
        </p:spPr>
        <p:txBody>
          <a:bodyPr wrap="square" rtlCol="0" anchor="t"/>
          <a:lstStyle/>
          <a:p>
            <a:pPr marL="0" indent="0">
              <a:buNone/>
            </a:pPr>
            <a:r>
              <a:rPr lang="en-US" sz="1000" b="1" dirty="0">
                <a:solidFill>
                  <a:srgbClr val="1B4F9B"/>
                </a:solidFill>
                <a:latin typeface="Arial" pitchFamily="34" charset="0"/>
                <a:ea typeface="Arial" pitchFamily="34" charset="-122"/>
                <a:cs typeface="Arial" pitchFamily="34" charset="-120"/>
              </a:rPr>
              <a:t>✓  </a:t>
            </a:r>
            <a:r>
              <a:rPr lang="en-US" sz="1000" dirty="0">
                <a:solidFill>
                  <a:srgbClr val="1A1A1A"/>
                </a:solidFill>
                <a:latin typeface="Arial" pitchFamily="34" charset="0"/>
                <a:ea typeface="Arial" pitchFamily="34" charset="-122"/>
                <a:cs typeface="Arial" pitchFamily="34" charset="-120"/>
              </a:rPr>
              <a:t>Well-Architected principles in prompts</a:t>
            </a:r>
            <a:endParaRPr lang="en-US" sz="1000" dirty="0"/>
          </a:p>
        </p:txBody>
      </p:sp>
      <p:sp>
        <p:nvSpPr>
          <p:cNvPr id="18" name="Text 16"/>
          <p:cNvSpPr/>
          <p:nvPr/>
        </p:nvSpPr>
        <p:spPr>
          <a:xfrm>
            <a:off x="3364992" y="2816352"/>
            <a:ext cx="2377440" cy="457200"/>
          </a:xfrm>
          <a:prstGeom prst="rect">
            <a:avLst/>
          </a:prstGeom>
          <a:noFill/>
          <a:ln/>
        </p:spPr>
        <p:txBody>
          <a:bodyPr wrap="square" rtlCol="0" anchor="t"/>
          <a:lstStyle/>
          <a:p>
            <a:pPr marL="0" indent="0">
              <a:buNone/>
            </a:pPr>
            <a:r>
              <a:rPr lang="en-US" sz="1000" b="1" dirty="0">
                <a:solidFill>
                  <a:srgbClr val="1B4F9B"/>
                </a:solidFill>
                <a:latin typeface="Arial" pitchFamily="34" charset="0"/>
                <a:ea typeface="Arial" pitchFamily="34" charset="-122"/>
                <a:cs typeface="Arial" pitchFamily="34" charset="-120"/>
              </a:rPr>
              <a:t>✓  </a:t>
            </a:r>
            <a:r>
              <a:rPr lang="en-US" sz="1000" dirty="0">
                <a:solidFill>
                  <a:srgbClr val="1A1A1A"/>
                </a:solidFill>
                <a:latin typeface="Arial" pitchFamily="34" charset="0"/>
                <a:ea typeface="Arial" pitchFamily="34" charset="-122"/>
                <a:cs typeface="Arial" pitchFamily="34" charset="-120"/>
              </a:rPr>
              <a:t>Token optimisations (3 fixes)</a:t>
            </a:r>
            <a:endParaRPr lang="en-US" sz="1000" dirty="0"/>
          </a:p>
        </p:txBody>
      </p:sp>
      <p:sp>
        <p:nvSpPr>
          <p:cNvPr id="19" name="Text 17"/>
          <p:cNvSpPr/>
          <p:nvPr/>
        </p:nvSpPr>
        <p:spPr>
          <a:xfrm>
            <a:off x="3364992" y="3328416"/>
            <a:ext cx="2377440" cy="457200"/>
          </a:xfrm>
          <a:prstGeom prst="rect">
            <a:avLst/>
          </a:prstGeom>
          <a:noFill/>
          <a:ln/>
        </p:spPr>
        <p:txBody>
          <a:bodyPr wrap="square" rtlCol="0" anchor="t"/>
          <a:lstStyle/>
          <a:p>
            <a:pPr marL="0" indent="0">
              <a:buNone/>
            </a:pPr>
            <a:r>
              <a:rPr lang="en-US" sz="1000" b="1" dirty="0">
                <a:solidFill>
                  <a:srgbClr val="1B4F9B"/>
                </a:solidFill>
                <a:latin typeface="Arial" pitchFamily="34" charset="0"/>
                <a:ea typeface="Arial" pitchFamily="34" charset="-122"/>
                <a:cs typeface="Arial" pitchFamily="34" charset="-120"/>
              </a:rPr>
              <a:t>✓  </a:t>
            </a:r>
            <a:r>
              <a:rPr lang="en-US" sz="1000" dirty="0">
                <a:solidFill>
                  <a:srgbClr val="1A1A1A"/>
                </a:solidFill>
                <a:latin typeface="Arial" pitchFamily="34" charset="0"/>
                <a:ea typeface="Arial" pitchFamily="34" charset="-122"/>
                <a:cs typeface="Arial" pitchFamily="34" charset="-120"/>
              </a:rPr>
              <a:t>Gated endorsement — Jira assign</a:t>
            </a:r>
            <a:endParaRPr lang="en-US" sz="1000" dirty="0"/>
          </a:p>
        </p:txBody>
      </p:sp>
      <p:sp>
        <p:nvSpPr>
          <p:cNvPr id="20" name="Text 18"/>
          <p:cNvSpPr/>
          <p:nvPr/>
        </p:nvSpPr>
        <p:spPr>
          <a:xfrm>
            <a:off x="3364992" y="3840480"/>
            <a:ext cx="2377440" cy="457200"/>
          </a:xfrm>
          <a:prstGeom prst="rect">
            <a:avLst/>
          </a:prstGeom>
          <a:noFill/>
          <a:ln/>
        </p:spPr>
        <p:txBody>
          <a:bodyPr wrap="square" rtlCol="0" anchor="t"/>
          <a:lstStyle/>
          <a:p>
            <a:pPr marL="0" indent="0">
              <a:buNone/>
            </a:pPr>
            <a:r>
              <a:rPr lang="en-US" sz="1000" b="1" dirty="0">
                <a:solidFill>
                  <a:srgbClr val="1B4F9B"/>
                </a:solidFill>
                <a:latin typeface="Arial" pitchFamily="34" charset="0"/>
                <a:ea typeface="Arial" pitchFamily="34" charset="-122"/>
                <a:cs typeface="Arial" pitchFamily="34" charset="-120"/>
              </a:rPr>
              <a:t>✓  </a:t>
            </a:r>
            <a:r>
              <a:rPr lang="en-US" sz="1000" dirty="0">
                <a:solidFill>
                  <a:srgbClr val="1A1A1A"/>
                </a:solidFill>
                <a:latin typeface="Arial" pitchFamily="34" charset="0"/>
                <a:ea typeface="Arial" pitchFamily="34" charset="-122"/>
                <a:cs typeface="Arial" pitchFamily="34" charset="-120"/>
              </a:rPr>
              <a:t>Fix Revision Round</a:t>
            </a:r>
            <a:endParaRPr lang="en-US" sz="1000" dirty="0"/>
          </a:p>
        </p:txBody>
      </p:sp>
      <p:sp>
        <p:nvSpPr>
          <p:cNvPr id="21" name="Shape 19"/>
          <p:cNvSpPr/>
          <p:nvPr/>
        </p:nvSpPr>
        <p:spPr>
          <a:xfrm>
            <a:off x="6044184" y="1325880"/>
            <a:ext cx="2651760" cy="3246120"/>
          </a:xfrm>
          <a:prstGeom prst="roundRect">
            <a:avLst>
              <a:gd name="adj" fmla="val 2759"/>
            </a:avLst>
          </a:prstGeom>
          <a:solidFill>
            <a:srgbClr val="FAEEDA"/>
          </a:solidFill>
          <a:ln w="6350">
            <a:solidFill>
              <a:srgbClr val="D3D1C7"/>
            </a:solidFill>
            <a:prstDash val="solid"/>
          </a:ln>
        </p:spPr>
        <p:txBody>
          <a:bodyPr/>
          <a:lstStyle/>
          <a:p>
            <a:endParaRPr lang="en-US"/>
          </a:p>
        </p:txBody>
      </p:sp>
      <p:sp>
        <p:nvSpPr>
          <p:cNvPr id="22" name="Shape 20"/>
          <p:cNvSpPr/>
          <p:nvPr/>
        </p:nvSpPr>
        <p:spPr>
          <a:xfrm>
            <a:off x="6044184" y="1325880"/>
            <a:ext cx="2651760" cy="384048"/>
          </a:xfrm>
          <a:prstGeom prst="roundRect">
            <a:avLst>
              <a:gd name="adj" fmla="val 19048"/>
            </a:avLst>
          </a:prstGeom>
          <a:solidFill>
            <a:srgbClr val="BA7517"/>
          </a:solidFill>
          <a:ln w="12700">
            <a:solidFill>
              <a:srgbClr val="BA7517"/>
            </a:solidFill>
            <a:prstDash val="solid"/>
          </a:ln>
        </p:spPr>
        <p:txBody>
          <a:bodyPr/>
          <a:lstStyle/>
          <a:p>
            <a:endParaRPr lang="en-US"/>
          </a:p>
        </p:txBody>
      </p:sp>
      <p:sp>
        <p:nvSpPr>
          <p:cNvPr id="23" name="Text 21"/>
          <p:cNvSpPr/>
          <p:nvPr/>
        </p:nvSpPr>
        <p:spPr>
          <a:xfrm>
            <a:off x="6044184" y="1335024"/>
            <a:ext cx="265176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Planned</a:t>
            </a:r>
            <a:endParaRPr lang="en-US" sz="1200" dirty="0"/>
          </a:p>
        </p:txBody>
      </p:sp>
      <p:sp>
        <p:nvSpPr>
          <p:cNvPr id="24" name="Text 22"/>
          <p:cNvSpPr/>
          <p:nvPr/>
        </p:nvSpPr>
        <p:spPr>
          <a:xfrm>
            <a:off x="6181344" y="1792224"/>
            <a:ext cx="2377440" cy="457200"/>
          </a:xfrm>
          <a:prstGeom prst="rect">
            <a:avLst/>
          </a:prstGeom>
          <a:noFill/>
          <a:ln/>
        </p:spPr>
        <p:txBody>
          <a:bodyPr wrap="square" rtlCol="0" anchor="t"/>
          <a:lstStyle/>
          <a:p>
            <a:pPr marL="0" indent="0">
              <a:buNone/>
            </a:pPr>
            <a:r>
              <a:rPr lang="en-US" sz="1000" b="1" dirty="0">
                <a:solidFill>
                  <a:srgbClr val="BA7517"/>
                </a:solidFill>
                <a:latin typeface="Arial" pitchFamily="34" charset="0"/>
                <a:ea typeface="Arial" pitchFamily="34" charset="-122"/>
                <a:cs typeface="Arial" pitchFamily="34" charset="-120"/>
              </a:rPr>
              <a:t>✓  </a:t>
            </a:r>
            <a:r>
              <a:rPr lang="en-US" sz="1000" dirty="0">
                <a:solidFill>
                  <a:srgbClr val="1A1A1A"/>
                </a:solidFill>
                <a:latin typeface="Arial" pitchFamily="34" charset="0"/>
                <a:ea typeface="Arial" pitchFamily="34" charset="-122"/>
                <a:cs typeface="Arial" pitchFamily="34" charset="-120"/>
              </a:rPr>
              <a:t>pgvector RAG — full framework corpus</a:t>
            </a:r>
            <a:endParaRPr lang="en-US" sz="1000" dirty="0"/>
          </a:p>
        </p:txBody>
      </p:sp>
      <p:sp>
        <p:nvSpPr>
          <p:cNvPr id="25" name="Text 23"/>
          <p:cNvSpPr/>
          <p:nvPr/>
        </p:nvSpPr>
        <p:spPr>
          <a:xfrm>
            <a:off x="6181344" y="2304288"/>
            <a:ext cx="2377440" cy="457200"/>
          </a:xfrm>
          <a:prstGeom prst="rect">
            <a:avLst/>
          </a:prstGeom>
          <a:noFill/>
          <a:ln/>
        </p:spPr>
        <p:txBody>
          <a:bodyPr wrap="square" rtlCol="0" anchor="t"/>
          <a:lstStyle/>
          <a:p>
            <a:pPr marL="0" indent="0">
              <a:buNone/>
            </a:pPr>
            <a:r>
              <a:rPr lang="en-US" sz="1000" b="1" dirty="0">
                <a:solidFill>
                  <a:srgbClr val="BA7517"/>
                </a:solidFill>
                <a:latin typeface="Arial" pitchFamily="34" charset="0"/>
                <a:ea typeface="Arial" pitchFamily="34" charset="-122"/>
                <a:cs typeface="Arial" pitchFamily="34" charset="-120"/>
              </a:rPr>
              <a:t>✓  </a:t>
            </a:r>
            <a:r>
              <a:rPr lang="en-US" sz="1000" dirty="0">
                <a:solidFill>
                  <a:srgbClr val="1A1A1A"/>
                </a:solidFill>
                <a:latin typeface="Arial" pitchFamily="34" charset="0"/>
                <a:ea typeface="Arial" pitchFamily="34" charset="-122"/>
                <a:cs typeface="Arial" pitchFamily="34" charset="-120"/>
              </a:rPr>
              <a:t>Multi-tenant client config in Supabase</a:t>
            </a:r>
            <a:endParaRPr lang="en-US" sz="1000" dirty="0"/>
          </a:p>
        </p:txBody>
      </p:sp>
      <p:sp>
        <p:nvSpPr>
          <p:cNvPr id="26" name="Text 24"/>
          <p:cNvSpPr/>
          <p:nvPr/>
        </p:nvSpPr>
        <p:spPr>
          <a:xfrm>
            <a:off x="6181344" y="2816352"/>
            <a:ext cx="2377440" cy="457200"/>
          </a:xfrm>
          <a:prstGeom prst="rect">
            <a:avLst/>
          </a:prstGeom>
          <a:noFill/>
          <a:ln/>
        </p:spPr>
        <p:txBody>
          <a:bodyPr wrap="square" rtlCol="0" anchor="t"/>
          <a:lstStyle/>
          <a:p>
            <a:pPr marL="0" indent="0">
              <a:buNone/>
            </a:pPr>
            <a:r>
              <a:rPr lang="en-US" sz="1000" b="1" dirty="0">
                <a:solidFill>
                  <a:srgbClr val="BA7517"/>
                </a:solidFill>
                <a:latin typeface="Arial" pitchFamily="34" charset="0"/>
                <a:ea typeface="Arial" pitchFamily="34" charset="-122"/>
                <a:cs typeface="Arial" pitchFamily="34" charset="-120"/>
              </a:rPr>
              <a:t>✓  </a:t>
            </a:r>
            <a:r>
              <a:rPr lang="en-US" sz="1000" dirty="0">
                <a:solidFill>
                  <a:srgbClr val="1A1A1A"/>
                </a:solidFill>
                <a:latin typeface="Arial" pitchFamily="34" charset="0"/>
                <a:ea typeface="Arial" pitchFamily="34" charset="-122"/>
                <a:cs typeface="Arial" pitchFamily="34" charset="-120"/>
              </a:rPr>
              <a:t>Prompt caching (90% cost reduction)</a:t>
            </a:r>
            <a:endParaRPr lang="en-US" sz="1000" dirty="0"/>
          </a:p>
        </p:txBody>
      </p:sp>
      <p:sp>
        <p:nvSpPr>
          <p:cNvPr id="27" name="Text 25"/>
          <p:cNvSpPr/>
          <p:nvPr/>
        </p:nvSpPr>
        <p:spPr>
          <a:xfrm>
            <a:off x="6181344" y="3328416"/>
            <a:ext cx="2377440" cy="457200"/>
          </a:xfrm>
          <a:prstGeom prst="rect">
            <a:avLst/>
          </a:prstGeom>
          <a:noFill/>
          <a:ln/>
        </p:spPr>
        <p:txBody>
          <a:bodyPr wrap="square" rtlCol="0" anchor="t"/>
          <a:lstStyle/>
          <a:p>
            <a:pPr marL="0" indent="0">
              <a:buNone/>
            </a:pPr>
            <a:r>
              <a:rPr lang="en-US" sz="1000" b="1" dirty="0">
                <a:solidFill>
                  <a:srgbClr val="BA7517"/>
                </a:solidFill>
                <a:latin typeface="Arial" pitchFamily="34" charset="0"/>
                <a:ea typeface="Arial" pitchFamily="34" charset="-122"/>
                <a:cs typeface="Arial" pitchFamily="34" charset="-120"/>
              </a:rPr>
              <a:t>✓  </a:t>
            </a:r>
            <a:r>
              <a:rPr lang="en-US" sz="1000" dirty="0">
                <a:solidFill>
                  <a:srgbClr val="1A1A1A"/>
                </a:solidFill>
                <a:latin typeface="Arial" pitchFamily="34" charset="0"/>
                <a:ea typeface="Arial" pitchFamily="34" charset="-122"/>
                <a:cs typeface="Arial" pitchFamily="34" charset="-120"/>
              </a:rPr>
              <a:t>Doc section routing per agent</a:t>
            </a:r>
            <a:endParaRPr lang="en-US" sz="1000" dirty="0"/>
          </a:p>
        </p:txBody>
      </p:sp>
      <p:sp>
        <p:nvSpPr>
          <p:cNvPr id="28" name="Text 26"/>
          <p:cNvSpPr/>
          <p:nvPr/>
        </p:nvSpPr>
        <p:spPr>
          <a:xfrm>
            <a:off x="6181344" y="3840480"/>
            <a:ext cx="2377440" cy="457200"/>
          </a:xfrm>
          <a:prstGeom prst="rect">
            <a:avLst/>
          </a:prstGeom>
          <a:noFill/>
          <a:ln/>
        </p:spPr>
        <p:txBody>
          <a:bodyPr wrap="square" rtlCol="0" anchor="t"/>
          <a:lstStyle/>
          <a:p>
            <a:pPr marL="0" indent="0">
              <a:buNone/>
            </a:pPr>
            <a:r>
              <a:rPr lang="en-US" sz="1000" b="1" dirty="0">
                <a:solidFill>
                  <a:srgbClr val="BA7517"/>
                </a:solidFill>
                <a:latin typeface="Arial" pitchFamily="34" charset="0"/>
                <a:ea typeface="Arial" pitchFamily="34" charset="-122"/>
                <a:cs typeface="Arial" pitchFamily="34" charset="-120"/>
              </a:rPr>
              <a:t>✓  </a:t>
            </a:r>
            <a:r>
              <a:rPr lang="en-US" sz="1000" dirty="0">
                <a:solidFill>
                  <a:srgbClr val="1A1A1A"/>
                </a:solidFill>
                <a:latin typeface="Arial" pitchFamily="34" charset="0"/>
                <a:ea typeface="Arial" pitchFamily="34" charset="-122"/>
                <a:cs typeface="Arial" pitchFamily="34" charset="-120"/>
              </a:rPr>
              <a:t>Confluence write-back</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0">
    <p:bg>
      <p:bgPr>
        <a:solidFill>
          <a:srgbClr val="F7F8FA"/>
        </a:solidFill>
        <a:effectLst/>
      </p:bgPr>
    </p:bg>
    <p:spTree>
      <p:nvGrpSpPr>
        <p:cNvPr id="1" name=""/>
        <p:cNvGrpSpPr/>
        <p:nvPr/>
      </p:nvGrpSpPr>
      <p:grpSpPr>
        <a:xfrm>
          <a:off x="0" y="0"/>
          <a:ext cx="0" cy="0"/>
          <a:chOff x="0" y="0"/>
          <a:chExt cx="0" cy="0"/>
        </a:xfrm>
      </p:grpSpPr>
      <p:sp>
        <p:nvSpPr>
          <p:cNvPr id="2" name="Text 0"/>
          <p:cNvSpPr/>
          <p:nvPr/>
        </p:nvSpPr>
        <p:spPr>
          <a:xfrm>
            <a:off x="502920" y="347472"/>
            <a:ext cx="8138160" cy="201168"/>
          </a:xfrm>
          <a:prstGeom prst="rect">
            <a:avLst/>
          </a:prstGeom>
          <a:noFill/>
          <a:ln/>
        </p:spPr>
        <p:txBody>
          <a:bodyPr wrap="square" rtlCol="0" anchor="ctr"/>
          <a:lstStyle/>
          <a:p>
            <a:pPr marL="0" indent="0" algn="l">
              <a:buNone/>
            </a:pPr>
            <a:r>
              <a:rPr lang="en-US" sz="900" b="1" kern="0" spc="300" dirty="0">
                <a:solidFill>
                  <a:srgbClr val="2E6DA4"/>
                </a:solidFill>
                <a:latin typeface="Arial" pitchFamily="34" charset="0"/>
                <a:ea typeface="Arial" pitchFamily="34" charset="-122"/>
                <a:cs typeface="Arial" pitchFamily="34" charset="-120"/>
              </a:rPr>
              <a:t>LEARNINGS FOR OTHERS</a:t>
            </a:r>
            <a:endParaRPr lang="en-US" sz="900" dirty="0"/>
          </a:p>
        </p:txBody>
      </p:sp>
      <p:sp>
        <p:nvSpPr>
          <p:cNvPr id="3" name="Text 1"/>
          <p:cNvSpPr/>
          <p:nvPr/>
        </p:nvSpPr>
        <p:spPr>
          <a:xfrm>
            <a:off x="502920" y="594360"/>
            <a:ext cx="8138160" cy="640080"/>
          </a:xfrm>
          <a:prstGeom prst="rect">
            <a:avLst/>
          </a:prstGeom>
          <a:noFill/>
          <a:ln/>
        </p:spPr>
        <p:txBody>
          <a:bodyPr wrap="square" rtlCol="0" anchor="ctr"/>
          <a:lstStyle/>
          <a:p>
            <a:pPr marL="0" indent="0" algn="l">
              <a:buNone/>
            </a:pPr>
            <a:r>
              <a:rPr lang="en-US" sz="2800" b="1" dirty="0">
                <a:solidFill>
                  <a:srgbClr val="1A1A1A"/>
                </a:solidFill>
                <a:latin typeface="Arial" pitchFamily="34" charset="0"/>
                <a:ea typeface="Arial" pitchFamily="34" charset="-122"/>
                <a:cs typeface="Arial" pitchFamily="34" charset="-120"/>
              </a:rPr>
              <a:t>What we would do differently — and what surprised us</a:t>
            </a:r>
            <a:endParaRPr lang="en-US" sz="2800" dirty="0"/>
          </a:p>
        </p:txBody>
      </p:sp>
      <p:sp>
        <p:nvSpPr>
          <p:cNvPr id="4" name="Shape 2"/>
          <p:cNvSpPr/>
          <p:nvPr/>
        </p:nvSpPr>
        <p:spPr>
          <a:xfrm>
            <a:off x="502920" y="1207008"/>
            <a:ext cx="8138160" cy="0"/>
          </a:xfrm>
          <a:prstGeom prst="line">
            <a:avLst/>
          </a:prstGeom>
          <a:noFill/>
          <a:ln w="10160">
            <a:solidFill>
              <a:srgbClr val="EBEBEB"/>
            </a:solidFill>
            <a:prstDash val="solid"/>
          </a:ln>
        </p:spPr>
        <p:txBody>
          <a:bodyPr/>
          <a:lstStyle/>
          <a:p>
            <a:endParaRPr lang="en-US"/>
          </a:p>
        </p:txBody>
      </p:sp>
      <p:sp>
        <p:nvSpPr>
          <p:cNvPr id="5" name="Shape 3"/>
          <p:cNvSpPr/>
          <p:nvPr/>
        </p:nvSpPr>
        <p:spPr>
          <a:xfrm>
            <a:off x="411480" y="1371600"/>
            <a:ext cx="2651760" cy="1261872"/>
          </a:xfrm>
          <a:prstGeom prst="roundRect">
            <a:avLst>
              <a:gd name="adj" fmla="val 5797"/>
            </a:avLst>
          </a:prstGeom>
          <a:solidFill>
            <a:srgbClr val="FFFFFF"/>
          </a:solidFill>
          <a:ln w="6350">
            <a:solidFill>
              <a:srgbClr val="D3D1C7"/>
            </a:solidFill>
            <a:prstDash val="solid"/>
          </a:ln>
          <a:effectLst>
            <a:outerShdw blurRad="76200" dist="25400" dir="2700000" algn="bl" rotWithShape="0">
              <a:srgbClr val="000000">
                <a:alpha val="7000"/>
              </a:srgbClr>
            </a:outerShdw>
          </a:effectLst>
        </p:spPr>
        <p:txBody>
          <a:bodyPr/>
          <a:lstStyle/>
          <a:p>
            <a:endParaRPr lang="en-US"/>
          </a:p>
        </p:txBody>
      </p:sp>
      <p:sp>
        <p:nvSpPr>
          <p:cNvPr id="6" name="Text 4"/>
          <p:cNvSpPr/>
          <p:nvPr/>
        </p:nvSpPr>
        <p:spPr>
          <a:xfrm>
            <a:off x="411480" y="1463040"/>
            <a:ext cx="2651760" cy="365760"/>
          </a:xfrm>
          <a:prstGeom prst="rect">
            <a:avLst/>
          </a:prstGeom>
          <a:noFill/>
          <a:ln/>
        </p:spPr>
        <p:txBody>
          <a:bodyPr wrap="square" rtlCol="0" anchor="ctr"/>
          <a:lstStyle/>
          <a:p>
            <a:pPr marL="0" indent="0" algn="ctr">
              <a:buNone/>
            </a:pPr>
            <a:r>
              <a:rPr lang="en-US" sz="2000" dirty="0">
                <a:solidFill>
                  <a:srgbClr val="000000"/>
                </a:solidFill>
                <a:latin typeface="Arial" pitchFamily="34" charset="0"/>
                <a:ea typeface="Arial" pitchFamily="34" charset="-122"/>
                <a:cs typeface="Arial" pitchFamily="34" charset="-120"/>
              </a:rPr>
              <a:t>💡</a:t>
            </a:r>
            <a:endParaRPr lang="en-US" sz="2000" dirty="0"/>
          </a:p>
        </p:txBody>
      </p:sp>
      <p:sp>
        <p:nvSpPr>
          <p:cNvPr id="7" name="Text 5"/>
          <p:cNvSpPr/>
          <p:nvPr/>
        </p:nvSpPr>
        <p:spPr>
          <a:xfrm>
            <a:off x="521208" y="1828800"/>
            <a:ext cx="2432304" cy="274320"/>
          </a:xfrm>
          <a:prstGeom prst="rect">
            <a:avLst/>
          </a:prstGeom>
          <a:noFill/>
          <a:ln/>
        </p:spPr>
        <p:txBody>
          <a:bodyPr wrap="square" rtlCol="0" anchor="ctr"/>
          <a:lstStyle/>
          <a:p>
            <a:pPr marL="0" indent="0">
              <a:buNone/>
            </a:pPr>
            <a:r>
              <a:rPr lang="en-US" sz="1100" b="1" dirty="0">
                <a:solidFill>
                  <a:srgbClr val="0F1E3C"/>
                </a:solidFill>
                <a:latin typeface="Arial" pitchFamily="34" charset="0"/>
                <a:ea typeface="Arial" pitchFamily="34" charset="-122"/>
                <a:cs typeface="Arial" pitchFamily="34" charset="-120"/>
              </a:rPr>
              <a:t>Measure before optimising</a:t>
            </a:r>
            <a:endParaRPr lang="en-US" sz="1100" dirty="0"/>
          </a:p>
        </p:txBody>
      </p:sp>
      <p:sp>
        <p:nvSpPr>
          <p:cNvPr id="8" name="Text 6"/>
          <p:cNvSpPr/>
          <p:nvPr/>
        </p:nvSpPr>
        <p:spPr>
          <a:xfrm>
            <a:off x="521208" y="2103120"/>
            <a:ext cx="2432304" cy="475488"/>
          </a:xfrm>
          <a:prstGeom prst="rect">
            <a:avLst/>
          </a:prstGeom>
          <a:noFill/>
          <a:ln/>
        </p:spPr>
        <p:txBody>
          <a:bodyPr wrap="square" rtlCol="0" anchor="t"/>
          <a:lstStyle/>
          <a:p>
            <a:pPr marL="0" indent="0">
              <a:buNone/>
            </a:pPr>
            <a:r>
              <a:rPr lang="en-US" sz="950" dirty="0">
                <a:solidFill>
                  <a:srgbClr val="64635E"/>
                </a:solidFill>
                <a:latin typeface="Arial" pitchFamily="34" charset="0"/>
                <a:ea typeface="Arial" pitchFamily="34" charset="-122"/>
                <a:cs typeface="Arial" pitchFamily="34" charset="-120"/>
              </a:rPr>
              <a:t>We hit ~$0.29/session baseline. Targeted 3 fixes cut it to ~$0.08. Know your token breakdown before building.</a:t>
            </a:r>
            <a:endParaRPr lang="en-US" sz="950" dirty="0"/>
          </a:p>
        </p:txBody>
      </p:sp>
      <p:sp>
        <p:nvSpPr>
          <p:cNvPr id="9" name="Shape 7"/>
          <p:cNvSpPr/>
          <p:nvPr/>
        </p:nvSpPr>
        <p:spPr>
          <a:xfrm>
            <a:off x="3227832" y="1371600"/>
            <a:ext cx="2651760" cy="1261872"/>
          </a:xfrm>
          <a:prstGeom prst="roundRect">
            <a:avLst>
              <a:gd name="adj" fmla="val 5797"/>
            </a:avLst>
          </a:prstGeom>
          <a:solidFill>
            <a:srgbClr val="FFFFFF"/>
          </a:solidFill>
          <a:ln w="6350">
            <a:solidFill>
              <a:srgbClr val="D3D1C7"/>
            </a:solidFill>
            <a:prstDash val="solid"/>
          </a:ln>
          <a:effectLst>
            <a:outerShdw blurRad="76200" dist="25400" dir="2700000" algn="bl" rotWithShape="0">
              <a:srgbClr val="000000">
                <a:alpha val="7000"/>
              </a:srgbClr>
            </a:outerShdw>
          </a:effectLst>
        </p:spPr>
        <p:txBody>
          <a:bodyPr/>
          <a:lstStyle/>
          <a:p>
            <a:endParaRPr lang="en-US"/>
          </a:p>
        </p:txBody>
      </p:sp>
      <p:sp>
        <p:nvSpPr>
          <p:cNvPr id="10" name="Text 8"/>
          <p:cNvSpPr/>
          <p:nvPr/>
        </p:nvSpPr>
        <p:spPr>
          <a:xfrm>
            <a:off x="3227832" y="1463040"/>
            <a:ext cx="2651760" cy="365760"/>
          </a:xfrm>
          <a:prstGeom prst="rect">
            <a:avLst/>
          </a:prstGeom>
          <a:noFill/>
          <a:ln/>
        </p:spPr>
        <p:txBody>
          <a:bodyPr wrap="square" rtlCol="0" anchor="ctr"/>
          <a:lstStyle/>
          <a:p>
            <a:pPr marL="0" indent="0" algn="ctr">
              <a:buNone/>
            </a:pPr>
            <a:r>
              <a:rPr lang="en-US" sz="2000" dirty="0">
                <a:solidFill>
                  <a:srgbClr val="000000"/>
                </a:solidFill>
                <a:latin typeface="Arial" pitchFamily="34" charset="0"/>
                <a:ea typeface="Arial" pitchFamily="34" charset="-122"/>
                <a:cs typeface="Arial" pitchFamily="34" charset="-120"/>
              </a:rPr>
              <a:t>🏗</a:t>
            </a:r>
            <a:endParaRPr lang="en-US" sz="2000" dirty="0"/>
          </a:p>
        </p:txBody>
      </p:sp>
      <p:sp>
        <p:nvSpPr>
          <p:cNvPr id="11" name="Text 9"/>
          <p:cNvSpPr/>
          <p:nvPr/>
        </p:nvSpPr>
        <p:spPr>
          <a:xfrm>
            <a:off x="3337560" y="1828800"/>
            <a:ext cx="2432304" cy="274320"/>
          </a:xfrm>
          <a:prstGeom prst="rect">
            <a:avLst/>
          </a:prstGeom>
          <a:noFill/>
          <a:ln/>
        </p:spPr>
        <p:txBody>
          <a:bodyPr wrap="square" rtlCol="0" anchor="ctr"/>
          <a:lstStyle/>
          <a:p>
            <a:pPr marL="0" indent="0">
              <a:buNone/>
            </a:pPr>
            <a:r>
              <a:rPr lang="en-US" sz="1100" b="1" dirty="0">
                <a:solidFill>
                  <a:srgbClr val="0F1E3C"/>
                </a:solidFill>
                <a:latin typeface="Arial" pitchFamily="34" charset="0"/>
                <a:ea typeface="Arial" pitchFamily="34" charset="-122"/>
                <a:cs typeface="Arial" pitchFamily="34" charset="-120"/>
              </a:rPr>
              <a:t>Architecture beats prompt engineering</a:t>
            </a:r>
            <a:endParaRPr lang="en-US" sz="1100" dirty="0"/>
          </a:p>
        </p:txBody>
      </p:sp>
      <p:sp>
        <p:nvSpPr>
          <p:cNvPr id="12" name="Text 10"/>
          <p:cNvSpPr/>
          <p:nvPr/>
        </p:nvSpPr>
        <p:spPr>
          <a:xfrm>
            <a:off x="3337560" y="2103120"/>
            <a:ext cx="2432304" cy="475488"/>
          </a:xfrm>
          <a:prstGeom prst="rect">
            <a:avLst/>
          </a:prstGeom>
          <a:noFill/>
          <a:ln/>
        </p:spPr>
        <p:txBody>
          <a:bodyPr wrap="square" rtlCol="0" anchor="t"/>
          <a:lstStyle/>
          <a:p>
            <a:pPr marL="0" indent="0">
              <a:buNone/>
            </a:pPr>
            <a:r>
              <a:rPr lang="en-US" sz="950" dirty="0">
                <a:solidFill>
                  <a:srgbClr val="64635E"/>
                </a:solidFill>
                <a:latin typeface="Arial" pitchFamily="34" charset="0"/>
                <a:ea typeface="Arial" pitchFamily="34" charset="-122"/>
                <a:cs typeface="Arial" pitchFamily="34" charset="-120"/>
              </a:rPr>
              <a:t>The biggest quality gains came from structured grounding (memory, patterns, principles) — not tweaking prompts.</a:t>
            </a:r>
            <a:endParaRPr lang="en-US" sz="950" dirty="0"/>
          </a:p>
        </p:txBody>
      </p:sp>
      <p:sp>
        <p:nvSpPr>
          <p:cNvPr id="13" name="Shape 11"/>
          <p:cNvSpPr/>
          <p:nvPr/>
        </p:nvSpPr>
        <p:spPr>
          <a:xfrm>
            <a:off x="6044184" y="1371600"/>
            <a:ext cx="2651760" cy="1261872"/>
          </a:xfrm>
          <a:prstGeom prst="roundRect">
            <a:avLst>
              <a:gd name="adj" fmla="val 5797"/>
            </a:avLst>
          </a:prstGeom>
          <a:solidFill>
            <a:srgbClr val="FFFFFF"/>
          </a:solidFill>
          <a:ln w="6350">
            <a:solidFill>
              <a:srgbClr val="D3D1C7"/>
            </a:solidFill>
            <a:prstDash val="solid"/>
          </a:ln>
          <a:effectLst>
            <a:outerShdw blurRad="76200" dist="25400" dir="2700000" algn="bl" rotWithShape="0">
              <a:srgbClr val="000000">
                <a:alpha val="7000"/>
              </a:srgbClr>
            </a:outerShdw>
          </a:effectLst>
        </p:spPr>
        <p:txBody>
          <a:bodyPr/>
          <a:lstStyle/>
          <a:p>
            <a:endParaRPr lang="en-US"/>
          </a:p>
        </p:txBody>
      </p:sp>
      <p:sp>
        <p:nvSpPr>
          <p:cNvPr id="14" name="Text 12"/>
          <p:cNvSpPr/>
          <p:nvPr/>
        </p:nvSpPr>
        <p:spPr>
          <a:xfrm>
            <a:off x="6044184" y="1463040"/>
            <a:ext cx="2651760" cy="365760"/>
          </a:xfrm>
          <a:prstGeom prst="rect">
            <a:avLst/>
          </a:prstGeom>
          <a:noFill/>
          <a:ln/>
        </p:spPr>
        <p:txBody>
          <a:bodyPr wrap="square" rtlCol="0" anchor="ctr"/>
          <a:lstStyle/>
          <a:p>
            <a:pPr marL="0" indent="0" algn="ctr">
              <a:buNone/>
            </a:pPr>
            <a:r>
              <a:rPr lang="en-US" sz="2000" dirty="0">
                <a:solidFill>
                  <a:srgbClr val="000000"/>
                </a:solidFill>
                <a:latin typeface="Arial" pitchFamily="34" charset="0"/>
                <a:ea typeface="Arial" pitchFamily="34" charset="-122"/>
                <a:cs typeface="Arial" pitchFamily="34" charset="-120"/>
              </a:rPr>
              <a:t>📦</a:t>
            </a:r>
            <a:endParaRPr lang="en-US" sz="2000" dirty="0"/>
          </a:p>
        </p:txBody>
      </p:sp>
      <p:sp>
        <p:nvSpPr>
          <p:cNvPr id="15" name="Text 13"/>
          <p:cNvSpPr/>
          <p:nvPr/>
        </p:nvSpPr>
        <p:spPr>
          <a:xfrm>
            <a:off x="6153912" y="1828800"/>
            <a:ext cx="2432304" cy="274320"/>
          </a:xfrm>
          <a:prstGeom prst="rect">
            <a:avLst/>
          </a:prstGeom>
          <a:noFill/>
          <a:ln/>
        </p:spPr>
        <p:txBody>
          <a:bodyPr wrap="square" rtlCol="0" anchor="ctr"/>
          <a:lstStyle/>
          <a:p>
            <a:pPr marL="0" indent="0">
              <a:buNone/>
            </a:pPr>
            <a:r>
              <a:rPr lang="en-US" sz="1100" b="1" dirty="0">
                <a:solidFill>
                  <a:srgbClr val="0F1E3C"/>
                </a:solidFill>
                <a:latin typeface="Arial" pitchFamily="34" charset="0"/>
                <a:ea typeface="Arial" pitchFamily="34" charset="-122"/>
                <a:cs typeface="Arial" pitchFamily="34" charset="-120"/>
              </a:rPr>
              <a:t>Fail gracefully everywhere</a:t>
            </a:r>
            <a:endParaRPr lang="en-US" sz="1100" dirty="0"/>
          </a:p>
        </p:txBody>
      </p:sp>
      <p:sp>
        <p:nvSpPr>
          <p:cNvPr id="16" name="Text 14"/>
          <p:cNvSpPr/>
          <p:nvPr/>
        </p:nvSpPr>
        <p:spPr>
          <a:xfrm>
            <a:off x="6153912" y="2103120"/>
            <a:ext cx="2432304" cy="475488"/>
          </a:xfrm>
          <a:prstGeom prst="rect">
            <a:avLst/>
          </a:prstGeom>
          <a:noFill/>
          <a:ln/>
        </p:spPr>
        <p:txBody>
          <a:bodyPr wrap="square" rtlCol="0" anchor="t"/>
          <a:lstStyle/>
          <a:p>
            <a:pPr marL="0" indent="0">
              <a:buNone/>
            </a:pPr>
            <a:r>
              <a:rPr lang="en-US" sz="950" dirty="0">
                <a:solidFill>
                  <a:srgbClr val="64635E"/>
                </a:solidFill>
                <a:latin typeface="Arial" pitchFamily="34" charset="0"/>
                <a:ea typeface="Arial" pitchFamily="34" charset="-122"/>
                <a:cs typeface="Arial" pitchFamily="34" charset="-120"/>
              </a:rPr>
              <a:t>Every external call (Jira, Supabase, MCP) must be try/catch with fallback. A broken integration cannot kill a session.</a:t>
            </a:r>
            <a:endParaRPr lang="en-US" sz="950" dirty="0"/>
          </a:p>
        </p:txBody>
      </p:sp>
      <p:sp>
        <p:nvSpPr>
          <p:cNvPr id="17" name="Shape 15"/>
          <p:cNvSpPr/>
          <p:nvPr/>
        </p:nvSpPr>
        <p:spPr>
          <a:xfrm>
            <a:off x="411480" y="2788920"/>
            <a:ext cx="2651760" cy="1261872"/>
          </a:xfrm>
          <a:prstGeom prst="roundRect">
            <a:avLst>
              <a:gd name="adj" fmla="val 5797"/>
            </a:avLst>
          </a:prstGeom>
          <a:solidFill>
            <a:srgbClr val="FFFFFF"/>
          </a:solidFill>
          <a:ln w="6350">
            <a:solidFill>
              <a:srgbClr val="D3D1C7"/>
            </a:solidFill>
            <a:prstDash val="solid"/>
          </a:ln>
          <a:effectLst>
            <a:outerShdw blurRad="76200" dist="25400" dir="2700000" algn="bl" rotWithShape="0">
              <a:srgbClr val="000000">
                <a:alpha val="7000"/>
              </a:srgbClr>
            </a:outerShdw>
          </a:effectLst>
        </p:spPr>
        <p:txBody>
          <a:bodyPr/>
          <a:lstStyle/>
          <a:p>
            <a:endParaRPr lang="en-US"/>
          </a:p>
        </p:txBody>
      </p:sp>
      <p:sp>
        <p:nvSpPr>
          <p:cNvPr id="18" name="Text 16"/>
          <p:cNvSpPr/>
          <p:nvPr/>
        </p:nvSpPr>
        <p:spPr>
          <a:xfrm>
            <a:off x="411480" y="2880360"/>
            <a:ext cx="2651760" cy="365760"/>
          </a:xfrm>
          <a:prstGeom prst="rect">
            <a:avLst/>
          </a:prstGeom>
          <a:noFill/>
          <a:ln/>
        </p:spPr>
        <p:txBody>
          <a:bodyPr wrap="square" rtlCol="0" anchor="ctr"/>
          <a:lstStyle/>
          <a:p>
            <a:pPr marL="0" indent="0" algn="ctr">
              <a:buNone/>
            </a:pPr>
            <a:r>
              <a:rPr lang="en-US" sz="2000" dirty="0">
                <a:solidFill>
                  <a:srgbClr val="000000"/>
                </a:solidFill>
                <a:latin typeface="Arial" pitchFamily="34" charset="0"/>
                <a:ea typeface="Arial" pitchFamily="34" charset="-122"/>
                <a:cs typeface="Arial" pitchFamily="34" charset="-120"/>
              </a:rPr>
              <a:t>🗂</a:t>
            </a:r>
            <a:endParaRPr lang="en-US" sz="2000" dirty="0"/>
          </a:p>
        </p:txBody>
      </p:sp>
      <p:sp>
        <p:nvSpPr>
          <p:cNvPr id="19" name="Text 17"/>
          <p:cNvSpPr/>
          <p:nvPr/>
        </p:nvSpPr>
        <p:spPr>
          <a:xfrm>
            <a:off x="521208" y="3246120"/>
            <a:ext cx="2432304" cy="274320"/>
          </a:xfrm>
          <a:prstGeom prst="rect">
            <a:avLst/>
          </a:prstGeom>
          <a:noFill/>
          <a:ln/>
        </p:spPr>
        <p:txBody>
          <a:bodyPr wrap="square" rtlCol="0" anchor="ctr"/>
          <a:lstStyle/>
          <a:p>
            <a:pPr marL="0" indent="0">
              <a:buNone/>
            </a:pPr>
            <a:r>
              <a:rPr lang="en-US" sz="1100" b="1" dirty="0">
                <a:solidFill>
                  <a:srgbClr val="0F1E3C"/>
                </a:solidFill>
                <a:latin typeface="Arial" pitchFamily="34" charset="0"/>
                <a:ea typeface="Arial" pitchFamily="34" charset="-122"/>
                <a:cs typeface="Arial" pitchFamily="34" charset="-120"/>
              </a:rPr>
              <a:t>Separate content from ops</a:t>
            </a:r>
            <a:endParaRPr lang="en-US" sz="1100" dirty="0"/>
          </a:p>
        </p:txBody>
      </p:sp>
      <p:sp>
        <p:nvSpPr>
          <p:cNvPr id="20" name="Text 18"/>
          <p:cNvSpPr/>
          <p:nvPr/>
        </p:nvSpPr>
        <p:spPr>
          <a:xfrm>
            <a:off x="521208" y="3520440"/>
            <a:ext cx="2432304" cy="475488"/>
          </a:xfrm>
          <a:prstGeom prst="rect">
            <a:avLst/>
          </a:prstGeom>
          <a:noFill/>
          <a:ln/>
        </p:spPr>
        <p:txBody>
          <a:bodyPr wrap="square" rtlCol="0" anchor="t"/>
          <a:lstStyle/>
          <a:p>
            <a:pPr marL="0" indent="0">
              <a:buNone/>
            </a:pPr>
            <a:r>
              <a:rPr lang="en-US" sz="950" dirty="0">
                <a:solidFill>
                  <a:srgbClr val="64635E"/>
                </a:solidFill>
                <a:latin typeface="Arial" pitchFamily="34" charset="0"/>
                <a:ea typeface="Arial" pitchFamily="34" charset="-122"/>
                <a:cs typeface="Arial" pitchFamily="34" charset="-120"/>
              </a:rPr>
              <a:t>Jira owns ADR content. Supabase owns operational data. Never duplicate. This decision made memory retrieval trivial.</a:t>
            </a:r>
            <a:endParaRPr lang="en-US" sz="950" dirty="0"/>
          </a:p>
        </p:txBody>
      </p:sp>
      <p:sp>
        <p:nvSpPr>
          <p:cNvPr id="21" name="Shape 19"/>
          <p:cNvSpPr/>
          <p:nvPr/>
        </p:nvSpPr>
        <p:spPr>
          <a:xfrm>
            <a:off x="3227832" y="2788920"/>
            <a:ext cx="2651760" cy="1261872"/>
          </a:xfrm>
          <a:prstGeom prst="roundRect">
            <a:avLst>
              <a:gd name="adj" fmla="val 5797"/>
            </a:avLst>
          </a:prstGeom>
          <a:solidFill>
            <a:srgbClr val="FFFFFF"/>
          </a:solidFill>
          <a:ln w="6350">
            <a:solidFill>
              <a:srgbClr val="D3D1C7"/>
            </a:solidFill>
            <a:prstDash val="solid"/>
          </a:ln>
          <a:effectLst>
            <a:outerShdw blurRad="76200" dist="25400" dir="2700000" algn="bl" rotWithShape="0">
              <a:srgbClr val="000000">
                <a:alpha val="7000"/>
              </a:srgbClr>
            </a:outerShdw>
          </a:effectLst>
        </p:spPr>
        <p:txBody>
          <a:bodyPr/>
          <a:lstStyle/>
          <a:p>
            <a:endParaRPr lang="en-US"/>
          </a:p>
        </p:txBody>
      </p:sp>
      <p:sp>
        <p:nvSpPr>
          <p:cNvPr id="22" name="Text 20"/>
          <p:cNvSpPr/>
          <p:nvPr/>
        </p:nvSpPr>
        <p:spPr>
          <a:xfrm>
            <a:off x="3227832" y="2880360"/>
            <a:ext cx="2651760" cy="365760"/>
          </a:xfrm>
          <a:prstGeom prst="rect">
            <a:avLst/>
          </a:prstGeom>
          <a:noFill/>
          <a:ln/>
        </p:spPr>
        <p:txBody>
          <a:bodyPr wrap="square" rtlCol="0" anchor="ctr"/>
          <a:lstStyle/>
          <a:p>
            <a:pPr marL="0" indent="0" algn="ctr">
              <a:buNone/>
            </a:pPr>
            <a:r>
              <a:rPr lang="en-US" sz="2000" dirty="0">
                <a:solidFill>
                  <a:srgbClr val="000000"/>
                </a:solidFill>
                <a:latin typeface="Arial" pitchFamily="34" charset="0"/>
                <a:ea typeface="Arial" pitchFamily="34" charset="-122"/>
                <a:cs typeface="Arial" pitchFamily="34" charset="-120"/>
              </a:rPr>
              <a:t>🔁</a:t>
            </a:r>
            <a:endParaRPr lang="en-US" sz="2000" dirty="0"/>
          </a:p>
        </p:txBody>
      </p:sp>
      <p:sp>
        <p:nvSpPr>
          <p:cNvPr id="23" name="Text 21"/>
          <p:cNvSpPr/>
          <p:nvPr/>
        </p:nvSpPr>
        <p:spPr>
          <a:xfrm>
            <a:off x="3337560" y="3246120"/>
            <a:ext cx="2432304" cy="274320"/>
          </a:xfrm>
          <a:prstGeom prst="rect">
            <a:avLst/>
          </a:prstGeom>
          <a:noFill/>
          <a:ln/>
        </p:spPr>
        <p:txBody>
          <a:bodyPr wrap="square" rtlCol="0" anchor="ctr"/>
          <a:lstStyle/>
          <a:p>
            <a:pPr marL="0" indent="0">
              <a:buNone/>
            </a:pPr>
            <a:r>
              <a:rPr lang="en-US" sz="1100" b="1" dirty="0">
                <a:solidFill>
                  <a:srgbClr val="0F1E3C"/>
                </a:solidFill>
                <a:latin typeface="Arial" pitchFamily="34" charset="0"/>
                <a:ea typeface="Arial" pitchFamily="34" charset="-122"/>
                <a:cs typeface="Arial" pitchFamily="34" charset="-120"/>
              </a:rPr>
              <a:t>Mock mode is not optional</a:t>
            </a:r>
            <a:endParaRPr lang="en-US" sz="1100" dirty="0"/>
          </a:p>
        </p:txBody>
      </p:sp>
      <p:sp>
        <p:nvSpPr>
          <p:cNvPr id="24" name="Text 22"/>
          <p:cNvSpPr/>
          <p:nvPr/>
        </p:nvSpPr>
        <p:spPr>
          <a:xfrm>
            <a:off x="3337560" y="3520440"/>
            <a:ext cx="2432304" cy="475488"/>
          </a:xfrm>
          <a:prstGeom prst="rect">
            <a:avLst/>
          </a:prstGeom>
          <a:noFill/>
          <a:ln/>
        </p:spPr>
        <p:txBody>
          <a:bodyPr wrap="square" rtlCol="0" anchor="t"/>
          <a:lstStyle/>
          <a:p>
            <a:pPr marL="0" indent="0">
              <a:buNone/>
            </a:pPr>
            <a:r>
              <a:rPr lang="en-US" sz="950" dirty="0">
                <a:solidFill>
                  <a:srgbClr val="64635E"/>
                </a:solidFill>
                <a:latin typeface="Arial" pitchFamily="34" charset="0"/>
                <a:ea typeface="Arial" pitchFamily="34" charset="-122"/>
                <a:cs typeface="Arial" pitchFamily="34" charset="-120"/>
              </a:rPr>
              <a:t>ANTHROPIC_API_KEY=mock saved significant cost during build. Reserve real API calls for quality validation only.</a:t>
            </a:r>
            <a:endParaRPr lang="en-US" sz="950" dirty="0"/>
          </a:p>
        </p:txBody>
      </p:sp>
      <p:sp>
        <p:nvSpPr>
          <p:cNvPr id="25" name="Shape 23"/>
          <p:cNvSpPr/>
          <p:nvPr/>
        </p:nvSpPr>
        <p:spPr>
          <a:xfrm>
            <a:off x="6044184" y="2788920"/>
            <a:ext cx="2651760" cy="1261872"/>
          </a:xfrm>
          <a:prstGeom prst="roundRect">
            <a:avLst>
              <a:gd name="adj" fmla="val 5797"/>
            </a:avLst>
          </a:prstGeom>
          <a:solidFill>
            <a:srgbClr val="FFFFFF"/>
          </a:solidFill>
          <a:ln w="6350">
            <a:solidFill>
              <a:srgbClr val="D3D1C7"/>
            </a:solidFill>
            <a:prstDash val="solid"/>
          </a:ln>
          <a:effectLst>
            <a:outerShdw blurRad="76200" dist="25400" dir="2700000" algn="bl" rotWithShape="0">
              <a:srgbClr val="000000">
                <a:alpha val="7000"/>
              </a:srgbClr>
            </a:outerShdw>
          </a:effectLst>
        </p:spPr>
        <p:txBody>
          <a:bodyPr/>
          <a:lstStyle/>
          <a:p>
            <a:endParaRPr lang="en-US"/>
          </a:p>
        </p:txBody>
      </p:sp>
      <p:sp>
        <p:nvSpPr>
          <p:cNvPr id="26" name="Text 24"/>
          <p:cNvSpPr/>
          <p:nvPr/>
        </p:nvSpPr>
        <p:spPr>
          <a:xfrm>
            <a:off x="6044184" y="2880360"/>
            <a:ext cx="2651760" cy="365760"/>
          </a:xfrm>
          <a:prstGeom prst="rect">
            <a:avLst/>
          </a:prstGeom>
          <a:noFill/>
          <a:ln/>
        </p:spPr>
        <p:txBody>
          <a:bodyPr wrap="square" rtlCol="0" anchor="ctr"/>
          <a:lstStyle/>
          <a:p>
            <a:pPr marL="0" indent="0" algn="ctr">
              <a:buNone/>
            </a:pPr>
            <a:r>
              <a:rPr lang="en-US" sz="2000" dirty="0">
                <a:solidFill>
                  <a:srgbClr val="000000"/>
                </a:solidFill>
                <a:latin typeface="Arial" pitchFamily="34" charset="0"/>
                <a:ea typeface="Arial" pitchFamily="34" charset="-122"/>
                <a:cs typeface="Arial" pitchFamily="34" charset="-120"/>
              </a:rPr>
              <a:t>🧠</a:t>
            </a:r>
            <a:endParaRPr lang="en-US" sz="2000" dirty="0"/>
          </a:p>
        </p:txBody>
      </p:sp>
      <p:sp>
        <p:nvSpPr>
          <p:cNvPr id="27" name="Text 25"/>
          <p:cNvSpPr/>
          <p:nvPr/>
        </p:nvSpPr>
        <p:spPr>
          <a:xfrm>
            <a:off x="6153912" y="3246120"/>
            <a:ext cx="2432304" cy="274320"/>
          </a:xfrm>
          <a:prstGeom prst="rect">
            <a:avLst/>
          </a:prstGeom>
          <a:noFill/>
          <a:ln/>
        </p:spPr>
        <p:txBody>
          <a:bodyPr wrap="square" rtlCol="0" anchor="ctr"/>
          <a:lstStyle/>
          <a:p>
            <a:pPr marL="0" indent="0">
              <a:buNone/>
            </a:pPr>
            <a:r>
              <a:rPr lang="en-US" sz="1100" b="1" dirty="0">
                <a:solidFill>
                  <a:srgbClr val="0F1E3C"/>
                </a:solidFill>
                <a:latin typeface="Arial" pitchFamily="34" charset="0"/>
                <a:ea typeface="Arial" pitchFamily="34" charset="-122"/>
                <a:cs typeface="Arial" pitchFamily="34" charset="-120"/>
              </a:rPr>
              <a:t>The IP is the reasoning layer</a:t>
            </a:r>
            <a:endParaRPr lang="en-US" sz="1100" dirty="0"/>
          </a:p>
        </p:txBody>
      </p:sp>
      <p:sp>
        <p:nvSpPr>
          <p:cNvPr id="28" name="Text 26"/>
          <p:cNvSpPr/>
          <p:nvPr/>
        </p:nvSpPr>
        <p:spPr>
          <a:xfrm>
            <a:off x="6153912" y="3520440"/>
            <a:ext cx="2432304" cy="475488"/>
          </a:xfrm>
          <a:prstGeom prst="rect">
            <a:avLst/>
          </a:prstGeom>
          <a:noFill/>
          <a:ln/>
        </p:spPr>
        <p:txBody>
          <a:bodyPr wrap="square" rtlCol="0" anchor="t"/>
          <a:lstStyle/>
          <a:p>
            <a:pPr marL="0" indent="0">
              <a:buNone/>
            </a:pPr>
            <a:r>
              <a:rPr lang="en-US" sz="950" dirty="0">
                <a:solidFill>
                  <a:srgbClr val="64635E"/>
                </a:solidFill>
                <a:latin typeface="Arial" pitchFamily="34" charset="0"/>
                <a:ea typeface="Arial" pitchFamily="34" charset="-122"/>
                <a:cs typeface="Arial" pitchFamily="34" charset="-120"/>
              </a:rPr>
              <a:t>Anyone can wire MCP to Claude. The defensible moat is the accumulated prompt engineering and pattern library.</a:t>
            </a:r>
            <a:endParaRPr lang="en-US" sz="9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1">
    <p:bg>
      <p:bgPr>
        <a:solidFill>
          <a:srgbClr val="0F1E3C"/>
        </a:solidFill>
        <a:effectLst/>
      </p:bgPr>
    </p:bg>
    <p:spTree>
      <p:nvGrpSpPr>
        <p:cNvPr id="1" name=""/>
        <p:cNvGrpSpPr/>
        <p:nvPr/>
      </p:nvGrpSpPr>
      <p:grpSpPr>
        <a:xfrm>
          <a:off x="0" y="0"/>
          <a:ext cx="0" cy="0"/>
          <a:chOff x="0" y="0"/>
          <a:chExt cx="0" cy="0"/>
        </a:xfrm>
      </p:grpSpPr>
      <p:sp>
        <p:nvSpPr>
          <p:cNvPr id="2" name="Text 0"/>
          <p:cNvSpPr/>
          <p:nvPr/>
        </p:nvSpPr>
        <p:spPr>
          <a:xfrm>
            <a:off x="502920" y="1371600"/>
            <a:ext cx="8138160" cy="822960"/>
          </a:xfrm>
          <a:prstGeom prst="rect">
            <a:avLst/>
          </a:prstGeom>
          <a:noFill/>
          <a:ln/>
        </p:spPr>
        <p:txBody>
          <a:bodyPr wrap="square" rtlCol="0" anchor="ctr"/>
          <a:lstStyle/>
          <a:p>
            <a:pPr marL="0" indent="0" algn="ctr">
              <a:buNone/>
            </a:pPr>
            <a:r>
              <a:rPr lang="en-US" sz="3800" b="1" dirty="0">
                <a:solidFill>
                  <a:srgbClr val="FFFFFF"/>
                </a:solidFill>
                <a:latin typeface="Arial" pitchFamily="34" charset="0"/>
                <a:ea typeface="Arial" pitchFamily="34" charset="-122"/>
                <a:cs typeface="Arial" pitchFamily="34" charset="-120"/>
              </a:rPr>
              <a:t>The Review Board is open.</a:t>
            </a:r>
            <a:endParaRPr lang="en-US" sz="3800" dirty="0"/>
          </a:p>
        </p:txBody>
      </p:sp>
      <p:sp>
        <p:nvSpPr>
          <p:cNvPr id="3" name="Text 1"/>
          <p:cNvSpPr/>
          <p:nvPr/>
        </p:nvSpPr>
        <p:spPr>
          <a:xfrm>
            <a:off x="502920" y="2331720"/>
            <a:ext cx="8138160" cy="411480"/>
          </a:xfrm>
          <a:prstGeom prst="rect">
            <a:avLst/>
          </a:prstGeom>
          <a:noFill/>
          <a:ln/>
        </p:spPr>
        <p:txBody>
          <a:bodyPr wrap="square" rtlCol="0" anchor="ctr"/>
          <a:lstStyle/>
          <a:p>
            <a:pPr marL="0" indent="0" algn="ctr">
              <a:buNone/>
            </a:pPr>
            <a:r>
              <a:rPr lang="en-US" sz="1800" dirty="0">
                <a:solidFill>
                  <a:srgbClr val="6A84A8"/>
                </a:solidFill>
                <a:latin typeface="Arial" pitchFamily="34" charset="0"/>
                <a:ea typeface="Arial" pitchFamily="34" charset="-122"/>
                <a:cs typeface="Arial" pitchFamily="34" charset="-120"/>
              </a:rPr>
              <a:t>arboard.vercel.app</a:t>
            </a:r>
            <a:endParaRPr lang="en-US" sz="1800" dirty="0"/>
          </a:p>
        </p:txBody>
      </p:sp>
      <p:sp>
        <p:nvSpPr>
          <p:cNvPr id="4" name="Shape 2"/>
          <p:cNvSpPr/>
          <p:nvPr/>
        </p:nvSpPr>
        <p:spPr>
          <a:xfrm>
            <a:off x="2743200" y="2834640"/>
            <a:ext cx="3657600" cy="0"/>
          </a:xfrm>
          <a:prstGeom prst="line">
            <a:avLst/>
          </a:prstGeom>
          <a:noFill/>
          <a:ln w="12700">
            <a:solidFill>
              <a:srgbClr val="2E6DA4"/>
            </a:solidFill>
            <a:prstDash val="solid"/>
          </a:ln>
        </p:spPr>
        <p:txBody>
          <a:bodyPr/>
          <a:lstStyle/>
          <a:p>
            <a:endParaRPr lang="en-US"/>
          </a:p>
        </p:txBody>
      </p:sp>
      <p:sp>
        <p:nvSpPr>
          <p:cNvPr id="5" name="Text 3"/>
          <p:cNvSpPr/>
          <p:nvPr/>
        </p:nvSpPr>
        <p:spPr>
          <a:xfrm>
            <a:off x="914400" y="3017520"/>
            <a:ext cx="1828800" cy="502920"/>
          </a:xfrm>
          <a:prstGeom prst="rect">
            <a:avLst/>
          </a:prstGeom>
          <a:noFill/>
          <a:ln/>
        </p:spPr>
        <p:txBody>
          <a:bodyPr wrap="square" rtlCol="0" anchor="ctr"/>
          <a:lstStyle/>
          <a:p>
            <a:pPr marL="0" indent="0" algn="ctr">
              <a:buNone/>
            </a:pPr>
            <a:r>
              <a:rPr lang="en-US" sz="2800" b="1" dirty="0">
                <a:solidFill>
                  <a:srgbClr val="FFFFFF"/>
                </a:solidFill>
                <a:latin typeface="Arial" pitchFamily="34" charset="0"/>
                <a:ea typeface="Arial" pitchFamily="34" charset="-122"/>
                <a:cs typeface="Arial" pitchFamily="34" charset="-120"/>
              </a:rPr>
              <a:t>9</a:t>
            </a:r>
            <a:endParaRPr lang="en-US" sz="2800" dirty="0"/>
          </a:p>
        </p:txBody>
      </p:sp>
      <p:sp>
        <p:nvSpPr>
          <p:cNvPr id="6" name="Text 4"/>
          <p:cNvSpPr/>
          <p:nvPr/>
        </p:nvSpPr>
        <p:spPr>
          <a:xfrm>
            <a:off x="914400" y="3520440"/>
            <a:ext cx="1828800" cy="274320"/>
          </a:xfrm>
          <a:prstGeom prst="rect">
            <a:avLst/>
          </a:prstGeom>
          <a:noFill/>
          <a:ln/>
        </p:spPr>
        <p:txBody>
          <a:bodyPr wrap="square" rtlCol="0" anchor="ctr"/>
          <a:lstStyle/>
          <a:p>
            <a:pPr marL="0" indent="0" algn="ctr">
              <a:buNone/>
            </a:pPr>
            <a:r>
              <a:rPr lang="en-US" sz="1000" dirty="0">
                <a:solidFill>
                  <a:srgbClr val="6A84A8"/>
                </a:solidFill>
                <a:latin typeface="Arial" pitchFamily="34" charset="0"/>
                <a:ea typeface="Arial" pitchFamily="34" charset="-122"/>
                <a:cs typeface="Arial" pitchFamily="34" charset="-120"/>
              </a:rPr>
              <a:t>specialist agents</a:t>
            </a:r>
            <a:endParaRPr lang="en-US" sz="1000" dirty="0"/>
          </a:p>
        </p:txBody>
      </p:sp>
      <p:sp>
        <p:nvSpPr>
          <p:cNvPr id="7" name="Text 5"/>
          <p:cNvSpPr/>
          <p:nvPr/>
        </p:nvSpPr>
        <p:spPr>
          <a:xfrm>
            <a:off x="2834640" y="3017520"/>
            <a:ext cx="1828800" cy="502920"/>
          </a:xfrm>
          <a:prstGeom prst="rect">
            <a:avLst/>
          </a:prstGeom>
          <a:noFill/>
          <a:ln/>
        </p:spPr>
        <p:txBody>
          <a:bodyPr wrap="square" rtlCol="0" anchor="ctr"/>
          <a:lstStyle/>
          <a:p>
            <a:pPr marL="0" indent="0" algn="ctr">
              <a:buNone/>
            </a:pPr>
            <a:r>
              <a:rPr lang="en-US" sz="2800" b="1" dirty="0">
                <a:solidFill>
                  <a:srgbClr val="FFFFFF"/>
                </a:solidFill>
                <a:latin typeface="Arial" pitchFamily="34" charset="0"/>
                <a:ea typeface="Arial" pitchFamily="34" charset="-122"/>
                <a:cs typeface="Arial" pitchFamily="34" charset="-120"/>
              </a:rPr>
              <a:t>4</a:t>
            </a:r>
            <a:endParaRPr lang="en-US" sz="2800" dirty="0"/>
          </a:p>
        </p:txBody>
      </p:sp>
      <p:sp>
        <p:nvSpPr>
          <p:cNvPr id="8" name="Text 6"/>
          <p:cNvSpPr/>
          <p:nvPr/>
        </p:nvSpPr>
        <p:spPr>
          <a:xfrm>
            <a:off x="2834640" y="3520440"/>
            <a:ext cx="1828800" cy="274320"/>
          </a:xfrm>
          <a:prstGeom prst="rect">
            <a:avLst/>
          </a:prstGeom>
          <a:noFill/>
          <a:ln/>
        </p:spPr>
        <p:txBody>
          <a:bodyPr wrap="square" rtlCol="0" anchor="ctr"/>
          <a:lstStyle/>
          <a:p>
            <a:pPr marL="0" indent="0" algn="ctr">
              <a:buNone/>
            </a:pPr>
            <a:r>
              <a:rPr lang="en-US" sz="1000" dirty="0">
                <a:solidFill>
                  <a:srgbClr val="6A84A8"/>
                </a:solidFill>
                <a:latin typeface="Arial" pitchFamily="34" charset="0"/>
                <a:ea typeface="Arial" pitchFamily="34" charset="-122"/>
                <a:cs typeface="Arial" pitchFamily="34" charset="-120"/>
              </a:rPr>
              <a:t>grounding layers</a:t>
            </a:r>
            <a:endParaRPr lang="en-US" sz="1000" dirty="0"/>
          </a:p>
        </p:txBody>
      </p:sp>
      <p:sp>
        <p:nvSpPr>
          <p:cNvPr id="9" name="Text 7"/>
          <p:cNvSpPr/>
          <p:nvPr/>
        </p:nvSpPr>
        <p:spPr>
          <a:xfrm>
            <a:off x="4754880" y="3017520"/>
            <a:ext cx="1828800" cy="502920"/>
          </a:xfrm>
          <a:prstGeom prst="rect">
            <a:avLst/>
          </a:prstGeom>
          <a:noFill/>
          <a:ln/>
        </p:spPr>
        <p:txBody>
          <a:bodyPr wrap="square" rtlCol="0" anchor="ctr"/>
          <a:lstStyle/>
          <a:p>
            <a:pPr marL="0" indent="0" algn="ctr">
              <a:buNone/>
            </a:pPr>
            <a:r>
              <a:rPr lang="en-US" sz="2800" b="1" dirty="0">
                <a:solidFill>
                  <a:srgbClr val="FFFFFF"/>
                </a:solidFill>
                <a:latin typeface="Arial" pitchFamily="34" charset="0"/>
                <a:ea typeface="Arial" pitchFamily="34" charset="-122"/>
                <a:cs typeface="Arial" pitchFamily="34" charset="-120"/>
              </a:rPr>
              <a:t>~$0.08</a:t>
            </a:r>
            <a:endParaRPr lang="en-US" sz="2800" dirty="0"/>
          </a:p>
        </p:txBody>
      </p:sp>
      <p:sp>
        <p:nvSpPr>
          <p:cNvPr id="10" name="Text 8"/>
          <p:cNvSpPr/>
          <p:nvPr/>
        </p:nvSpPr>
        <p:spPr>
          <a:xfrm>
            <a:off x="4754880" y="3520440"/>
            <a:ext cx="1828800" cy="274320"/>
          </a:xfrm>
          <a:prstGeom prst="rect">
            <a:avLst/>
          </a:prstGeom>
          <a:noFill/>
          <a:ln/>
        </p:spPr>
        <p:txBody>
          <a:bodyPr wrap="square" rtlCol="0" anchor="ctr"/>
          <a:lstStyle/>
          <a:p>
            <a:pPr marL="0" indent="0" algn="ctr">
              <a:buNone/>
            </a:pPr>
            <a:r>
              <a:rPr lang="en-US" sz="1000" dirty="0">
                <a:solidFill>
                  <a:srgbClr val="6A84A8"/>
                </a:solidFill>
                <a:latin typeface="Arial" pitchFamily="34" charset="0"/>
                <a:ea typeface="Arial" pitchFamily="34" charset="-122"/>
                <a:cs typeface="Arial" pitchFamily="34" charset="-120"/>
              </a:rPr>
              <a:t>per session (optimised)</a:t>
            </a:r>
            <a:endParaRPr lang="en-US" sz="1000" dirty="0"/>
          </a:p>
        </p:txBody>
      </p:sp>
      <p:sp>
        <p:nvSpPr>
          <p:cNvPr id="11" name="Text 9"/>
          <p:cNvSpPr/>
          <p:nvPr/>
        </p:nvSpPr>
        <p:spPr>
          <a:xfrm>
            <a:off x="6675120" y="3017520"/>
            <a:ext cx="1828800" cy="502920"/>
          </a:xfrm>
          <a:prstGeom prst="rect">
            <a:avLst/>
          </a:prstGeom>
          <a:noFill/>
          <a:ln/>
        </p:spPr>
        <p:txBody>
          <a:bodyPr wrap="square" rtlCol="0" anchor="ctr"/>
          <a:lstStyle/>
          <a:p>
            <a:pPr marL="0" indent="0" algn="ctr">
              <a:buNone/>
            </a:pPr>
            <a:r>
              <a:rPr lang="en-US" sz="2800" b="1" dirty="0">
                <a:solidFill>
                  <a:srgbClr val="FFFFFF"/>
                </a:solidFill>
                <a:latin typeface="Arial" pitchFamily="34" charset="0"/>
                <a:ea typeface="Arial" pitchFamily="34" charset="-122"/>
                <a:cs typeface="Arial" pitchFamily="34" charset="-120"/>
              </a:rPr>
              <a:t>∞</a:t>
            </a:r>
            <a:endParaRPr lang="en-US" sz="2800" dirty="0"/>
          </a:p>
        </p:txBody>
      </p:sp>
      <p:sp>
        <p:nvSpPr>
          <p:cNvPr id="12" name="Text 10"/>
          <p:cNvSpPr/>
          <p:nvPr/>
        </p:nvSpPr>
        <p:spPr>
          <a:xfrm>
            <a:off x="6675120" y="3520440"/>
            <a:ext cx="1828800" cy="274320"/>
          </a:xfrm>
          <a:prstGeom prst="rect">
            <a:avLst/>
          </a:prstGeom>
          <a:noFill/>
          <a:ln/>
        </p:spPr>
        <p:txBody>
          <a:bodyPr wrap="square" rtlCol="0" anchor="ctr"/>
          <a:lstStyle/>
          <a:p>
            <a:pPr marL="0" indent="0" algn="ctr">
              <a:buNone/>
            </a:pPr>
            <a:r>
              <a:rPr lang="en-US" sz="1000" dirty="0">
                <a:solidFill>
                  <a:srgbClr val="6A84A8"/>
                </a:solidFill>
                <a:latin typeface="Arial" pitchFamily="34" charset="0"/>
                <a:ea typeface="Arial" pitchFamily="34" charset="-122"/>
                <a:cs typeface="Arial" pitchFamily="34" charset="-120"/>
              </a:rPr>
              <a:t>institutional memory</a:t>
            </a:r>
            <a:endParaRPr lang="en-US" sz="1000" dirty="0"/>
          </a:p>
        </p:txBody>
      </p:sp>
      <p:sp>
        <p:nvSpPr>
          <p:cNvPr id="13" name="Text 11"/>
          <p:cNvSpPr/>
          <p:nvPr/>
        </p:nvSpPr>
        <p:spPr>
          <a:xfrm>
            <a:off x="502920" y="4480560"/>
            <a:ext cx="8138160" cy="256032"/>
          </a:xfrm>
          <a:prstGeom prst="rect">
            <a:avLst/>
          </a:prstGeom>
          <a:noFill/>
          <a:ln/>
        </p:spPr>
        <p:txBody>
          <a:bodyPr wrap="square" rtlCol="0" anchor="ctr"/>
          <a:lstStyle/>
          <a:p>
            <a:pPr marL="0" indent="0" algn="ctr">
              <a:buNone/>
            </a:pPr>
            <a:r>
              <a:rPr lang="en-US" sz="950" dirty="0">
                <a:solidFill>
                  <a:srgbClr val="445566"/>
                </a:solidFill>
                <a:latin typeface="Arial" pitchFamily="34" charset="0"/>
                <a:ea typeface="Arial" pitchFamily="34" charset="-122"/>
                <a:cs typeface="Arial" pitchFamily="34" charset="-120"/>
              </a:rPr>
              <a:t>Built on Claude API · Next.js 14 · Supabase · Vercel · Jira · Salesforce MCP</a:t>
            </a:r>
            <a:endParaRPr lang="en-US" sz="9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02920" y="1645920"/>
            <a:ext cx="8138160" cy="731520"/>
          </a:xfrm>
          <a:prstGeom prst="rect">
            <a:avLst/>
          </a:prstGeom>
          <a:noFill/>
          <a:ln/>
        </p:spPr>
        <p:txBody>
          <a:bodyPr wrap="square" rtlCol="0" anchor="ctr"/>
          <a:lstStyle/>
          <a:p>
            <a:pPr marL="0" indent="0" algn="ctr">
              <a:buNone/>
            </a:pPr>
            <a:r>
              <a:rPr lang="en-US" sz="4200" b="1" dirty="0">
                <a:solidFill>
                  <a:srgbClr val="FFFFFF"/>
                </a:solidFill>
                <a:latin typeface="Arial" pitchFamily="34" charset="0"/>
                <a:ea typeface="Arial" pitchFamily="34" charset="-122"/>
                <a:cs typeface="Arial" pitchFamily="34" charset="-120"/>
              </a:rPr>
              <a:t>Technical Appendix</a:t>
            </a:r>
            <a:endParaRPr lang="en-US" sz="4200" dirty="0"/>
          </a:p>
        </p:txBody>
      </p:sp>
      <p:sp>
        <p:nvSpPr>
          <p:cNvPr id="3" name="Text 1"/>
          <p:cNvSpPr/>
          <p:nvPr/>
        </p:nvSpPr>
        <p:spPr>
          <a:xfrm>
            <a:off x="502920" y="2468880"/>
            <a:ext cx="8138160" cy="365760"/>
          </a:xfrm>
          <a:prstGeom prst="rect">
            <a:avLst/>
          </a:prstGeom>
          <a:noFill/>
          <a:ln/>
        </p:spPr>
        <p:txBody>
          <a:bodyPr wrap="square" rtlCol="0" anchor="ctr"/>
          <a:lstStyle/>
          <a:p>
            <a:pPr marL="0" indent="0" algn="ctr">
              <a:buNone/>
            </a:pPr>
            <a:r>
              <a:rPr lang="en-US" sz="1400" dirty="0">
                <a:solidFill>
                  <a:srgbClr val="6A84A8"/>
                </a:solidFill>
                <a:latin typeface="Arial" pitchFamily="34" charset="0"/>
                <a:ea typeface="Arial" pitchFamily="34" charset="-122"/>
                <a:cs typeface="Arial" pitchFamily="34" charset="-120"/>
              </a:rPr>
              <a:t>Codebase architecture · File map · Sequence flows · Prompt anatomy</a:t>
            </a:r>
            <a:endParaRPr lang="en-US" sz="1400" dirty="0"/>
          </a:p>
        </p:txBody>
      </p:sp>
      <p:sp>
        <p:nvSpPr>
          <p:cNvPr id="4" name="Shape 2"/>
          <p:cNvSpPr/>
          <p:nvPr/>
        </p:nvSpPr>
        <p:spPr>
          <a:xfrm>
            <a:off x="2286000" y="2423160"/>
            <a:ext cx="4572000" cy="0"/>
          </a:xfrm>
          <a:prstGeom prst="line">
            <a:avLst/>
          </a:prstGeom>
          <a:noFill/>
          <a:ln w="19050">
            <a:solidFill>
              <a:srgbClr val="2E6DA4"/>
            </a:solidFill>
            <a:prstDash val="solid"/>
          </a:ln>
        </p:spPr>
        <p:txBody>
          <a:bodyPr/>
          <a:lstStyle/>
          <a:p>
            <a:endParaRPr lang="en-US"/>
          </a:p>
        </p:txBody>
      </p:sp>
      <p:sp>
        <p:nvSpPr>
          <p:cNvPr id="5" name="Text 3"/>
          <p:cNvSpPr/>
          <p:nvPr/>
        </p:nvSpPr>
        <p:spPr>
          <a:xfrm>
            <a:off x="502920" y="4480560"/>
            <a:ext cx="8138160" cy="256032"/>
          </a:xfrm>
          <a:prstGeom prst="rect">
            <a:avLst/>
          </a:prstGeom>
          <a:noFill/>
          <a:ln/>
        </p:spPr>
        <p:txBody>
          <a:bodyPr wrap="square" rtlCol="0" anchor="ctr"/>
          <a:lstStyle/>
          <a:p>
            <a:pPr marL="0" indent="0" algn="ctr">
              <a:buNone/>
            </a:pPr>
            <a:r>
              <a:rPr lang="en-US" sz="1000" i="1" dirty="0">
                <a:solidFill>
                  <a:srgbClr val="445566"/>
                </a:solidFill>
                <a:latin typeface="Arial" pitchFamily="34" charset="0"/>
                <a:ea typeface="Arial" pitchFamily="34" charset="-122"/>
                <a:cs typeface="Arial" pitchFamily="34" charset="-120"/>
              </a:rPr>
              <a:t>For technical audiences — architects, leads, and developers</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02920" y="347472"/>
            <a:ext cx="8138160" cy="201168"/>
          </a:xfrm>
          <a:prstGeom prst="rect">
            <a:avLst/>
          </a:prstGeom>
          <a:noFill/>
          <a:ln/>
        </p:spPr>
        <p:txBody>
          <a:bodyPr wrap="square" rtlCol="0" anchor="ctr"/>
          <a:lstStyle/>
          <a:p>
            <a:pPr marL="0" indent="0" algn="l">
              <a:buNone/>
            </a:pPr>
            <a:r>
              <a:rPr lang="en-US" sz="900" b="1" kern="0" spc="300" dirty="0">
                <a:solidFill>
                  <a:srgbClr val="2E6DA4"/>
                </a:solidFill>
                <a:latin typeface="Arial" pitchFamily="34" charset="0"/>
                <a:ea typeface="Arial" pitchFamily="34" charset="-122"/>
                <a:cs typeface="Arial" pitchFamily="34" charset="-120"/>
              </a:rPr>
              <a:t>TECHNICAL APPENDIX — CODEBASE</a:t>
            </a:r>
            <a:endParaRPr lang="en-US" sz="900" dirty="0"/>
          </a:p>
        </p:txBody>
      </p:sp>
      <p:sp>
        <p:nvSpPr>
          <p:cNvPr id="3" name="Text 1"/>
          <p:cNvSpPr/>
          <p:nvPr/>
        </p:nvSpPr>
        <p:spPr>
          <a:xfrm>
            <a:off x="502920" y="594360"/>
            <a:ext cx="8138160" cy="640080"/>
          </a:xfrm>
          <a:prstGeom prst="rect">
            <a:avLst/>
          </a:prstGeom>
          <a:noFill/>
          <a:ln/>
        </p:spPr>
        <p:txBody>
          <a:bodyPr wrap="square" rtlCol="0" anchor="ctr"/>
          <a:lstStyle/>
          <a:p>
            <a:pPr marL="0" indent="0" algn="l">
              <a:buNone/>
            </a:pPr>
            <a:r>
              <a:rPr lang="en-US" sz="2600" b="1" dirty="0">
                <a:solidFill>
                  <a:srgbClr val="1A1A1A"/>
                </a:solidFill>
                <a:latin typeface="Arial" pitchFamily="34" charset="0"/>
                <a:ea typeface="Arial" pitchFamily="34" charset="-122"/>
                <a:cs typeface="Arial" pitchFamily="34" charset="-120"/>
              </a:rPr>
              <a:t>Every key file and what it owns</a:t>
            </a:r>
            <a:endParaRPr lang="en-US" sz="2600" dirty="0"/>
          </a:p>
        </p:txBody>
      </p:sp>
      <p:sp>
        <p:nvSpPr>
          <p:cNvPr id="4" name="Shape 2"/>
          <p:cNvSpPr/>
          <p:nvPr/>
        </p:nvSpPr>
        <p:spPr>
          <a:xfrm>
            <a:off x="502920" y="1207008"/>
            <a:ext cx="8138160" cy="0"/>
          </a:xfrm>
          <a:prstGeom prst="line">
            <a:avLst/>
          </a:prstGeom>
          <a:noFill/>
          <a:ln w="10160">
            <a:solidFill>
              <a:srgbClr val="EBEBEB"/>
            </a:solidFill>
            <a:prstDash val="solid"/>
          </a:ln>
        </p:spPr>
        <p:txBody>
          <a:bodyPr/>
          <a:lstStyle/>
          <a:p>
            <a:endParaRPr lang="en-US"/>
          </a:p>
        </p:txBody>
      </p:sp>
      <p:sp>
        <p:nvSpPr>
          <p:cNvPr id="5" name="Shape 3"/>
          <p:cNvSpPr/>
          <p:nvPr/>
        </p:nvSpPr>
        <p:spPr>
          <a:xfrm>
            <a:off x="411480" y="1298448"/>
            <a:ext cx="4160520" cy="640080"/>
          </a:xfrm>
          <a:prstGeom prst="roundRect">
            <a:avLst>
              <a:gd name="adj" fmla="val 11429"/>
            </a:avLst>
          </a:prstGeom>
          <a:solidFill>
            <a:srgbClr val="F7F8FA"/>
          </a:solidFill>
          <a:ln w="6350">
            <a:solidFill>
              <a:srgbClr val="D3D1C7"/>
            </a:solidFill>
            <a:prstDash val="solid"/>
          </a:ln>
          <a:effectLst>
            <a:outerShdw blurRad="63500" dist="25400" dir="2700000" algn="bl" rotWithShape="0">
              <a:srgbClr val="000000">
                <a:alpha val="6000"/>
              </a:srgbClr>
            </a:outerShdw>
          </a:effectLst>
        </p:spPr>
        <p:txBody>
          <a:bodyPr/>
          <a:lstStyle/>
          <a:p>
            <a:endParaRPr lang="en-US"/>
          </a:p>
        </p:txBody>
      </p:sp>
      <p:sp>
        <p:nvSpPr>
          <p:cNvPr id="6" name="Shape 4"/>
          <p:cNvSpPr/>
          <p:nvPr/>
        </p:nvSpPr>
        <p:spPr>
          <a:xfrm>
            <a:off x="411480" y="1298448"/>
            <a:ext cx="1005840" cy="640080"/>
          </a:xfrm>
          <a:prstGeom prst="roundRect">
            <a:avLst>
              <a:gd name="adj" fmla="val 11429"/>
            </a:avLst>
          </a:prstGeom>
          <a:solidFill>
            <a:srgbClr val="0F1E3C"/>
          </a:solidFill>
          <a:ln w="12700">
            <a:solidFill>
              <a:srgbClr val="0F1E3C"/>
            </a:solidFill>
            <a:prstDash val="solid"/>
          </a:ln>
        </p:spPr>
        <p:txBody>
          <a:bodyPr/>
          <a:lstStyle/>
          <a:p>
            <a:endParaRPr lang="en-US"/>
          </a:p>
        </p:txBody>
      </p:sp>
      <p:sp>
        <p:nvSpPr>
          <p:cNvPr id="7" name="Text 5"/>
          <p:cNvSpPr/>
          <p:nvPr/>
        </p:nvSpPr>
        <p:spPr>
          <a:xfrm>
            <a:off x="411480" y="1344168"/>
            <a:ext cx="1005840" cy="256032"/>
          </a:xfrm>
          <a:prstGeom prst="rect">
            <a:avLst/>
          </a:prstGeom>
          <a:noFill/>
          <a:ln/>
        </p:spPr>
        <p:txBody>
          <a:bodyPr wrap="square" rtlCol="0" anchor="ctr"/>
          <a:lstStyle/>
          <a:p>
            <a:pPr marL="0" indent="0" algn="ctr">
              <a:buNone/>
            </a:pPr>
            <a:r>
              <a:rPr lang="en-US" sz="800" b="1" dirty="0">
                <a:solidFill>
                  <a:srgbClr val="FFFFFF"/>
                </a:solidFill>
                <a:latin typeface="Arial" pitchFamily="34" charset="0"/>
                <a:ea typeface="Arial" pitchFamily="34" charset="-122"/>
                <a:cs typeface="Arial" pitchFamily="34" charset="-120"/>
              </a:rPr>
              <a:t>Orchestration</a:t>
            </a:r>
            <a:endParaRPr lang="en-US" sz="800" dirty="0"/>
          </a:p>
        </p:txBody>
      </p:sp>
      <p:sp>
        <p:nvSpPr>
          <p:cNvPr id="8" name="Text 6"/>
          <p:cNvSpPr/>
          <p:nvPr/>
        </p:nvSpPr>
        <p:spPr>
          <a:xfrm>
            <a:off x="1490472" y="1353312"/>
            <a:ext cx="2926080" cy="201168"/>
          </a:xfrm>
          <a:prstGeom prst="rect">
            <a:avLst/>
          </a:prstGeom>
          <a:noFill/>
          <a:ln/>
        </p:spPr>
        <p:txBody>
          <a:bodyPr wrap="square" rtlCol="0" anchor="ctr"/>
          <a:lstStyle/>
          <a:p>
            <a:pPr marL="0" indent="0">
              <a:buNone/>
            </a:pPr>
            <a:r>
              <a:rPr lang="en-US" sz="1000" b="1" dirty="0">
                <a:solidFill>
                  <a:srgbClr val="0F1E3C"/>
                </a:solidFill>
                <a:latin typeface="Arial" pitchFamily="34" charset="0"/>
                <a:ea typeface="Arial" pitchFamily="34" charset="-122"/>
                <a:cs typeface="Arial" pitchFamily="34" charset="-120"/>
              </a:rPr>
              <a:t>ForumOrchestrator.ts</a:t>
            </a:r>
            <a:endParaRPr lang="en-US" sz="1000" dirty="0"/>
          </a:p>
        </p:txBody>
      </p:sp>
      <p:sp>
        <p:nvSpPr>
          <p:cNvPr id="9" name="Text 7"/>
          <p:cNvSpPr/>
          <p:nvPr/>
        </p:nvSpPr>
        <p:spPr>
          <a:xfrm>
            <a:off x="1490472" y="1572768"/>
            <a:ext cx="2926080" cy="310896"/>
          </a:xfrm>
          <a:prstGeom prst="rect">
            <a:avLst/>
          </a:prstGeom>
          <a:noFill/>
          <a:ln/>
        </p:spPr>
        <p:txBody>
          <a:bodyPr wrap="square" rtlCol="0" anchor="ctr"/>
          <a:lstStyle/>
          <a:p>
            <a:pPr marL="0" indent="0">
              <a:buNone/>
            </a:pPr>
            <a:r>
              <a:rPr lang="en-US" sz="850" dirty="0">
                <a:solidFill>
                  <a:srgbClr val="64635E"/>
                </a:solidFill>
                <a:latin typeface="Arial" pitchFamily="34" charset="0"/>
                <a:ea typeface="Arial" pitchFamily="34" charset="-122"/>
                <a:cs typeface="Arial" pitchFamily="34" charset="-120"/>
              </a:rPr>
              <a:t>Runs the 3-phase pipeline. Coordinates memory retrieval, agent execution, and result assembly.</a:t>
            </a:r>
            <a:endParaRPr lang="en-US" sz="850" dirty="0"/>
          </a:p>
        </p:txBody>
      </p:sp>
      <p:sp>
        <p:nvSpPr>
          <p:cNvPr id="10" name="Shape 8"/>
          <p:cNvSpPr/>
          <p:nvPr/>
        </p:nvSpPr>
        <p:spPr>
          <a:xfrm>
            <a:off x="4663440" y="1298448"/>
            <a:ext cx="4160520" cy="640080"/>
          </a:xfrm>
          <a:prstGeom prst="roundRect">
            <a:avLst>
              <a:gd name="adj" fmla="val 11429"/>
            </a:avLst>
          </a:prstGeom>
          <a:solidFill>
            <a:srgbClr val="F7F8FA"/>
          </a:solidFill>
          <a:ln w="6350">
            <a:solidFill>
              <a:srgbClr val="D3D1C7"/>
            </a:solidFill>
            <a:prstDash val="solid"/>
          </a:ln>
          <a:effectLst>
            <a:outerShdw blurRad="63500" dist="25400" dir="2700000" algn="bl" rotWithShape="0">
              <a:srgbClr val="000000">
                <a:alpha val="6000"/>
              </a:srgbClr>
            </a:outerShdw>
          </a:effectLst>
        </p:spPr>
        <p:txBody>
          <a:bodyPr/>
          <a:lstStyle/>
          <a:p>
            <a:endParaRPr lang="en-US"/>
          </a:p>
        </p:txBody>
      </p:sp>
      <p:sp>
        <p:nvSpPr>
          <p:cNvPr id="11" name="Shape 9"/>
          <p:cNvSpPr/>
          <p:nvPr/>
        </p:nvSpPr>
        <p:spPr>
          <a:xfrm>
            <a:off x="4663440" y="1298448"/>
            <a:ext cx="1005840" cy="640080"/>
          </a:xfrm>
          <a:prstGeom prst="roundRect">
            <a:avLst>
              <a:gd name="adj" fmla="val 11429"/>
            </a:avLst>
          </a:prstGeom>
          <a:solidFill>
            <a:srgbClr val="1B4F9B"/>
          </a:solidFill>
          <a:ln w="12700">
            <a:solidFill>
              <a:srgbClr val="1B4F9B"/>
            </a:solidFill>
            <a:prstDash val="solid"/>
          </a:ln>
        </p:spPr>
        <p:txBody>
          <a:bodyPr/>
          <a:lstStyle/>
          <a:p>
            <a:endParaRPr lang="en-US"/>
          </a:p>
        </p:txBody>
      </p:sp>
      <p:sp>
        <p:nvSpPr>
          <p:cNvPr id="12" name="Text 10"/>
          <p:cNvSpPr/>
          <p:nvPr/>
        </p:nvSpPr>
        <p:spPr>
          <a:xfrm>
            <a:off x="4663440" y="1344168"/>
            <a:ext cx="1005840" cy="256032"/>
          </a:xfrm>
          <a:prstGeom prst="rect">
            <a:avLst/>
          </a:prstGeom>
          <a:noFill/>
          <a:ln/>
        </p:spPr>
        <p:txBody>
          <a:bodyPr wrap="square" rtlCol="0" anchor="ctr"/>
          <a:lstStyle/>
          <a:p>
            <a:pPr marL="0" indent="0" algn="ctr">
              <a:buNone/>
            </a:pPr>
            <a:r>
              <a:rPr lang="en-US" sz="800" b="1" dirty="0">
                <a:solidFill>
                  <a:srgbClr val="FFFFFF"/>
                </a:solidFill>
                <a:latin typeface="Arial" pitchFamily="34" charset="0"/>
                <a:ea typeface="Arial" pitchFamily="34" charset="-122"/>
                <a:cs typeface="Arial" pitchFamily="34" charset="-120"/>
              </a:rPr>
              <a:t>Agent runtime</a:t>
            </a:r>
            <a:endParaRPr lang="en-US" sz="800" dirty="0"/>
          </a:p>
        </p:txBody>
      </p:sp>
      <p:sp>
        <p:nvSpPr>
          <p:cNvPr id="13" name="Text 11"/>
          <p:cNvSpPr/>
          <p:nvPr/>
        </p:nvSpPr>
        <p:spPr>
          <a:xfrm>
            <a:off x="5742432" y="1353312"/>
            <a:ext cx="2926080" cy="201168"/>
          </a:xfrm>
          <a:prstGeom prst="rect">
            <a:avLst/>
          </a:prstGeom>
          <a:noFill/>
          <a:ln/>
        </p:spPr>
        <p:txBody>
          <a:bodyPr wrap="square" rtlCol="0" anchor="ctr"/>
          <a:lstStyle/>
          <a:p>
            <a:pPr marL="0" indent="0">
              <a:buNone/>
            </a:pPr>
            <a:r>
              <a:rPr lang="en-US" sz="1000" b="1" dirty="0">
                <a:solidFill>
                  <a:srgbClr val="0F1E3C"/>
                </a:solidFill>
                <a:latin typeface="Arial" pitchFamily="34" charset="0"/>
                <a:ea typeface="Arial" pitchFamily="34" charset="-122"/>
                <a:cs typeface="Arial" pitchFamily="34" charset="-120"/>
              </a:rPr>
              <a:t>AgentRunner.ts</a:t>
            </a:r>
            <a:endParaRPr lang="en-US" sz="1000" dirty="0"/>
          </a:p>
        </p:txBody>
      </p:sp>
      <p:sp>
        <p:nvSpPr>
          <p:cNvPr id="14" name="Text 12"/>
          <p:cNvSpPr/>
          <p:nvPr/>
        </p:nvSpPr>
        <p:spPr>
          <a:xfrm>
            <a:off x="5742432" y="1572768"/>
            <a:ext cx="2926080" cy="310896"/>
          </a:xfrm>
          <a:prstGeom prst="rect">
            <a:avLst/>
          </a:prstGeom>
          <a:noFill/>
          <a:ln/>
        </p:spPr>
        <p:txBody>
          <a:bodyPr wrap="square" rtlCol="0" anchor="ctr"/>
          <a:lstStyle/>
          <a:p>
            <a:pPr marL="0" indent="0">
              <a:buNone/>
            </a:pPr>
            <a:r>
              <a:rPr lang="en-US" sz="850" dirty="0">
                <a:solidFill>
                  <a:srgbClr val="64635E"/>
                </a:solidFill>
                <a:latin typeface="Arial" pitchFamily="34" charset="0"/>
                <a:ea typeface="Arial" pitchFamily="34" charset="-122"/>
                <a:cs typeface="Arial" pitchFamily="34" charset="-120"/>
              </a:rPr>
              <a:t>Builds each agent's final system prompt (base + WA principles + memory + org context) and calls Anthropic API.</a:t>
            </a:r>
            <a:endParaRPr lang="en-US" sz="850" dirty="0"/>
          </a:p>
        </p:txBody>
      </p:sp>
      <p:sp>
        <p:nvSpPr>
          <p:cNvPr id="15" name="Shape 13"/>
          <p:cNvSpPr/>
          <p:nvPr/>
        </p:nvSpPr>
        <p:spPr>
          <a:xfrm>
            <a:off x="411480" y="2048256"/>
            <a:ext cx="4160520" cy="640080"/>
          </a:xfrm>
          <a:prstGeom prst="roundRect">
            <a:avLst>
              <a:gd name="adj" fmla="val 11429"/>
            </a:avLst>
          </a:prstGeom>
          <a:solidFill>
            <a:srgbClr val="F7F8FA"/>
          </a:solidFill>
          <a:ln w="6350">
            <a:solidFill>
              <a:srgbClr val="D3D1C7"/>
            </a:solidFill>
            <a:prstDash val="solid"/>
          </a:ln>
          <a:effectLst>
            <a:outerShdw blurRad="63500" dist="25400" dir="2700000" algn="bl" rotWithShape="0">
              <a:srgbClr val="000000">
                <a:alpha val="6000"/>
              </a:srgbClr>
            </a:outerShdw>
          </a:effectLst>
        </p:spPr>
        <p:txBody>
          <a:bodyPr/>
          <a:lstStyle/>
          <a:p>
            <a:endParaRPr lang="en-US"/>
          </a:p>
        </p:txBody>
      </p:sp>
      <p:sp>
        <p:nvSpPr>
          <p:cNvPr id="16" name="Shape 14"/>
          <p:cNvSpPr/>
          <p:nvPr/>
        </p:nvSpPr>
        <p:spPr>
          <a:xfrm>
            <a:off x="411480" y="2048256"/>
            <a:ext cx="1005840" cy="640080"/>
          </a:xfrm>
          <a:prstGeom prst="roundRect">
            <a:avLst>
              <a:gd name="adj" fmla="val 11429"/>
            </a:avLst>
          </a:prstGeom>
          <a:solidFill>
            <a:srgbClr val="0F6E56"/>
          </a:solidFill>
          <a:ln w="12700">
            <a:solidFill>
              <a:srgbClr val="0F6E56"/>
            </a:solidFill>
            <a:prstDash val="solid"/>
          </a:ln>
        </p:spPr>
        <p:txBody>
          <a:bodyPr/>
          <a:lstStyle/>
          <a:p>
            <a:endParaRPr lang="en-US"/>
          </a:p>
        </p:txBody>
      </p:sp>
      <p:sp>
        <p:nvSpPr>
          <p:cNvPr id="17" name="Text 15"/>
          <p:cNvSpPr/>
          <p:nvPr/>
        </p:nvSpPr>
        <p:spPr>
          <a:xfrm>
            <a:off x="411480" y="2093976"/>
            <a:ext cx="1005840" cy="256032"/>
          </a:xfrm>
          <a:prstGeom prst="rect">
            <a:avLst/>
          </a:prstGeom>
          <a:noFill/>
          <a:ln/>
        </p:spPr>
        <p:txBody>
          <a:bodyPr wrap="square" rtlCol="0" anchor="ctr"/>
          <a:lstStyle/>
          <a:p>
            <a:pPr marL="0" indent="0" algn="ctr">
              <a:buNone/>
            </a:pPr>
            <a:r>
              <a:rPr lang="en-US" sz="800" b="1" dirty="0">
                <a:solidFill>
                  <a:srgbClr val="FFFFFF"/>
                </a:solidFill>
                <a:latin typeface="Arial" pitchFamily="34" charset="0"/>
                <a:ea typeface="Arial" pitchFamily="34" charset="-122"/>
                <a:cs typeface="Arial" pitchFamily="34" charset="-120"/>
              </a:rPr>
              <a:t>Memory</a:t>
            </a:r>
            <a:endParaRPr lang="en-US" sz="800" dirty="0"/>
          </a:p>
        </p:txBody>
      </p:sp>
      <p:sp>
        <p:nvSpPr>
          <p:cNvPr id="18" name="Text 16"/>
          <p:cNvSpPr/>
          <p:nvPr/>
        </p:nvSpPr>
        <p:spPr>
          <a:xfrm>
            <a:off x="1490472" y="2103120"/>
            <a:ext cx="2926080" cy="201168"/>
          </a:xfrm>
          <a:prstGeom prst="rect">
            <a:avLst/>
          </a:prstGeom>
          <a:noFill/>
          <a:ln/>
        </p:spPr>
        <p:txBody>
          <a:bodyPr wrap="square" rtlCol="0" anchor="ctr"/>
          <a:lstStyle/>
          <a:p>
            <a:pPr marL="0" indent="0">
              <a:buNone/>
            </a:pPr>
            <a:r>
              <a:rPr lang="en-US" sz="1000" b="1" dirty="0">
                <a:solidFill>
                  <a:srgbClr val="0F1E3C"/>
                </a:solidFill>
                <a:latin typeface="Arial" pitchFamily="34" charset="0"/>
                <a:ea typeface="Arial" pitchFamily="34" charset="-122"/>
                <a:cs typeface="Arial" pitchFamily="34" charset="-120"/>
              </a:rPr>
              <a:t>jiraMemoryRetriever.ts</a:t>
            </a:r>
            <a:endParaRPr lang="en-US" sz="1000" dirty="0"/>
          </a:p>
        </p:txBody>
      </p:sp>
      <p:sp>
        <p:nvSpPr>
          <p:cNvPr id="19" name="Text 17"/>
          <p:cNvSpPr/>
          <p:nvPr/>
        </p:nvSpPr>
        <p:spPr>
          <a:xfrm>
            <a:off x="1490472" y="2322576"/>
            <a:ext cx="2926080" cy="310896"/>
          </a:xfrm>
          <a:prstGeom prst="rect">
            <a:avLst/>
          </a:prstGeom>
          <a:noFill/>
          <a:ln/>
        </p:spPr>
        <p:txBody>
          <a:bodyPr wrap="square" rtlCol="0" anchor="ctr"/>
          <a:lstStyle/>
          <a:p>
            <a:pPr marL="0" indent="0">
              <a:buNone/>
            </a:pPr>
            <a:r>
              <a:rPr lang="en-US" sz="850" dirty="0">
                <a:solidFill>
                  <a:srgbClr val="64635E"/>
                </a:solidFill>
                <a:latin typeface="Arial" pitchFamily="34" charset="0"/>
                <a:ea typeface="Arial" pitchFamily="34" charset="-122"/>
                <a:cs typeface="Arial" pitchFamily="34" charset="-120"/>
              </a:rPr>
              <a:t>Queries ARBOARD Jira project for past ADRs. Scores by domain keyword overlap. Returns top 5 relevant decisions.</a:t>
            </a:r>
            <a:endParaRPr lang="en-US" sz="850" dirty="0"/>
          </a:p>
        </p:txBody>
      </p:sp>
      <p:sp>
        <p:nvSpPr>
          <p:cNvPr id="20" name="Shape 18"/>
          <p:cNvSpPr/>
          <p:nvPr/>
        </p:nvSpPr>
        <p:spPr>
          <a:xfrm>
            <a:off x="4663440" y="2048256"/>
            <a:ext cx="4160520" cy="640080"/>
          </a:xfrm>
          <a:prstGeom prst="roundRect">
            <a:avLst>
              <a:gd name="adj" fmla="val 11429"/>
            </a:avLst>
          </a:prstGeom>
          <a:solidFill>
            <a:srgbClr val="F7F8FA"/>
          </a:solidFill>
          <a:ln w="6350">
            <a:solidFill>
              <a:srgbClr val="D3D1C7"/>
            </a:solidFill>
            <a:prstDash val="solid"/>
          </a:ln>
          <a:effectLst>
            <a:outerShdw blurRad="63500" dist="25400" dir="2700000" algn="bl" rotWithShape="0">
              <a:srgbClr val="000000">
                <a:alpha val="6000"/>
              </a:srgbClr>
            </a:outerShdw>
          </a:effectLst>
        </p:spPr>
        <p:txBody>
          <a:bodyPr/>
          <a:lstStyle/>
          <a:p>
            <a:endParaRPr lang="en-US"/>
          </a:p>
        </p:txBody>
      </p:sp>
      <p:sp>
        <p:nvSpPr>
          <p:cNvPr id="21" name="Shape 19"/>
          <p:cNvSpPr/>
          <p:nvPr/>
        </p:nvSpPr>
        <p:spPr>
          <a:xfrm>
            <a:off x="4663440" y="2048256"/>
            <a:ext cx="1005840" cy="640080"/>
          </a:xfrm>
          <a:prstGeom prst="roundRect">
            <a:avLst>
              <a:gd name="adj" fmla="val 11429"/>
            </a:avLst>
          </a:prstGeom>
          <a:solidFill>
            <a:srgbClr val="0F6E56"/>
          </a:solidFill>
          <a:ln w="12700">
            <a:solidFill>
              <a:srgbClr val="0F6E56"/>
            </a:solidFill>
            <a:prstDash val="solid"/>
          </a:ln>
        </p:spPr>
        <p:txBody>
          <a:bodyPr/>
          <a:lstStyle/>
          <a:p>
            <a:endParaRPr lang="en-US"/>
          </a:p>
        </p:txBody>
      </p:sp>
      <p:sp>
        <p:nvSpPr>
          <p:cNvPr id="22" name="Text 20"/>
          <p:cNvSpPr/>
          <p:nvPr/>
        </p:nvSpPr>
        <p:spPr>
          <a:xfrm>
            <a:off x="4663440" y="2093976"/>
            <a:ext cx="1005840" cy="256032"/>
          </a:xfrm>
          <a:prstGeom prst="rect">
            <a:avLst/>
          </a:prstGeom>
          <a:noFill/>
          <a:ln/>
        </p:spPr>
        <p:txBody>
          <a:bodyPr wrap="square" rtlCol="0" anchor="ctr"/>
          <a:lstStyle/>
          <a:p>
            <a:pPr marL="0" indent="0" algn="ctr">
              <a:buNone/>
            </a:pPr>
            <a:r>
              <a:rPr lang="en-US" sz="800" b="1" dirty="0">
                <a:solidFill>
                  <a:srgbClr val="FFFFFF"/>
                </a:solidFill>
                <a:latin typeface="Arial" pitchFamily="34" charset="0"/>
                <a:ea typeface="Arial" pitchFamily="34" charset="-122"/>
                <a:cs typeface="Arial" pitchFamily="34" charset="-120"/>
              </a:rPr>
              <a:t>Memory</a:t>
            </a:r>
            <a:endParaRPr lang="en-US" sz="800" dirty="0"/>
          </a:p>
        </p:txBody>
      </p:sp>
      <p:sp>
        <p:nvSpPr>
          <p:cNvPr id="23" name="Text 21"/>
          <p:cNvSpPr/>
          <p:nvPr/>
        </p:nvSpPr>
        <p:spPr>
          <a:xfrm>
            <a:off x="5742432" y="2103120"/>
            <a:ext cx="2926080" cy="201168"/>
          </a:xfrm>
          <a:prstGeom prst="rect">
            <a:avLst/>
          </a:prstGeom>
          <a:noFill/>
          <a:ln/>
        </p:spPr>
        <p:txBody>
          <a:bodyPr wrap="square" rtlCol="0" anchor="ctr"/>
          <a:lstStyle/>
          <a:p>
            <a:pPr marL="0" indent="0">
              <a:buNone/>
            </a:pPr>
            <a:r>
              <a:rPr lang="en-US" sz="1000" b="1" dirty="0">
                <a:solidFill>
                  <a:srgbClr val="0F1E3C"/>
                </a:solidFill>
                <a:latin typeface="Arial" pitchFamily="34" charset="0"/>
                <a:ea typeface="Arial" pitchFamily="34" charset="-122"/>
                <a:cs typeface="Arial" pitchFamily="34" charset="-120"/>
              </a:rPr>
              <a:t>contextInjector.ts</a:t>
            </a:r>
            <a:endParaRPr lang="en-US" sz="1000" dirty="0"/>
          </a:p>
        </p:txBody>
      </p:sp>
      <p:sp>
        <p:nvSpPr>
          <p:cNvPr id="24" name="Text 22"/>
          <p:cNvSpPr/>
          <p:nvPr/>
        </p:nvSpPr>
        <p:spPr>
          <a:xfrm>
            <a:off x="5742432" y="2322576"/>
            <a:ext cx="2926080" cy="310896"/>
          </a:xfrm>
          <a:prstGeom prst="rect">
            <a:avLst/>
          </a:prstGeom>
          <a:noFill/>
          <a:ln/>
        </p:spPr>
        <p:txBody>
          <a:bodyPr wrap="square" rtlCol="0" anchor="ctr"/>
          <a:lstStyle/>
          <a:p>
            <a:pPr marL="0" indent="0">
              <a:buNone/>
            </a:pPr>
            <a:r>
              <a:rPr lang="en-US" sz="850" dirty="0">
                <a:solidFill>
                  <a:srgbClr val="64635E"/>
                </a:solidFill>
                <a:latin typeface="Arial" pitchFamily="34" charset="0"/>
                <a:ea typeface="Arial" pitchFamily="34" charset="-122"/>
                <a:cs typeface="Arial" pitchFamily="34" charset="-120"/>
              </a:rPr>
              <a:t>Formats past ADRs into per-agent memory blocks. Filters by agent domain. Adds conflict warnings where applicable.</a:t>
            </a:r>
            <a:endParaRPr lang="en-US" sz="850" dirty="0"/>
          </a:p>
        </p:txBody>
      </p:sp>
      <p:sp>
        <p:nvSpPr>
          <p:cNvPr id="25" name="Shape 23"/>
          <p:cNvSpPr/>
          <p:nvPr/>
        </p:nvSpPr>
        <p:spPr>
          <a:xfrm>
            <a:off x="411480" y="2798064"/>
            <a:ext cx="4160520" cy="640080"/>
          </a:xfrm>
          <a:prstGeom prst="roundRect">
            <a:avLst>
              <a:gd name="adj" fmla="val 11429"/>
            </a:avLst>
          </a:prstGeom>
          <a:solidFill>
            <a:srgbClr val="F7F8FA"/>
          </a:solidFill>
          <a:ln w="6350">
            <a:solidFill>
              <a:srgbClr val="D3D1C7"/>
            </a:solidFill>
            <a:prstDash val="solid"/>
          </a:ln>
          <a:effectLst>
            <a:outerShdw blurRad="63500" dist="25400" dir="2700000" algn="bl" rotWithShape="0">
              <a:srgbClr val="000000">
                <a:alpha val="6000"/>
              </a:srgbClr>
            </a:outerShdw>
          </a:effectLst>
        </p:spPr>
        <p:txBody>
          <a:bodyPr/>
          <a:lstStyle/>
          <a:p>
            <a:endParaRPr lang="en-US"/>
          </a:p>
        </p:txBody>
      </p:sp>
      <p:sp>
        <p:nvSpPr>
          <p:cNvPr id="26" name="Shape 24"/>
          <p:cNvSpPr/>
          <p:nvPr/>
        </p:nvSpPr>
        <p:spPr>
          <a:xfrm>
            <a:off x="411480" y="2798064"/>
            <a:ext cx="1005840" cy="640080"/>
          </a:xfrm>
          <a:prstGeom prst="roundRect">
            <a:avLst>
              <a:gd name="adj" fmla="val 11429"/>
            </a:avLst>
          </a:prstGeom>
          <a:solidFill>
            <a:srgbClr val="534AB7"/>
          </a:solidFill>
          <a:ln w="12700">
            <a:solidFill>
              <a:srgbClr val="534AB7"/>
            </a:solidFill>
            <a:prstDash val="solid"/>
          </a:ln>
        </p:spPr>
        <p:txBody>
          <a:bodyPr/>
          <a:lstStyle/>
          <a:p>
            <a:endParaRPr lang="en-US"/>
          </a:p>
        </p:txBody>
      </p:sp>
      <p:sp>
        <p:nvSpPr>
          <p:cNvPr id="27" name="Text 25"/>
          <p:cNvSpPr/>
          <p:nvPr/>
        </p:nvSpPr>
        <p:spPr>
          <a:xfrm>
            <a:off x="411480" y="2843784"/>
            <a:ext cx="1005840" cy="256032"/>
          </a:xfrm>
          <a:prstGeom prst="rect">
            <a:avLst/>
          </a:prstGeom>
          <a:noFill/>
          <a:ln/>
        </p:spPr>
        <p:txBody>
          <a:bodyPr wrap="square" rtlCol="0" anchor="ctr"/>
          <a:lstStyle/>
          <a:p>
            <a:pPr marL="0" indent="0" algn="ctr">
              <a:buNone/>
            </a:pPr>
            <a:r>
              <a:rPr lang="en-US" sz="800" b="1" dirty="0">
                <a:solidFill>
                  <a:srgbClr val="FFFFFF"/>
                </a:solidFill>
                <a:latin typeface="Arial" pitchFamily="34" charset="0"/>
                <a:ea typeface="Arial" pitchFamily="34" charset="-122"/>
                <a:cs typeface="Arial" pitchFamily="34" charset="-120"/>
              </a:rPr>
              <a:t>Grounding</a:t>
            </a:r>
            <a:endParaRPr lang="en-US" sz="800" dirty="0"/>
          </a:p>
        </p:txBody>
      </p:sp>
      <p:sp>
        <p:nvSpPr>
          <p:cNvPr id="28" name="Text 26"/>
          <p:cNvSpPr/>
          <p:nvPr/>
        </p:nvSpPr>
        <p:spPr>
          <a:xfrm>
            <a:off x="1490472" y="2852928"/>
            <a:ext cx="2926080" cy="201168"/>
          </a:xfrm>
          <a:prstGeom prst="rect">
            <a:avLst/>
          </a:prstGeom>
          <a:noFill/>
          <a:ln/>
        </p:spPr>
        <p:txBody>
          <a:bodyPr wrap="square" rtlCol="0" anchor="ctr"/>
          <a:lstStyle/>
          <a:p>
            <a:pPr marL="0" indent="0">
              <a:buNone/>
            </a:pPr>
            <a:r>
              <a:rPr lang="en-US" sz="1000" b="1" dirty="0">
                <a:solidFill>
                  <a:srgbClr val="0F1E3C"/>
                </a:solidFill>
                <a:latin typeface="Arial" pitchFamily="34" charset="0"/>
                <a:ea typeface="Arial" pitchFamily="34" charset="-122"/>
                <a:cs typeface="Arial" pitchFamily="34" charset="-120"/>
              </a:rPr>
              <a:t>wellArchitectedPrinciples.ts</a:t>
            </a:r>
            <a:endParaRPr lang="en-US" sz="1000" dirty="0"/>
          </a:p>
        </p:txBody>
      </p:sp>
      <p:sp>
        <p:nvSpPr>
          <p:cNvPr id="29" name="Text 27"/>
          <p:cNvSpPr/>
          <p:nvPr/>
        </p:nvSpPr>
        <p:spPr>
          <a:xfrm>
            <a:off x="1490472" y="3072384"/>
            <a:ext cx="2926080" cy="310896"/>
          </a:xfrm>
          <a:prstGeom prst="rect">
            <a:avLst/>
          </a:prstGeom>
          <a:noFill/>
          <a:ln/>
        </p:spPr>
        <p:txBody>
          <a:bodyPr wrap="square" rtlCol="0" anchor="ctr"/>
          <a:lstStyle/>
          <a:p>
            <a:pPr marL="0" indent="0">
              <a:buNone/>
            </a:pPr>
            <a:r>
              <a:rPr lang="en-US" sz="850" dirty="0">
                <a:solidFill>
                  <a:srgbClr val="64635E"/>
                </a:solidFill>
                <a:latin typeface="Arial" pitchFamily="34" charset="0"/>
                <a:ea typeface="Arial" pitchFamily="34" charset="-122"/>
                <a:cs typeface="Arial" pitchFamily="34" charset="-120"/>
              </a:rPr>
              <a:t>9 agent-keyed principle sets. Injected into system prompt after memory. Grounds agents in SF Well-Architected Framework.</a:t>
            </a:r>
            <a:endParaRPr lang="en-US" sz="850" dirty="0"/>
          </a:p>
        </p:txBody>
      </p:sp>
      <p:sp>
        <p:nvSpPr>
          <p:cNvPr id="30" name="Shape 28"/>
          <p:cNvSpPr/>
          <p:nvPr/>
        </p:nvSpPr>
        <p:spPr>
          <a:xfrm>
            <a:off x="4663440" y="2798064"/>
            <a:ext cx="4160520" cy="640080"/>
          </a:xfrm>
          <a:prstGeom prst="roundRect">
            <a:avLst>
              <a:gd name="adj" fmla="val 11429"/>
            </a:avLst>
          </a:prstGeom>
          <a:solidFill>
            <a:srgbClr val="F7F8FA"/>
          </a:solidFill>
          <a:ln w="6350">
            <a:solidFill>
              <a:srgbClr val="D3D1C7"/>
            </a:solidFill>
            <a:prstDash val="solid"/>
          </a:ln>
          <a:effectLst>
            <a:outerShdw blurRad="63500" dist="25400" dir="2700000" algn="bl" rotWithShape="0">
              <a:srgbClr val="000000">
                <a:alpha val="6000"/>
              </a:srgbClr>
            </a:outerShdw>
          </a:effectLst>
        </p:spPr>
        <p:txBody>
          <a:bodyPr/>
          <a:lstStyle/>
          <a:p>
            <a:endParaRPr lang="en-US"/>
          </a:p>
        </p:txBody>
      </p:sp>
      <p:sp>
        <p:nvSpPr>
          <p:cNvPr id="31" name="Shape 29"/>
          <p:cNvSpPr/>
          <p:nvPr/>
        </p:nvSpPr>
        <p:spPr>
          <a:xfrm>
            <a:off x="4663440" y="2798064"/>
            <a:ext cx="1005840" cy="640080"/>
          </a:xfrm>
          <a:prstGeom prst="roundRect">
            <a:avLst>
              <a:gd name="adj" fmla="val 11429"/>
            </a:avLst>
          </a:prstGeom>
          <a:solidFill>
            <a:srgbClr val="534AB7"/>
          </a:solidFill>
          <a:ln w="12700">
            <a:solidFill>
              <a:srgbClr val="534AB7"/>
            </a:solidFill>
            <a:prstDash val="solid"/>
          </a:ln>
        </p:spPr>
        <p:txBody>
          <a:bodyPr/>
          <a:lstStyle/>
          <a:p>
            <a:endParaRPr lang="en-US"/>
          </a:p>
        </p:txBody>
      </p:sp>
      <p:sp>
        <p:nvSpPr>
          <p:cNvPr id="32" name="Text 30"/>
          <p:cNvSpPr/>
          <p:nvPr/>
        </p:nvSpPr>
        <p:spPr>
          <a:xfrm>
            <a:off x="4663440" y="2843784"/>
            <a:ext cx="1005840" cy="256032"/>
          </a:xfrm>
          <a:prstGeom prst="rect">
            <a:avLst/>
          </a:prstGeom>
          <a:noFill/>
          <a:ln/>
        </p:spPr>
        <p:txBody>
          <a:bodyPr wrap="square" rtlCol="0" anchor="ctr"/>
          <a:lstStyle/>
          <a:p>
            <a:pPr marL="0" indent="0" algn="ctr">
              <a:buNone/>
            </a:pPr>
            <a:r>
              <a:rPr lang="en-US" sz="800" b="1" dirty="0">
                <a:solidFill>
                  <a:srgbClr val="FFFFFF"/>
                </a:solidFill>
                <a:latin typeface="Arial" pitchFamily="34" charset="0"/>
                <a:ea typeface="Arial" pitchFamily="34" charset="-122"/>
                <a:cs typeface="Arial" pitchFamily="34" charset="-120"/>
              </a:rPr>
              <a:t>Grounding</a:t>
            </a:r>
            <a:endParaRPr lang="en-US" sz="800" dirty="0"/>
          </a:p>
        </p:txBody>
      </p:sp>
      <p:sp>
        <p:nvSpPr>
          <p:cNvPr id="33" name="Text 31"/>
          <p:cNvSpPr/>
          <p:nvPr/>
        </p:nvSpPr>
        <p:spPr>
          <a:xfrm>
            <a:off x="5742432" y="2852928"/>
            <a:ext cx="2926080" cy="201168"/>
          </a:xfrm>
          <a:prstGeom prst="rect">
            <a:avLst/>
          </a:prstGeom>
          <a:noFill/>
          <a:ln/>
        </p:spPr>
        <p:txBody>
          <a:bodyPr wrap="square" rtlCol="0" anchor="ctr"/>
          <a:lstStyle/>
          <a:p>
            <a:pPr marL="0" indent="0">
              <a:buNone/>
            </a:pPr>
            <a:r>
              <a:rPr lang="en-US" sz="1000" b="1" dirty="0">
                <a:solidFill>
                  <a:srgbClr val="0F1E3C"/>
                </a:solidFill>
                <a:latin typeface="Arial" pitchFamily="34" charset="0"/>
                <a:ea typeface="Arial" pitchFamily="34" charset="-122"/>
                <a:cs typeface="Arial" pitchFamily="34" charset="-120"/>
              </a:rPr>
              <a:t>patternRetrieval.ts</a:t>
            </a:r>
            <a:endParaRPr lang="en-US" sz="1000" dirty="0"/>
          </a:p>
        </p:txBody>
      </p:sp>
      <p:sp>
        <p:nvSpPr>
          <p:cNvPr id="34" name="Text 32"/>
          <p:cNvSpPr/>
          <p:nvPr/>
        </p:nvSpPr>
        <p:spPr>
          <a:xfrm>
            <a:off x="5742432" y="3072384"/>
            <a:ext cx="2926080" cy="310896"/>
          </a:xfrm>
          <a:prstGeom prst="rect">
            <a:avLst/>
          </a:prstGeom>
          <a:noFill/>
          <a:ln/>
        </p:spPr>
        <p:txBody>
          <a:bodyPr wrap="square" rtlCol="0" anchor="ctr"/>
          <a:lstStyle/>
          <a:p>
            <a:pPr marL="0" indent="0">
              <a:buNone/>
            </a:pPr>
            <a:r>
              <a:rPr lang="en-US" sz="850" dirty="0">
                <a:solidFill>
                  <a:srgbClr val="64635E"/>
                </a:solidFill>
                <a:latin typeface="Arial" pitchFamily="34" charset="0"/>
                <a:ea typeface="Arial" pitchFamily="34" charset="-122"/>
                <a:cs typeface="Arial" pitchFamily="34" charset="-120"/>
              </a:rPr>
              <a:t>Retrieves SI failure patterns from Supabase. Agents cite FP-xxx IDs in their analysis when patterns are matched.</a:t>
            </a:r>
            <a:endParaRPr lang="en-US" sz="850" dirty="0"/>
          </a:p>
        </p:txBody>
      </p:sp>
      <p:sp>
        <p:nvSpPr>
          <p:cNvPr id="35" name="Shape 33"/>
          <p:cNvSpPr/>
          <p:nvPr/>
        </p:nvSpPr>
        <p:spPr>
          <a:xfrm>
            <a:off x="411480" y="3547872"/>
            <a:ext cx="4160520" cy="640080"/>
          </a:xfrm>
          <a:prstGeom prst="roundRect">
            <a:avLst>
              <a:gd name="adj" fmla="val 11429"/>
            </a:avLst>
          </a:prstGeom>
          <a:solidFill>
            <a:srgbClr val="F7F8FA"/>
          </a:solidFill>
          <a:ln w="6350">
            <a:solidFill>
              <a:srgbClr val="D3D1C7"/>
            </a:solidFill>
            <a:prstDash val="solid"/>
          </a:ln>
          <a:effectLst>
            <a:outerShdw blurRad="63500" dist="25400" dir="2700000" algn="bl" rotWithShape="0">
              <a:srgbClr val="000000">
                <a:alpha val="6000"/>
              </a:srgbClr>
            </a:outerShdw>
          </a:effectLst>
        </p:spPr>
        <p:txBody>
          <a:bodyPr/>
          <a:lstStyle/>
          <a:p>
            <a:endParaRPr lang="en-US"/>
          </a:p>
        </p:txBody>
      </p:sp>
      <p:sp>
        <p:nvSpPr>
          <p:cNvPr id="36" name="Shape 34"/>
          <p:cNvSpPr/>
          <p:nvPr/>
        </p:nvSpPr>
        <p:spPr>
          <a:xfrm>
            <a:off x="411480" y="3547872"/>
            <a:ext cx="1005840" cy="640080"/>
          </a:xfrm>
          <a:prstGeom prst="roundRect">
            <a:avLst>
              <a:gd name="adj" fmla="val 11429"/>
            </a:avLst>
          </a:prstGeom>
          <a:solidFill>
            <a:srgbClr val="BA7517"/>
          </a:solidFill>
          <a:ln w="12700">
            <a:solidFill>
              <a:srgbClr val="BA7517"/>
            </a:solidFill>
            <a:prstDash val="solid"/>
          </a:ln>
        </p:spPr>
        <p:txBody>
          <a:bodyPr/>
          <a:lstStyle/>
          <a:p>
            <a:endParaRPr lang="en-US"/>
          </a:p>
        </p:txBody>
      </p:sp>
      <p:sp>
        <p:nvSpPr>
          <p:cNvPr id="37" name="Text 35"/>
          <p:cNvSpPr/>
          <p:nvPr/>
        </p:nvSpPr>
        <p:spPr>
          <a:xfrm>
            <a:off x="411480" y="3593592"/>
            <a:ext cx="1005840" cy="256032"/>
          </a:xfrm>
          <a:prstGeom prst="rect">
            <a:avLst/>
          </a:prstGeom>
          <a:noFill/>
          <a:ln/>
        </p:spPr>
        <p:txBody>
          <a:bodyPr wrap="square" rtlCol="0" anchor="ctr"/>
          <a:lstStyle/>
          <a:p>
            <a:pPr marL="0" indent="0" algn="ctr">
              <a:buNone/>
            </a:pPr>
            <a:r>
              <a:rPr lang="en-US" sz="800" b="1" dirty="0">
                <a:solidFill>
                  <a:srgbClr val="FFFFFF"/>
                </a:solidFill>
                <a:latin typeface="Arial" pitchFamily="34" charset="0"/>
                <a:ea typeface="Arial" pitchFamily="34" charset="-122"/>
                <a:cs typeface="Arial" pitchFamily="34" charset="-120"/>
              </a:rPr>
              <a:t>Integration</a:t>
            </a:r>
            <a:endParaRPr lang="en-US" sz="800" dirty="0"/>
          </a:p>
        </p:txBody>
      </p:sp>
      <p:sp>
        <p:nvSpPr>
          <p:cNvPr id="38" name="Text 36"/>
          <p:cNvSpPr/>
          <p:nvPr/>
        </p:nvSpPr>
        <p:spPr>
          <a:xfrm>
            <a:off x="1490472" y="3602736"/>
            <a:ext cx="2926080" cy="201168"/>
          </a:xfrm>
          <a:prstGeom prst="rect">
            <a:avLst/>
          </a:prstGeom>
          <a:noFill/>
          <a:ln/>
        </p:spPr>
        <p:txBody>
          <a:bodyPr wrap="square" rtlCol="0" anchor="ctr"/>
          <a:lstStyle/>
          <a:p>
            <a:pPr marL="0" indent="0">
              <a:buNone/>
            </a:pPr>
            <a:r>
              <a:rPr lang="en-US" sz="1000" b="1" dirty="0">
                <a:solidFill>
                  <a:srgbClr val="0F1E3C"/>
                </a:solidFill>
                <a:latin typeface="Arial" pitchFamily="34" charset="0"/>
                <a:ea typeface="Arial" pitchFamily="34" charset="-122"/>
                <a:cs typeface="Arial" pitchFamily="34" charset="-120"/>
              </a:rPr>
              <a:t>jira.ts</a:t>
            </a:r>
            <a:endParaRPr lang="en-US" sz="1000" dirty="0"/>
          </a:p>
        </p:txBody>
      </p:sp>
      <p:sp>
        <p:nvSpPr>
          <p:cNvPr id="39" name="Text 37"/>
          <p:cNvSpPr/>
          <p:nvPr/>
        </p:nvSpPr>
        <p:spPr>
          <a:xfrm>
            <a:off x="1490472" y="3822192"/>
            <a:ext cx="2926080" cy="310896"/>
          </a:xfrm>
          <a:prstGeom prst="rect">
            <a:avLst/>
          </a:prstGeom>
          <a:noFill/>
          <a:ln/>
        </p:spPr>
        <p:txBody>
          <a:bodyPr wrap="square" rtlCol="0" anchor="ctr"/>
          <a:lstStyle/>
          <a:p>
            <a:pPr marL="0" indent="0">
              <a:buNone/>
            </a:pPr>
            <a:r>
              <a:rPr lang="en-US" sz="850" dirty="0">
                <a:solidFill>
                  <a:srgbClr val="64635E"/>
                </a:solidFill>
                <a:latin typeface="Arial" pitchFamily="34" charset="0"/>
                <a:ea typeface="Arial" pitchFamily="34" charset="-122"/>
                <a:cs typeface="Arial" pitchFamily="34" charset="-120"/>
              </a:rPr>
              <a:t>Creates ADR tickets in ARBOARD project. Assigns reviewers. Posts human judgement comments. Manages arboard-adr/signed labels.</a:t>
            </a:r>
            <a:endParaRPr lang="en-US" sz="850" dirty="0"/>
          </a:p>
        </p:txBody>
      </p:sp>
      <p:sp>
        <p:nvSpPr>
          <p:cNvPr id="40" name="Shape 38"/>
          <p:cNvSpPr/>
          <p:nvPr/>
        </p:nvSpPr>
        <p:spPr>
          <a:xfrm>
            <a:off x="4663440" y="3547872"/>
            <a:ext cx="4160520" cy="640080"/>
          </a:xfrm>
          <a:prstGeom prst="roundRect">
            <a:avLst>
              <a:gd name="adj" fmla="val 11429"/>
            </a:avLst>
          </a:prstGeom>
          <a:solidFill>
            <a:srgbClr val="F7F8FA"/>
          </a:solidFill>
          <a:ln w="6350">
            <a:solidFill>
              <a:srgbClr val="D3D1C7"/>
            </a:solidFill>
            <a:prstDash val="solid"/>
          </a:ln>
          <a:effectLst>
            <a:outerShdw blurRad="63500" dist="25400" dir="2700000" algn="bl" rotWithShape="0">
              <a:srgbClr val="000000">
                <a:alpha val="6000"/>
              </a:srgbClr>
            </a:outerShdw>
          </a:effectLst>
        </p:spPr>
        <p:txBody>
          <a:bodyPr/>
          <a:lstStyle/>
          <a:p>
            <a:endParaRPr lang="en-US"/>
          </a:p>
        </p:txBody>
      </p:sp>
      <p:sp>
        <p:nvSpPr>
          <p:cNvPr id="41" name="Shape 39"/>
          <p:cNvSpPr/>
          <p:nvPr/>
        </p:nvSpPr>
        <p:spPr>
          <a:xfrm>
            <a:off x="4663440" y="3547872"/>
            <a:ext cx="1005840" cy="640080"/>
          </a:xfrm>
          <a:prstGeom prst="roundRect">
            <a:avLst>
              <a:gd name="adj" fmla="val 11429"/>
            </a:avLst>
          </a:prstGeom>
          <a:solidFill>
            <a:srgbClr val="BA7517"/>
          </a:solidFill>
          <a:ln w="12700">
            <a:solidFill>
              <a:srgbClr val="BA7517"/>
            </a:solidFill>
            <a:prstDash val="solid"/>
          </a:ln>
        </p:spPr>
        <p:txBody>
          <a:bodyPr/>
          <a:lstStyle/>
          <a:p>
            <a:endParaRPr lang="en-US"/>
          </a:p>
        </p:txBody>
      </p:sp>
      <p:sp>
        <p:nvSpPr>
          <p:cNvPr id="42" name="Text 40"/>
          <p:cNvSpPr/>
          <p:nvPr/>
        </p:nvSpPr>
        <p:spPr>
          <a:xfrm>
            <a:off x="4663440" y="3593592"/>
            <a:ext cx="1005840" cy="256032"/>
          </a:xfrm>
          <a:prstGeom prst="rect">
            <a:avLst/>
          </a:prstGeom>
          <a:noFill/>
          <a:ln/>
        </p:spPr>
        <p:txBody>
          <a:bodyPr wrap="square" rtlCol="0" anchor="ctr"/>
          <a:lstStyle/>
          <a:p>
            <a:pPr marL="0" indent="0" algn="ctr">
              <a:buNone/>
            </a:pPr>
            <a:r>
              <a:rPr lang="en-US" sz="800" b="1" dirty="0">
                <a:solidFill>
                  <a:srgbClr val="FFFFFF"/>
                </a:solidFill>
                <a:latin typeface="Arial" pitchFamily="34" charset="0"/>
                <a:ea typeface="Arial" pitchFamily="34" charset="-122"/>
                <a:cs typeface="Arial" pitchFamily="34" charset="-120"/>
              </a:rPr>
              <a:t>Integration</a:t>
            </a:r>
            <a:endParaRPr lang="en-US" sz="800" dirty="0"/>
          </a:p>
        </p:txBody>
      </p:sp>
      <p:sp>
        <p:nvSpPr>
          <p:cNvPr id="43" name="Text 41"/>
          <p:cNvSpPr/>
          <p:nvPr/>
        </p:nvSpPr>
        <p:spPr>
          <a:xfrm>
            <a:off x="5742432" y="3602736"/>
            <a:ext cx="2926080" cy="201168"/>
          </a:xfrm>
          <a:prstGeom prst="rect">
            <a:avLst/>
          </a:prstGeom>
          <a:noFill/>
          <a:ln/>
        </p:spPr>
        <p:txBody>
          <a:bodyPr wrap="square" rtlCol="0" anchor="ctr"/>
          <a:lstStyle/>
          <a:p>
            <a:pPr marL="0" indent="0">
              <a:buNone/>
            </a:pPr>
            <a:r>
              <a:rPr lang="en-US" sz="1000" b="1" dirty="0">
                <a:solidFill>
                  <a:srgbClr val="0F1E3C"/>
                </a:solidFill>
                <a:latin typeface="Arial" pitchFamily="34" charset="0"/>
                <a:ea typeface="Arial" pitchFamily="34" charset="-122"/>
                <a:cs typeface="Arial" pitchFamily="34" charset="-120"/>
              </a:rPr>
              <a:t>OrgMetadataCollector.ts</a:t>
            </a:r>
            <a:endParaRPr lang="en-US" sz="1000" dirty="0"/>
          </a:p>
        </p:txBody>
      </p:sp>
      <p:sp>
        <p:nvSpPr>
          <p:cNvPr id="44" name="Text 42"/>
          <p:cNvSpPr/>
          <p:nvPr/>
        </p:nvSpPr>
        <p:spPr>
          <a:xfrm>
            <a:off x="5742432" y="3822192"/>
            <a:ext cx="2926080" cy="310896"/>
          </a:xfrm>
          <a:prstGeom prst="rect">
            <a:avLst/>
          </a:prstGeom>
          <a:noFill/>
          <a:ln/>
        </p:spPr>
        <p:txBody>
          <a:bodyPr wrap="square" rtlCol="0" anchor="ctr"/>
          <a:lstStyle/>
          <a:p>
            <a:pPr marL="0" indent="0">
              <a:buNone/>
            </a:pPr>
            <a:r>
              <a:rPr lang="en-US" sz="850" dirty="0">
                <a:solidFill>
                  <a:srgbClr val="64635E"/>
                </a:solidFill>
                <a:latin typeface="Arial" pitchFamily="34" charset="0"/>
                <a:ea typeface="Arial" pitchFamily="34" charset="-122"/>
                <a:cs typeface="Arial" pitchFamily="34" charset="-120"/>
              </a:rPr>
              <a:t>Collects live Salesforce org metadata via MCP or jsforce fallback. Feeds object/trigger/flow context to agents.</a:t>
            </a:r>
            <a:endParaRPr lang="en-US" sz="850" dirty="0"/>
          </a:p>
        </p:txBody>
      </p:sp>
      <p:sp>
        <p:nvSpPr>
          <p:cNvPr id="45" name="Shape 43"/>
          <p:cNvSpPr/>
          <p:nvPr/>
        </p:nvSpPr>
        <p:spPr>
          <a:xfrm>
            <a:off x="411480" y="4297680"/>
            <a:ext cx="8321040" cy="640080"/>
          </a:xfrm>
          <a:prstGeom prst="roundRect">
            <a:avLst>
              <a:gd name="adj" fmla="val 11429"/>
            </a:avLst>
          </a:prstGeom>
          <a:solidFill>
            <a:srgbClr val="F7F8FA"/>
          </a:solidFill>
          <a:ln w="6350">
            <a:solidFill>
              <a:srgbClr val="D3D1C7"/>
            </a:solidFill>
            <a:prstDash val="solid"/>
          </a:ln>
          <a:effectLst>
            <a:outerShdw blurRad="63500" dist="25400" dir="2700000" algn="bl" rotWithShape="0">
              <a:srgbClr val="000000">
                <a:alpha val="6000"/>
              </a:srgbClr>
            </a:outerShdw>
          </a:effectLst>
        </p:spPr>
        <p:txBody>
          <a:bodyPr/>
          <a:lstStyle/>
          <a:p>
            <a:endParaRPr lang="en-US"/>
          </a:p>
        </p:txBody>
      </p:sp>
      <p:sp>
        <p:nvSpPr>
          <p:cNvPr id="46" name="Shape 44"/>
          <p:cNvSpPr/>
          <p:nvPr/>
        </p:nvSpPr>
        <p:spPr>
          <a:xfrm>
            <a:off x="411480" y="4297680"/>
            <a:ext cx="1005840" cy="640080"/>
          </a:xfrm>
          <a:prstGeom prst="roundRect">
            <a:avLst>
              <a:gd name="adj" fmla="val 11429"/>
            </a:avLst>
          </a:prstGeom>
          <a:solidFill>
            <a:srgbClr val="993C1D"/>
          </a:solidFill>
          <a:ln w="12700">
            <a:solidFill>
              <a:srgbClr val="993C1D"/>
            </a:solidFill>
            <a:prstDash val="solid"/>
          </a:ln>
        </p:spPr>
        <p:txBody>
          <a:bodyPr/>
          <a:lstStyle/>
          <a:p>
            <a:endParaRPr lang="en-US"/>
          </a:p>
        </p:txBody>
      </p:sp>
      <p:sp>
        <p:nvSpPr>
          <p:cNvPr id="47" name="Text 45"/>
          <p:cNvSpPr/>
          <p:nvPr/>
        </p:nvSpPr>
        <p:spPr>
          <a:xfrm>
            <a:off x="411480" y="4343400"/>
            <a:ext cx="1005840" cy="256032"/>
          </a:xfrm>
          <a:prstGeom prst="rect">
            <a:avLst/>
          </a:prstGeom>
          <a:noFill/>
          <a:ln/>
        </p:spPr>
        <p:txBody>
          <a:bodyPr wrap="square" rtlCol="0" anchor="ctr"/>
          <a:lstStyle/>
          <a:p>
            <a:pPr marL="0" indent="0" algn="ctr">
              <a:buNone/>
            </a:pPr>
            <a:r>
              <a:rPr lang="en-US" sz="800" b="1" dirty="0">
                <a:solidFill>
                  <a:srgbClr val="FFFFFF"/>
                </a:solidFill>
                <a:latin typeface="Arial" pitchFamily="34" charset="0"/>
                <a:ea typeface="Arial" pitchFamily="34" charset="-122"/>
                <a:cs typeface="Arial" pitchFamily="34" charset="-120"/>
              </a:rPr>
              <a:t>Analysis</a:t>
            </a:r>
            <a:endParaRPr lang="en-US" sz="800" dirty="0"/>
          </a:p>
        </p:txBody>
      </p:sp>
      <p:sp>
        <p:nvSpPr>
          <p:cNvPr id="48" name="Text 46"/>
          <p:cNvSpPr/>
          <p:nvPr/>
        </p:nvSpPr>
        <p:spPr>
          <a:xfrm>
            <a:off x="1490472" y="4352544"/>
            <a:ext cx="7178040" cy="201168"/>
          </a:xfrm>
          <a:prstGeom prst="rect">
            <a:avLst/>
          </a:prstGeom>
          <a:noFill/>
          <a:ln/>
        </p:spPr>
        <p:txBody>
          <a:bodyPr wrap="square" rtlCol="0" anchor="ctr"/>
          <a:lstStyle/>
          <a:p>
            <a:pPr marL="0" indent="0">
              <a:buNone/>
            </a:pPr>
            <a:r>
              <a:rPr lang="en-US" sz="1000" b="1" dirty="0">
                <a:solidFill>
                  <a:srgbClr val="0F1E3C"/>
                </a:solidFill>
                <a:latin typeface="Arial" pitchFamily="34" charset="0"/>
                <a:ea typeface="Arial" pitchFamily="34" charset="-122"/>
                <a:cs typeface="Arial" pitchFamily="34" charset="-120"/>
              </a:rPr>
              <a:t>ImpactAnalyser.ts</a:t>
            </a:r>
            <a:endParaRPr lang="en-US" sz="1000" dirty="0"/>
          </a:p>
        </p:txBody>
      </p:sp>
      <p:sp>
        <p:nvSpPr>
          <p:cNvPr id="49" name="Text 47"/>
          <p:cNvSpPr/>
          <p:nvPr/>
        </p:nvSpPr>
        <p:spPr>
          <a:xfrm>
            <a:off x="1490472" y="4572000"/>
            <a:ext cx="7178040" cy="310896"/>
          </a:xfrm>
          <a:prstGeom prst="rect">
            <a:avLst/>
          </a:prstGeom>
          <a:noFill/>
          <a:ln/>
        </p:spPr>
        <p:txBody>
          <a:bodyPr wrap="square" rtlCol="0" anchor="ctr"/>
          <a:lstStyle/>
          <a:p>
            <a:pPr marL="0" indent="0">
              <a:buNone/>
            </a:pPr>
            <a:r>
              <a:rPr lang="en-US" sz="850" dirty="0">
                <a:solidFill>
                  <a:srgbClr val="64635E"/>
                </a:solidFill>
                <a:latin typeface="Arial" pitchFamily="34" charset="0"/>
                <a:ea typeface="Arial" pitchFamily="34" charset="-122"/>
                <a:cs typeface="Arial" pitchFamily="34" charset="-120"/>
              </a:rPr>
              <a:t>Analyses the requirement to determine which specialist agents are relevant. Avoids running all 9 agents when unnecessary.</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02920" y="347472"/>
            <a:ext cx="8138160" cy="201168"/>
          </a:xfrm>
          <a:prstGeom prst="rect">
            <a:avLst/>
          </a:prstGeom>
          <a:noFill/>
          <a:ln/>
        </p:spPr>
        <p:txBody>
          <a:bodyPr wrap="square" rtlCol="0" anchor="ctr"/>
          <a:lstStyle/>
          <a:p>
            <a:pPr marL="0" indent="0" algn="l">
              <a:buNone/>
            </a:pPr>
            <a:r>
              <a:rPr lang="en-US" sz="900" b="1" kern="0" spc="300" dirty="0">
                <a:solidFill>
                  <a:srgbClr val="2E6DA4"/>
                </a:solidFill>
                <a:latin typeface="Arial" pitchFamily="34" charset="0"/>
                <a:ea typeface="Arial" pitchFamily="34" charset="-122"/>
                <a:cs typeface="Arial" pitchFamily="34" charset="-120"/>
              </a:rPr>
              <a:t>TECHNICAL APPENDIX — SEQUENCE</a:t>
            </a:r>
            <a:endParaRPr lang="en-US" sz="900" dirty="0"/>
          </a:p>
        </p:txBody>
      </p:sp>
      <p:sp>
        <p:nvSpPr>
          <p:cNvPr id="3" name="Text 1"/>
          <p:cNvSpPr/>
          <p:nvPr/>
        </p:nvSpPr>
        <p:spPr>
          <a:xfrm>
            <a:off x="502920" y="594360"/>
            <a:ext cx="8138160" cy="640080"/>
          </a:xfrm>
          <a:prstGeom prst="rect">
            <a:avLst/>
          </a:prstGeom>
          <a:noFill/>
          <a:ln/>
        </p:spPr>
        <p:txBody>
          <a:bodyPr wrap="square" rtlCol="0" anchor="ctr"/>
          <a:lstStyle/>
          <a:p>
            <a:pPr marL="0" indent="0" algn="l">
              <a:buNone/>
            </a:pPr>
            <a:r>
              <a:rPr lang="en-US" sz="2600" b="1" dirty="0">
                <a:solidFill>
                  <a:srgbClr val="1A1A1A"/>
                </a:solidFill>
                <a:latin typeface="Arial" pitchFamily="34" charset="0"/>
                <a:ea typeface="Arial" pitchFamily="34" charset="-122"/>
                <a:cs typeface="Arial" pitchFamily="34" charset="-120"/>
              </a:rPr>
              <a:t>End-to-end: from doc upload to Jira ticket</a:t>
            </a:r>
            <a:endParaRPr lang="en-US" sz="2600" dirty="0"/>
          </a:p>
        </p:txBody>
      </p:sp>
      <p:sp>
        <p:nvSpPr>
          <p:cNvPr id="4" name="Shape 2"/>
          <p:cNvSpPr/>
          <p:nvPr/>
        </p:nvSpPr>
        <p:spPr>
          <a:xfrm>
            <a:off x="502920" y="1207008"/>
            <a:ext cx="8138160" cy="0"/>
          </a:xfrm>
          <a:prstGeom prst="line">
            <a:avLst/>
          </a:prstGeom>
          <a:noFill/>
          <a:ln w="10160">
            <a:solidFill>
              <a:srgbClr val="EBEBEB"/>
            </a:solidFill>
            <a:prstDash val="solid"/>
          </a:ln>
        </p:spPr>
        <p:txBody>
          <a:bodyPr/>
          <a:lstStyle/>
          <a:p>
            <a:endParaRPr lang="en-US"/>
          </a:p>
        </p:txBody>
      </p:sp>
      <p:sp>
        <p:nvSpPr>
          <p:cNvPr id="5" name="Shape 3"/>
          <p:cNvSpPr/>
          <p:nvPr/>
        </p:nvSpPr>
        <p:spPr>
          <a:xfrm>
            <a:off x="411480" y="1325880"/>
            <a:ext cx="2011680" cy="1353312"/>
          </a:xfrm>
          <a:prstGeom prst="roundRect">
            <a:avLst>
              <a:gd name="adj" fmla="val 5405"/>
            </a:avLst>
          </a:prstGeom>
          <a:solidFill>
            <a:srgbClr val="EBEBEB"/>
          </a:solidFill>
          <a:ln w="6350">
            <a:solidFill>
              <a:srgbClr val="D3D1C7"/>
            </a:solidFill>
            <a:prstDash val="solid"/>
          </a:ln>
          <a:effectLst>
            <a:outerShdw blurRad="63500" dist="25400" dir="2700000" algn="bl" rotWithShape="0">
              <a:srgbClr val="000000">
                <a:alpha val="6000"/>
              </a:srgbClr>
            </a:outerShdw>
          </a:effectLst>
        </p:spPr>
        <p:txBody>
          <a:bodyPr/>
          <a:lstStyle/>
          <a:p>
            <a:endParaRPr lang="en-US"/>
          </a:p>
        </p:txBody>
      </p:sp>
      <p:sp>
        <p:nvSpPr>
          <p:cNvPr id="6" name="Shape 4"/>
          <p:cNvSpPr/>
          <p:nvPr/>
        </p:nvSpPr>
        <p:spPr>
          <a:xfrm>
            <a:off x="1170432" y="1417320"/>
            <a:ext cx="475488" cy="475488"/>
          </a:xfrm>
          <a:prstGeom prst="ellipse">
            <a:avLst/>
          </a:prstGeom>
          <a:solidFill>
            <a:srgbClr val="0F1E3C"/>
          </a:solidFill>
          <a:ln w="12700">
            <a:solidFill>
              <a:srgbClr val="0F1E3C"/>
            </a:solidFill>
            <a:prstDash val="solid"/>
          </a:ln>
        </p:spPr>
        <p:txBody>
          <a:bodyPr/>
          <a:lstStyle/>
          <a:p>
            <a:endParaRPr lang="en-US"/>
          </a:p>
        </p:txBody>
      </p:sp>
      <p:sp>
        <p:nvSpPr>
          <p:cNvPr id="7" name="Text 5"/>
          <p:cNvSpPr/>
          <p:nvPr/>
        </p:nvSpPr>
        <p:spPr>
          <a:xfrm>
            <a:off x="1170432" y="1417320"/>
            <a:ext cx="475488" cy="475488"/>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1</a:t>
            </a:r>
            <a:endParaRPr lang="en-US" sz="1300" dirty="0"/>
          </a:p>
        </p:txBody>
      </p:sp>
      <p:sp>
        <p:nvSpPr>
          <p:cNvPr id="8" name="Text 6"/>
          <p:cNvSpPr/>
          <p:nvPr/>
        </p:nvSpPr>
        <p:spPr>
          <a:xfrm>
            <a:off x="411480" y="1947672"/>
            <a:ext cx="2011680" cy="256032"/>
          </a:xfrm>
          <a:prstGeom prst="rect">
            <a:avLst/>
          </a:prstGeom>
          <a:noFill/>
          <a:ln/>
        </p:spPr>
        <p:txBody>
          <a:bodyPr wrap="square" rtlCol="0" anchor="ctr"/>
          <a:lstStyle/>
          <a:p>
            <a:pPr marL="0" indent="0" algn="ctr">
              <a:buNone/>
            </a:pPr>
            <a:r>
              <a:rPr lang="en-US" sz="1100" b="1" dirty="0">
                <a:solidFill>
                  <a:srgbClr val="0F1E3C"/>
                </a:solidFill>
                <a:latin typeface="Arial" pitchFamily="34" charset="0"/>
                <a:ea typeface="Arial" pitchFamily="34" charset="-122"/>
                <a:cs typeface="Arial" pitchFamily="34" charset="-120"/>
              </a:rPr>
              <a:t>Upload &amp; extract</a:t>
            </a:r>
            <a:endParaRPr lang="en-US" sz="1100" dirty="0"/>
          </a:p>
        </p:txBody>
      </p:sp>
      <p:sp>
        <p:nvSpPr>
          <p:cNvPr id="9" name="Text 7"/>
          <p:cNvSpPr/>
          <p:nvPr/>
        </p:nvSpPr>
        <p:spPr>
          <a:xfrm>
            <a:off x="411480" y="2203704"/>
            <a:ext cx="2011680" cy="201168"/>
          </a:xfrm>
          <a:prstGeom prst="rect">
            <a:avLst/>
          </a:prstGeom>
          <a:noFill/>
          <a:ln/>
        </p:spPr>
        <p:txBody>
          <a:bodyPr wrap="square" rtlCol="0" anchor="ctr"/>
          <a:lstStyle/>
          <a:p>
            <a:pPr marL="0" indent="0" algn="ctr">
              <a:buNone/>
            </a:pPr>
            <a:r>
              <a:rPr lang="en-US" sz="850" b="1" dirty="0">
                <a:solidFill>
                  <a:srgbClr val="0F1E3C"/>
                </a:solidFill>
                <a:latin typeface="Arial" pitchFamily="34" charset="0"/>
                <a:ea typeface="Arial" pitchFamily="34" charset="-122"/>
                <a:cs typeface="Arial" pitchFamily="34" charset="-120"/>
              </a:rPr>
              <a:t>api/upload/route.ts</a:t>
            </a:r>
            <a:endParaRPr lang="en-US" sz="850" dirty="0"/>
          </a:p>
        </p:txBody>
      </p:sp>
      <p:sp>
        <p:nvSpPr>
          <p:cNvPr id="10" name="Text 8"/>
          <p:cNvSpPr/>
          <p:nvPr/>
        </p:nvSpPr>
        <p:spPr>
          <a:xfrm>
            <a:off x="411480" y="2404872"/>
            <a:ext cx="2011680" cy="201168"/>
          </a:xfrm>
          <a:prstGeom prst="rect">
            <a:avLst/>
          </a:prstGeom>
          <a:noFill/>
          <a:ln/>
        </p:spPr>
        <p:txBody>
          <a:bodyPr wrap="square" rtlCol="0" anchor="ctr"/>
          <a:lstStyle/>
          <a:p>
            <a:pPr marL="0" indent="0" algn="ctr">
              <a:buNone/>
            </a:pPr>
            <a:r>
              <a:rPr lang="en-US" sz="850" dirty="0">
                <a:solidFill>
                  <a:srgbClr val="64635E"/>
                </a:solidFill>
                <a:latin typeface="Arial" pitchFamily="34" charset="0"/>
                <a:ea typeface="Arial" pitchFamily="34" charset="-122"/>
                <a:cs typeface="Arial" pitchFamily="34" charset="-120"/>
              </a:rPr>
              <a:t>PDF/Word → text extracted</a:t>
            </a:r>
            <a:endParaRPr lang="en-US" sz="850" dirty="0"/>
          </a:p>
        </p:txBody>
      </p:sp>
      <p:sp>
        <p:nvSpPr>
          <p:cNvPr id="11" name="Text 9"/>
          <p:cNvSpPr/>
          <p:nvPr/>
        </p:nvSpPr>
        <p:spPr>
          <a:xfrm>
            <a:off x="2423160" y="1746504"/>
            <a:ext cx="164592" cy="274320"/>
          </a:xfrm>
          <a:prstGeom prst="rect">
            <a:avLst/>
          </a:prstGeom>
          <a:noFill/>
          <a:ln/>
        </p:spPr>
        <p:txBody>
          <a:bodyPr wrap="square" rtlCol="0" anchor="ctr"/>
          <a:lstStyle/>
          <a:p>
            <a:pPr marL="0" indent="0" algn="ctr">
              <a:buNone/>
            </a:pPr>
            <a:r>
              <a:rPr lang="en-US" sz="1600" b="1" dirty="0">
                <a:solidFill>
                  <a:srgbClr val="2E6DA4"/>
                </a:solidFill>
                <a:latin typeface="Arial" pitchFamily="34" charset="0"/>
                <a:ea typeface="Arial" pitchFamily="34" charset="-122"/>
                <a:cs typeface="Arial" pitchFamily="34" charset="-120"/>
              </a:rPr>
              <a:t>›</a:t>
            </a:r>
            <a:endParaRPr lang="en-US" sz="1600" dirty="0"/>
          </a:p>
        </p:txBody>
      </p:sp>
      <p:sp>
        <p:nvSpPr>
          <p:cNvPr id="12" name="Shape 10"/>
          <p:cNvSpPr/>
          <p:nvPr/>
        </p:nvSpPr>
        <p:spPr>
          <a:xfrm>
            <a:off x="2560320" y="1325880"/>
            <a:ext cx="2011680" cy="1353312"/>
          </a:xfrm>
          <a:prstGeom prst="roundRect">
            <a:avLst>
              <a:gd name="adj" fmla="val 5405"/>
            </a:avLst>
          </a:prstGeom>
          <a:solidFill>
            <a:srgbClr val="E1F5EE"/>
          </a:solidFill>
          <a:ln w="6350">
            <a:solidFill>
              <a:srgbClr val="D3D1C7"/>
            </a:solidFill>
            <a:prstDash val="solid"/>
          </a:ln>
          <a:effectLst>
            <a:outerShdw blurRad="63500" dist="25400" dir="2700000" algn="bl" rotWithShape="0">
              <a:srgbClr val="000000">
                <a:alpha val="6000"/>
              </a:srgbClr>
            </a:outerShdw>
          </a:effectLst>
        </p:spPr>
        <p:txBody>
          <a:bodyPr/>
          <a:lstStyle/>
          <a:p>
            <a:endParaRPr lang="en-US"/>
          </a:p>
        </p:txBody>
      </p:sp>
      <p:sp>
        <p:nvSpPr>
          <p:cNvPr id="13" name="Shape 11"/>
          <p:cNvSpPr/>
          <p:nvPr/>
        </p:nvSpPr>
        <p:spPr>
          <a:xfrm>
            <a:off x="3319272" y="1417320"/>
            <a:ext cx="475488" cy="475488"/>
          </a:xfrm>
          <a:prstGeom prst="ellipse">
            <a:avLst/>
          </a:prstGeom>
          <a:solidFill>
            <a:srgbClr val="0F6E56"/>
          </a:solidFill>
          <a:ln w="12700">
            <a:solidFill>
              <a:srgbClr val="0F6E56"/>
            </a:solidFill>
            <a:prstDash val="solid"/>
          </a:ln>
        </p:spPr>
        <p:txBody>
          <a:bodyPr/>
          <a:lstStyle/>
          <a:p>
            <a:endParaRPr lang="en-US"/>
          </a:p>
        </p:txBody>
      </p:sp>
      <p:sp>
        <p:nvSpPr>
          <p:cNvPr id="14" name="Text 12"/>
          <p:cNvSpPr/>
          <p:nvPr/>
        </p:nvSpPr>
        <p:spPr>
          <a:xfrm>
            <a:off x="3319272" y="1417320"/>
            <a:ext cx="475488" cy="475488"/>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2</a:t>
            </a:r>
            <a:endParaRPr lang="en-US" sz="1300" dirty="0"/>
          </a:p>
        </p:txBody>
      </p:sp>
      <p:sp>
        <p:nvSpPr>
          <p:cNvPr id="15" name="Text 13"/>
          <p:cNvSpPr/>
          <p:nvPr/>
        </p:nvSpPr>
        <p:spPr>
          <a:xfrm>
            <a:off x="2560320" y="1947672"/>
            <a:ext cx="2011680" cy="256032"/>
          </a:xfrm>
          <a:prstGeom prst="rect">
            <a:avLst/>
          </a:prstGeom>
          <a:noFill/>
          <a:ln/>
        </p:spPr>
        <p:txBody>
          <a:bodyPr wrap="square" rtlCol="0" anchor="ctr"/>
          <a:lstStyle/>
          <a:p>
            <a:pPr marL="0" indent="0" algn="ctr">
              <a:buNone/>
            </a:pPr>
            <a:r>
              <a:rPr lang="en-US" sz="1100" b="1" dirty="0">
                <a:solidFill>
                  <a:srgbClr val="0F1E3C"/>
                </a:solidFill>
                <a:latin typeface="Arial" pitchFamily="34" charset="0"/>
                <a:ea typeface="Arial" pitchFamily="34" charset="-122"/>
                <a:cs typeface="Arial" pitchFamily="34" charset="-120"/>
              </a:rPr>
              <a:t>Memory retrieval</a:t>
            </a:r>
            <a:endParaRPr lang="en-US" sz="1100" dirty="0"/>
          </a:p>
        </p:txBody>
      </p:sp>
      <p:sp>
        <p:nvSpPr>
          <p:cNvPr id="16" name="Text 14"/>
          <p:cNvSpPr/>
          <p:nvPr/>
        </p:nvSpPr>
        <p:spPr>
          <a:xfrm>
            <a:off x="2560320" y="2203704"/>
            <a:ext cx="2011680" cy="201168"/>
          </a:xfrm>
          <a:prstGeom prst="rect">
            <a:avLst/>
          </a:prstGeom>
          <a:noFill/>
          <a:ln/>
        </p:spPr>
        <p:txBody>
          <a:bodyPr wrap="square" rtlCol="0" anchor="ctr"/>
          <a:lstStyle/>
          <a:p>
            <a:pPr marL="0" indent="0" algn="ctr">
              <a:buNone/>
            </a:pPr>
            <a:r>
              <a:rPr lang="en-US" sz="850" b="1" dirty="0">
                <a:solidFill>
                  <a:srgbClr val="0F6E56"/>
                </a:solidFill>
                <a:latin typeface="Arial" pitchFamily="34" charset="0"/>
                <a:ea typeface="Arial" pitchFamily="34" charset="-122"/>
                <a:cs typeface="Arial" pitchFamily="34" charset="-120"/>
              </a:rPr>
              <a:t>jiraMemoryRetriever.ts</a:t>
            </a:r>
            <a:endParaRPr lang="en-US" sz="850" dirty="0"/>
          </a:p>
        </p:txBody>
      </p:sp>
      <p:sp>
        <p:nvSpPr>
          <p:cNvPr id="17" name="Text 15"/>
          <p:cNvSpPr/>
          <p:nvPr/>
        </p:nvSpPr>
        <p:spPr>
          <a:xfrm>
            <a:off x="2560320" y="2404872"/>
            <a:ext cx="2011680" cy="201168"/>
          </a:xfrm>
          <a:prstGeom prst="rect">
            <a:avLst/>
          </a:prstGeom>
          <a:noFill/>
          <a:ln/>
        </p:spPr>
        <p:txBody>
          <a:bodyPr wrap="square" rtlCol="0" anchor="ctr"/>
          <a:lstStyle/>
          <a:p>
            <a:pPr marL="0" indent="0" algn="ctr">
              <a:buNone/>
            </a:pPr>
            <a:r>
              <a:rPr lang="en-US" sz="850" dirty="0">
                <a:solidFill>
                  <a:srgbClr val="64635E"/>
                </a:solidFill>
                <a:latin typeface="Arial" pitchFamily="34" charset="0"/>
                <a:ea typeface="Arial" pitchFamily="34" charset="-122"/>
                <a:cs typeface="Arial" pitchFamily="34" charset="-120"/>
              </a:rPr>
              <a:t>Past ADRs scored + ranked</a:t>
            </a:r>
            <a:endParaRPr lang="en-US" sz="850" dirty="0"/>
          </a:p>
        </p:txBody>
      </p:sp>
      <p:sp>
        <p:nvSpPr>
          <p:cNvPr id="18" name="Text 16"/>
          <p:cNvSpPr/>
          <p:nvPr/>
        </p:nvSpPr>
        <p:spPr>
          <a:xfrm>
            <a:off x="4572000" y="1746504"/>
            <a:ext cx="164592" cy="274320"/>
          </a:xfrm>
          <a:prstGeom prst="rect">
            <a:avLst/>
          </a:prstGeom>
          <a:noFill/>
          <a:ln/>
        </p:spPr>
        <p:txBody>
          <a:bodyPr wrap="square" rtlCol="0" anchor="ctr"/>
          <a:lstStyle/>
          <a:p>
            <a:pPr marL="0" indent="0" algn="ctr">
              <a:buNone/>
            </a:pPr>
            <a:r>
              <a:rPr lang="en-US" sz="1600" b="1" dirty="0">
                <a:solidFill>
                  <a:srgbClr val="2E6DA4"/>
                </a:solidFill>
                <a:latin typeface="Arial" pitchFamily="34" charset="0"/>
                <a:ea typeface="Arial" pitchFamily="34" charset="-122"/>
                <a:cs typeface="Arial" pitchFamily="34" charset="-120"/>
              </a:rPr>
              <a:t>›</a:t>
            </a:r>
            <a:endParaRPr lang="en-US" sz="1600" dirty="0"/>
          </a:p>
        </p:txBody>
      </p:sp>
      <p:sp>
        <p:nvSpPr>
          <p:cNvPr id="19" name="Shape 17"/>
          <p:cNvSpPr/>
          <p:nvPr/>
        </p:nvSpPr>
        <p:spPr>
          <a:xfrm>
            <a:off x="4709160" y="1325880"/>
            <a:ext cx="2011680" cy="1353312"/>
          </a:xfrm>
          <a:prstGeom prst="roundRect">
            <a:avLst>
              <a:gd name="adj" fmla="val 5405"/>
            </a:avLst>
          </a:prstGeom>
          <a:solidFill>
            <a:srgbClr val="EBF2FA"/>
          </a:solidFill>
          <a:ln w="6350">
            <a:solidFill>
              <a:srgbClr val="D3D1C7"/>
            </a:solidFill>
            <a:prstDash val="solid"/>
          </a:ln>
          <a:effectLst>
            <a:outerShdw blurRad="63500" dist="25400" dir="2700000" algn="bl" rotWithShape="0">
              <a:srgbClr val="000000">
                <a:alpha val="6000"/>
              </a:srgbClr>
            </a:outerShdw>
          </a:effectLst>
        </p:spPr>
        <p:txBody>
          <a:bodyPr/>
          <a:lstStyle/>
          <a:p>
            <a:endParaRPr lang="en-US"/>
          </a:p>
        </p:txBody>
      </p:sp>
      <p:sp>
        <p:nvSpPr>
          <p:cNvPr id="20" name="Shape 18"/>
          <p:cNvSpPr/>
          <p:nvPr/>
        </p:nvSpPr>
        <p:spPr>
          <a:xfrm>
            <a:off x="5468112" y="1417320"/>
            <a:ext cx="475488" cy="475488"/>
          </a:xfrm>
          <a:prstGeom prst="ellipse">
            <a:avLst/>
          </a:prstGeom>
          <a:solidFill>
            <a:srgbClr val="1B4F9B"/>
          </a:solidFill>
          <a:ln w="12700">
            <a:solidFill>
              <a:srgbClr val="1B4F9B"/>
            </a:solidFill>
            <a:prstDash val="solid"/>
          </a:ln>
        </p:spPr>
        <p:txBody>
          <a:bodyPr/>
          <a:lstStyle/>
          <a:p>
            <a:endParaRPr lang="en-US"/>
          </a:p>
        </p:txBody>
      </p:sp>
      <p:sp>
        <p:nvSpPr>
          <p:cNvPr id="21" name="Text 19"/>
          <p:cNvSpPr/>
          <p:nvPr/>
        </p:nvSpPr>
        <p:spPr>
          <a:xfrm>
            <a:off x="5468112" y="1417320"/>
            <a:ext cx="475488" cy="475488"/>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3</a:t>
            </a:r>
            <a:endParaRPr lang="en-US" sz="1300" dirty="0"/>
          </a:p>
        </p:txBody>
      </p:sp>
      <p:sp>
        <p:nvSpPr>
          <p:cNvPr id="22" name="Text 20"/>
          <p:cNvSpPr/>
          <p:nvPr/>
        </p:nvSpPr>
        <p:spPr>
          <a:xfrm>
            <a:off x="4709160" y="1947672"/>
            <a:ext cx="2011680" cy="256032"/>
          </a:xfrm>
          <a:prstGeom prst="rect">
            <a:avLst/>
          </a:prstGeom>
          <a:noFill/>
          <a:ln/>
        </p:spPr>
        <p:txBody>
          <a:bodyPr wrap="square" rtlCol="0" anchor="ctr"/>
          <a:lstStyle/>
          <a:p>
            <a:pPr marL="0" indent="0" algn="ctr">
              <a:buNone/>
            </a:pPr>
            <a:r>
              <a:rPr lang="en-US" sz="1100" b="1" dirty="0">
                <a:solidFill>
                  <a:srgbClr val="0F1E3C"/>
                </a:solidFill>
                <a:latin typeface="Arial" pitchFamily="34" charset="0"/>
                <a:ea typeface="Arial" pitchFamily="34" charset="-122"/>
                <a:cs typeface="Arial" pitchFamily="34" charset="-120"/>
              </a:rPr>
              <a:t>Phase 1 — Design</a:t>
            </a:r>
            <a:endParaRPr lang="en-US" sz="1100" dirty="0"/>
          </a:p>
        </p:txBody>
      </p:sp>
      <p:sp>
        <p:nvSpPr>
          <p:cNvPr id="23" name="Text 21"/>
          <p:cNvSpPr/>
          <p:nvPr/>
        </p:nvSpPr>
        <p:spPr>
          <a:xfrm>
            <a:off x="4709160" y="2203704"/>
            <a:ext cx="2011680" cy="201168"/>
          </a:xfrm>
          <a:prstGeom prst="rect">
            <a:avLst/>
          </a:prstGeom>
          <a:noFill/>
          <a:ln/>
        </p:spPr>
        <p:txBody>
          <a:bodyPr wrap="square" rtlCol="0" anchor="ctr"/>
          <a:lstStyle/>
          <a:p>
            <a:pPr marL="0" indent="0" algn="ctr">
              <a:buNone/>
            </a:pPr>
            <a:r>
              <a:rPr lang="en-US" sz="850" b="1" dirty="0">
                <a:solidFill>
                  <a:srgbClr val="1B4F9B"/>
                </a:solidFill>
                <a:latin typeface="Arial" pitchFamily="34" charset="0"/>
                <a:ea typeface="Arial" pitchFamily="34" charset="-122"/>
                <a:cs typeface="Arial" pitchFamily="34" charset="-120"/>
              </a:rPr>
              <a:t>ForumOrchestrator.ts</a:t>
            </a:r>
            <a:endParaRPr lang="en-US" sz="850" dirty="0"/>
          </a:p>
        </p:txBody>
      </p:sp>
      <p:sp>
        <p:nvSpPr>
          <p:cNvPr id="24" name="Text 22"/>
          <p:cNvSpPr/>
          <p:nvPr/>
        </p:nvSpPr>
        <p:spPr>
          <a:xfrm>
            <a:off x="4709160" y="2404872"/>
            <a:ext cx="2011680" cy="201168"/>
          </a:xfrm>
          <a:prstGeom prst="rect">
            <a:avLst/>
          </a:prstGeom>
          <a:noFill/>
          <a:ln/>
        </p:spPr>
        <p:txBody>
          <a:bodyPr wrap="square" rtlCol="0" anchor="ctr"/>
          <a:lstStyle/>
          <a:p>
            <a:pPr marL="0" indent="0" algn="ctr">
              <a:buNone/>
            </a:pPr>
            <a:r>
              <a:rPr lang="en-US" sz="850" dirty="0">
                <a:solidFill>
                  <a:srgbClr val="64635E"/>
                </a:solidFill>
                <a:latin typeface="Arial" pitchFamily="34" charset="0"/>
                <a:ea typeface="Arial" pitchFamily="34" charset="-122"/>
                <a:cs typeface="Arial" pitchFamily="34" charset="-120"/>
              </a:rPr>
              <a:t>Designer agent (skipped in doc review mode)</a:t>
            </a:r>
            <a:endParaRPr lang="en-US" sz="850" dirty="0"/>
          </a:p>
        </p:txBody>
      </p:sp>
      <p:sp>
        <p:nvSpPr>
          <p:cNvPr id="25" name="Text 23"/>
          <p:cNvSpPr/>
          <p:nvPr/>
        </p:nvSpPr>
        <p:spPr>
          <a:xfrm>
            <a:off x="6720840" y="1746504"/>
            <a:ext cx="164592" cy="274320"/>
          </a:xfrm>
          <a:prstGeom prst="rect">
            <a:avLst/>
          </a:prstGeom>
          <a:noFill/>
          <a:ln/>
        </p:spPr>
        <p:txBody>
          <a:bodyPr wrap="square" rtlCol="0" anchor="ctr"/>
          <a:lstStyle/>
          <a:p>
            <a:pPr marL="0" indent="0" algn="ctr">
              <a:buNone/>
            </a:pPr>
            <a:r>
              <a:rPr lang="en-US" sz="1600" b="1" dirty="0">
                <a:solidFill>
                  <a:srgbClr val="2E6DA4"/>
                </a:solidFill>
                <a:latin typeface="Arial" pitchFamily="34" charset="0"/>
                <a:ea typeface="Arial" pitchFamily="34" charset="-122"/>
                <a:cs typeface="Arial" pitchFamily="34" charset="-120"/>
              </a:rPr>
              <a:t>›</a:t>
            </a:r>
            <a:endParaRPr lang="en-US" sz="1600" dirty="0"/>
          </a:p>
        </p:txBody>
      </p:sp>
      <p:sp>
        <p:nvSpPr>
          <p:cNvPr id="26" name="Shape 24"/>
          <p:cNvSpPr/>
          <p:nvPr/>
        </p:nvSpPr>
        <p:spPr>
          <a:xfrm>
            <a:off x="6858000" y="1325880"/>
            <a:ext cx="2011680" cy="1353312"/>
          </a:xfrm>
          <a:prstGeom prst="roundRect">
            <a:avLst>
              <a:gd name="adj" fmla="val 5405"/>
            </a:avLst>
          </a:prstGeom>
          <a:solidFill>
            <a:srgbClr val="EBF2FA"/>
          </a:solidFill>
          <a:ln w="6350">
            <a:solidFill>
              <a:srgbClr val="D3D1C7"/>
            </a:solidFill>
            <a:prstDash val="solid"/>
          </a:ln>
          <a:effectLst>
            <a:outerShdw blurRad="63500" dist="25400" dir="2700000" algn="bl" rotWithShape="0">
              <a:srgbClr val="000000">
                <a:alpha val="6000"/>
              </a:srgbClr>
            </a:outerShdw>
          </a:effectLst>
        </p:spPr>
        <p:txBody>
          <a:bodyPr/>
          <a:lstStyle/>
          <a:p>
            <a:endParaRPr lang="en-US"/>
          </a:p>
        </p:txBody>
      </p:sp>
      <p:sp>
        <p:nvSpPr>
          <p:cNvPr id="27" name="Shape 25"/>
          <p:cNvSpPr/>
          <p:nvPr/>
        </p:nvSpPr>
        <p:spPr>
          <a:xfrm>
            <a:off x="7616952" y="1417320"/>
            <a:ext cx="475488" cy="475488"/>
          </a:xfrm>
          <a:prstGeom prst="ellipse">
            <a:avLst/>
          </a:prstGeom>
          <a:solidFill>
            <a:srgbClr val="1B4F9B"/>
          </a:solidFill>
          <a:ln w="12700">
            <a:solidFill>
              <a:srgbClr val="1B4F9B"/>
            </a:solidFill>
            <a:prstDash val="solid"/>
          </a:ln>
        </p:spPr>
        <p:txBody>
          <a:bodyPr/>
          <a:lstStyle/>
          <a:p>
            <a:endParaRPr lang="en-US"/>
          </a:p>
        </p:txBody>
      </p:sp>
      <p:sp>
        <p:nvSpPr>
          <p:cNvPr id="28" name="Text 26"/>
          <p:cNvSpPr/>
          <p:nvPr/>
        </p:nvSpPr>
        <p:spPr>
          <a:xfrm>
            <a:off x="7616952" y="1417320"/>
            <a:ext cx="475488" cy="475488"/>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4</a:t>
            </a:r>
            <a:endParaRPr lang="en-US" sz="1300" dirty="0"/>
          </a:p>
        </p:txBody>
      </p:sp>
      <p:sp>
        <p:nvSpPr>
          <p:cNvPr id="29" name="Text 27"/>
          <p:cNvSpPr/>
          <p:nvPr/>
        </p:nvSpPr>
        <p:spPr>
          <a:xfrm>
            <a:off x="6858000" y="1947672"/>
            <a:ext cx="2011680" cy="256032"/>
          </a:xfrm>
          <a:prstGeom prst="rect">
            <a:avLst/>
          </a:prstGeom>
          <a:noFill/>
          <a:ln/>
        </p:spPr>
        <p:txBody>
          <a:bodyPr wrap="square" rtlCol="0" anchor="ctr"/>
          <a:lstStyle/>
          <a:p>
            <a:pPr marL="0" indent="0" algn="ctr">
              <a:buNone/>
            </a:pPr>
            <a:r>
              <a:rPr lang="en-US" sz="1100" b="1" dirty="0">
                <a:solidFill>
                  <a:srgbClr val="0F1E3C"/>
                </a:solidFill>
                <a:latin typeface="Arial" pitchFamily="34" charset="0"/>
                <a:ea typeface="Arial" pitchFamily="34" charset="-122"/>
                <a:cs typeface="Arial" pitchFamily="34" charset="-120"/>
              </a:rPr>
              <a:t>Phase 2 — Debate</a:t>
            </a:r>
            <a:endParaRPr lang="en-US" sz="1100" dirty="0"/>
          </a:p>
        </p:txBody>
      </p:sp>
      <p:sp>
        <p:nvSpPr>
          <p:cNvPr id="30" name="Text 28"/>
          <p:cNvSpPr/>
          <p:nvPr/>
        </p:nvSpPr>
        <p:spPr>
          <a:xfrm>
            <a:off x="6858000" y="2203704"/>
            <a:ext cx="2011680" cy="201168"/>
          </a:xfrm>
          <a:prstGeom prst="rect">
            <a:avLst/>
          </a:prstGeom>
          <a:noFill/>
          <a:ln/>
        </p:spPr>
        <p:txBody>
          <a:bodyPr wrap="square" rtlCol="0" anchor="ctr"/>
          <a:lstStyle/>
          <a:p>
            <a:pPr marL="0" indent="0" algn="ctr">
              <a:buNone/>
            </a:pPr>
            <a:r>
              <a:rPr lang="en-US" sz="850" b="1" dirty="0">
                <a:solidFill>
                  <a:srgbClr val="1B4F9B"/>
                </a:solidFill>
                <a:latin typeface="Arial" pitchFamily="34" charset="0"/>
                <a:ea typeface="Arial" pitchFamily="34" charset="-122"/>
                <a:cs typeface="Arial" pitchFamily="34" charset="-120"/>
              </a:rPr>
              <a:t>7 specialist agents</a:t>
            </a:r>
            <a:endParaRPr lang="en-US" sz="850" dirty="0"/>
          </a:p>
        </p:txBody>
      </p:sp>
      <p:sp>
        <p:nvSpPr>
          <p:cNvPr id="31" name="Text 29"/>
          <p:cNvSpPr/>
          <p:nvPr/>
        </p:nvSpPr>
        <p:spPr>
          <a:xfrm>
            <a:off x="6858000" y="2404872"/>
            <a:ext cx="2011680" cy="201168"/>
          </a:xfrm>
          <a:prstGeom prst="rect">
            <a:avLst/>
          </a:prstGeom>
          <a:noFill/>
          <a:ln/>
        </p:spPr>
        <p:txBody>
          <a:bodyPr wrap="square" rtlCol="0" anchor="ctr"/>
          <a:lstStyle/>
          <a:p>
            <a:pPr marL="0" indent="0" algn="ctr">
              <a:buNone/>
            </a:pPr>
            <a:r>
              <a:rPr lang="en-US" sz="850" dirty="0">
                <a:solidFill>
                  <a:srgbClr val="64635E"/>
                </a:solidFill>
                <a:latin typeface="Arial" pitchFamily="34" charset="0"/>
                <a:ea typeface="Arial" pitchFamily="34" charset="-122"/>
                <a:cs typeface="Arial" pitchFamily="34" charset="-120"/>
              </a:rPr>
              <a:t>Parallel, independent critique</a:t>
            </a:r>
            <a:endParaRPr lang="en-US" sz="850" dirty="0"/>
          </a:p>
        </p:txBody>
      </p:sp>
      <p:sp>
        <p:nvSpPr>
          <p:cNvPr id="32" name="Shape 30"/>
          <p:cNvSpPr/>
          <p:nvPr/>
        </p:nvSpPr>
        <p:spPr>
          <a:xfrm>
            <a:off x="411480" y="2834640"/>
            <a:ext cx="2011680" cy="1353312"/>
          </a:xfrm>
          <a:prstGeom prst="roundRect">
            <a:avLst>
              <a:gd name="adj" fmla="val 5405"/>
            </a:avLst>
          </a:prstGeom>
          <a:solidFill>
            <a:srgbClr val="EEEDFE"/>
          </a:solidFill>
          <a:ln w="6350">
            <a:solidFill>
              <a:srgbClr val="D3D1C7"/>
            </a:solidFill>
            <a:prstDash val="solid"/>
          </a:ln>
          <a:effectLst>
            <a:outerShdw blurRad="63500" dist="25400" dir="2700000" algn="bl" rotWithShape="0">
              <a:srgbClr val="000000">
                <a:alpha val="6000"/>
              </a:srgbClr>
            </a:outerShdw>
          </a:effectLst>
        </p:spPr>
        <p:txBody>
          <a:bodyPr/>
          <a:lstStyle/>
          <a:p>
            <a:endParaRPr lang="en-US"/>
          </a:p>
        </p:txBody>
      </p:sp>
      <p:sp>
        <p:nvSpPr>
          <p:cNvPr id="33" name="Shape 31"/>
          <p:cNvSpPr/>
          <p:nvPr/>
        </p:nvSpPr>
        <p:spPr>
          <a:xfrm>
            <a:off x="1170432" y="2926080"/>
            <a:ext cx="475488" cy="475488"/>
          </a:xfrm>
          <a:prstGeom prst="ellipse">
            <a:avLst/>
          </a:prstGeom>
          <a:solidFill>
            <a:srgbClr val="534AB7"/>
          </a:solidFill>
          <a:ln w="12700">
            <a:solidFill>
              <a:srgbClr val="534AB7"/>
            </a:solidFill>
            <a:prstDash val="solid"/>
          </a:ln>
        </p:spPr>
        <p:txBody>
          <a:bodyPr/>
          <a:lstStyle/>
          <a:p>
            <a:endParaRPr lang="en-US"/>
          </a:p>
        </p:txBody>
      </p:sp>
      <p:sp>
        <p:nvSpPr>
          <p:cNvPr id="34" name="Text 32"/>
          <p:cNvSpPr/>
          <p:nvPr/>
        </p:nvSpPr>
        <p:spPr>
          <a:xfrm>
            <a:off x="1170432" y="2926080"/>
            <a:ext cx="475488" cy="475488"/>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5</a:t>
            </a:r>
            <a:endParaRPr lang="en-US" sz="1300" dirty="0"/>
          </a:p>
        </p:txBody>
      </p:sp>
      <p:sp>
        <p:nvSpPr>
          <p:cNvPr id="35" name="Text 33"/>
          <p:cNvSpPr/>
          <p:nvPr/>
        </p:nvSpPr>
        <p:spPr>
          <a:xfrm>
            <a:off x="411480" y="3456432"/>
            <a:ext cx="2011680" cy="256032"/>
          </a:xfrm>
          <a:prstGeom prst="rect">
            <a:avLst/>
          </a:prstGeom>
          <a:noFill/>
          <a:ln/>
        </p:spPr>
        <p:txBody>
          <a:bodyPr wrap="square" rtlCol="0" anchor="ctr"/>
          <a:lstStyle/>
          <a:p>
            <a:pPr marL="0" indent="0" algn="ctr">
              <a:buNone/>
            </a:pPr>
            <a:r>
              <a:rPr lang="en-US" sz="1100" b="1" dirty="0">
                <a:solidFill>
                  <a:srgbClr val="0F1E3C"/>
                </a:solidFill>
                <a:latin typeface="Arial" pitchFamily="34" charset="0"/>
                <a:ea typeface="Arial" pitchFamily="34" charset="-122"/>
                <a:cs typeface="Arial" pitchFamily="34" charset="-120"/>
              </a:rPr>
              <a:t>Phase 3 — Judge</a:t>
            </a:r>
            <a:endParaRPr lang="en-US" sz="1100" dirty="0"/>
          </a:p>
        </p:txBody>
      </p:sp>
      <p:sp>
        <p:nvSpPr>
          <p:cNvPr id="36" name="Text 34"/>
          <p:cNvSpPr/>
          <p:nvPr/>
        </p:nvSpPr>
        <p:spPr>
          <a:xfrm>
            <a:off x="411480" y="3712464"/>
            <a:ext cx="2011680" cy="201168"/>
          </a:xfrm>
          <a:prstGeom prst="rect">
            <a:avLst/>
          </a:prstGeom>
          <a:noFill/>
          <a:ln/>
        </p:spPr>
        <p:txBody>
          <a:bodyPr wrap="square" rtlCol="0" anchor="ctr"/>
          <a:lstStyle/>
          <a:p>
            <a:pPr marL="0" indent="0" algn="ctr">
              <a:buNone/>
            </a:pPr>
            <a:r>
              <a:rPr lang="en-US" sz="850" b="1" dirty="0">
                <a:solidFill>
                  <a:srgbClr val="534AB7"/>
                </a:solidFill>
                <a:latin typeface="Arial" pitchFamily="34" charset="0"/>
                <a:ea typeface="Arial" pitchFamily="34" charset="-122"/>
                <a:cs typeface="Arial" pitchFamily="34" charset="-120"/>
              </a:rPr>
              <a:t>AgentRunner.ts</a:t>
            </a:r>
            <a:endParaRPr lang="en-US" sz="850" dirty="0"/>
          </a:p>
        </p:txBody>
      </p:sp>
      <p:sp>
        <p:nvSpPr>
          <p:cNvPr id="37" name="Text 35"/>
          <p:cNvSpPr/>
          <p:nvPr/>
        </p:nvSpPr>
        <p:spPr>
          <a:xfrm>
            <a:off x="411480" y="3913632"/>
            <a:ext cx="2011680" cy="201168"/>
          </a:xfrm>
          <a:prstGeom prst="rect">
            <a:avLst/>
          </a:prstGeom>
          <a:noFill/>
          <a:ln/>
        </p:spPr>
        <p:txBody>
          <a:bodyPr wrap="square" rtlCol="0" anchor="ctr"/>
          <a:lstStyle/>
          <a:p>
            <a:pPr marL="0" indent="0" algn="ctr">
              <a:buNone/>
            </a:pPr>
            <a:r>
              <a:rPr lang="en-US" sz="850" dirty="0">
                <a:solidFill>
                  <a:srgbClr val="64635E"/>
                </a:solidFill>
                <a:latin typeface="Arial" pitchFamily="34" charset="0"/>
                <a:ea typeface="Arial" pitchFamily="34" charset="-122"/>
                <a:cs typeface="Arial" pitchFamily="34" charset="-120"/>
              </a:rPr>
              <a:t>Arbitrates, confidence score</a:t>
            </a:r>
            <a:endParaRPr lang="en-US" sz="850" dirty="0"/>
          </a:p>
        </p:txBody>
      </p:sp>
      <p:sp>
        <p:nvSpPr>
          <p:cNvPr id="38" name="Text 36"/>
          <p:cNvSpPr/>
          <p:nvPr/>
        </p:nvSpPr>
        <p:spPr>
          <a:xfrm>
            <a:off x="2423160" y="3255264"/>
            <a:ext cx="164592" cy="274320"/>
          </a:xfrm>
          <a:prstGeom prst="rect">
            <a:avLst/>
          </a:prstGeom>
          <a:noFill/>
          <a:ln/>
        </p:spPr>
        <p:txBody>
          <a:bodyPr wrap="square" rtlCol="0" anchor="ctr"/>
          <a:lstStyle/>
          <a:p>
            <a:pPr marL="0" indent="0" algn="ctr">
              <a:buNone/>
            </a:pPr>
            <a:r>
              <a:rPr lang="en-US" sz="1600" b="1" dirty="0">
                <a:solidFill>
                  <a:srgbClr val="2E6DA4"/>
                </a:solidFill>
                <a:latin typeface="Arial" pitchFamily="34" charset="0"/>
                <a:ea typeface="Arial" pitchFamily="34" charset="-122"/>
                <a:cs typeface="Arial" pitchFamily="34" charset="-120"/>
              </a:rPr>
              <a:t>›</a:t>
            </a:r>
            <a:endParaRPr lang="en-US" sz="1600" dirty="0"/>
          </a:p>
        </p:txBody>
      </p:sp>
      <p:sp>
        <p:nvSpPr>
          <p:cNvPr id="39" name="Shape 37"/>
          <p:cNvSpPr/>
          <p:nvPr/>
        </p:nvSpPr>
        <p:spPr>
          <a:xfrm>
            <a:off x="2560320" y="2834640"/>
            <a:ext cx="2011680" cy="1353312"/>
          </a:xfrm>
          <a:prstGeom prst="roundRect">
            <a:avLst>
              <a:gd name="adj" fmla="val 5405"/>
            </a:avLst>
          </a:prstGeom>
          <a:solidFill>
            <a:srgbClr val="FAEEDA"/>
          </a:solidFill>
          <a:ln w="6350">
            <a:solidFill>
              <a:srgbClr val="D3D1C7"/>
            </a:solidFill>
            <a:prstDash val="solid"/>
          </a:ln>
          <a:effectLst>
            <a:outerShdw blurRad="63500" dist="25400" dir="2700000" algn="bl" rotWithShape="0">
              <a:srgbClr val="000000">
                <a:alpha val="6000"/>
              </a:srgbClr>
            </a:outerShdw>
          </a:effectLst>
        </p:spPr>
        <p:txBody>
          <a:bodyPr/>
          <a:lstStyle/>
          <a:p>
            <a:endParaRPr lang="en-US"/>
          </a:p>
        </p:txBody>
      </p:sp>
      <p:sp>
        <p:nvSpPr>
          <p:cNvPr id="40" name="Shape 38"/>
          <p:cNvSpPr/>
          <p:nvPr/>
        </p:nvSpPr>
        <p:spPr>
          <a:xfrm>
            <a:off x="3319272" y="2926080"/>
            <a:ext cx="475488" cy="475488"/>
          </a:xfrm>
          <a:prstGeom prst="ellipse">
            <a:avLst/>
          </a:prstGeom>
          <a:solidFill>
            <a:srgbClr val="BA7517"/>
          </a:solidFill>
          <a:ln w="12700">
            <a:solidFill>
              <a:srgbClr val="BA7517"/>
            </a:solidFill>
            <a:prstDash val="solid"/>
          </a:ln>
        </p:spPr>
        <p:txBody>
          <a:bodyPr/>
          <a:lstStyle/>
          <a:p>
            <a:endParaRPr lang="en-US"/>
          </a:p>
        </p:txBody>
      </p:sp>
      <p:sp>
        <p:nvSpPr>
          <p:cNvPr id="41" name="Text 39"/>
          <p:cNvSpPr/>
          <p:nvPr/>
        </p:nvSpPr>
        <p:spPr>
          <a:xfrm>
            <a:off x="3319272" y="2926080"/>
            <a:ext cx="475488" cy="475488"/>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6</a:t>
            </a:r>
            <a:endParaRPr lang="en-US" sz="1300" dirty="0"/>
          </a:p>
        </p:txBody>
      </p:sp>
      <p:sp>
        <p:nvSpPr>
          <p:cNvPr id="42" name="Text 40"/>
          <p:cNvSpPr/>
          <p:nvPr/>
        </p:nvSpPr>
        <p:spPr>
          <a:xfrm>
            <a:off x="2560320" y="3456432"/>
            <a:ext cx="2011680" cy="256032"/>
          </a:xfrm>
          <a:prstGeom prst="rect">
            <a:avLst/>
          </a:prstGeom>
          <a:noFill/>
          <a:ln/>
        </p:spPr>
        <p:txBody>
          <a:bodyPr wrap="square" rtlCol="0" anchor="ctr"/>
          <a:lstStyle/>
          <a:p>
            <a:pPr marL="0" indent="0" algn="ctr">
              <a:buNone/>
            </a:pPr>
            <a:r>
              <a:rPr lang="en-US" sz="1100" b="1" dirty="0">
                <a:solidFill>
                  <a:srgbClr val="0F1E3C"/>
                </a:solidFill>
                <a:latin typeface="Arial" pitchFamily="34" charset="0"/>
                <a:ea typeface="Arial" pitchFamily="34" charset="-122"/>
                <a:cs typeface="Arial" pitchFamily="34" charset="-120"/>
              </a:rPr>
              <a:t>Endorsement</a:t>
            </a:r>
            <a:endParaRPr lang="en-US" sz="1100" dirty="0"/>
          </a:p>
        </p:txBody>
      </p:sp>
      <p:sp>
        <p:nvSpPr>
          <p:cNvPr id="43" name="Text 41"/>
          <p:cNvSpPr/>
          <p:nvPr/>
        </p:nvSpPr>
        <p:spPr>
          <a:xfrm>
            <a:off x="2560320" y="3712464"/>
            <a:ext cx="2011680" cy="201168"/>
          </a:xfrm>
          <a:prstGeom prst="rect">
            <a:avLst/>
          </a:prstGeom>
          <a:noFill/>
          <a:ln/>
        </p:spPr>
        <p:txBody>
          <a:bodyPr wrap="square" rtlCol="0" anchor="ctr"/>
          <a:lstStyle/>
          <a:p>
            <a:pPr marL="0" indent="0" algn="ctr">
              <a:buNone/>
            </a:pPr>
            <a:r>
              <a:rPr lang="en-US" sz="850" b="1" dirty="0">
                <a:solidFill>
                  <a:srgbClr val="BA7517"/>
                </a:solidFill>
                <a:latin typeface="Arial" pitchFamily="34" charset="0"/>
                <a:ea typeface="Arial" pitchFamily="34" charset="-122"/>
                <a:cs typeface="Arial" pitchFamily="34" charset="-120"/>
              </a:rPr>
              <a:t>EndorsementPanel.tsx</a:t>
            </a:r>
            <a:endParaRPr lang="en-US" sz="850" dirty="0"/>
          </a:p>
        </p:txBody>
      </p:sp>
      <p:sp>
        <p:nvSpPr>
          <p:cNvPr id="44" name="Text 42"/>
          <p:cNvSpPr/>
          <p:nvPr/>
        </p:nvSpPr>
        <p:spPr>
          <a:xfrm>
            <a:off x="2560320" y="3913632"/>
            <a:ext cx="2011680" cy="201168"/>
          </a:xfrm>
          <a:prstGeom prst="rect">
            <a:avLst/>
          </a:prstGeom>
          <a:noFill/>
          <a:ln/>
        </p:spPr>
        <p:txBody>
          <a:bodyPr wrap="square" rtlCol="0" anchor="ctr"/>
          <a:lstStyle/>
          <a:p>
            <a:pPr marL="0" indent="0" algn="ctr">
              <a:buNone/>
            </a:pPr>
            <a:r>
              <a:rPr lang="en-US" sz="850" dirty="0">
                <a:solidFill>
                  <a:srgbClr val="64635E"/>
                </a:solidFill>
                <a:latin typeface="Arial" pitchFamily="34" charset="0"/>
                <a:ea typeface="Arial" pitchFamily="34" charset="-122"/>
                <a:cs typeface="Arial" pitchFamily="34" charset="-120"/>
              </a:rPr>
              <a:t>Admin countersigns or assigns</a:t>
            </a:r>
            <a:endParaRPr lang="en-US" sz="850" dirty="0"/>
          </a:p>
        </p:txBody>
      </p:sp>
      <p:sp>
        <p:nvSpPr>
          <p:cNvPr id="45" name="Text 43"/>
          <p:cNvSpPr/>
          <p:nvPr/>
        </p:nvSpPr>
        <p:spPr>
          <a:xfrm>
            <a:off x="4572000" y="3255264"/>
            <a:ext cx="164592" cy="274320"/>
          </a:xfrm>
          <a:prstGeom prst="rect">
            <a:avLst/>
          </a:prstGeom>
          <a:noFill/>
          <a:ln/>
        </p:spPr>
        <p:txBody>
          <a:bodyPr wrap="square" rtlCol="0" anchor="ctr"/>
          <a:lstStyle/>
          <a:p>
            <a:pPr marL="0" indent="0" algn="ctr">
              <a:buNone/>
            </a:pPr>
            <a:r>
              <a:rPr lang="en-US" sz="1600" b="1" dirty="0">
                <a:solidFill>
                  <a:srgbClr val="2E6DA4"/>
                </a:solidFill>
                <a:latin typeface="Arial" pitchFamily="34" charset="0"/>
                <a:ea typeface="Arial" pitchFamily="34" charset="-122"/>
                <a:cs typeface="Arial" pitchFamily="34" charset="-120"/>
              </a:rPr>
              <a:t>›</a:t>
            </a:r>
            <a:endParaRPr lang="en-US" sz="1600" dirty="0"/>
          </a:p>
        </p:txBody>
      </p:sp>
      <p:sp>
        <p:nvSpPr>
          <p:cNvPr id="46" name="Shape 44"/>
          <p:cNvSpPr/>
          <p:nvPr/>
        </p:nvSpPr>
        <p:spPr>
          <a:xfrm>
            <a:off x="4709160" y="2834640"/>
            <a:ext cx="2011680" cy="1353312"/>
          </a:xfrm>
          <a:prstGeom prst="roundRect">
            <a:avLst>
              <a:gd name="adj" fmla="val 5405"/>
            </a:avLst>
          </a:prstGeom>
          <a:solidFill>
            <a:srgbClr val="FAECE7"/>
          </a:solidFill>
          <a:ln w="6350">
            <a:solidFill>
              <a:srgbClr val="D3D1C7"/>
            </a:solidFill>
            <a:prstDash val="solid"/>
          </a:ln>
          <a:effectLst>
            <a:outerShdw blurRad="63500" dist="25400" dir="2700000" algn="bl" rotWithShape="0">
              <a:srgbClr val="000000">
                <a:alpha val="6000"/>
              </a:srgbClr>
            </a:outerShdw>
          </a:effectLst>
        </p:spPr>
        <p:txBody>
          <a:bodyPr/>
          <a:lstStyle/>
          <a:p>
            <a:endParaRPr lang="en-US"/>
          </a:p>
        </p:txBody>
      </p:sp>
      <p:sp>
        <p:nvSpPr>
          <p:cNvPr id="47" name="Shape 45"/>
          <p:cNvSpPr/>
          <p:nvPr/>
        </p:nvSpPr>
        <p:spPr>
          <a:xfrm>
            <a:off x="5468112" y="2926080"/>
            <a:ext cx="475488" cy="475488"/>
          </a:xfrm>
          <a:prstGeom prst="ellipse">
            <a:avLst/>
          </a:prstGeom>
          <a:solidFill>
            <a:srgbClr val="993C1D"/>
          </a:solidFill>
          <a:ln w="12700">
            <a:solidFill>
              <a:srgbClr val="993C1D"/>
            </a:solidFill>
            <a:prstDash val="solid"/>
          </a:ln>
        </p:spPr>
        <p:txBody>
          <a:bodyPr/>
          <a:lstStyle/>
          <a:p>
            <a:endParaRPr lang="en-US"/>
          </a:p>
        </p:txBody>
      </p:sp>
      <p:sp>
        <p:nvSpPr>
          <p:cNvPr id="48" name="Text 46"/>
          <p:cNvSpPr/>
          <p:nvPr/>
        </p:nvSpPr>
        <p:spPr>
          <a:xfrm>
            <a:off x="5468112" y="2926080"/>
            <a:ext cx="475488" cy="475488"/>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7</a:t>
            </a:r>
            <a:endParaRPr lang="en-US" sz="1300" dirty="0"/>
          </a:p>
        </p:txBody>
      </p:sp>
      <p:sp>
        <p:nvSpPr>
          <p:cNvPr id="49" name="Text 47"/>
          <p:cNvSpPr/>
          <p:nvPr/>
        </p:nvSpPr>
        <p:spPr>
          <a:xfrm>
            <a:off x="4709160" y="3456432"/>
            <a:ext cx="2011680" cy="256032"/>
          </a:xfrm>
          <a:prstGeom prst="rect">
            <a:avLst/>
          </a:prstGeom>
          <a:noFill/>
          <a:ln/>
        </p:spPr>
        <p:txBody>
          <a:bodyPr wrap="square" rtlCol="0" anchor="ctr"/>
          <a:lstStyle/>
          <a:p>
            <a:pPr marL="0" indent="0" algn="ctr">
              <a:buNone/>
            </a:pPr>
            <a:r>
              <a:rPr lang="en-US" sz="1100" b="1" dirty="0">
                <a:solidFill>
                  <a:srgbClr val="0F1E3C"/>
                </a:solidFill>
                <a:latin typeface="Arial" pitchFamily="34" charset="0"/>
                <a:ea typeface="Arial" pitchFamily="34" charset="-122"/>
                <a:cs typeface="Arial" pitchFamily="34" charset="-120"/>
              </a:rPr>
              <a:t>Jira write</a:t>
            </a:r>
            <a:endParaRPr lang="en-US" sz="1100" dirty="0"/>
          </a:p>
        </p:txBody>
      </p:sp>
      <p:sp>
        <p:nvSpPr>
          <p:cNvPr id="50" name="Text 48"/>
          <p:cNvSpPr/>
          <p:nvPr/>
        </p:nvSpPr>
        <p:spPr>
          <a:xfrm>
            <a:off x="4709160" y="3712464"/>
            <a:ext cx="2011680" cy="201168"/>
          </a:xfrm>
          <a:prstGeom prst="rect">
            <a:avLst/>
          </a:prstGeom>
          <a:noFill/>
          <a:ln/>
        </p:spPr>
        <p:txBody>
          <a:bodyPr wrap="square" rtlCol="0" anchor="ctr"/>
          <a:lstStyle/>
          <a:p>
            <a:pPr marL="0" indent="0" algn="ctr">
              <a:buNone/>
            </a:pPr>
            <a:r>
              <a:rPr lang="en-US" sz="850" b="1" dirty="0">
                <a:solidFill>
                  <a:srgbClr val="993C1D"/>
                </a:solidFill>
                <a:latin typeface="Arial" pitchFamily="34" charset="0"/>
                <a:ea typeface="Arial" pitchFamily="34" charset="-122"/>
                <a:cs typeface="Arial" pitchFamily="34" charset="-120"/>
              </a:rPr>
              <a:t>jira.ts</a:t>
            </a:r>
            <a:endParaRPr lang="en-US" sz="850" dirty="0"/>
          </a:p>
        </p:txBody>
      </p:sp>
      <p:sp>
        <p:nvSpPr>
          <p:cNvPr id="51" name="Text 49"/>
          <p:cNvSpPr/>
          <p:nvPr/>
        </p:nvSpPr>
        <p:spPr>
          <a:xfrm>
            <a:off x="4709160" y="3913632"/>
            <a:ext cx="2011680" cy="201168"/>
          </a:xfrm>
          <a:prstGeom prst="rect">
            <a:avLst/>
          </a:prstGeom>
          <a:noFill/>
          <a:ln/>
        </p:spPr>
        <p:txBody>
          <a:bodyPr wrap="square" rtlCol="0" anchor="ctr"/>
          <a:lstStyle/>
          <a:p>
            <a:pPr marL="0" indent="0" algn="ctr">
              <a:buNone/>
            </a:pPr>
            <a:r>
              <a:rPr lang="en-US" sz="850" dirty="0">
                <a:solidFill>
                  <a:srgbClr val="64635E"/>
                </a:solidFill>
                <a:latin typeface="Arial" pitchFamily="34" charset="0"/>
                <a:ea typeface="Arial" pitchFamily="34" charset="-122"/>
                <a:cs typeface="Arial" pitchFamily="34" charset="-120"/>
              </a:rPr>
              <a:t>ADR ticket + assignee + comment</a:t>
            </a:r>
            <a:endParaRPr lang="en-US" sz="850" dirty="0"/>
          </a:p>
        </p:txBody>
      </p:sp>
      <p:sp>
        <p:nvSpPr>
          <p:cNvPr id="52" name="Text 50"/>
          <p:cNvSpPr/>
          <p:nvPr/>
        </p:nvSpPr>
        <p:spPr>
          <a:xfrm>
            <a:off x="6720840" y="3255264"/>
            <a:ext cx="164592" cy="274320"/>
          </a:xfrm>
          <a:prstGeom prst="rect">
            <a:avLst/>
          </a:prstGeom>
          <a:noFill/>
          <a:ln/>
        </p:spPr>
        <p:txBody>
          <a:bodyPr wrap="square" rtlCol="0" anchor="ctr"/>
          <a:lstStyle/>
          <a:p>
            <a:pPr marL="0" indent="0" algn="ctr">
              <a:buNone/>
            </a:pPr>
            <a:r>
              <a:rPr lang="en-US" sz="1600" b="1" dirty="0">
                <a:solidFill>
                  <a:srgbClr val="2E6DA4"/>
                </a:solidFill>
                <a:latin typeface="Arial" pitchFamily="34" charset="0"/>
                <a:ea typeface="Arial" pitchFamily="34" charset="-122"/>
                <a:cs typeface="Arial" pitchFamily="34" charset="-120"/>
              </a:rPr>
              <a:t>›</a:t>
            </a:r>
            <a:endParaRPr lang="en-US" sz="1600" dirty="0"/>
          </a:p>
        </p:txBody>
      </p:sp>
      <p:sp>
        <p:nvSpPr>
          <p:cNvPr id="53" name="Shape 51"/>
          <p:cNvSpPr/>
          <p:nvPr/>
        </p:nvSpPr>
        <p:spPr>
          <a:xfrm>
            <a:off x="6858000" y="2834640"/>
            <a:ext cx="2011680" cy="1353312"/>
          </a:xfrm>
          <a:prstGeom prst="roundRect">
            <a:avLst>
              <a:gd name="adj" fmla="val 5405"/>
            </a:avLst>
          </a:prstGeom>
          <a:solidFill>
            <a:srgbClr val="EBEBEB"/>
          </a:solidFill>
          <a:ln w="6350">
            <a:solidFill>
              <a:srgbClr val="D3D1C7"/>
            </a:solidFill>
            <a:prstDash val="solid"/>
          </a:ln>
          <a:effectLst>
            <a:outerShdw blurRad="63500" dist="25400" dir="2700000" algn="bl" rotWithShape="0">
              <a:srgbClr val="000000">
                <a:alpha val="6000"/>
              </a:srgbClr>
            </a:outerShdw>
          </a:effectLst>
        </p:spPr>
        <p:txBody>
          <a:bodyPr/>
          <a:lstStyle/>
          <a:p>
            <a:endParaRPr lang="en-US"/>
          </a:p>
        </p:txBody>
      </p:sp>
      <p:sp>
        <p:nvSpPr>
          <p:cNvPr id="54" name="Shape 52"/>
          <p:cNvSpPr/>
          <p:nvPr/>
        </p:nvSpPr>
        <p:spPr>
          <a:xfrm>
            <a:off x="7616952" y="2926080"/>
            <a:ext cx="475488" cy="475488"/>
          </a:xfrm>
          <a:prstGeom prst="ellipse">
            <a:avLst/>
          </a:prstGeom>
          <a:solidFill>
            <a:srgbClr val="0F1E3C"/>
          </a:solidFill>
          <a:ln w="12700">
            <a:solidFill>
              <a:srgbClr val="0F1E3C"/>
            </a:solidFill>
            <a:prstDash val="solid"/>
          </a:ln>
        </p:spPr>
        <p:txBody>
          <a:bodyPr/>
          <a:lstStyle/>
          <a:p>
            <a:endParaRPr lang="en-US"/>
          </a:p>
        </p:txBody>
      </p:sp>
      <p:sp>
        <p:nvSpPr>
          <p:cNvPr id="55" name="Text 53"/>
          <p:cNvSpPr/>
          <p:nvPr/>
        </p:nvSpPr>
        <p:spPr>
          <a:xfrm>
            <a:off x="7616952" y="2926080"/>
            <a:ext cx="475488" cy="475488"/>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8</a:t>
            </a:r>
            <a:endParaRPr lang="en-US" sz="1300" dirty="0"/>
          </a:p>
        </p:txBody>
      </p:sp>
      <p:sp>
        <p:nvSpPr>
          <p:cNvPr id="56" name="Text 54"/>
          <p:cNvSpPr/>
          <p:nvPr/>
        </p:nvSpPr>
        <p:spPr>
          <a:xfrm>
            <a:off x="6858000" y="3456432"/>
            <a:ext cx="2011680" cy="256032"/>
          </a:xfrm>
          <a:prstGeom prst="rect">
            <a:avLst/>
          </a:prstGeom>
          <a:noFill/>
          <a:ln/>
        </p:spPr>
        <p:txBody>
          <a:bodyPr wrap="square" rtlCol="0" anchor="ctr"/>
          <a:lstStyle/>
          <a:p>
            <a:pPr marL="0" indent="0" algn="ctr">
              <a:buNone/>
            </a:pPr>
            <a:r>
              <a:rPr lang="en-US" sz="1100" b="1" dirty="0">
                <a:solidFill>
                  <a:srgbClr val="0F1E3C"/>
                </a:solidFill>
                <a:latin typeface="Arial" pitchFamily="34" charset="0"/>
                <a:ea typeface="Arial" pitchFamily="34" charset="-122"/>
                <a:cs typeface="Arial" pitchFamily="34" charset="-120"/>
              </a:rPr>
              <a:t>Supabase log</a:t>
            </a:r>
            <a:endParaRPr lang="en-US" sz="1100" dirty="0"/>
          </a:p>
        </p:txBody>
      </p:sp>
      <p:sp>
        <p:nvSpPr>
          <p:cNvPr id="57" name="Text 55"/>
          <p:cNvSpPr/>
          <p:nvPr/>
        </p:nvSpPr>
        <p:spPr>
          <a:xfrm>
            <a:off x="6858000" y="3712464"/>
            <a:ext cx="2011680" cy="201168"/>
          </a:xfrm>
          <a:prstGeom prst="rect">
            <a:avLst/>
          </a:prstGeom>
          <a:noFill/>
          <a:ln/>
        </p:spPr>
        <p:txBody>
          <a:bodyPr wrap="square" rtlCol="0" anchor="ctr"/>
          <a:lstStyle/>
          <a:p>
            <a:pPr marL="0" indent="0" algn="ctr">
              <a:buNone/>
            </a:pPr>
            <a:r>
              <a:rPr lang="en-US" sz="850" b="1" dirty="0">
                <a:solidFill>
                  <a:srgbClr val="0F1E3C"/>
                </a:solidFill>
                <a:latin typeface="Arial" pitchFamily="34" charset="0"/>
                <a:ea typeface="Arial" pitchFamily="34" charset="-122"/>
                <a:cs typeface="Arial" pitchFamily="34" charset="-120"/>
              </a:rPr>
              <a:t>session.ts</a:t>
            </a:r>
            <a:endParaRPr lang="en-US" sz="850" dirty="0"/>
          </a:p>
        </p:txBody>
      </p:sp>
      <p:sp>
        <p:nvSpPr>
          <p:cNvPr id="58" name="Text 56"/>
          <p:cNvSpPr/>
          <p:nvPr/>
        </p:nvSpPr>
        <p:spPr>
          <a:xfrm>
            <a:off x="6858000" y="3913632"/>
            <a:ext cx="2011680" cy="201168"/>
          </a:xfrm>
          <a:prstGeom prst="rect">
            <a:avLst/>
          </a:prstGeom>
          <a:noFill/>
          <a:ln/>
        </p:spPr>
        <p:txBody>
          <a:bodyPr wrap="square" rtlCol="0" anchor="ctr"/>
          <a:lstStyle/>
          <a:p>
            <a:pPr marL="0" indent="0" algn="ctr">
              <a:buNone/>
            </a:pPr>
            <a:r>
              <a:rPr lang="en-US" sz="850" dirty="0">
                <a:solidFill>
                  <a:srgbClr val="64635E"/>
                </a:solidFill>
                <a:latin typeface="Arial" pitchFamily="34" charset="0"/>
                <a:ea typeface="Arial" pitchFamily="34" charset="-122"/>
                <a:cs typeface="Arial" pitchFamily="34" charset="-120"/>
              </a:rPr>
              <a:t>Metadata + cost + audit trail</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02920" y="347472"/>
            <a:ext cx="8138160" cy="201168"/>
          </a:xfrm>
          <a:prstGeom prst="rect">
            <a:avLst/>
          </a:prstGeom>
          <a:noFill/>
          <a:ln/>
        </p:spPr>
        <p:txBody>
          <a:bodyPr wrap="square" rtlCol="0" anchor="ctr"/>
          <a:lstStyle/>
          <a:p>
            <a:pPr marL="0" indent="0" algn="l">
              <a:buNone/>
            </a:pPr>
            <a:r>
              <a:rPr lang="en-US" sz="900" b="1" kern="0" spc="300" dirty="0">
                <a:solidFill>
                  <a:srgbClr val="2E6DA4"/>
                </a:solidFill>
                <a:latin typeface="Arial" pitchFamily="34" charset="0"/>
                <a:ea typeface="Arial" pitchFamily="34" charset="-122"/>
                <a:cs typeface="Arial" pitchFamily="34" charset="-120"/>
              </a:rPr>
              <a:t>TECHNICAL APPENDIX — PROMPT ENGINEERING</a:t>
            </a:r>
            <a:endParaRPr lang="en-US" sz="900" dirty="0"/>
          </a:p>
        </p:txBody>
      </p:sp>
      <p:sp>
        <p:nvSpPr>
          <p:cNvPr id="3" name="Text 1"/>
          <p:cNvSpPr/>
          <p:nvPr/>
        </p:nvSpPr>
        <p:spPr>
          <a:xfrm>
            <a:off x="502920" y="594360"/>
            <a:ext cx="8138160" cy="502920"/>
          </a:xfrm>
          <a:prstGeom prst="rect">
            <a:avLst/>
          </a:prstGeom>
          <a:noFill/>
          <a:ln/>
        </p:spPr>
        <p:txBody>
          <a:bodyPr wrap="square" rtlCol="0" anchor="ctr"/>
          <a:lstStyle/>
          <a:p>
            <a:pPr marL="0" indent="0">
              <a:buNone/>
            </a:pPr>
            <a:r>
              <a:rPr lang="en-US" sz="2200" b="1" dirty="0">
                <a:solidFill>
                  <a:srgbClr val="FFFFFF"/>
                </a:solidFill>
                <a:latin typeface="Arial" pitchFamily="34" charset="0"/>
                <a:ea typeface="Arial" pitchFamily="34" charset="-122"/>
                <a:cs typeface="Arial" pitchFamily="34" charset="-120"/>
              </a:rPr>
              <a:t>What a final agent system prompt actually looks like</a:t>
            </a:r>
            <a:endParaRPr lang="en-US" sz="2200" dirty="0"/>
          </a:p>
        </p:txBody>
      </p:sp>
      <p:sp>
        <p:nvSpPr>
          <p:cNvPr id="4" name="Shape 2"/>
          <p:cNvSpPr/>
          <p:nvPr/>
        </p:nvSpPr>
        <p:spPr>
          <a:xfrm>
            <a:off x="502920" y="1115568"/>
            <a:ext cx="8138160" cy="0"/>
          </a:xfrm>
          <a:prstGeom prst="line">
            <a:avLst/>
          </a:prstGeom>
          <a:noFill/>
          <a:ln w="10160">
            <a:solidFill>
              <a:srgbClr val="3D3D5C"/>
            </a:solidFill>
            <a:prstDash val="solid"/>
          </a:ln>
        </p:spPr>
        <p:txBody>
          <a:bodyPr/>
          <a:lstStyle/>
          <a:p>
            <a:endParaRPr lang="en-US"/>
          </a:p>
        </p:txBody>
      </p:sp>
      <p:sp>
        <p:nvSpPr>
          <p:cNvPr id="5" name="Shape 3"/>
          <p:cNvSpPr/>
          <p:nvPr/>
        </p:nvSpPr>
        <p:spPr>
          <a:xfrm>
            <a:off x="411480" y="1207008"/>
            <a:ext cx="8321040" cy="822960"/>
          </a:xfrm>
          <a:prstGeom prst="roundRect">
            <a:avLst>
              <a:gd name="adj" fmla="val 6667"/>
            </a:avLst>
          </a:prstGeom>
          <a:solidFill>
            <a:srgbClr val="3A3A6A"/>
          </a:solidFill>
          <a:ln w="6350">
            <a:solidFill>
              <a:srgbClr val="3D3D5C"/>
            </a:solidFill>
            <a:prstDash val="solid"/>
          </a:ln>
        </p:spPr>
        <p:txBody>
          <a:bodyPr/>
          <a:lstStyle/>
          <a:p>
            <a:endParaRPr lang="en-US"/>
          </a:p>
        </p:txBody>
      </p:sp>
      <p:sp>
        <p:nvSpPr>
          <p:cNvPr id="6" name="Text 4"/>
          <p:cNvSpPr/>
          <p:nvPr/>
        </p:nvSpPr>
        <p:spPr>
          <a:xfrm>
            <a:off x="566928" y="1261872"/>
            <a:ext cx="4114800" cy="201168"/>
          </a:xfrm>
          <a:prstGeom prst="rect">
            <a:avLst/>
          </a:prstGeom>
          <a:noFill/>
          <a:ln/>
        </p:spPr>
        <p:txBody>
          <a:bodyPr wrap="square" rtlCol="0" anchor="ctr"/>
          <a:lstStyle/>
          <a:p>
            <a:pPr marL="0" indent="0">
              <a:buNone/>
            </a:pPr>
            <a:r>
              <a:rPr lang="en-US" sz="950" b="1" dirty="0">
                <a:solidFill>
                  <a:srgbClr val="A0A8D8"/>
                </a:solidFill>
                <a:latin typeface="Courier New" pitchFamily="34" charset="0"/>
                <a:ea typeface="Courier New" pitchFamily="34" charset="-122"/>
                <a:cs typeface="Courier New" pitchFamily="34" charset="-120"/>
              </a:rPr>
              <a:t>Layer 1 — Base agent prompt</a:t>
            </a:r>
            <a:endParaRPr lang="en-US" sz="950" dirty="0"/>
          </a:p>
        </p:txBody>
      </p:sp>
      <p:sp>
        <p:nvSpPr>
          <p:cNvPr id="7" name="Text 5"/>
          <p:cNvSpPr/>
          <p:nvPr/>
        </p:nvSpPr>
        <p:spPr>
          <a:xfrm>
            <a:off x="4709160" y="1261872"/>
            <a:ext cx="3840480" cy="201168"/>
          </a:xfrm>
          <a:prstGeom prst="rect">
            <a:avLst/>
          </a:prstGeom>
          <a:noFill/>
          <a:ln/>
        </p:spPr>
        <p:txBody>
          <a:bodyPr wrap="square" rtlCol="0" anchor="ctr"/>
          <a:lstStyle/>
          <a:p>
            <a:pPr marL="0" indent="0" algn="r">
              <a:buNone/>
            </a:pPr>
            <a:r>
              <a:rPr lang="en-US" sz="800" dirty="0">
                <a:solidFill>
                  <a:srgbClr val="555570"/>
                </a:solidFill>
                <a:latin typeface="Courier New" pitchFamily="34" charset="0"/>
                <a:ea typeface="Courier New" pitchFamily="34" charset="-122"/>
                <a:cs typeface="Courier New" pitchFamily="34" charset="-120"/>
              </a:rPr>
              <a:t>← src/lib/domains/salesforce/agents/apex.ts</a:t>
            </a:r>
            <a:endParaRPr lang="en-US" sz="800" dirty="0"/>
          </a:p>
        </p:txBody>
      </p:sp>
      <p:sp>
        <p:nvSpPr>
          <p:cNvPr id="8" name="Text 6"/>
          <p:cNvSpPr/>
          <p:nvPr/>
        </p:nvSpPr>
        <p:spPr>
          <a:xfrm>
            <a:off x="566928" y="1499616"/>
            <a:ext cx="8010144" cy="475488"/>
          </a:xfrm>
          <a:prstGeom prst="rect">
            <a:avLst/>
          </a:prstGeom>
          <a:noFill/>
          <a:ln/>
        </p:spPr>
        <p:txBody>
          <a:bodyPr wrap="square" rtlCol="0" anchor="ctr"/>
          <a:lstStyle/>
          <a:p>
            <a:pPr marL="0" indent="0">
              <a:buNone/>
            </a:pPr>
            <a:r>
              <a:rPr lang="en-US" sz="800" dirty="0">
                <a:solidFill>
                  <a:srgbClr val="C8C8D8"/>
                </a:solidFill>
                <a:latin typeface="Courier New" pitchFamily="34" charset="0"/>
                <a:ea typeface="Courier New" pitchFamily="34" charset="-122"/>
                <a:cs typeface="Courier New" pitchFamily="34" charset="-120"/>
              </a:rPr>
              <a:t>You are the Apex specialist agent on the ARBoard Architecture Review Board. Your role is to assess Salesforce Apex code quality, governor limit exposure, trigger design, async patterns, and bulk data handling...</a:t>
            </a:r>
            <a:endParaRPr lang="en-US" sz="800" dirty="0"/>
          </a:p>
        </p:txBody>
      </p:sp>
      <p:sp>
        <p:nvSpPr>
          <p:cNvPr id="9" name="Shape 7"/>
          <p:cNvSpPr/>
          <p:nvPr/>
        </p:nvSpPr>
        <p:spPr>
          <a:xfrm>
            <a:off x="411480" y="2103120"/>
            <a:ext cx="8321040" cy="822960"/>
          </a:xfrm>
          <a:prstGeom prst="roundRect">
            <a:avLst>
              <a:gd name="adj" fmla="val 6667"/>
            </a:avLst>
          </a:prstGeom>
          <a:solidFill>
            <a:srgbClr val="1E3A2F"/>
          </a:solidFill>
          <a:ln w="6350">
            <a:solidFill>
              <a:srgbClr val="3D3D5C"/>
            </a:solidFill>
            <a:prstDash val="solid"/>
          </a:ln>
        </p:spPr>
        <p:txBody>
          <a:bodyPr/>
          <a:lstStyle/>
          <a:p>
            <a:endParaRPr lang="en-US"/>
          </a:p>
        </p:txBody>
      </p:sp>
      <p:sp>
        <p:nvSpPr>
          <p:cNvPr id="10" name="Text 8"/>
          <p:cNvSpPr/>
          <p:nvPr/>
        </p:nvSpPr>
        <p:spPr>
          <a:xfrm>
            <a:off x="566928" y="2157984"/>
            <a:ext cx="4114800" cy="201168"/>
          </a:xfrm>
          <a:prstGeom prst="rect">
            <a:avLst/>
          </a:prstGeom>
          <a:noFill/>
          <a:ln/>
        </p:spPr>
        <p:txBody>
          <a:bodyPr wrap="square" rtlCol="0" anchor="ctr"/>
          <a:lstStyle/>
          <a:p>
            <a:pPr marL="0" indent="0">
              <a:buNone/>
            </a:pPr>
            <a:r>
              <a:rPr lang="en-US" sz="950" b="1" dirty="0">
                <a:solidFill>
                  <a:srgbClr val="5DCAA5"/>
                </a:solidFill>
                <a:latin typeface="Courier New" pitchFamily="34" charset="0"/>
                <a:ea typeface="Courier New" pitchFamily="34" charset="-122"/>
                <a:cs typeface="Courier New" pitchFamily="34" charset="-120"/>
              </a:rPr>
              <a:t>Layer 2 — Well-Architected principles</a:t>
            </a:r>
            <a:endParaRPr lang="en-US" sz="950" dirty="0"/>
          </a:p>
        </p:txBody>
      </p:sp>
      <p:sp>
        <p:nvSpPr>
          <p:cNvPr id="11" name="Text 9"/>
          <p:cNvSpPr/>
          <p:nvPr/>
        </p:nvSpPr>
        <p:spPr>
          <a:xfrm>
            <a:off x="4709160" y="2157984"/>
            <a:ext cx="3840480" cy="201168"/>
          </a:xfrm>
          <a:prstGeom prst="rect">
            <a:avLst/>
          </a:prstGeom>
          <a:noFill/>
          <a:ln/>
        </p:spPr>
        <p:txBody>
          <a:bodyPr wrap="square" rtlCol="0" anchor="ctr"/>
          <a:lstStyle/>
          <a:p>
            <a:pPr marL="0" indent="0" algn="r">
              <a:buNone/>
            </a:pPr>
            <a:r>
              <a:rPr lang="en-US" sz="800" dirty="0">
                <a:solidFill>
                  <a:srgbClr val="555570"/>
                </a:solidFill>
                <a:latin typeface="Courier New" pitchFamily="34" charset="0"/>
                <a:ea typeface="Courier New" pitchFamily="34" charset="-122"/>
                <a:cs typeface="Courier New" pitchFamily="34" charset="-120"/>
              </a:rPr>
              <a:t>← wellArchitectedPrinciples.ts → WELL_ARCHITECTED_BY_AGENT[apex]</a:t>
            </a:r>
            <a:endParaRPr lang="en-US" sz="800" dirty="0"/>
          </a:p>
        </p:txBody>
      </p:sp>
      <p:sp>
        <p:nvSpPr>
          <p:cNvPr id="12" name="Text 10"/>
          <p:cNvSpPr/>
          <p:nvPr/>
        </p:nvSpPr>
        <p:spPr>
          <a:xfrm>
            <a:off x="566928" y="2395728"/>
            <a:ext cx="8010144" cy="475488"/>
          </a:xfrm>
          <a:prstGeom prst="rect">
            <a:avLst/>
          </a:prstGeom>
          <a:noFill/>
          <a:ln/>
        </p:spPr>
        <p:txBody>
          <a:bodyPr wrap="square" rtlCol="0" anchor="ctr"/>
          <a:lstStyle/>
          <a:p>
            <a:pPr marL="0" indent="0">
              <a:buNone/>
            </a:pPr>
            <a:r>
              <a:rPr lang="en-US" sz="800" dirty="0">
                <a:solidFill>
                  <a:srgbClr val="C8C8D8"/>
                </a:solidFill>
                <a:latin typeface="Courier New" pitchFamily="34" charset="0"/>
                <a:ea typeface="Courier New" pitchFamily="34" charset="-122"/>
                <a:cs typeface="Courier New" pitchFamily="34" charset="-120"/>
              </a:rPr>
              <a:t>## Salesforce Well-Architected — Apex &amp; Automation</a:t>
            </a:r>
            <a:endParaRPr lang="en-US" sz="800" dirty="0"/>
          </a:p>
          <a:p>
            <a:pPr marL="0" indent="0">
              <a:buNone/>
            </a:pPr>
            <a:r>
              <a:rPr lang="en-US" sz="800" dirty="0">
                <a:solidFill>
                  <a:srgbClr val="C8C8D8"/>
                </a:solidFill>
                <a:latin typeface="Courier New" pitchFamily="34" charset="0"/>
                <a:ea typeface="Courier New" pitchFamily="34" charset="-122"/>
                <a:cs typeface="Courier New" pitchFamily="34" charset="-120"/>
              </a:rPr>
              <a:t>- Triggers must be bulkified: never SOQL/DML inside loops</a:t>
            </a:r>
            <a:endParaRPr lang="en-US" sz="800" dirty="0"/>
          </a:p>
          <a:p>
            <a:pPr marL="0" indent="0">
              <a:buNone/>
            </a:pPr>
            <a:r>
              <a:rPr lang="en-US" sz="800" dirty="0">
                <a:solidFill>
                  <a:srgbClr val="C8C8D8"/>
                </a:solidFill>
                <a:latin typeface="Courier New" pitchFamily="34" charset="0"/>
                <a:ea typeface="Courier New" pitchFamily="34" charset="-122"/>
                <a:cs typeface="Courier New" pitchFamily="34" charset="-120"/>
              </a:rPr>
              <a:t>- One trigger per object. Handler class pattern.</a:t>
            </a:r>
            <a:endParaRPr lang="en-US" sz="800" dirty="0"/>
          </a:p>
          <a:p>
            <a:pPr marL="0" indent="0">
              <a:buNone/>
            </a:pPr>
            <a:r>
              <a:rPr lang="en-US" sz="800" dirty="0">
                <a:solidFill>
                  <a:srgbClr val="C8C8D8"/>
                </a:solidFill>
                <a:latin typeface="Courier New" pitchFamily="34" charset="0"/>
                <a:ea typeface="Courier New" pitchFamily="34" charset="-122"/>
                <a:cs typeface="Courier New" pitchFamily="34" charset="-120"/>
              </a:rPr>
              <a:t>- Avoid synchronous callouts from triggers at volume...</a:t>
            </a:r>
            <a:endParaRPr lang="en-US" sz="800" dirty="0"/>
          </a:p>
        </p:txBody>
      </p:sp>
      <p:sp>
        <p:nvSpPr>
          <p:cNvPr id="13" name="Shape 11"/>
          <p:cNvSpPr/>
          <p:nvPr/>
        </p:nvSpPr>
        <p:spPr>
          <a:xfrm>
            <a:off x="411480" y="2999232"/>
            <a:ext cx="8321040" cy="822960"/>
          </a:xfrm>
          <a:prstGeom prst="roundRect">
            <a:avLst>
              <a:gd name="adj" fmla="val 6667"/>
            </a:avLst>
          </a:prstGeom>
          <a:solidFill>
            <a:srgbClr val="2A2A1A"/>
          </a:solidFill>
          <a:ln w="6350">
            <a:solidFill>
              <a:srgbClr val="3D3D5C"/>
            </a:solidFill>
            <a:prstDash val="solid"/>
          </a:ln>
        </p:spPr>
        <p:txBody>
          <a:bodyPr/>
          <a:lstStyle/>
          <a:p>
            <a:endParaRPr lang="en-US"/>
          </a:p>
        </p:txBody>
      </p:sp>
      <p:sp>
        <p:nvSpPr>
          <p:cNvPr id="14" name="Text 12"/>
          <p:cNvSpPr/>
          <p:nvPr/>
        </p:nvSpPr>
        <p:spPr>
          <a:xfrm>
            <a:off x="566928" y="3054096"/>
            <a:ext cx="4114800" cy="201168"/>
          </a:xfrm>
          <a:prstGeom prst="rect">
            <a:avLst/>
          </a:prstGeom>
          <a:noFill/>
          <a:ln/>
        </p:spPr>
        <p:txBody>
          <a:bodyPr wrap="square" rtlCol="0" anchor="ctr"/>
          <a:lstStyle/>
          <a:p>
            <a:pPr marL="0" indent="0">
              <a:buNone/>
            </a:pPr>
            <a:r>
              <a:rPr lang="en-US" sz="950" b="1" dirty="0">
                <a:solidFill>
                  <a:srgbClr val="EF9F27"/>
                </a:solidFill>
                <a:latin typeface="Courier New" pitchFamily="34" charset="0"/>
                <a:ea typeface="Courier New" pitchFamily="34" charset="-122"/>
                <a:cs typeface="Courier New" pitchFamily="34" charset="-120"/>
              </a:rPr>
              <a:t>Layer 3 — Cross-session memory</a:t>
            </a:r>
            <a:endParaRPr lang="en-US" sz="950" dirty="0"/>
          </a:p>
        </p:txBody>
      </p:sp>
      <p:sp>
        <p:nvSpPr>
          <p:cNvPr id="15" name="Text 13"/>
          <p:cNvSpPr/>
          <p:nvPr/>
        </p:nvSpPr>
        <p:spPr>
          <a:xfrm>
            <a:off x="4709160" y="3054096"/>
            <a:ext cx="3840480" cy="201168"/>
          </a:xfrm>
          <a:prstGeom prst="rect">
            <a:avLst/>
          </a:prstGeom>
          <a:noFill/>
          <a:ln/>
        </p:spPr>
        <p:txBody>
          <a:bodyPr wrap="square" rtlCol="0" anchor="ctr"/>
          <a:lstStyle/>
          <a:p>
            <a:pPr marL="0" indent="0" algn="r">
              <a:buNone/>
            </a:pPr>
            <a:r>
              <a:rPr lang="en-US" sz="800" dirty="0">
                <a:solidFill>
                  <a:srgbClr val="555570"/>
                </a:solidFill>
                <a:latin typeface="Courier New" pitchFamily="34" charset="0"/>
                <a:ea typeface="Courier New" pitchFamily="34" charset="-122"/>
                <a:cs typeface="Courier New" pitchFamily="34" charset="-120"/>
              </a:rPr>
              <a:t>← jiraMemoryRetriever.ts + contextInjector.ts</a:t>
            </a:r>
            <a:endParaRPr lang="en-US" sz="800" dirty="0"/>
          </a:p>
        </p:txBody>
      </p:sp>
      <p:sp>
        <p:nvSpPr>
          <p:cNvPr id="16" name="Text 14"/>
          <p:cNvSpPr/>
          <p:nvPr/>
        </p:nvSpPr>
        <p:spPr>
          <a:xfrm>
            <a:off x="566928" y="3291840"/>
            <a:ext cx="8010144" cy="475488"/>
          </a:xfrm>
          <a:prstGeom prst="rect">
            <a:avLst/>
          </a:prstGeom>
          <a:noFill/>
          <a:ln/>
        </p:spPr>
        <p:txBody>
          <a:bodyPr wrap="square" rtlCol="0" anchor="ctr"/>
          <a:lstStyle/>
          <a:p>
            <a:pPr marL="0" indent="0">
              <a:buNone/>
            </a:pPr>
            <a:r>
              <a:rPr lang="en-US" sz="800" dirty="0">
                <a:solidFill>
                  <a:srgbClr val="C8C8D8"/>
                </a:solidFill>
                <a:latin typeface="Courier New" pitchFamily="34" charset="0"/>
                <a:ea typeface="Courier New" pitchFamily="34" charset="-122"/>
                <a:cs typeface="Courier New" pitchFamily="34" charset="-120"/>
              </a:rPr>
              <a:t>PRIOR REVIEW CONTEXT — reconciliation required</a:t>
            </a:r>
            <a:endParaRPr lang="en-US" sz="800" dirty="0"/>
          </a:p>
          <a:p>
            <a:pPr marL="0" indent="0">
              <a:buNone/>
            </a:pPr>
            <a:r>
              <a:rPr lang="en-US" sz="800" dirty="0">
                <a:solidFill>
                  <a:srgbClr val="C8C8D8"/>
                </a:solidFill>
                <a:latin typeface="Courier New" pitchFamily="34" charset="0"/>
                <a:ea typeface="Courier New" pitchFamily="34" charset="-122"/>
                <a:cs typeface="Courier New" pitchFamily="34" charset="-120"/>
              </a:rPr>
              <a:t>• ARBOARD-009 [APPROVED] — Jun 2026</a:t>
            </a:r>
            <a:endParaRPr lang="en-US" sz="800" dirty="0"/>
          </a:p>
          <a:p>
            <a:pPr marL="0" indent="0">
              <a:buNone/>
            </a:pPr>
            <a:r>
              <a:rPr lang="en-US" sz="800" dirty="0">
                <a:solidFill>
                  <a:srgbClr val="C8C8D8"/>
                </a:solidFill>
                <a:latin typeface="Courier New" pitchFamily="34" charset="0"/>
                <a:ea typeface="Courier New" pitchFamily="34" charset="-122"/>
                <a:cs typeface="Courier New" pitchFamily="34" charset="-120"/>
              </a:rPr>
              <a:t>  Requirement: Bulk case update via API</a:t>
            </a:r>
            <a:endParaRPr lang="en-US" sz="800" dirty="0"/>
          </a:p>
          <a:p>
            <a:pPr marL="0" indent="0">
              <a:buNone/>
            </a:pPr>
            <a:r>
              <a:rPr lang="en-US" sz="800" dirty="0">
                <a:solidFill>
                  <a:srgbClr val="C8C8D8"/>
                </a:solidFill>
                <a:latin typeface="Courier New" pitchFamily="34" charset="0"/>
                <a:ea typeface="Courier New" pitchFamily="34" charset="-122"/>
                <a:cs typeface="Courier New" pitchFamily="34" charset="-120"/>
              </a:rPr>
              <a:t>  Decision: Use Platform Events not direct DML...</a:t>
            </a:r>
            <a:endParaRPr lang="en-US" sz="800" dirty="0"/>
          </a:p>
        </p:txBody>
      </p:sp>
      <p:sp>
        <p:nvSpPr>
          <p:cNvPr id="17" name="Shape 15"/>
          <p:cNvSpPr/>
          <p:nvPr/>
        </p:nvSpPr>
        <p:spPr>
          <a:xfrm>
            <a:off x="411480" y="3895344"/>
            <a:ext cx="8321040" cy="822960"/>
          </a:xfrm>
          <a:prstGeom prst="roundRect">
            <a:avLst>
              <a:gd name="adj" fmla="val 6667"/>
            </a:avLst>
          </a:prstGeom>
          <a:solidFill>
            <a:srgbClr val="1A2A3A"/>
          </a:solidFill>
          <a:ln w="6350">
            <a:solidFill>
              <a:srgbClr val="3D3D5C"/>
            </a:solidFill>
            <a:prstDash val="solid"/>
          </a:ln>
        </p:spPr>
        <p:txBody>
          <a:bodyPr/>
          <a:lstStyle/>
          <a:p>
            <a:endParaRPr lang="en-US"/>
          </a:p>
        </p:txBody>
      </p:sp>
      <p:sp>
        <p:nvSpPr>
          <p:cNvPr id="18" name="Text 16"/>
          <p:cNvSpPr/>
          <p:nvPr/>
        </p:nvSpPr>
        <p:spPr>
          <a:xfrm>
            <a:off x="566928" y="3950208"/>
            <a:ext cx="4114800" cy="201168"/>
          </a:xfrm>
          <a:prstGeom prst="rect">
            <a:avLst/>
          </a:prstGeom>
          <a:noFill/>
          <a:ln/>
        </p:spPr>
        <p:txBody>
          <a:bodyPr wrap="square" rtlCol="0" anchor="ctr"/>
          <a:lstStyle/>
          <a:p>
            <a:pPr marL="0" indent="0">
              <a:buNone/>
            </a:pPr>
            <a:r>
              <a:rPr lang="en-US" sz="950" b="1" dirty="0">
                <a:solidFill>
                  <a:srgbClr val="85B7EB"/>
                </a:solidFill>
                <a:latin typeface="Courier New" pitchFamily="34" charset="0"/>
                <a:ea typeface="Courier New" pitchFamily="34" charset="-122"/>
                <a:cs typeface="Courier New" pitchFamily="34" charset="-120"/>
              </a:rPr>
              <a:t>Layer 4 — Live org context (when connected)</a:t>
            </a:r>
            <a:endParaRPr lang="en-US" sz="950" dirty="0"/>
          </a:p>
        </p:txBody>
      </p:sp>
      <p:sp>
        <p:nvSpPr>
          <p:cNvPr id="19" name="Text 17"/>
          <p:cNvSpPr/>
          <p:nvPr/>
        </p:nvSpPr>
        <p:spPr>
          <a:xfrm>
            <a:off x="4709160" y="3950208"/>
            <a:ext cx="3840480" cy="201168"/>
          </a:xfrm>
          <a:prstGeom prst="rect">
            <a:avLst/>
          </a:prstGeom>
          <a:noFill/>
          <a:ln/>
        </p:spPr>
        <p:txBody>
          <a:bodyPr wrap="square" rtlCol="0" anchor="ctr"/>
          <a:lstStyle/>
          <a:p>
            <a:pPr marL="0" indent="0" algn="r">
              <a:buNone/>
            </a:pPr>
            <a:r>
              <a:rPr lang="en-US" sz="800" dirty="0">
                <a:solidFill>
                  <a:srgbClr val="555570"/>
                </a:solidFill>
                <a:latin typeface="Courier New" pitchFamily="34" charset="0"/>
                <a:ea typeface="Courier New" pitchFamily="34" charset="-122"/>
                <a:cs typeface="Courier New" pitchFamily="34" charset="-120"/>
              </a:rPr>
              <a:t>← OrgMetadataCollector.ts / mcpMetadataCollector.ts</a:t>
            </a:r>
            <a:endParaRPr lang="en-US" sz="800" dirty="0"/>
          </a:p>
        </p:txBody>
      </p:sp>
      <p:sp>
        <p:nvSpPr>
          <p:cNvPr id="20" name="Text 18"/>
          <p:cNvSpPr/>
          <p:nvPr/>
        </p:nvSpPr>
        <p:spPr>
          <a:xfrm>
            <a:off x="566928" y="4187952"/>
            <a:ext cx="8010144" cy="475488"/>
          </a:xfrm>
          <a:prstGeom prst="rect">
            <a:avLst/>
          </a:prstGeom>
          <a:noFill/>
          <a:ln/>
        </p:spPr>
        <p:txBody>
          <a:bodyPr wrap="square" rtlCol="0" anchor="ctr"/>
          <a:lstStyle/>
          <a:p>
            <a:pPr marL="0" indent="0">
              <a:buNone/>
            </a:pPr>
            <a:r>
              <a:rPr lang="en-US" sz="800" dirty="0">
                <a:solidFill>
                  <a:srgbClr val="C8C8D8"/>
                </a:solidFill>
                <a:latin typeface="Courier New" pitchFamily="34" charset="0"/>
                <a:ea typeface="Courier New" pitchFamily="34" charset="-122"/>
                <a:cs typeface="Courier New" pitchFamily="34" charset="-120"/>
              </a:rPr>
              <a:t>LIVE ORG CONTEXT</a:t>
            </a:r>
            <a:endParaRPr lang="en-US" sz="800" dirty="0"/>
          </a:p>
          <a:p>
            <a:pPr marL="0" indent="0">
              <a:buNone/>
            </a:pPr>
            <a:r>
              <a:rPr lang="en-US" sz="800" dirty="0">
                <a:solidFill>
                  <a:srgbClr val="C8C8D8"/>
                </a:solidFill>
                <a:latin typeface="Courier New" pitchFamily="34" charset="0"/>
                <a:ea typeface="Courier New" pitchFamily="34" charset="-122"/>
                <a:cs typeface="Courier New" pitchFamily="34" charset="-120"/>
              </a:rPr>
              <a:t>Triggers deployed: CaseTrigger, AccountTrigger (2 triggers on Case — FP-007 risk flagged)</a:t>
            </a:r>
            <a:endParaRPr lang="en-US" sz="800" dirty="0"/>
          </a:p>
          <a:p>
            <a:pPr marL="0" indent="0">
              <a:buNone/>
            </a:pPr>
            <a:r>
              <a:rPr lang="en-US" sz="800" dirty="0">
                <a:solidFill>
                  <a:srgbClr val="C8C8D8"/>
                </a:solidFill>
                <a:latin typeface="Courier New" pitchFamily="34" charset="0"/>
                <a:ea typeface="Courier New" pitchFamily="34" charset="-122"/>
                <a:cs typeface="Courier New" pitchFamily="34" charset="-120"/>
              </a:rPr>
              <a:t>Async jobs: PMSSyncBatch, SLAMonitorScheduler</a:t>
            </a:r>
            <a:endParaRPr lang="en-US" sz="800" dirty="0"/>
          </a:p>
          <a:p>
            <a:pPr marL="0" indent="0">
              <a:buNone/>
            </a:pPr>
            <a:r>
              <a:rPr lang="en-US" sz="800" dirty="0">
                <a:solidFill>
                  <a:srgbClr val="C8C8D8"/>
                </a:solidFill>
                <a:latin typeface="Courier New" pitchFamily="34" charset="0"/>
                <a:ea typeface="Courier New" pitchFamily="34" charset="-122"/>
                <a:cs typeface="Courier New" pitchFamily="34" charset="-120"/>
              </a:rPr>
              <a:t>API version: 61.0...</a:t>
            </a:r>
            <a:endParaRPr lang="en-US" sz="800" dirty="0"/>
          </a:p>
        </p:txBody>
      </p:sp>
      <p:sp>
        <p:nvSpPr>
          <p:cNvPr id="21" name="Text 19"/>
          <p:cNvSpPr/>
          <p:nvPr/>
        </p:nvSpPr>
        <p:spPr>
          <a:xfrm>
            <a:off x="502920" y="4736592"/>
            <a:ext cx="8138160" cy="228600"/>
          </a:xfrm>
          <a:prstGeom prst="rect">
            <a:avLst/>
          </a:prstGeom>
          <a:noFill/>
          <a:ln/>
        </p:spPr>
        <p:txBody>
          <a:bodyPr wrap="square" rtlCol="0" anchor="ctr"/>
          <a:lstStyle/>
          <a:p>
            <a:pPr marL="0" indent="0" algn="ctr">
              <a:buNone/>
            </a:pPr>
            <a:r>
              <a:rPr lang="en-US" sz="950" i="1" dirty="0">
                <a:solidFill>
                  <a:srgbClr val="6A84A8"/>
                </a:solidFill>
                <a:latin typeface="Arial" pitchFamily="34" charset="0"/>
                <a:ea typeface="Arial" pitchFamily="34" charset="-122"/>
                <a:cs typeface="Arial" pitchFamily="34" charset="-120"/>
              </a:rPr>
              <a:t>AgentRunner.ts assembles these 4 layers in sequence before every Anthropic API call</a:t>
            </a:r>
            <a:endParaRPr lang="en-US" sz="9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02920" y="347472"/>
            <a:ext cx="8138160" cy="201168"/>
          </a:xfrm>
          <a:prstGeom prst="rect">
            <a:avLst/>
          </a:prstGeom>
          <a:noFill/>
          <a:ln/>
        </p:spPr>
        <p:txBody>
          <a:bodyPr wrap="square" rtlCol="0" anchor="ctr"/>
          <a:lstStyle/>
          <a:p>
            <a:pPr marL="0" indent="0" algn="l">
              <a:buNone/>
            </a:pPr>
            <a:r>
              <a:rPr lang="en-US" sz="900" b="1" kern="0" spc="300" dirty="0">
                <a:solidFill>
                  <a:srgbClr val="2E6DA4"/>
                </a:solidFill>
                <a:latin typeface="Arial" pitchFamily="34" charset="0"/>
                <a:ea typeface="Arial" pitchFamily="34" charset="-122"/>
                <a:cs typeface="Arial" pitchFamily="34" charset="-120"/>
              </a:rPr>
              <a:t>TECHNICAL APPENDIX — IP ARCHITECTURE</a:t>
            </a:r>
            <a:endParaRPr lang="en-US" sz="900" dirty="0"/>
          </a:p>
        </p:txBody>
      </p:sp>
      <p:sp>
        <p:nvSpPr>
          <p:cNvPr id="3" name="Text 1"/>
          <p:cNvSpPr/>
          <p:nvPr/>
        </p:nvSpPr>
        <p:spPr>
          <a:xfrm>
            <a:off x="502920" y="594360"/>
            <a:ext cx="8138160" cy="640080"/>
          </a:xfrm>
          <a:prstGeom prst="rect">
            <a:avLst/>
          </a:prstGeom>
          <a:noFill/>
          <a:ln/>
        </p:spPr>
        <p:txBody>
          <a:bodyPr wrap="square" rtlCol="0" anchor="ctr"/>
          <a:lstStyle/>
          <a:p>
            <a:pPr marL="0" indent="0" algn="l">
              <a:buNone/>
            </a:pPr>
            <a:r>
              <a:rPr lang="en-US" sz="2600" b="1" dirty="0">
                <a:solidFill>
                  <a:srgbClr val="1A1A1A"/>
                </a:solidFill>
                <a:latin typeface="Arial" pitchFamily="34" charset="0"/>
                <a:ea typeface="Arial" pitchFamily="34" charset="-122"/>
                <a:cs typeface="Arial" pitchFamily="34" charset="-120"/>
              </a:rPr>
              <a:t>Where the defensible IP sits across the stack</a:t>
            </a:r>
            <a:endParaRPr lang="en-US" sz="2600" dirty="0"/>
          </a:p>
        </p:txBody>
      </p:sp>
      <p:sp>
        <p:nvSpPr>
          <p:cNvPr id="4" name="Shape 2"/>
          <p:cNvSpPr/>
          <p:nvPr/>
        </p:nvSpPr>
        <p:spPr>
          <a:xfrm>
            <a:off x="502920" y="1207008"/>
            <a:ext cx="8138160" cy="0"/>
          </a:xfrm>
          <a:prstGeom prst="line">
            <a:avLst/>
          </a:prstGeom>
          <a:noFill/>
          <a:ln w="10160">
            <a:solidFill>
              <a:srgbClr val="EBEBEB"/>
            </a:solidFill>
            <a:prstDash val="solid"/>
          </a:ln>
        </p:spPr>
        <p:txBody>
          <a:bodyPr/>
          <a:lstStyle/>
          <a:p>
            <a:endParaRPr lang="en-US"/>
          </a:p>
        </p:txBody>
      </p:sp>
      <p:sp>
        <p:nvSpPr>
          <p:cNvPr id="5" name="Shape 3"/>
          <p:cNvSpPr/>
          <p:nvPr/>
        </p:nvSpPr>
        <p:spPr>
          <a:xfrm>
            <a:off x="3246120" y="1325880"/>
            <a:ext cx="2651760" cy="3474720"/>
          </a:xfrm>
          <a:prstGeom prst="roundRect">
            <a:avLst>
              <a:gd name="adj" fmla="val 2759"/>
            </a:avLst>
          </a:prstGeom>
          <a:solidFill>
            <a:srgbClr val="EBF2FA"/>
          </a:solidFill>
          <a:ln w="6350">
            <a:solidFill>
              <a:srgbClr val="D3D1C7"/>
            </a:solidFill>
            <a:prstDash val="solid"/>
          </a:ln>
          <a:effectLst>
            <a:outerShdw blurRad="63500" dist="25400" dir="2700000" algn="bl" rotWithShape="0">
              <a:srgbClr val="000000">
                <a:alpha val="6000"/>
              </a:srgbClr>
            </a:outerShdw>
          </a:effectLst>
        </p:spPr>
        <p:txBody>
          <a:bodyPr/>
          <a:lstStyle/>
          <a:p>
            <a:endParaRPr lang="en-US"/>
          </a:p>
        </p:txBody>
      </p:sp>
      <p:sp>
        <p:nvSpPr>
          <p:cNvPr id="6" name="Shape 4"/>
          <p:cNvSpPr/>
          <p:nvPr/>
        </p:nvSpPr>
        <p:spPr>
          <a:xfrm>
            <a:off x="3246120" y="1325880"/>
            <a:ext cx="2651760" cy="329184"/>
          </a:xfrm>
          <a:prstGeom prst="roundRect">
            <a:avLst>
              <a:gd name="adj" fmla="val 22222"/>
            </a:avLst>
          </a:prstGeom>
          <a:solidFill>
            <a:srgbClr val="1B4F9B"/>
          </a:solidFill>
          <a:ln w="12700">
            <a:solidFill>
              <a:srgbClr val="1B4F9B"/>
            </a:solidFill>
            <a:prstDash val="solid"/>
          </a:ln>
        </p:spPr>
        <p:txBody>
          <a:bodyPr/>
          <a:lstStyle/>
          <a:p>
            <a:endParaRPr lang="en-US"/>
          </a:p>
        </p:txBody>
      </p:sp>
      <p:sp>
        <p:nvSpPr>
          <p:cNvPr id="7" name="Text 5"/>
          <p:cNvSpPr/>
          <p:nvPr/>
        </p:nvSpPr>
        <p:spPr>
          <a:xfrm>
            <a:off x="3246120" y="1335024"/>
            <a:ext cx="2651760" cy="310896"/>
          </a:xfrm>
          <a:prstGeom prst="rect">
            <a:avLst/>
          </a:prstGeom>
          <a:noFill/>
          <a:ln/>
        </p:spPr>
        <p:txBody>
          <a:bodyPr wrap="square" lIns="0" tIns="0" rIns="0" bIns="0"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Agent system prompt</a:t>
            </a:r>
            <a:endParaRPr lang="en-US" sz="1100" dirty="0"/>
          </a:p>
        </p:txBody>
      </p:sp>
      <p:sp>
        <p:nvSpPr>
          <p:cNvPr id="8" name="Shape 6"/>
          <p:cNvSpPr/>
          <p:nvPr/>
        </p:nvSpPr>
        <p:spPr>
          <a:xfrm>
            <a:off x="3383280" y="1737360"/>
            <a:ext cx="2377440" cy="402336"/>
          </a:xfrm>
          <a:prstGeom prst="roundRect">
            <a:avLst>
              <a:gd name="adj" fmla="val 13636"/>
            </a:avLst>
          </a:prstGeom>
          <a:solidFill>
            <a:srgbClr val="FFFFFF"/>
          </a:solidFill>
          <a:ln w="12700">
            <a:solidFill>
              <a:srgbClr val="1B4F9B"/>
            </a:solidFill>
            <a:prstDash val="solid"/>
          </a:ln>
        </p:spPr>
        <p:txBody>
          <a:bodyPr/>
          <a:lstStyle/>
          <a:p>
            <a:endParaRPr lang="en-US"/>
          </a:p>
        </p:txBody>
      </p:sp>
      <p:sp>
        <p:nvSpPr>
          <p:cNvPr id="9" name="Shape 7"/>
          <p:cNvSpPr/>
          <p:nvPr/>
        </p:nvSpPr>
        <p:spPr>
          <a:xfrm>
            <a:off x="3447288" y="1828800"/>
            <a:ext cx="219456" cy="219456"/>
          </a:xfrm>
          <a:prstGeom prst="ellipse">
            <a:avLst/>
          </a:prstGeom>
          <a:solidFill>
            <a:srgbClr val="1B4F9B"/>
          </a:solidFill>
          <a:ln w="12700">
            <a:solidFill>
              <a:srgbClr val="1B4F9B"/>
            </a:solidFill>
            <a:prstDash val="solid"/>
          </a:ln>
        </p:spPr>
        <p:txBody>
          <a:bodyPr/>
          <a:lstStyle/>
          <a:p>
            <a:endParaRPr lang="en-US"/>
          </a:p>
        </p:txBody>
      </p:sp>
      <p:sp>
        <p:nvSpPr>
          <p:cNvPr id="10" name="Text 8"/>
          <p:cNvSpPr/>
          <p:nvPr/>
        </p:nvSpPr>
        <p:spPr>
          <a:xfrm>
            <a:off x="3749040" y="1810512"/>
            <a:ext cx="1920240" cy="256032"/>
          </a:xfrm>
          <a:prstGeom prst="rect">
            <a:avLst/>
          </a:prstGeom>
          <a:noFill/>
          <a:ln/>
        </p:spPr>
        <p:txBody>
          <a:bodyPr wrap="square" rtlCol="0" anchor="ctr"/>
          <a:lstStyle/>
          <a:p>
            <a:pPr marL="0" indent="0">
              <a:buNone/>
            </a:pPr>
            <a:r>
              <a:rPr lang="en-US" sz="950" b="1" dirty="0">
                <a:solidFill>
                  <a:srgbClr val="0F1E3C"/>
                </a:solidFill>
                <a:latin typeface="Arial" pitchFamily="34" charset="0"/>
                <a:ea typeface="Arial" pitchFamily="34" charset="-122"/>
                <a:cs typeface="Arial" pitchFamily="34" charset="-120"/>
              </a:rPr>
              <a:t>Base domain expertise</a:t>
            </a:r>
            <a:endParaRPr lang="en-US" sz="950" dirty="0"/>
          </a:p>
        </p:txBody>
      </p:sp>
      <p:sp>
        <p:nvSpPr>
          <p:cNvPr id="11" name="Shape 9"/>
          <p:cNvSpPr/>
          <p:nvPr/>
        </p:nvSpPr>
        <p:spPr>
          <a:xfrm>
            <a:off x="3383280" y="2249424"/>
            <a:ext cx="2377440" cy="402336"/>
          </a:xfrm>
          <a:prstGeom prst="roundRect">
            <a:avLst>
              <a:gd name="adj" fmla="val 13636"/>
            </a:avLst>
          </a:prstGeom>
          <a:solidFill>
            <a:srgbClr val="FFFFFF"/>
          </a:solidFill>
          <a:ln w="12700">
            <a:solidFill>
              <a:srgbClr val="534AB7"/>
            </a:solidFill>
            <a:prstDash val="solid"/>
          </a:ln>
        </p:spPr>
        <p:txBody>
          <a:bodyPr/>
          <a:lstStyle/>
          <a:p>
            <a:endParaRPr lang="en-US"/>
          </a:p>
        </p:txBody>
      </p:sp>
      <p:sp>
        <p:nvSpPr>
          <p:cNvPr id="12" name="Shape 10"/>
          <p:cNvSpPr/>
          <p:nvPr/>
        </p:nvSpPr>
        <p:spPr>
          <a:xfrm>
            <a:off x="3447288" y="2340864"/>
            <a:ext cx="219456" cy="219456"/>
          </a:xfrm>
          <a:prstGeom prst="ellipse">
            <a:avLst/>
          </a:prstGeom>
          <a:solidFill>
            <a:srgbClr val="534AB7"/>
          </a:solidFill>
          <a:ln w="12700">
            <a:solidFill>
              <a:srgbClr val="534AB7"/>
            </a:solidFill>
            <a:prstDash val="solid"/>
          </a:ln>
        </p:spPr>
        <p:txBody>
          <a:bodyPr/>
          <a:lstStyle/>
          <a:p>
            <a:endParaRPr lang="en-US"/>
          </a:p>
        </p:txBody>
      </p:sp>
      <p:sp>
        <p:nvSpPr>
          <p:cNvPr id="13" name="Text 11"/>
          <p:cNvSpPr/>
          <p:nvPr/>
        </p:nvSpPr>
        <p:spPr>
          <a:xfrm>
            <a:off x="3749040" y="2322576"/>
            <a:ext cx="1920240" cy="256032"/>
          </a:xfrm>
          <a:prstGeom prst="rect">
            <a:avLst/>
          </a:prstGeom>
          <a:noFill/>
          <a:ln/>
        </p:spPr>
        <p:txBody>
          <a:bodyPr wrap="square" rtlCol="0" anchor="ctr"/>
          <a:lstStyle/>
          <a:p>
            <a:pPr marL="0" indent="0">
              <a:buNone/>
            </a:pPr>
            <a:r>
              <a:rPr lang="en-US" sz="950" b="1" dirty="0">
                <a:solidFill>
                  <a:srgbClr val="0F1E3C"/>
                </a:solidFill>
                <a:latin typeface="Arial" pitchFamily="34" charset="0"/>
                <a:ea typeface="Arial" pitchFamily="34" charset="-122"/>
                <a:cs typeface="Arial" pitchFamily="34" charset="-120"/>
              </a:rPr>
              <a:t>Well-Architected principles</a:t>
            </a:r>
            <a:endParaRPr lang="en-US" sz="950" dirty="0"/>
          </a:p>
        </p:txBody>
      </p:sp>
      <p:sp>
        <p:nvSpPr>
          <p:cNvPr id="14" name="Shape 12"/>
          <p:cNvSpPr/>
          <p:nvPr/>
        </p:nvSpPr>
        <p:spPr>
          <a:xfrm>
            <a:off x="3383280" y="2761488"/>
            <a:ext cx="2377440" cy="402336"/>
          </a:xfrm>
          <a:prstGeom prst="roundRect">
            <a:avLst>
              <a:gd name="adj" fmla="val 13636"/>
            </a:avLst>
          </a:prstGeom>
          <a:solidFill>
            <a:srgbClr val="FFFFFF"/>
          </a:solidFill>
          <a:ln w="12700">
            <a:solidFill>
              <a:srgbClr val="0F6E56"/>
            </a:solidFill>
            <a:prstDash val="solid"/>
          </a:ln>
        </p:spPr>
        <p:txBody>
          <a:bodyPr/>
          <a:lstStyle/>
          <a:p>
            <a:endParaRPr lang="en-US"/>
          </a:p>
        </p:txBody>
      </p:sp>
      <p:sp>
        <p:nvSpPr>
          <p:cNvPr id="15" name="Shape 13"/>
          <p:cNvSpPr/>
          <p:nvPr/>
        </p:nvSpPr>
        <p:spPr>
          <a:xfrm>
            <a:off x="3447288" y="2852928"/>
            <a:ext cx="219456" cy="219456"/>
          </a:xfrm>
          <a:prstGeom prst="ellipse">
            <a:avLst/>
          </a:prstGeom>
          <a:solidFill>
            <a:srgbClr val="0F6E56"/>
          </a:solidFill>
          <a:ln w="12700">
            <a:solidFill>
              <a:srgbClr val="0F6E56"/>
            </a:solidFill>
            <a:prstDash val="solid"/>
          </a:ln>
        </p:spPr>
        <p:txBody>
          <a:bodyPr/>
          <a:lstStyle/>
          <a:p>
            <a:endParaRPr lang="en-US"/>
          </a:p>
        </p:txBody>
      </p:sp>
      <p:sp>
        <p:nvSpPr>
          <p:cNvPr id="16" name="Text 14"/>
          <p:cNvSpPr/>
          <p:nvPr/>
        </p:nvSpPr>
        <p:spPr>
          <a:xfrm>
            <a:off x="3749040" y="2834640"/>
            <a:ext cx="1920240" cy="256032"/>
          </a:xfrm>
          <a:prstGeom prst="rect">
            <a:avLst/>
          </a:prstGeom>
          <a:noFill/>
          <a:ln/>
        </p:spPr>
        <p:txBody>
          <a:bodyPr wrap="square" rtlCol="0" anchor="ctr"/>
          <a:lstStyle/>
          <a:p>
            <a:pPr marL="0" indent="0">
              <a:buNone/>
            </a:pPr>
            <a:r>
              <a:rPr lang="en-US" sz="950" b="1" dirty="0">
                <a:solidFill>
                  <a:srgbClr val="0F1E3C"/>
                </a:solidFill>
                <a:latin typeface="Arial" pitchFamily="34" charset="0"/>
                <a:ea typeface="Arial" pitchFamily="34" charset="-122"/>
                <a:cs typeface="Arial" pitchFamily="34" charset="-120"/>
              </a:rPr>
              <a:t>SI failure pattern library</a:t>
            </a:r>
            <a:endParaRPr lang="en-US" sz="950" dirty="0"/>
          </a:p>
        </p:txBody>
      </p:sp>
      <p:sp>
        <p:nvSpPr>
          <p:cNvPr id="17" name="Shape 15"/>
          <p:cNvSpPr/>
          <p:nvPr/>
        </p:nvSpPr>
        <p:spPr>
          <a:xfrm>
            <a:off x="3383280" y="3273552"/>
            <a:ext cx="2377440" cy="402336"/>
          </a:xfrm>
          <a:prstGeom prst="roundRect">
            <a:avLst>
              <a:gd name="adj" fmla="val 13636"/>
            </a:avLst>
          </a:prstGeom>
          <a:solidFill>
            <a:srgbClr val="FFFFFF"/>
          </a:solidFill>
          <a:ln w="12700">
            <a:solidFill>
              <a:srgbClr val="BA7517"/>
            </a:solidFill>
            <a:prstDash val="solid"/>
          </a:ln>
        </p:spPr>
        <p:txBody>
          <a:bodyPr/>
          <a:lstStyle/>
          <a:p>
            <a:endParaRPr lang="en-US"/>
          </a:p>
        </p:txBody>
      </p:sp>
      <p:sp>
        <p:nvSpPr>
          <p:cNvPr id="18" name="Shape 16"/>
          <p:cNvSpPr/>
          <p:nvPr/>
        </p:nvSpPr>
        <p:spPr>
          <a:xfrm>
            <a:off x="3447288" y="3364992"/>
            <a:ext cx="219456" cy="219456"/>
          </a:xfrm>
          <a:prstGeom prst="ellipse">
            <a:avLst/>
          </a:prstGeom>
          <a:solidFill>
            <a:srgbClr val="BA7517"/>
          </a:solidFill>
          <a:ln w="12700">
            <a:solidFill>
              <a:srgbClr val="BA7517"/>
            </a:solidFill>
            <a:prstDash val="solid"/>
          </a:ln>
        </p:spPr>
        <p:txBody>
          <a:bodyPr/>
          <a:lstStyle/>
          <a:p>
            <a:endParaRPr lang="en-US"/>
          </a:p>
        </p:txBody>
      </p:sp>
      <p:sp>
        <p:nvSpPr>
          <p:cNvPr id="19" name="Text 17"/>
          <p:cNvSpPr/>
          <p:nvPr/>
        </p:nvSpPr>
        <p:spPr>
          <a:xfrm>
            <a:off x="3749040" y="3346704"/>
            <a:ext cx="1920240" cy="256032"/>
          </a:xfrm>
          <a:prstGeom prst="rect">
            <a:avLst/>
          </a:prstGeom>
          <a:noFill/>
          <a:ln/>
        </p:spPr>
        <p:txBody>
          <a:bodyPr wrap="square" rtlCol="0" anchor="ctr"/>
          <a:lstStyle/>
          <a:p>
            <a:pPr marL="0" indent="0">
              <a:buNone/>
            </a:pPr>
            <a:r>
              <a:rPr lang="en-US" sz="950" b="1" dirty="0">
                <a:solidFill>
                  <a:srgbClr val="0F1E3C"/>
                </a:solidFill>
                <a:latin typeface="Arial" pitchFamily="34" charset="0"/>
                <a:ea typeface="Arial" pitchFamily="34" charset="-122"/>
                <a:cs typeface="Arial" pitchFamily="34" charset="-120"/>
              </a:rPr>
              <a:t>Cross-session Jira memory</a:t>
            </a:r>
            <a:endParaRPr lang="en-US" sz="950" dirty="0"/>
          </a:p>
        </p:txBody>
      </p:sp>
      <p:sp>
        <p:nvSpPr>
          <p:cNvPr id="20" name="Shape 18"/>
          <p:cNvSpPr/>
          <p:nvPr/>
        </p:nvSpPr>
        <p:spPr>
          <a:xfrm>
            <a:off x="3383280" y="3785616"/>
            <a:ext cx="2377440" cy="402336"/>
          </a:xfrm>
          <a:prstGeom prst="roundRect">
            <a:avLst>
              <a:gd name="adj" fmla="val 13636"/>
            </a:avLst>
          </a:prstGeom>
          <a:solidFill>
            <a:srgbClr val="FFFFFF"/>
          </a:solidFill>
          <a:ln w="12700">
            <a:solidFill>
              <a:srgbClr val="993C1D"/>
            </a:solidFill>
            <a:prstDash val="solid"/>
          </a:ln>
        </p:spPr>
        <p:txBody>
          <a:bodyPr/>
          <a:lstStyle/>
          <a:p>
            <a:endParaRPr lang="en-US"/>
          </a:p>
        </p:txBody>
      </p:sp>
      <p:sp>
        <p:nvSpPr>
          <p:cNvPr id="21" name="Shape 19"/>
          <p:cNvSpPr/>
          <p:nvPr/>
        </p:nvSpPr>
        <p:spPr>
          <a:xfrm>
            <a:off x="3447288" y="3877056"/>
            <a:ext cx="219456" cy="219456"/>
          </a:xfrm>
          <a:prstGeom prst="ellipse">
            <a:avLst/>
          </a:prstGeom>
          <a:solidFill>
            <a:srgbClr val="993C1D"/>
          </a:solidFill>
          <a:ln w="12700">
            <a:solidFill>
              <a:srgbClr val="993C1D"/>
            </a:solidFill>
            <a:prstDash val="solid"/>
          </a:ln>
        </p:spPr>
        <p:txBody>
          <a:bodyPr/>
          <a:lstStyle/>
          <a:p>
            <a:endParaRPr lang="en-US"/>
          </a:p>
        </p:txBody>
      </p:sp>
      <p:sp>
        <p:nvSpPr>
          <p:cNvPr id="22" name="Text 20"/>
          <p:cNvSpPr/>
          <p:nvPr/>
        </p:nvSpPr>
        <p:spPr>
          <a:xfrm>
            <a:off x="3749040" y="3858768"/>
            <a:ext cx="1920240" cy="256032"/>
          </a:xfrm>
          <a:prstGeom prst="rect">
            <a:avLst/>
          </a:prstGeom>
          <a:noFill/>
          <a:ln/>
        </p:spPr>
        <p:txBody>
          <a:bodyPr wrap="square" rtlCol="0" anchor="ctr"/>
          <a:lstStyle/>
          <a:p>
            <a:pPr marL="0" indent="0">
              <a:buNone/>
            </a:pPr>
            <a:r>
              <a:rPr lang="en-US" sz="950" b="1" dirty="0">
                <a:solidFill>
                  <a:srgbClr val="0F1E3C"/>
                </a:solidFill>
                <a:latin typeface="Arial" pitchFamily="34" charset="0"/>
                <a:ea typeface="Arial" pitchFamily="34" charset="-122"/>
                <a:cs typeface="Arial" pitchFamily="34" charset="-120"/>
              </a:rPr>
              <a:t>Live org context (MCP)</a:t>
            </a:r>
            <a:endParaRPr lang="en-US" sz="950" dirty="0"/>
          </a:p>
        </p:txBody>
      </p:sp>
      <p:sp>
        <p:nvSpPr>
          <p:cNvPr id="23" name="Shape 21"/>
          <p:cNvSpPr/>
          <p:nvPr/>
        </p:nvSpPr>
        <p:spPr>
          <a:xfrm>
            <a:off x="320040" y="1508760"/>
            <a:ext cx="2606040" cy="658368"/>
          </a:xfrm>
          <a:prstGeom prst="roundRect">
            <a:avLst>
              <a:gd name="adj" fmla="val 11111"/>
            </a:avLst>
          </a:prstGeom>
          <a:solidFill>
            <a:srgbClr val="FFFFFF"/>
          </a:solidFill>
          <a:ln w="6350">
            <a:solidFill>
              <a:srgbClr val="D3D1C7"/>
            </a:solidFill>
            <a:prstDash val="solid"/>
          </a:ln>
          <a:effectLst>
            <a:outerShdw blurRad="63500" dist="25400" dir="2700000" algn="bl" rotWithShape="0">
              <a:srgbClr val="000000">
                <a:alpha val="6000"/>
              </a:srgbClr>
            </a:outerShdw>
          </a:effectLst>
        </p:spPr>
        <p:txBody>
          <a:bodyPr/>
          <a:lstStyle/>
          <a:p>
            <a:endParaRPr lang="en-US"/>
          </a:p>
        </p:txBody>
      </p:sp>
      <p:sp>
        <p:nvSpPr>
          <p:cNvPr id="24" name="Text 22"/>
          <p:cNvSpPr/>
          <p:nvPr/>
        </p:nvSpPr>
        <p:spPr>
          <a:xfrm>
            <a:off x="457200" y="1581912"/>
            <a:ext cx="2331720" cy="237744"/>
          </a:xfrm>
          <a:prstGeom prst="rect">
            <a:avLst/>
          </a:prstGeom>
          <a:noFill/>
          <a:ln/>
        </p:spPr>
        <p:txBody>
          <a:bodyPr wrap="square" rtlCol="0" anchor="ctr"/>
          <a:lstStyle/>
          <a:p>
            <a:pPr marL="0" indent="0">
              <a:buNone/>
            </a:pPr>
            <a:r>
              <a:rPr lang="en-US" sz="950" b="1" dirty="0">
                <a:solidFill>
                  <a:srgbClr val="0F1E3C"/>
                </a:solidFill>
                <a:latin typeface="Arial" pitchFamily="34" charset="0"/>
                <a:ea typeface="Arial" pitchFamily="34" charset="-122"/>
                <a:cs typeface="Arial" pitchFamily="34" charset="-120"/>
              </a:rPr>
              <a:t>Agent domain files</a:t>
            </a:r>
            <a:endParaRPr lang="en-US" sz="950" dirty="0"/>
          </a:p>
        </p:txBody>
      </p:sp>
      <p:sp>
        <p:nvSpPr>
          <p:cNvPr id="25" name="Text 23"/>
          <p:cNvSpPr/>
          <p:nvPr/>
        </p:nvSpPr>
        <p:spPr>
          <a:xfrm>
            <a:off x="457200" y="1837944"/>
            <a:ext cx="2331720" cy="201168"/>
          </a:xfrm>
          <a:prstGeom prst="rect">
            <a:avLst/>
          </a:prstGeom>
          <a:noFill/>
          <a:ln/>
        </p:spPr>
        <p:txBody>
          <a:bodyPr wrap="square" rtlCol="0" anchor="ctr"/>
          <a:lstStyle/>
          <a:p>
            <a:pPr marL="0" indent="0">
              <a:buNone/>
            </a:pPr>
            <a:r>
              <a:rPr lang="en-US" sz="800" dirty="0">
                <a:solidFill>
                  <a:srgbClr val="1B4F9B"/>
                </a:solidFill>
                <a:latin typeface="Courier New" pitchFamily="34" charset="0"/>
                <a:ea typeface="Courier New" pitchFamily="34" charset="-122"/>
                <a:cs typeface="Courier New" pitchFamily="34" charset="-120"/>
              </a:rPr>
              <a:t>src/lib/domains/salesforce/agents/</a:t>
            </a:r>
            <a:endParaRPr lang="en-US" sz="800" dirty="0"/>
          </a:p>
        </p:txBody>
      </p:sp>
      <p:sp>
        <p:nvSpPr>
          <p:cNvPr id="26" name="Shape 24"/>
          <p:cNvSpPr/>
          <p:nvPr/>
        </p:nvSpPr>
        <p:spPr>
          <a:xfrm>
            <a:off x="2926080" y="1837944"/>
            <a:ext cx="320040" cy="0"/>
          </a:xfrm>
          <a:prstGeom prst="line">
            <a:avLst/>
          </a:prstGeom>
          <a:noFill/>
          <a:ln w="12700">
            <a:solidFill>
              <a:srgbClr val="1B4F9B"/>
            </a:solidFill>
            <a:prstDash val="solid"/>
          </a:ln>
        </p:spPr>
        <p:txBody>
          <a:bodyPr/>
          <a:lstStyle/>
          <a:p>
            <a:endParaRPr lang="en-US"/>
          </a:p>
        </p:txBody>
      </p:sp>
      <p:sp>
        <p:nvSpPr>
          <p:cNvPr id="27" name="Text 25"/>
          <p:cNvSpPr/>
          <p:nvPr/>
        </p:nvSpPr>
        <p:spPr>
          <a:xfrm>
            <a:off x="3127248" y="1728216"/>
            <a:ext cx="164592" cy="228600"/>
          </a:xfrm>
          <a:prstGeom prst="rect">
            <a:avLst/>
          </a:prstGeom>
          <a:noFill/>
          <a:ln/>
        </p:spPr>
        <p:txBody>
          <a:bodyPr wrap="square" rtlCol="0" anchor="ctr"/>
          <a:lstStyle/>
          <a:p>
            <a:pPr marL="0" indent="0" algn="ctr">
              <a:buNone/>
            </a:pPr>
            <a:r>
              <a:rPr lang="en-US" sz="1300" b="1" dirty="0">
                <a:solidFill>
                  <a:srgbClr val="1B4F9B"/>
                </a:solidFill>
                <a:latin typeface="Arial" pitchFamily="34" charset="0"/>
                <a:ea typeface="Arial" pitchFamily="34" charset="-122"/>
                <a:cs typeface="Arial" pitchFamily="34" charset="-120"/>
              </a:rPr>
              <a:t>›</a:t>
            </a:r>
            <a:endParaRPr lang="en-US" sz="1300" dirty="0"/>
          </a:p>
        </p:txBody>
      </p:sp>
      <p:sp>
        <p:nvSpPr>
          <p:cNvPr id="28" name="Shape 26"/>
          <p:cNvSpPr/>
          <p:nvPr/>
        </p:nvSpPr>
        <p:spPr>
          <a:xfrm>
            <a:off x="320040" y="2532888"/>
            <a:ext cx="2606040" cy="658368"/>
          </a:xfrm>
          <a:prstGeom prst="roundRect">
            <a:avLst>
              <a:gd name="adj" fmla="val 11111"/>
            </a:avLst>
          </a:prstGeom>
          <a:solidFill>
            <a:srgbClr val="FFFFFF"/>
          </a:solidFill>
          <a:ln w="6350">
            <a:solidFill>
              <a:srgbClr val="D3D1C7"/>
            </a:solidFill>
            <a:prstDash val="solid"/>
          </a:ln>
          <a:effectLst>
            <a:outerShdw blurRad="63500" dist="25400" dir="2700000" algn="bl" rotWithShape="0">
              <a:srgbClr val="000000">
                <a:alpha val="6000"/>
              </a:srgbClr>
            </a:outerShdw>
          </a:effectLst>
        </p:spPr>
        <p:txBody>
          <a:bodyPr/>
          <a:lstStyle/>
          <a:p>
            <a:endParaRPr lang="en-US"/>
          </a:p>
        </p:txBody>
      </p:sp>
      <p:sp>
        <p:nvSpPr>
          <p:cNvPr id="29" name="Text 27"/>
          <p:cNvSpPr/>
          <p:nvPr/>
        </p:nvSpPr>
        <p:spPr>
          <a:xfrm>
            <a:off x="457200" y="2606040"/>
            <a:ext cx="2331720" cy="237744"/>
          </a:xfrm>
          <a:prstGeom prst="rect">
            <a:avLst/>
          </a:prstGeom>
          <a:noFill/>
          <a:ln/>
        </p:spPr>
        <p:txBody>
          <a:bodyPr wrap="square" rtlCol="0" anchor="ctr"/>
          <a:lstStyle/>
          <a:p>
            <a:pPr marL="0" indent="0">
              <a:buNone/>
            </a:pPr>
            <a:r>
              <a:rPr lang="en-US" sz="950" b="1" dirty="0">
                <a:solidFill>
                  <a:srgbClr val="0F1E3C"/>
                </a:solidFill>
                <a:latin typeface="Arial" pitchFamily="34" charset="0"/>
                <a:ea typeface="Arial" pitchFamily="34" charset="-122"/>
                <a:cs typeface="Arial" pitchFamily="34" charset="-120"/>
              </a:rPr>
              <a:t>wellArchitectedPrinciples.ts</a:t>
            </a:r>
            <a:endParaRPr lang="en-US" sz="950" dirty="0"/>
          </a:p>
        </p:txBody>
      </p:sp>
      <p:sp>
        <p:nvSpPr>
          <p:cNvPr id="30" name="Text 28"/>
          <p:cNvSpPr/>
          <p:nvPr/>
        </p:nvSpPr>
        <p:spPr>
          <a:xfrm>
            <a:off x="457200" y="2862072"/>
            <a:ext cx="2331720" cy="201168"/>
          </a:xfrm>
          <a:prstGeom prst="rect">
            <a:avLst/>
          </a:prstGeom>
          <a:noFill/>
          <a:ln/>
        </p:spPr>
        <p:txBody>
          <a:bodyPr wrap="square" rtlCol="0" anchor="ctr"/>
          <a:lstStyle/>
          <a:p>
            <a:pPr marL="0" indent="0">
              <a:buNone/>
            </a:pPr>
            <a:r>
              <a:rPr lang="en-US" sz="800" dirty="0">
                <a:solidFill>
                  <a:srgbClr val="534AB7"/>
                </a:solidFill>
                <a:latin typeface="Courier New" pitchFamily="34" charset="0"/>
                <a:ea typeface="Courier New" pitchFamily="34" charset="-122"/>
                <a:cs typeface="Courier New" pitchFamily="34" charset="-120"/>
              </a:rPr>
              <a:t>src/lib/prompt/</a:t>
            </a:r>
            <a:endParaRPr lang="en-US" sz="800" dirty="0"/>
          </a:p>
        </p:txBody>
      </p:sp>
      <p:sp>
        <p:nvSpPr>
          <p:cNvPr id="31" name="Shape 29"/>
          <p:cNvSpPr/>
          <p:nvPr/>
        </p:nvSpPr>
        <p:spPr>
          <a:xfrm>
            <a:off x="2926080" y="2862072"/>
            <a:ext cx="320040" cy="0"/>
          </a:xfrm>
          <a:prstGeom prst="line">
            <a:avLst/>
          </a:prstGeom>
          <a:noFill/>
          <a:ln w="12700">
            <a:solidFill>
              <a:srgbClr val="534AB7"/>
            </a:solidFill>
            <a:prstDash val="solid"/>
          </a:ln>
        </p:spPr>
        <p:txBody>
          <a:bodyPr/>
          <a:lstStyle/>
          <a:p>
            <a:endParaRPr lang="en-US"/>
          </a:p>
        </p:txBody>
      </p:sp>
      <p:sp>
        <p:nvSpPr>
          <p:cNvPr id="32" name="Text 30"/>
          <p:cNvSpPr/>
          <p:nvPr/>
        </p:nvSpPr>
        <p:spPr>
          <a:xfrm>
            <a:off x="3127248" y="2752344"/>
            <a:ext cx="164592" cy="228600"/>
          </a:xfrm>
          <a:prstGeom prst="rect">
            <a:avLst/>
          </a:prstGeom>
          <a:noFill/>
          <a:ln/>
        </p:spPr>
        <p:txBody>
          <a:bodyPr wrap="square" rtlCol="0" anchor="ctr"/>
          <a:lstStyle/>
          <a:p>
            <a:pPr marL="0" indent="0" algn="ctr">
              <a:buNone/>
            </a:pPr>
            <a:r>
              <a:rPr lang="en-US" sz="1300" b="1" dirty="0">
                <a:solidFill>
                  <a:srgbClr val="534AB7"/>
                </a:solidFill>
                <a:latin typeface="Arial" pitchFamily="34" charset="0"/>
                <a:ea typeface="Arial" pitchFamily="34" charset="-122"/>
                <a:cs typeface="Arial" pitchFamily="34" charset="-120"/>
              </a:rPr>
              <a:t>›</a:t>
            </a:r>
            <a:endParaRPr lang="en-US" sz="1300" dirty="0"/>
          </a:p>
        </p:txBody>
      </p:sp>
      <p:sp>
        <p:nvSpPr>
          <p:cNvPr id="33" name="Shape 31"/>
          <p:cNvSpPr/>
          <p:nvPr/>
        </p:nvSpPr>
        <p:spPr>
          <a:xfrm>
            <a:off x="320040" y="3557016"/>
            <a:ext cx="2606040" cy="658368"/>
          </a:xfrm>
          <a:prstGeom prst="roundRect">
            <a:avLst>
              <a:gd name="adj" fmla="val 11111"/>
            </a:avLst>
          </a:prstGeom>
          <a:solidFill>
            <a:srgbClr val="FFFFFF"/>
          </a:solidFill>
          <a:ln w="6350">
            <a:solidFill>
              <a:srgbClr val="D3D1C7"/>
            </a:solidFill>
            <a:prstDash val="solid"/>
          </a:ln>
          <a:effectLst>
            <a:outerShdw blurRad="63500" dist="25400" dir="2700000" algn="bl" rotWithShape="0">
              <a:srgbClr val="000000">
                <a:alpha val="6000"/>
              </a:srgbClr>
            </a:outerShdw>
          </a:effectLst>
        </p:spPr>
        <p:txBody>
          <a:bodyPr/>
          <a:lstStyle/>
          <a:p>
            <a:endParaRPr lang="en-US"/>
          </a:p>
        </p:txBody>
      </p:sp>
      <p:sp>
        <p:nvSpPr>
          <p:cNvPr id="34" name="Text 32"/>
          <p:cNvSpPr/>
          <p:nvPr/>
        </p:nvSpPr>
        <p:spPr>
          <a:xfrm>
            <a:off x="457200" y="3630168"/>
            <a:ext cx="2331720" cy="237744"/>
          </a:xfrm>
          <a:prstGeom prst="rect">
            <a:avLst/>
          </a:prstGeom>
          <a:noFill/>
          <a:ln/>
        </p:spPr>
        <p:txBody>
          <a:bodyPr wrap="square" rtlCol="0" anchor="ctr"/>
          <a:lstStyle/>
          <a:p>
            <a:pPr marL="0" indent="0">
              <a:buNone/>
            </a:pPr>
            <a:r>
              <a:rPr lang="en-US" sz="950" b="1" dirty="0">
                <a:solidFill>
                  <a:srgbClr val="0F1E3C"/>
                </a:solidFill>
                <a:latin typeface="Arial" pitchFamily="34" charset="0"/>
                <a:ea typeface="Arial" pitchFamily="34" charset="-122"/>
                <a:cs typeface="Arial" pitchFamily="34" charset="-120"/>
              </a:rPr>
              <a:t>Supabase — failure_patterns</a:t>
            </a:r>
            <a:endParaRPr lang="en-US" sz="950" dirty="0"/>
          </a:p>
        </p:txBody>
      </p:sp>
      <p:sp>
        <p:nvSpPr>
          <p:cNvPr id="35" name="Text 33"/>
          <p:cNvSpPr/>
          <p:nvPr/>
        </p:nvSpPr>
        <p:spPr>
          <a:xfrm>
            <a:off x="457200" y="3886200"/>
            <a:ext cx="2331720" cy="201168"/>
          </a:xfrm>
          <a:prstGeom prst="rect">
            <a:avLst/>
          </a:prstGeom>
          <a:noFill/>
          <a:ln/>
        </p:spPr>
        <p:txBody>
          <a:bodyPr wrap="square" rtlCol="0" anchor="ctr"/>
          <a:lstStyle/>
          <a:p>
            <a:pPr marL="0" indent="0">
              <a:buNone/>
            </a:pPr>
            <a:r>
              <a:rPr lang="en-US" sz="800" dirty="0">
                <a:solidFill>
                  <a:srgbClr val="0F6E56"/>
                </a:solidFill>
                <a:latin typeface="Courier New" pitchFamily="34" charset="0"/>
                <a:ea typeface="Courier New" pitchFamily="34" charset="-122"/>
                <a:cs typeface="Courier New" pitchFamily="34" charset="-120"/>
              </a:rPr>
              <a:t>patternRetrieval.ts</a:t>
            </a:r>
            <a:endParaRPr lang="en-US" sz="800" dirty="0"/>
          </a:p>
        </p:txBody>
      </p:sp>
      <p:sp>
        <p:nvSpPr>
          <p:cNvPr id="36" name="Shape 34"/>
          <p:cNvSpPr/>
          <p:nvPr/>
        </p:nvSpPr>
        <p:spPr>
          <a:xfrm>
            <a:off x="2926080" y="3886200"/>
            <a:ext cx="320040" cy="0"/>
          </a:xfrm>
          <a:prstGeom prst="line">
            <a:avLst/>
          </a:prstGeom>
          <a:noFill/>
          <a:ln w="12700">
            <a:solidFill>
              <a:srgbClr val="0F6E56"/>
            </a:solidFill>
            <a:prstDash val="solid"/>
          </a:ln>
        </p:spPr>
        <p:txBody>
          <a:bodyPr/>
          <a:lstStyle/>
          <a:p>
            <a:endParaRPr lang="en-US"/>
          </a:p>
        </p:txBody>
      </p:sp>
      <p:sp>
        <p:nvSpPr>
          <p:cNvPr id="37" name="Text 35"/>
          <p:cNvSpPr/>
          <p:nvPr/>
        </p:nvSpPr>
        <p:spPr>
          <a:xfrm>
            <a:off x="3127248" y="3776472"/>
            <a:ext cx="164592" cy="228600"/>
          </a:xfrm>
          <a:prstGeom prst="rect">
            <a:avLst/>
          </a:prstGeom>
          <a:noFill/>
          <a:ln/>
        </p:spPr>
        <p:txBody>
          <a:bodyPr wrap="square" rtlCol="0" anchor="ctr"/>
          <a:lstStyle/>
          <a:p>
            <a:pPr marL="0" indent="0" algn="ctr">
              <a:buNone/>
            </a:pPr>
            <a:r>
              <a:rPr lang="en-US" sz="1300" b="1" dirty="0">
                <a:solidFill>
                  <a:srgbClr val="0F6E56"/>
                </a:solidFill>
                <a:latin typeface="Arial" pitchFamily="34" charset="0"/>
                <a:ea typeface="Arial" pitchFamily="34" charset="-122"/>
                <a:cs typeface="Arial" pitchFamily="34" charset="-120"/>
              </a:rPr>
              <a:t>›</a:t>
            </a:r>
            <a:endParaRPr lang="en-US" sz="1300" dirty="0"/>
          </a:p>
        </p:txBody>
      </p:sp>
      <p:sp>
        <p:nvSpPr>
          <p:cNvPr id="38" name="Shape 36"/>
          <p:cNvSpPr/>
          <p:nvPr/>
        </p:nvSpPr>
        <p:spPr>
          <a:xfrm>
            <a:off x="6217920" y="1920240"/>
            <a:ext cx="2606040" cy="658368"/>
          </a:xfrm>
          <a:prstGeom prst="roundRect">
            <a:avLst>
              <a:gd name="adj" fmla="val 11111"/>
            </a:avLst>
          </a:prstGeom>
          <a:solidFill>
            <a:srgbClr val="FFFFFF"/>
          </a:solidFill>
          <a:ln w="6350">
            <a:solidFill>
              <a:srgbClr val="D3D1C7"/>
            </a:solidFill>
            <a:prstDash val="solid"/>
          </a:ln>
          <a:effectLst>
            <a:outerShdw blurRad="63500" dist="25400" dir="2700000" algn="bl" rotWithShape="0">
              <a:srgbClr val="000000">
                <a:alpha val="6000"/>
              </a:srgbClr>
            </a:outerShdw>
          </a:effectLst>
        </p:spPr>
        <p:txBody>
          <a:bodyPr/>
          <a:lstStyle/>
          <a:p>
            <a:endParaRPr lang="en-US"/>
          </a:p>
        </p:txBody>
      </p:sp>
      <p:sp>
        <p:nvSpPr>
          <p:cNvPr id="39" name="Text 37"/>
          <p:cNvSpPr/>
          <p:nvPr/>
        </p:nvSpPr>
        <p:spPr>
          <a:xfrm>
            <a:off x="6355080" y="1993392"/>
            <a:ext cx="2331720" cy="237744"/>
          </a:xfrm>
          <a:prstGeom prst="rect">
            <a:avLst/>
          </a:prstGeom>
          <a:noFill/>
          <a:ln/>
        </p:spPr>
        <p:txBody>
          <a:bodyPr wrap="square" rtlCol="0" anchor="ctr"/>
          <a:lstStyle/>
          <a:p>
            <a:pPr marL="0" indent="0">
              <a:buNone/>
            </a:pPr>
            <a:r>
              <a:rPr lang="en-US" sz="950" b="1" dirty="0">
                <a:solidFill>
                  <a:srgbClr val="0F1E3C"/>
                </a:solidFill>
                <a:latin typeface="Arial" pitchFamily="34" charset="0"/>
                <a:ea typeface="Arial" pitchFamily="34" charset="-122"/>
                <a:cs typeface="Arial" pitchFamily="34" charset="-120"/>
              </a:rPr>
              <a:t>Jira ARBOARD project</a:t>
            </a:r>
            <a:endParaRPr lang="en-US" sz="950" dirty="0"/>
          </a:p>
        </p:txBody>
      </p:sp>
      <p:sp>
        <p:nvSpPr>
          <p:cNvPr id="40" name="Text 38"/>
          <p:cNvSpPr/>
          <p:nvPr/>
        </p:nvSpPr>
        <p:spPr>
          <a:xfrm>
            <a:off x="6355080" y="2249424"/>
            <a:ext cx="2331720" cy="201168"/>
          </a:xfrm>
          <a:prstGeom prst="rect">
            <a:avLst/>
          </a:prstGeom>
          <a:noFill/>
          <a:ln/>
        </p:spPr>
        <p:txBody>
          <a:bodyPr wrap="square" rtlCol="0" anchor="ctr"/>
          <a:lstStyle/>
          <a:p>
            <a:pPr marL="0" indent="0">
              <a:buNone/>
            </a:pPr>
            <a:r>
              <a:rPr lang="en-US" sz="800" dirty="0">
                <a:solidFill>
                  <a:srgbClr val="BA7517"/>
                </a:solidFill>
                <a:latin typeface="Courier New" pitchFamily="34" charset="0"/>
                <a:ea typeface="Courier New" pitchFamily="34" charset="-122"/>
                <a:cs typeface="Courier New" pitchFamily="34" charset="-120"/>
              </a:rPr>
              <a:t>jiraMemoryRetriever.ts</a:t>
            </a:r>
            <a:endParaRPr lang="en-US" sz="800" dirty="0"/>
          </a:p>
        </p:txBody>
      </p:sp>
      <p:sp>
        <p:nvSpPr>
          <p:cNvPr id="41" name="Shape 39"/>
          <p:cNvSpPr/>
          <p:nvPr/>
        </p:nvSpPr>
        <p:spPr>
          <a:xfrm>
            <a:off x="5897880" y="2249424"/>
            <a:ext cx="320040" cy="0"/>
          </a:xfrm>
          <a:prstGeom prst="line">
            <a:avLst/>
          </a:prstGeom>
          <a:noFill/>
          <a:ln w="12700">
            <a:solidFill>
              <a:srgbClr val="BA7517"/>
            </a:solidFill>
            <a:prstDash val="solid"/>
          </a:ln>
        </p:spPr>
        <p:txBody>
          <a:bodyPr/>
          <a:lstStyle/>
          <a:p>
            <a:endParaRPr lang="en-US"/>
          </a:p>
        </p:txBody>
      </p:sp>
      <p:sp>
        <p:nvSpPr>
          <p:cNvPr id="42" name="Text 40"/>
          <p:cNvSpPr/>
          <p:nvPr/>
        </p:nvSpPr>
        <p:spPr>
          <a:xfrm>
            <a:off x="5733288" y="2139696"/>
            <a:ext cx="182880" cy="228600"/>
          </a:xfrm>
          <a:prstGeom prst="rect">
            <a:avLst/>
          </a:prstGeom>
          <a:noFill/>
          <a:ln/>
        </p:spPr>
        <p:txBody>
          <a:bodyPr wrap="square" rtlCol="0" anchor="ctr"/>
          <a:lstStyle/>
          <a:p>
            <a:pPr marL="0" indent="0" algn="ctr">
              <a:buNone/>
            </a:pPr>
            <a:r>
              <a:rPr lang="en-US" sz="1300" b="1" dirty="0">
                <a:solidFill>
                  <a:srgbClr val="BA7517"/>
                </a:solidFill>
                <a:latin typeface="Arial" pitchFamily="34" charset="0"/>
                <a:ea typeface="Arial" pitchFamily="34" charset="-122"/>
                <a:cs typeface="Arial" pitchFamily="34" charset="-120"/>
              </a:rPr>
              <a:t>‹</a:t>
            </a:r>
            <a:endParaRPr lang="en-US" sz="1300" dirty="0"/>
          </a:p>
        </p:txBody>
      </p:sp>
      <p:sp>
        <p:nvSpPr>
          <p:cNvPr id="43" name="Shape 41"/>
          <p:cNvSpPr/>
          <p:nvPr/>
        </p:nvSpPr>
        <p:spPr>
          <a:xfrm>
            <a:off x="6217920" y="3108960"/>
            <a:ext cx="2606040" cy="658368"/>
          </a:xfrm>
          <a:prstGeom prst="roundRect">
            <a:avLst>
              <a:gd name="adj" fmla="val 11111"/>
            </a:avLst>
          </a:prstGeom>
          <a:solidFill>
            <a:srgbClr val="FFFFFF"/>
          </a:solidFill>
          <a:ln w="6350">
            <a:solidFill>
              <a:srgbClr val="D3D1C7"/>
            </a:solidFill>
            <a:prstDash val="solid"/>
          </a:ln>
          <a:effectLst>
            <a:outerShdw blurRad="63500" dist="25400" dir="2700000" algn="bl" rotWithShape="0">
              <a:srgbClr val="000000">
                <a:alpha val="6000"/>
              </a:srgbClr>
            </a:outerShdw>
          </a:effectLst>
        </p:spPr>
        <p:txBody>
          <a:bodyPr/>
          <a:lstStyle/>
          <a:p>
            <a:endParaRPr lang="en-US"/>
          </a:p>
        </p:txBody>
      </p:sp>
      <p:sp>
        <p:nvSpPr>
          <p:cNvPr id="44" name="Text 42"/>
          <p:cNvSpPr/>
          <p:nvPr/>
        </p:nvSpPr>
        <p:spPr>
          <a:xfrm>
            <a:off x="6355080" y="3182112"/>
            <a:ext cx="2331720" cy="237744"/>
          </a:xfrm>
          <a:prstGeom prst="rect">
            <a:avLst/>
          </a:prstGeom>
          <a:noFill/>
          <a:ln/>
        </p:spPr>
        <p:txBody>
          <a:bodyPr wrap="square" rtlCol="0" anchor="ctr"/>
          <a:lstStyle/>
          <a:p>
            <a:pPr marL="0" indent="0">
              <a:buNone/>
            </a:pPr>
            <a:r>
              <a:rPr lang="en-US" sz="950" b="1" dirty="0">
                <a:solidFill>
                  <a:srgbClr val="0F1E3C"/>
                </a:solidFill>
                <a:latin typeface="Arial" pitchFamily="34" charset="0"/>
                <a:ea typeface="Arial" pitchFamily="34" charset="-122"/>
                <a:cs typeface="Arial" pitchFamily="34" charset="-120"/>
              </a:rPr>
              <a:t>Salesforce org metadata</a:t>
            </a:r>
            <a:endParaRPr lang="en-US" sz="950" dirty="0"/>
          </a:p>
        </p:txBody>
      </p:sp>
      <p:sp>
        <p:nvSpPr>
          <p:cNvPr id="45" name="Text 43"/>
          <p:cNvSpPr/>
          <p:nvPr/>
        </p:nvSpPr>
        <p:spPr>
          <a:xfrm>
            <a:off x="6355080" y="3438144"/>
            <a:ext cx="2331720" cy="201168"/>
          </a:xfrm>
          <a:prstGeom prst="rect">
            <a:avLst/>
          </a:prstGeom>
          <a:noFill/>
          <a:ln/>
        </p:spPr>
        <p:txBody>
          <a:bodyPr wrap="square" rtlCol="0" anchor="ctr"/>
          <a:lstStyle/>
          <a:p>
            <a:pPr marL="0" indent="0">
              <a:buNone/>
            </a:pPr>
            <a:r>
              <a:rPr lang="en-US" sz="800" dirty="0">
                <a:solidFill>
                  <a:srgbClr val="993C1D"/>
                </a:solidFill>
                <a:latin typeface="Courier New" pitchFamily="34" charset="0"/>
                <a:ea typeface="Courier New" pitchFamily="34" charset="-122"/>
                <a:cs typeface="Courier New" pitchFamily="34" charset="-120"/>
              </a:rPr>
              <a:t>OrgMetadataCollector.ts</a:t>
            </a:r>
            <a:endParaRPr lang="en-US" sz="800" dirty="0"/>
          </a:p>
        </p:txBody>
      </p:sp>
      <p:sp>
        <p:nvSpPr>
          <p:cNvPr id="46" name="Shape 44"/>
          <p:cNvSpPr/>
          <p:nvPr/>
        </p:nvSpPr>
        <p:spPr>
          <a:xfrm>
            <a:off x="5897880" y="3438144"/>
            <a:ext cx="320040" cy="0"/>
          </a:xfrm>
          <a:prstGeom prst="line">
            <a:avLst/>
          </a:prstGeom>
          <a:noFill/>
          <a:ln w="12700">
            <a:solidFill>
              <a:srgbClr val="993C1D"/>
            </a:solidFill>
            <a:prstDash val="solid"/>
          </a:ln>
        </p:spPr>
        <p:txBody>
          <a:bodyPr/>
          <a:lstStyle/>
          <a:p>
            <a:endParaRPr lang="en-US"/>
          </a:p>
        </p:txBody>
      </p:sp>
      <p:sp>
        <p:nvSpPr>
          <p:cNvPr id="47" name="Text 45"/>
          <p:cNvSpPr/>
          <p:nvPr/>
        </p:nvSpPr>
        <p:spPr>
          <a:xfrm>
            <a:off x="5733288" y="3328416"/>
            <a:ext cx="182880" cy="228600"/>
          </a:xfrm>
          <a:prstGeom prst="rect">
            <a:avLst/>
          </a:prstGeom>
          <a:noFill/>
          <a:ln/>
        </p:spPr>
        <p:txBody>
          <a:bodyPr wrap="square" rtlCol="0" anchor="ctr"/>
          <a:lstStyle/>
          <a:p>
            <a:pPr marL="0" indent="0" algn="ctr">
              <a:buNone/>
            </a:pPr>
            <a:r>
              <a:rPr lang="en-US" sz="1300" b="1" dirty="0">
                <a:solidFill>
                  <a:srgbClr val="993C1D"/>
                </a:solidFill>
                <a:latin typeface="Arial" pitchFamily="34" charset="0"/>
                <a:ea typeface="Arial" pitchFamily="34" charset="-122"/>
                <a:cs typeface="Arial" pitchFamily="34" charset="-120"/>
              </a:rPr>
              <a:t>‹</a:t>
            </a:r>
            <a:endParaRPr lang="en-US" sz="1300" dirty="0"/>
          </a:p>
        </p:txBody>
      </p:sp>
      <p:sp>
        <p:nvSpPr>
          <p:cNvPr id="48" name="Text 46"/>
          <p:cNvSpPr/>
          <p:nvPr/>
        </p:nvSpPr>
        <p:spPr>
          <a:xfrm>
            <a:off x="411480" y="4617720"/>
            <a:ext cx="8321040" cy="256032"/>
          </a:xfrm>
          <a:prstGeom prst="rect">
            <a:avLst/>
          </a:prstGeom>
          <a:noFill/>
          <a:ln/>
        </p:spPr>
        <p:txBody>
          <a:bodyPr wrap="square" rtlCol="0" anchor="ctr"/>
          <a:lstStyle/>
          <a:p>
            <a:pPr marL="0" indent="0" algn="ctr">
              <a:buNone/>
            </a:pPr>
            <a:r>
              <a:rPr lang="en-US" sz="1000" i="1" dirty="0">
                <a:solidFill>
                  <a:srgbClr val="64635E"/>
                </a:solidFill>
                <a:latin typeface="Arial" pitchFamily="34" charset="0"/>
                <a:ea typeface="Arial" pitchFamily="34" charset="-122"/>
                <a:cs typeface="Arial" pitchFamily="34" charset="-120"/>
              </a:rPr>
              <a:t>Static knowledge (left) + Live retrieval (right) = full grounding for every agent on every session</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02920" y="347472"/>
            <a:ext cx="8138160" cy="201168"/>
          </a:xfrm>
          <a:prstGeom prst="rect">
            <a:avLst/>
          </a:prstGeom>
          <a:noFill/>
          <a:ln/>
        </p:spPr>
        <p:txBody>
          <a:bodyPr wrap="square" rtlCol="0" anchor="ctr"/>
          <a:lstStyle/>
          <a:p>
            <a:pPr marL="0" indent="0" algn="l">
              <a:buNone/>
            </a:pPr>
            <a:r>
              <a:rPr lang="en-US" sz="900" b="1" kern="0" spc="300" dirty="0">
                <a:solidFill>
                  <a:srgbClr val="2E6DA4"/>
                </a:solidFill>
                <a:latin typeface="Arial" pitchFamily="34" charset="0"/>
                <a:ea typeface="Arial" pitchFamily="34" charset="-122"/>
                <a:cs typeface="Arial" pitchFamily="34" charset="-120"/>
              </a:rPr>
              <a:t>TECHNICAL APPENDIX — EXTENSIBILITY</a:t>
            </a:r>
            <a:endParaRPr lang="en-US" sz="900" dirty="0"/>
          </a:p>
        </p:txBody>
      </p:sp>
      <p:sp>
        <p:nvSpPr>
          <p:cNvPr id="3" name="Text 1"/>
          <p:cNvSpPr/>
          <p:nvPr/>
        </p:nvSpPr>
        <p:spPr>
          <a:xfrm>
            <a:off x="502920" y="594360"/>
            <a:ext cx="8138160" cy="640080"/>
          </a:xfrm>
          <a:prstGeom prst="rect">
            <a:avLst/>
          </a:prstGeom>
          <a:noFill/>
          <a:ln/>
        </p:spPr>
        <p:txBody>
          <a:bodyPr wrap="square" rtlCol="0" anchor="ctr"/>
          <a:lstStyle/>
          <a:p>
            <a:pPr marL="0" indent="0" algn="l">
              <a:buNone/>
            </a:pPr>
            <a:r>
              <a:rPr lang="en-US" sz="2600" b="1" dirty="0">
                <a:solidFill>
                  <a:srgbClr val="1A1A1A"/>
                </a:solidFill>
                <a:latin typeface="Arial" pitchFamily="34" charset="0"/>
                <a:ea typeface="Arial" pitchFamily="34" charset="-122"/>
                <a:cs typeface="Arial" pitchFamily="34" charset="-120"/>
              </a:rPr>
              <a:t>How to extend ARBoard for a new engagement</a:t>
            </a:r>
            <a:endParaRPr lang="en-US" sz="2600" dirty="0"/>
          </a:p>
        </p:txBody>
      </p:sp>
      <p:sp>
        <p:nvSpPr>
          <p:cNvPr id="4" name="Shape 2"/>
          <p:cNvSpPr/>
          <p:nvPr/>
        </p:nvSpPr>
        <p:spPr>
          <a:xfrm>
            <a:off x="502920" y="1207008"/>
            <a:ext cx="8138160" cy="0"/>
          </a:xfrm>
          <a:prstGeom prst="line">
            <a:avLst/>
          </a:prstGeom>
          <a:noFill/>
          <a:ln w="10160">
            <a:solidFill>
              <a:srgbClr val="EBEBEB"/>
            </a:solidFill>
            <a:prstDash val="solid"/>
          </a:ln>
        </p:spPr>
        <p:txBody>
          <a:bodyPr/>
          <a:lstStyle/>
          <a:p>
            <a:endParaRPr lang="en-US"/>
          </a:p>
        </p:txBody>
      </p:sp>
      <p:sp>
        <p:nvSpPr>
          <p:cNvPr id="5" name="Shape 3"/>
          <p:cNvSpPr/>
          <p:nvPr/>
        </p:nvSpPr>
        <p:spPr>
          <a:xfrm>
            <a:off x="411480" y="1298448"/>
            <a:ext cx="4160520" cy="1691640"/>
          </a:xfrm>
          <a:prstGeom prst="roundRect">
            <a:avLst>
              <a:gd name="adj" fmla="val 4324"/>
            </a:avLst>
          </a:prstGeom>
          <a:solidFill>
            <a:srgbClr val="FFFFFF"/>
          </a:solidFill>
          <a:ln w="6350">
            <a:solidFill>
              <a:srgbClr val="D3D1C7"/>
            </a:solidFill>
            <a:prstDash val="solid"/>
          </a:ln>
          <a:effectLst>
            <a:outerShdw blurRad="63500" dist="25400" dir="2700000" algn="bl" rotWithShape="0">
              <a:srgbClr val="000000">
                <a:alpha val="6000"/>
              </a:srgbClr>
            </a:outerShdw>
          </a:effectLst>
        </p:spPr>
        <p:txBody>
          <a:bodyPr/>
          <a:lstStyle/>
          <a:p>
            <a:endParaRPr lang="en-US"/>
          </a:p>
        </p:txBody>
      </p:sp>
      <p:sp>
        <p:nvSpPr>
          <p:cNvPr id="6" name="Shape 4"/>
          <p:cNvSpPr/>
          <p:nvPr/>
        </p:nvSpPr>
        <p:spPr>
          <a:xfrm>
            <a:off x="411480" y="1298448"/>
            <a:ext cx="4160520" cy="329184"/>
          </a:xfrm>
          <a:prstGeom prst="roundRect">
            <a:avLst>
              <a:gd name="adj" fmla="val 22222"/>
            </a:avLst>
          </a:prstGeom>
          <a:solidFill>
            <a:srgbClr val="E1F5EE"/>
          </a:solidFill>
          <a:ln w="12700">
            <a:solidFill>
              <a:srgbClr val="E1F5EE"/>
            </a:solidFill>
            <a:prstDash val="solid"/>
          </a:ln>
        </p:spPr>
        <p:txBody>
          <a:bodyPr/>
          <a:lstStyle/>
          <a:p>
            <a:endParaRPr lang="en-US"/>
          </a:p>
        </p:txBody>
      </p:sp>
      <p:sp>
        <p:nvSpPr>
          <p:cNvPr id="7" name="Text 5"/>
          <p:cNvSpPr/>
          <p:nvPr/>
        </p:nvSpPr>
        <p:spPr>
          <a:xfrm>
            <a:off x="548640" y="1335024"/>
            <a:ext cx="3886200" cy="256032"/>
          </a:xfrm>
          <a:prstGeom prst="rect">
            <a:avLst/>
          </a:prstGeom>
          <a:noFill/>
          <a:ln/>
        </p:spPr>
        <p:txBody>
          <a:bodyPr wrap="square" rtlCol="0" anchor="ctr"/>
          <a:lstStyle/>
          <a:p>
            <a:pPr marL="0" indent="0">
              <a:buNone/>
            </a:pPr>
            <a:r>
              <a:rPr lang="en-US" sz="1100" b="1" dirty="0">
                <a:solidFill>
                  <a:srgbClr val="0F6E56"/>
                </a:solidFill>
                <a:latin typeface="Arial" pitchFamily="34" charset="0"/>
                <a:ea typeface="Arial" pitchFamily="34" charset="-122"/>
                <a:cs typeface="Arial" pitchFamily="34" charset="-120"/>
              </a:rPr>
              <a:t>Add a new SI failure pattern</a:t>
            </a:r>
            <a:endParaRPr lang="en-US" sz="1100" dirty="0"/>
          </a:p>
        </p:txBody>
      </p:sp>
      <p:sp>
        <p:nvSpPr>
          <p:cNvPr id="8" name="Text 6"/>
          <p:cNvSpPr/>
          <p:nvPr/>
        </p:nvSpPr>
        <p:spPr>
          <a:xfrm>
            <a:off x="548640" y="1700784"/>
            <a:ext cx="3886200" cy="292608"/>
          </a:xfrm>
          <a:prstGeom prst="rect">
            <a:avLst/>
          </a:prstGeom>
          <a:noFill/>
          <a:ln/>
        </p:spPr>
        <p:txBody>
          <a:bodyPr wrap="square" rtlCol="0" anchor="ctr"/>
          <a:lstStyle/>
          <a:p>
            <a:pPr marL="0" indent="0">
              <a:buNone/>
            </a:pPr>
            <a:r>
              <a:rPr lang="en-US" sz="950" b="1" dirty="0">
                <a:solidFill>
                  <a:srgbClr val="0F6E56"/>
                </a:solidFill>
                <a:latin typeface="Arial" pitchFamily="34" charset="0"/>
                <a:ea typeface="Arial" pitchFamily="34" charset="-122"/>
                <a:cs typeface="Arial" pitchFamily="34" charset="-120"/>
              </a:rPr>
              <a:t>1.  </a:t>
            </a:r>
            <a:r>
              <a:rPr lang="en-US" sz="950" dirty="0">
                <a:solidFill>
                  <a:srgbClr val="1A1A1A"/>
                </a:solidFill>
                <a:latin typeface="Arial" pitchFamily="34" charset="0"/>
                <a:ea typeface="Arial" pitchFamily="34" charset="-122"/>
                <a:cs typeface="Arial" pitchFamily="34" charset="-120"/>
              </a:rPr>
              <a:t>Insert row into Supabase failure_patterns table</a:t>
            </a:r>
            <a:endParaRPr lang="en-US" sz="950" dirty="0"/>
          </a:p>
        </p:txBody>
      </p:sp>
      <p:sp>
        <p:nvSpPr>
          <p:cNvPr id="9" name="Text 7"/>
          <p:cNvSpPr/>
          <p:nvPr/>
        </p:nvSpPr>
        <p:spPr>
          <a:xfrm>
            <a:off x="548640" y="2029968"/>
            <a:ext cx="3886200" cy="292608"/>
          </a:xfrm>
          <a:prstGeom prst="rect">
            <a:avLst/>
          </a:prstGeom>
          <a:noFill/>
          <a:ln/>
        </p:spPr>
        <p:txBody>
          <a:bodyPr wrap="square" rtlCol="0" anchor="ctr"/>
          <a:lstStyle/>
          <a:p>
            <a:pPr marL="0" indent="0">
              <a:buNone/>
            </a:pPr>
            <a:r>
              <a:rPr lang="en-US" sz="950" b="1" dirty="0">
                <a:solidFill>
                  <a:srgbClr val="0F6E56"/>
                </a:solidFill>
                <a:latin typeface="Arial" pitchFamily="34" charset="0"/>
                <a:ea typeface="Arial" pitchFamily="34" charset="-122"/>
                <a:cs typeface="Arial" pitchFamily="34" charset="-120"/>
              </a:rPr>
              <a:t>2.  </a:t>
            </a:r>
            <a:r>
              <a:rPr lang="en-US" sz="950" dirty="0">
                <a:solidFill>
                  <a:srgbClr val="1A1A1A"/>
                </a:solidFill>
                <a:latin typeface="Arial" pitchFamily="34" charset="0"/>
                <a:ea typeface="Arial" pitchFamily="34" charset="-122"/>
                <a:cs typeface="Arial" pitchFamily="34" charset="-120"/>
              </a:rPr>
              <a:t>Set component_tags to match relevant agents</a:t>
            </a:r>
            <a:endParaRPr lang="en-US" sz="950" dirty="0"/>
          </a:p>
        </p:txBody>
      </p:sp>
      <p:sp>
        <p:nvSpPr>
          <p:cNvPr id="10" name="Text 8"/>
          <p:cNvSpPr/>
          <p:nvPr/>
        </p:nvSpPr>
        <p:spPr>
          <a:xfrm>
            <a:off x="548640" y="2359152"/>
            <a:ext cx="3886200" cy="292608"/>
          </a:xfrm>
          <a:prstGeom prst="rect">
            <a:avLst/>
          </a:prstGeom>
          <a:noFill/>
          <a:ln/>
        </p:spPr>
        <p:txBody>
          <a:bodyPr wrap="square" rtlCol="0" anchor="ctr"/>
          <a:lstStyle/>
          <a:p>
            <a:pPr marL="0" indent="0">
              <a:buNone/>
            </a:pPr>
            <a:r>
              <a:rPr lang="en-US" sz="950" b="1" dirty="0">
                <a:solidFill>
                  <a:srgbClr val="0F6E56"/>
                </a:solidFill>
                <a:latin typeface="Arial" pitchFamily="34" charset="0"/>
                <a:ea typeface="Arial" pitchFamily="34" charset="-122"/>
                <a:cs typeface="Arial" pitchFamily="34" charset="-120"/>
              </a:rPr>
              <a:t>3.  </a:t>
            </a:r>
            <a:r>
              <a:rPr lang="en-US" sz="950" dirty="0">
                <a:solidFill>
                  <a:srgbClr val="1A1A1A"/>
                </a:solidFill>
                <a:latin typeface="Arial" pitchFamily="34" charset="0"/>
                <a:ea typeface="Arial" pitchFamily="34" charset="-122"/>
                <a:cs typeface="Arial" pitchFamily="34" charset="-120"/>
              </a:rPr>
              <a:t>Pattern auto-injects on next session — no code change</a:t>
            </a:r>
            <a:endParaRPr lang="en-US" sz="950" dirty="0"/>
          </a:p>
        </p:txBody>
      </p:sp>
      <p:sp>
        <p:nvSpPr>
          <p:cNvPr id="11" name="Text 9"/>
          <p:cNvSpPr/>
          <p:nvPr/>
        </p:nvSpPr>
        <p:spPr>
          <a:xfrm>
            <a:off x="548640" y="2779776"/>
            <a:ext cx="3886200" cy="182880"/>
          </a:xfrm>
          <a:prstGeom prst="rect">
            <a:avLst/>
          </a:prstGeom>
          <a:noFill/>
          <a:ln/>
        </p:spPr>
        <p:txBody>
          <a:bodyPr wrap="square" rtlCol="0" anchor="ctr"/>
          <a:lstStyle/>
          <a:p>
            <a:pPr marL="0" indent="0">
              <a:buNone/>
            </a:pPr>
            <a:r>
              <a:rPr lang="en-US" sz="800" b="1" dirty="0">
                <a:solidFill>
                  <a:srgbClr val="0F6E56"/>
                </a:solidFill>
                <a:latin typeface="Courier New" pitchFamily="34" charset="0"/>
                <a:ea typeface="Courier New" pitchFamily="34" charset="-122"/>
                <a:cs typeface="Courier New" pitchFamily="34" charset="-120"/>
              </a:rPr>
              <a:t>Supabase: failure_patterns table</a:t>
            </a:r>
            <a:endParaRPr lang="en-US" sz="800" dirty="0"/>
          </a:p>
        </p:txBody>
      </p:sp>
      <p:sp>
        <p:nvSpPr>
          <p:cNvPr id="12" name="Shape 10"/>
          <p:cNvSpPr/>
          <p:nvPr/>
        </p:nvSpPr>
        <p:spPr>
          <a:xfrm>
            <a:off x="4663440" y="1298448"/>
            <a:ext cx="4160520" cy="1691640"/>
          </a:xfrm>
          <a:prstGeom prst="roundRect">
            <a:avLst>
              <a:gd name="adj" fmla="val 4324"/>
            </a:avLst>
          </a:prstGeom>
          <a:solidFill>
            <a:srgbClr val="FFFFFF"/>
          </a:solidFill>
          <a:ln w="6350">
            <a:solidFill>
              <a:srgbClr val="D3D1C7"/>
            </a:solidFill>
            <a:prstDash val="solid"/>
          </a:ln>
          <a:effectLst>
            <a:outerShdw blurRad="63500" dist="25400" dir="2700000" algn="bl" rotWithShape="0">
              <a:srgbClr val="000000">
                <a:alpha val="6000"/>
              </a:srgbClr>
            </a:outerShdw>
          </a:effectLst>
        </p:spPr>
        <p:txBody>
          <a:bodyPr/>
          <a:lstStyle/>
          <a:p>
            <a:endParaRPr lang="en-US"/>
          </a:p>
        </p:txBody>
      </p:sp>
      <p:sp>
        <p:nvSpPr>
          <p:cNvPr id="13" name="Shape 11"/>
          <p:cNvSpPr/>
          <p:nvPr/>
        </p:nvSpPr>
        <p:spPr>
          <a:xfrm>
            <a:off x="4663440" y="1298448"/>
            <a:ext cx="4160520" cy="329184"/>
          </a:xfrm>
          <a:prstGeom prst="roundRect">
            <a:avLst>
              <a:gd name="adj" fmla="val 22222"/>
            </a:avLst>
          </a:prstGeom>
          <a:solidFill>
            <a:srgbClr val="EBF2FA"/>
          </a:solidFill>
          <a:ln w="12700">
            <a:solidFill>
              <a:srgbClr val="EBF2FA"/>
            </a:solidFill>
            <a:prstDash val="solid"/>
          </a:ln>
        </p:spPr>
        <p:txBody>
          <a:bodyPr/>
          <a:lstStyle/>
          <a:p>
            <a:endParaRPr lang="en-US"/>
          </a:p>
        </p:txBody>
      </p:sp>
      <p:sp>
        <p:nvSpPr>
          <p:cNvPr id="14" name="Text 12"/>
          <p:cNvSpPr/>
          <p:nvPr/>
        </p:nvSpPr>
        <p:spPr>
          <a:xfrm>
            <a:off x="4800600" y="1335024"/>
            <a:ext cx="3886200" cy="256032"/>
          </a:xfrm>
          <a:prstGeom prst="rect">
            <a:avLst/>
          </a:prstGeom>
          <a:noFill/>
          <a:ln/>
        </p:spPr>
        <p:txBody>
          <a:bodyPr wrap="square" rtlCol="0" anchor="ctr"/>
          <a:lstStyle/>
          <a:p>
            <a:pPr marL="0" indent="0">
              <a:buNone/>
            </a:pPr>
            <a:r>
              <a:rPr lang="en-US" sz="1100" b="1" dirty="0">
                <a:solidFill>
                  <a:srgbClr val="1B4F9B"/>
                </a:solidFill>
                <a:latin typeface="Arial" pitchFamily="34" charset="0"/>
                <a:ea typeface="Arial" pitchFamily="34" charset="-122"/>
                <a:cs typeface="Arial" pitchFamily="34" charset="-120"/>
              </a:rPr>
              <a:t>Add a new specialist agent</a:t>
            </a:r>
            <a:endParaRPr lang="en-US" sz="1100" dirty="0"/>
          </a:p>
        </p:txBody>
      </p:sp>
      <p:sp>
        <p:nvSpPr>
          <p:cNvPr id="15" name="Text 13"/>
          <p:cNvSpPr/>
          <p:nvPr/>
        </p:nvSpPr>
        <p:spPr>
          <a:xfrm>
            <a:off x="4800600" y="1700784"/>
            <a:ext cx="3886200" cy="292608"/>
          </a:xfrm>
          <a:prstGeom prst="rect">
            <a:avLst/>
          </a:prstGeom>
          <a:noFill/>
          <a:ln/>
        </p:spPr>
        <p:txBody>
          <a:bodyPr wrap="square" rtlCol="0" anchor="ctr"/>
          <a:lstStyle/>
          <a:p>
            <a:pPr marL="0" indent="0">
              <a:buNone/>
            </a:pPr>
            <a:r>
              <a:rPr lang="en-US" sz="950" b="1" dirty="0">
                <a:solidFill>
                  <a:srgbClr val="1B4F9B"/>
                </a:solidFill>
                <a:latin typeface="Arial" pitchFamily="34" charset="0"/>
                <a:ea typeface="Arial" pitchFamily="34" charset="-122"/>
                <a:cs typeface="Arial" pitchFamily="34" charset="-120"/>
              </a:rPr>
              <a:t>1.  </a:t>
            </a:r>
            <a:r>
              <a:rPr lang="en-US" sz="950" dirty="0">
                <a:solidFill>
                  <a:srgbClr val="1A1A1A"/>
                </a:solidFill>
                <a:latin typeface="Arial" pitchFamily="34" charset="0"/>
                <a:ea typeface="Arial" pitchFamily="34" charset="-122"/>
                <a:cs typeface="Arial" pitchFamily="34" charset="-120"/>
              </a:rPr>
              <a:t>Create src/lib/domains/salesforce/agents/newagent.ts</a:t>
            </a:r>
            <a:endParaRPr lang="en-US" sz="950" dirty="0"/>
          </a:p>
        </p:txBody>
      </p:sp>
      <p:sp>
        <p:nvSpPr>
          <p:cNvPr id="16" name="Text 14"/>
          <p:cNvSpPr/>
          <p:nvPr/>
        </p:nvSpPr>
        <p:spPr>
          <a:xfrm>
            <a:off x="4800600" y="2029968"/>
            <a:ext cx="3886200" cy="292608"/>
          </a:xfrm>
          <a:prstGeom prst="rect">
            <a:avLst/>
          </a:prstGeom>
          <a:noFill/>
          <a:ln/>
        </p:spPr>
        <p:txBody>
          <a:bodyPr wrap="square" rtlCol="0" anchor="ctr"/>
          <a:lstStyle/>
          <a:p>
            <a:pPr marL="0" indent="0">
              <a:buNone/>
            </a:pPr>
            <a:r>
              <a:rPr lang="en-US" sz="950" b="1" dirty="0">
                <a:solidFill>
                  <a:srgbClr val="1B4F9B"/>
                </a:solidFill>
                <a:latin typeface="Arial" pitchFamily="34" charset="0"/>
                <a:ea typeface="Arial" pitchFamily="34" charset="-122"/>
                <a:cs typeface="Arial" pitchFamily="34" charset="-120"/>
              </a:rPr>
              <a:t>2.  </a:t>
            </a:r>
            <a:r>
              <a:rPr lang="en-US" sz="950" dirty="0">
                <a:solidFill>
                  <a:srgbClr val="1A1A1A"/>
                </a:solidFill>
                <a:latin typeface="Arial" pitchFamily="34" charset="0"/>
                <a:ea typeface="Arial" pitchFamily="34" charset="-122"/>
                <a:cs typeface="Arial" pitchFamily="34" charset="-120"/>
              </a:rPr>
              <a:t>Add agent key to wellArchitectedPrinciples.ts</a:t>
            </a:r>
            <a:endParaRPr lang="en-US" sz="950" dirty="0"/>
          </a:p>
        </p:txBody>
      </p:sp>
      <p:sp>
        <p:nvSpPr>
          <p:cNvPr id="17" name="Text 15"/>
          <p:cNvSpPr/>
          <p:nvPr/>
        </p:nvSpPr>
        <p:spPr>
          <a:xfrm>
            <a:off x="4800600" y="2359152"/>
            <a:ext cx="3886200" cy="292608"/>
          </a:xfrm>
          <a:prstGeom prst="rect">
            <a:avLst/>
          </a:prstGeom>
          <a:noFill/>
          <a:ln/>
        </p:spPr>
        <p:txBody>
          <a:bodyPr wrap="square" rtlCol="0" anchor="ctr"/>
          <a:lstStyle/>
          <a:p>
            <a:pPr marL="0" indent="0">
              <a:buNone/>
            </a:pPr>
            <a:r>
              <a:rPr lang="en-US" sz="950" b="1" dirty="0">
                <a:solidFill>
                  <a:srgbClr val="1B4F9B"/>
                </a:solidFill>
                <a:latin typeface="Arial" pitchFamily="34" charset="0"/>
                <a:ea typeface="Arial" pitchFamily="34" charset="-122"/>
                <a:cs typeface="Arial" pitchFamily="34" charset="-120"/>
              </a:rPr>
              <a:t>3.  </a:t>
            </a:r>
            <a:r>
              <a:rPr lang="en-US" sz="950" dirty="0">
                <a:solidFill>
                  <a:srgbClr val="1A1A1A"/>
                </a:solidFill>
                <a:latin typeface="Arial" pitchFamily="34" charset="0"/>
                <a:ea typeface="Arial" pitchFamily="34" charset="-122"/>
                <a:cs typeface="Arial" pitchFamily="34" charset="-120"/>
              </a:rPr>
              <a:t>Register in ForumOrchestrator phase config</a:t>
            </a:r>
            <a:endParaRPr lang="en-US" sz="950" dirty="0"/>
          </a:p>
        </p:txBody>
      </p:sp>
      <p:sp>
        <p:nvSpPr>
          <p:cNvPr id="18" name="Text 16"/>
          <p:cNvSpPr/>
          <p:nvPr/>
        </p:nvSpPr>
        <p:spPr>
          <a:xfrm>
            <a:off x="4800600" y="2779776"/>
            <a:ext cx="3886200" cy="182880"/>
          </a:xfrm>
          <a:prstGeom prst="rect">
            <a:avLst/>
          </a:prstGeom>
          <a:noFill/>
          <a:ln/>
        </p:spPr>
        <p:txBody>
          <a:bodyPr wrap="square" rtlCol="0" anchor="ctr"/>
          <a:lstStyle/>
          <a:p>
            <a:pPr marL="0" indent="0">
              <a:buNone/>
            </a:pPr>
            <a:r>
              <a:rPr lang="en-US" sz="800" b="1" dirty="0">
                <a:solidFill>
                  <a:srgbClr val="1B4F9B"/>
                </a:solidFill>
                <a:latin typeface="Courier New" pitchFamily="34" charset="0"/>
                <a:ea typeface="Courier New" pitchFamily="34" charset="-122"/>
                <a:cs typeface="Courier New" pitchFamily="34" charset="-120"/>
              </a:rPr>
              <a:t>domains/salesforce/agents/ + ForumOrchestrator.ts</a:t>
            </a:r>
            <a:endParaRPr lang="en-US" sz="800" dirty="0"/>
          </a:p>
        </p:txBody>
      </p:sp>
      <p:sp>
        <p:nvSpPr>
          <p:cNvPr id="19" name="Shape 17"/>
          <p:cNvSpPr/>
          <p:nvPr/>
        </p:nvSpPr>
        <p:spPr>
          <a:xfrm>
            <a:off x="411480" y="3108960"/>
            <a:ext cx="4160520" cy="1691640"/>
          </a:xfrm>
          <a:prstGeom prst="roundRect">
            <a:avLst>
              <a:gd name="adj" fmla="val 4324"/>
            </a:avLst>
          </a:prstGeom>
          <a:solidFill>
            <a:srgbClr val="FFFFFF"/>
          </a:solidFill>
          <a:ln w="6350">
            <a:solidFill>
              <a:srgbClr val="D3D1C7"/>
            </a:solidFill>
            <a:prstDash val="solid"/>
          </a:ln>
          <a:effectLst>
            <a:outerShdw blurRad="63500" dist="25400" dir="2700000" algn="bl" rotWithShape="0">
              <a:srgbClr val="000000">
                <a:alpha val="6000"/>
              </a:srgbClr>
            </a:outerShdw>
          </a:effectLst>
        </p:spPr>
        <p:txBody>
          <a:bodyPr/>
          <a:lstStyle/>
          <a:p>
            <a:endParaRPr lang="en-US"/>
          </a:p>
        </p:txBody>
      </p:sp>
      <p:sp>
        <p:nvSpPr>
          <p:cNvPr id="20" name="Shape 18"/>
          <p:cNvSpPr/>
          <p:nvPr/>
        </p:nvSpPr>
        <p:spPr>
          <a:xfrm>
            <a:off x="411480" y="3108960"/>
            <a:ext cx="4160520" cy="329184"/>
          </a:xfrm>
          <a:prstGeom prst="roundRect">
            <a:avLst>
              <a:gd name="adj" fmla="val 22222"/>
            </a:avLst>
          </a:prstGeom>
          <a:solidFill>
            <a:srgbClr val="EEEDFE"/>
          </a:solidFill>
          <a:ln w="12700">
            <a:solidFill>
              <a:srgbClr val="EEEDFE"/>
            </a:solidFill>
            <a:prstDash val="solid"/>
          </a:ln>
        </p:spPr>
        <p:txBody>
          <a:bodyPr/>
          <a:lstStyle/>
          <a:p>
            <a:endParaRPr lang="en-US"/>
          </a:p>
        </p:txBody>
      </p:sp>
      <p:sp>
        <p:nvSpPr>
          <p:cNvPr id="21" name="Text 19"/>
          <p:cNvSpPr/>
          <p:nvPr/>
        </p:nvSpPr>
        <p:spPr>
          <a:xfrm>
            <a:off x="548640" y="3145536"/>
            <a:ext cx="3886200" cy="256032"/>
          </a:xfrm>
          <a:prstGeom prst="rect">
            <a:avLst/>
          </a:prstGeom>
          <a:noFill/>
          <a:ln/>
        </p:spPr>
        <p:txBody>
          <a:bodyPr wrap="square" rtlCol="0" anchor="ctr"/>
          <a:lstStyle/>
          <a:p>
            <a:pPr marL="0" indent="0">
              <a:buNone/>
            </a:pPr>
            <a:r>
              <a:rPr lang="en-US" sz="1100" b="1" dirty="0">
                <a:solidFill>
                  <a:srgbClr val="534AB7"/>
                </a:solidFill>
                <a:latin typeface="Arial" pitchFamily="34" charset="0"/>
                <a:ea typeface="Arial" pitchFamily="34" charset="-122"/>
                <a:cs typeface="Arial" pitchFamily="34" charset="-120"/>
              </a:rPr>
              <a:t>Add client-specific guardrails</a:t>
            </a:r>
            <a:endParaRPr lang="en-US" sz="1100" dirty="0"/>
          </a:p>
        </p:txBody>
      </p:sp>
      <p:sp>
        <p:nvSpPr>
          <p:cNvPr id="22" name="Text 20"/>
          <p:cNvSpPr/>
          <p:nvPr/>
        </p:nvSpPr>
        <p:spPr>
          <a:xfrm>
            <a:off x="548640" y="3511296"/>
            <a:ext cx="3886200" cy="292608"/>
          </a:xfrm>
          <a:prstGeom prst="rect">
            <a:avLst/>
          </a:prstGeom>
          <a:noFill/>
          <a:ln/>
        </p:spPr>
        <p:txBody>
          <a:bodyPr wrap="square" rtlCol="0" anchor="ctr"/>
          <a:lstStyle/>
          <a:p>
            <a:pPr marL="0" indent="0">
              <a:buNone/>
            </a:pPr>
            <a:r>
              <a:rPr lang="en-US" sz="950" b="1" dirty="0">
                <a:solidFill>
                  <a:srgbClr val="534AB7"/>
                </a:solidFill>
                <a:latin typeface="Arial" pitchFamily="34" charset="0"/>
                <a:ea typeface="Arial" pitchFamily="34" charset="-122"/>
                <a:cs typeface="Arial" pitchFamily="34" charset="-120"/>
              </a:rPr>
              <a:t>1.  </a:t>
            </a:r>
            <a:r>
              <a:rPr lang="en-US" sz="950" dirty="0">
                <a:solidFill>
                  <a:srgbClr val="1A1A1A"/>
                </a:solidFill>
                <a:latin typeface="Arial" pitchFamily="34" charset="0"/>
                <a:ea typeface="Arial" pitchFamily="34" charset="-122"/>
                <a:cs typeface="Arial" pitchFamily="34" charset="-120"/>
              </a:rPr>
              <a:t>Create src/lib/clients/{client}/config.ts</a:t>
            </a:r>
            <a:endParaRPr lang="en-US" sz="950" dirty="0"/>
          </a:p>
        </p:txBody>
      </p:sp>
      <p:sp>
        <p:nvSpPr>
          <p:cNvPr id="23" name="Text 21"/>
          <p:cNvSpPr/>
          <p:nvPr/>
        </p:nvSpPr>
        <p:spPr>
          <a:xfrm>
            <a:off x="548640" y="3840480"/>
            <a:ext cx="3886200" cy="292608"/>
          </a:xfrm>
          <a:prstGeom prst="rect">
            <a:avLst/>
          </a:prstGeom>
          <a:noFill/>
          <a:ln/>
        </p:spPr>
        <p:txBody>
          <a:bodyPr wrap="square" rtlCol="0" anchor="ctr"/>
          <a:lstStyle/>
          <a:p>
            <a:pPr marL="0" indent="0">
              <a:buNone/>
            </a:pPr>
            <a:r>
              <a:rPr lang="en-US" sz="950" b="1" dirty="0">
                <a:solidFill>
                  <a:srgbClr val="534AB7"/>
                </a:solidFill>
                <a:latin typeface="Arial" pitchFamily="34" charset="0"/>
                <a:ea typeface="Arial" pitchFamily="34" charset="-122"/>
                <a:cs typeface="Arial" pitchFamily="34" charset="-120"/>
              </a:rPr>
              <a:t>2.  </a:t>
            </a:r>
            <a:r>
              <a:rPr lang="en-US" sz="950" dirty="0">
                <a:solidFill>
                  <a:srgbClr val="1A1A1A"/>
                </a:solidFill>
                <a:latin typeface="Arial" pitchFamily="34" charset="0"/>
                <a:ea typeface="Arial" pitchFamily="34" charset="-122"/>
                <a:cs typeface="Arial" pitchFamily="34" charset="-120"/>
              </a:rPr>
              <a:t>Define object restrictions, compliance rules, data region</a:t>
            </a:r>
            <a:endParaRPr lang="en-US" sz="950" dirty="0"/>
          </a:p>
        </p:txBody>
      </p:sp>
      <p:sp>
        <p:nvSpPr>
          <p:cNvPr id="24" name="Text 22"/>
          <p:cNvSpPr/>
          <p:nvPr/>
        </p:nvSpPr>
        <p:spPr>
          <a:xfrm>
            <a:off x="548640" y="4169664"/>
            <a:ext cx="3886200" cy="292608"/>
          </a:xfrm>
          <a:prstGeom prst="rect">
            <a:avLst/>
          </a:prstGeom>
          <a:noFill/>
          <a:ln/>
        </p:spPr>
        <p:txBody>
          <a:bodyPr wrap="square" rtlCol="0" anchor="ctr"/>
          <a:lstStyle/>
          <a:p>
            <a:pPr marL="0" indent="0">
              <a:buNone/>
            </a:pPr>
            <a:r>
              <a:rPr lang="en-US" sz="950" b="1" dirty="0">
                <a:solidFill>
                  <a:srgbClr val="534AB7"/>
                </a:solidFill>
                <a:latin typeface="Arial" pitchFamily="34" charset="0"/>
                <a:ea typeface="Arial" pitchFamily="34" charset="-122"/>
                <a:cs typeface="Arial" pitchFamily="34" charset="-120"/>
              </a:rPr>
              <a:t>3.  </a:t>
            </a:r>
            <a:r>
              <a:rPr lang="en-US" sz="950" dirty="0">
                <a:solidFill>
                  <a:srgbClr val="1A1A1A"/>
                </a:solidFill>
                <a:latin typeface="Arial" pitchFamily="34" charset="0"/>
                <a:ea typeface="Arial" pitchFamily="34" charset="-122"/>
                <a:cs typeface="Arial" pitchFamily="34" charset="-120"/>
              </a:rPr>
              <a:t>Inject via ContextStore at session start</a:t>
            </a:r>
            <a:endParaRPr lang="en-US" sz="950" dirty="0"/>
          </a:p>
        </p:txBody>
      </p:sp>
      <p:sp>
        <p:nvSpPr>
          <p:cNvPr id="25" name="Text 23"/>
          <p:cNvSpPr/>
          <p:nvPr/>
        </p:nvSpPr>
        <p:spPr>
          <a:xfrm>
            <a:off x="548640" y="4590288"/>
            <a:ext cx="3886200" cy="182880"/>
          </a:xfrm>
          <a:prstGeom prst="rect">
            <a:avLst/>
          </a:prstGeom>
          <a:noFill/>
          <a:ln/>
        </p:spPr>
        <p:txBody>
          <a:bodyPr wrap="square" rtlCol="0" anchor="ctr"/>
          <a:lstStyle/>
          <a:p>
            <a:pPr marL="0" indent="0">
              <a:buNone/>
            </a:pPr>
            <a:r>
              <a:rPr lang="en-US" sz="800" b="1" dirty="0">
                <a:solidFill>
                  <a:srgbClr val="534AB7"/>
                </a:solidFill>
                <a:latin typeface="Courier New" pitchFamily="34" charset="0"/>
                <a:ea typeface="Courier New" pitchFamily="34" charset="-122"/>
                <a:cs typeface="Courier New" pitchFamily="34" charset="-120"/>
              </a:rPr>
              <a:t>src/lib/clients/{client}/config.ts</a:t>
            </a:r>
            <a:endParaRPr lang="en-US" sz="800" dirty="0"/>
          </a:p>
        </p:txBody>
      </p:sp>
      <p:sp>
        <p:nvSpPr>
          <p:cNvPr id="26" name="Shape 24"/>
          <p:cNvSpPr/>
          <p:nvPr/>
        </p:nvSpPr>
        <p:spPr>
          <a:xfrm>
            <a:off x="4663440" y="3108960"/>
            <a:ext cx="4160520" cy="1691640"/>
          </a:xfrm>
          <a:prstGeom prst="roundRect">
            <a:avLst>
              <a:gd name="adj" fmla="val 4324"/>
            </a:avLst>
          </a:prstGeom>
          <a:solidFill>
            <a:srgbClr val="FFFFFF"/>
          </a:solidFill>
          <a:ln w="6350">
            <a:solidFill>
              <a:srgbClr val="D3D1C7"/>
            </a:solidFill>
            <a:prstDash val="solid"/>
          </a:ln>
          <a:effectLst>
            <a:outerShdw blurRad="63500" dist="25400" dir="2700000" algn="bl" rotWithShape="0">
              <a:srgbClr val="000000">
                <a:alpha val="6000"/>
              </a:srgbClr>
            </a:outerShdw>
          </a:effectLst>
        </p:spPr>
        <p:txBody>
          <a:bodyPr/>
          <a:lstStyle/>
          <a:p>
            <a:endParaRPr lang="en-US"/>
          </a:p>
        </p:txBody>
      </p:sp>
      <p:sp>
        <p:nvSpPr>
          <p:cNvPr id="27" name="Shape 25"/>
          <p:cNvSpPr/>
          <p:nvPr/>
        </p:nvSpPr>
        <p:spPr>
          <a:xfrm>
            <a:off x="4663440" y="3108960"/>
            <a:ext cx="4160520" cy="329184"/>
          </a:xfrm>
          <a:prstGeom prst="roundRect">
            <a:avLst>
              <a:gd name="adj" fmla="val 22222"/>
            </a:avLst>
          </a:prstGeom>
          <a:solidFill>
            <a:srgbClr val="FAEEDA"/>
          </a:solidFill>
          <a:ln w="12700">
            <a:solidFill>
              <a:srgbClr val="FAEEDA"/>
            </a:solidFill>
            <a:prstDash val="solid"/>
          </a:ln>
        </p:spPr>
        <p:txBody>
          <a:bodyPr/>
          <a:lstStyle/>
          <a:p>
            <a:endParaRPr lang="en-US"/>
          </a:p>
        </p:txBody>
      </p:sp>
      <p:sp>
        <p:nvSpPr>
          <p:cNvPr id="28" name="Text 26"/>
          <p:cNvSpPr/>
          <p:nvPr/>
        </p:nvSpPr>
        <p:spPr>
          <a:xfrm>
            <a:off x="4800600" y="3145536"/>
            <a:ext cx="3886200" cy="256032"/>
          </a:xfrm>
          <a:prstGeom prst="rect">
            <a:avLst/>
          </a:prstGeom>
          <a:noFill/>
          <a:ln/>
        </p:spPr>
        <p:txBody>
          <a:bodyPr wrap="square" rtlCol="0" anchor="ctr"/>
          <a:lstStyle/>
          <a:p>
            <a:pPr marL="0" indent="0">
              <a:buNone/>
            </a:pPr>
            <a:r>
              <a:rPr lang="en-US" sz="1100" b="1" dirty="0">
                <a:solidFill>
                  <a:srgbClr val="BA7517"/>
                </a:solidFill>
                <a:latin typeface="Arial" pitchFamily="34" charset="0"/>
                <a:ea typeface="Arial" pitchFamily="34" charset="-122"/>
                <a:cs typeface="Arial" pitchFamily="34" charset="-120"/>
              </a:rPr>
              <a:t>Add a new reference corpus (RAG)</a:t>
            </a:r>
            <a:endParaRPr lang="en-US" sz="1100" dirty="0"/>
          </a:p>
        </p:txBody>
      </p:sp>
      <p:sp>
        <p:nvSpPr>
          <p:cNvPr id="29" name="Text 27"/>
          <p:cNvSpPr/>
          <p:nvPr/>
        </p:nvSpPr>
        <p:spPr>
          <a:xfrm>
            <a:off x="4800600" y="3511296"/>
            <a:ext cx="3886200" cy="292608"/>
          </a:xfrm>
          <a:prstGeom prst="rect">
            <a:avLst/>
          </a:prstGeom>
          <a:noFill/>
          <a:ln/>
        </p:spPr>
        <p:txBody>
          <a:bodyPr wrap="square" rtlCol="0" anchor="ctr"/>
          <a:lstStyle/>
          <a:p>
            <a:pPr marL="0" indent="0">
              <a:buNone/>
            </a:pPr>
            <a:r>
              <a:rPr lang="en-US" sz="950" b="1" dirty="0">
                <a:solidFill>
                  <a:srgbClr val="BA7517"/>
                </a:solidFill>
                <a:latin typeface="Arial" pitchFamily="34" charset="0"/>
                <a:ea typeface="Arial" pitchFamily="34" charset="-122"/>
                <a:cs typeface="Arial" pitchFamily="34" charset="-120"/>
              </a:rPr>
              <a:t>1.  </a:t>
            </a:r>
            <a:r>
              <a:rPr lang="en-US" sz="950" dirty="0">
                <a:solidFill>
                  <a:srgbClr val="1A1A1A"/>
                </a:solidFill>
                <a:latin typeface="Arial" pitchFamily="34" charset="0"/>
                <a:ea typeface="Arial" pitchFamily="34" charset="-122"/>
                <a:cs typeface="Arial" pitchFamily="34" charset="-120"/>
              </a:rPr>
              <a:t>Enable pgvector extension in Supabase</a:t>
            </a:r>
            <a:endParaRPr lang="en-US" sz="950" dirty="0"/>
          </a:p>
        </p:txBody>
      </p:sp>
      <p:sp>
        <p:nvSpPr>
          <p:cNvPr id="30" name="Text 28"/>
          <p:cNvSpPr/>
          <p:nvPr/>
        </p:nvSpPr>
        <p:spPr>
          <a:xfrm>
            <a:off x="4800600" y="3840480"/>
            <a:ext cx="3886200" cy="292608"/>
          </a:xfrm>
          <a:prstGeom prst="rect">
            <a:avLst/>
          </a:prstGeom>
          <a:noFill/>
          <a:ln/>
        </p:spPr>
        <p:txBody>
          <a:bodyPr wrap="square" rtlCol="0" anchor="ctr"/>
          <a:lstStyle/>
          <a:p>
            <a:pPr marL="0" indent="0">
              <a:buNone/>
            </a:pPr>
            <a:r>
              <a:rPr lang="en-US" sz="950" b="1" dirty="0">
                <a:solidFill>
                  <a:srgbClr val="BA7517"/>
                </a:solidFill>
                <a:latin typeface="Arial" pitchFamily="34" charset="0"/>
                <a:ea typeface="Arial" pitchFamily="34" charset="-122"/>
                <a:cs typeface="Arial" pitchFamily="34" charset="-120"/>
              </a:rPr>
              <a:t>2.  </a:t>
            </a:r>
            <a:r>
              <a:rPr lang="en-US" sz="950" dirty="0">
                <a:solidFill>
                  <a:srgbClr val="1A1A1A"/>
                </a:solidFill>
                <a:latin typeface="Arial" pitchFamily="34" charset="0"/>
                <a:ea typeface="Arial" pitchFamily="34" charset="-122"/>
                <a:cs typeface="Arial" pitchFamily="34" charset="-120"/>
              </a:rPr>
              <a:t>Chunk + embed documents into vectors table</a:t>
            </a:r>
            <a:endParaRPr lang="en-US" sz="950" dirty="0"/>
          </a:p>
        </p:txBody>
      </p:sp>
      <p:sp>
        <p:nvSpPr>
          <p:cNvPr id="31" name="Text 29"/>
          <p:cNvSpPr/>
          <p:nvPr/>
        </p:nvSpPr>
        <p:spPr>
          <a:xfrm>
            <a:off x="4800600" y="4169664"/>
            <a:ext cx="3886200" cy="292608"/>
          </a:xfrm>
          <a:prstGeom prst="rect">
            <a:avLst/>
          </a:prstGeom>
          <a:noFill/>
          <a:ln/>
        </p:spPr>
        <p:txBody>
          <a:bodyPr wrap="square" rtlCol="0" anchor="ctr"/>
          <a:lstStyle/>
          <a:p>
            <a:pPr marL="0" indent="0">
              <a:buNone/>
            </a:pPr>
            <a:r>
              <a:rPr lang="en-US" sz="950" b="1" dirty="0">
                <a:solidFill>
                  <a:srgbClr val="BA7517"/>
                </a:solidFill>
                <a:latin typeface="Arial" pitchFamily="34" charset="0"/>
                <a:ea typeface="Arial" pitchFamily="34" charset="-122"/>
                <a:cs typeface="Arial" pitchFamily="34" charset="-120"/>
              </a:rPr>
              <a:t>3.  </a:t>
            </a:r>
            <a:r>
              <a:rPr lang="en-US" sz="950" dirty="0">
                <a:solidFill>
                  <a:srgbClr val="1A1A1A"/>
                </a:solidFill>
                <a:latin typeface="Arial" pitchFamily="34" charset="0"/>
                <a:ea typeface="Arial" pitchFamily="34" charset="-122"/>
                <a:cs typeface="Arial" pitchFamily="34" charset="-120"/>
              </a:rPr>
              <a:t>Retriever queries by similarity at session time</a:t>
            </a:r>
            <a:endParaRPr lang="en-US" sz="950" dirty="0"/>
          </a:p>
        </p:txBody>
      </p:sp>
      <p:sp>
        <p:nvSpPr>
          <p:cNvPr id="32" name="Text 30"/>
          <p:cNvSpPr/>
          <p:nvPr/>
        </p:nvSpPr>
        <p:spPr>
          <a:xfrm>
            <a:off x="4800600" y="4590288"/>
            <a:ext cx="3886200" cy="182880"/>
          </a:xfrm>
          <a:prstGeom prst="rect">
            <a:avLst/>
          </a:prstGeom>
          <a:noFill/>
          <a:ln/>
        </p:spPr>
        <p:txBody>
          <a:bodyPr wrap="square" rtlCol="0" anchor="ctr"/>
          <a:lstStyle/>
          <a:p>
            <a:pPr marL="0" indent="0">
              <a:buNone/>
            </a:pPr>
            <a:r>
              <a:rPr lang="en-US" sz="800" b="1" dirty="0">
                <a:solidFill>
                  <a:srgbClr val="BA7517"/>
                </a:solidFill>
                <a:latin typeface="Courier New" pitchFamily="34" charset="0"/>
                <a:ea typeface="Courier New" pitchFamily="34" charset="-122"/>
                <a:cs typeface="Courier New" pitchFamily="34" charset="-120"/>
              </a:rPr>
              <a:t>Supabase pgvector + new retriever in src/lib/memory/</a:t>
            </a:r>
            <a:endParaRPr lang="en-US" sz="8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02920" y="292608"/>
            <a:ext cx="8138160" cy="201168"/>
          </a:xfrm>
          <a:prstGeom prst="rect">
            <a:avLst/>
          </a:prstGeom>
          <a:noFill/>
          <a:ln/>
        </p:spPr>
        <p:txBody>
          <a:bodyPr wrap="square" rtlCol="0" anchor="ctr"/>
          <a:lstStyle/>
          <a:p>
            <a:pPr marL="0" indent="0">
              <a:buNone/>
            </a:pPr>
            <a:r>
              <a:rPr lang="en-US" sz="900" b="1" kern="0" spc="300" dirty="0">
                <a:solidFill>
                  <a:srgbClr val="2E6DA4"/>
                </a:solidFill>
                <a:latin typeface="Arial" pitchFamily="34" charset="0"/>
                <a:ea typeface="Arial" pitchFamily="34" charset="-122"/>
                <a:cs typeface="Arial" pitchFamily="34" charset="-120"/>
              </a:rPr>
              <a:t>TECHNICAL APPENDIX — COLLABORATION RETROSPECTIVE</a:t>
            </a:r>
            <a:endParaRPr lang="en-US" sz="900" dirty="0"/>
          </a:p>
        </p:txBody>
      </p:sp>
      <p:sp>
        <p:nvSpPr>
          <p:cNvPr id="3" name="Text 1"/>
          <p:cNvSpPr/>
          <p:nvPr/>
        </p:nvSpPr>
        <p:spPr>
          <a:xfrm>
            <a:off x="502920" y="530352"/>
            <a:ext cx="8138160" cy="502920"/>
          </a:xfrm>
          <a:prstGeom prst="rect">
            <a:avLst/>
          </a:prstGeom>
          <a:noFill/>
          <a:ln/>
        </p:spPr>
        <p:txBody>
          <a:bodyPr wrap="square" rtlCol="0" anchor="ctr"/>
          <a:lstStyle/>
          <a:p>
            <a:pPr marL="0" indent="0">
              <a:buNone/>
            </a:pPr>
            <a:r>
              <a:rPr lang="en-US" sz="2400" b="1" dirty="0">
                <a:solidFill>
                  <a:srgbClr val="1A1A1A"/>
                </a:solidFill>
                <a:latin typeface="Arial" pitchFamily="34" charset="0"/>
                <a:ea typeface="Arial" pitchFamily="34" charset="-122"/>
                <a:cs typeface="Arial" pitchFamily="34" charset="-120"/>
              </a:rPr>
              <a:t>Where human and AI challenged each other — and who was right</a:t>
            </a:r>
            <a:endParaRPr lang="en-US" sz="2400" dirty="0"/>
          </a:p>
        </p:txBody>
      </p:sp>
      <p:sp>
        <p:nvSpPr>
          <p:cNvPr id="4" name="Shape 2"/>
          <p:cNvSpPr/>
          <p:nvPr/>
        </p:nvSpPr>
        <p:spPr>
          <a:xfrm>
            <a:off x="502920" y="1078992"/>
            <a:ext cx="8138160" cy="0"/>
          </a:xfrm>
          <a:prstGeom prst="line">
            <a:avLst/>
          </a:prstGeom>
          <a:noFill/>
          <a:ln w="10160">
            <a:solidFill>
              <a:srgbClr val="EBEBEB"/>
            </a:solidFill>
            <a:prstDash val="solid"/>
          </a:ln>
        </p:spPr>
        <p:txBody>
          <a:bodyPr/>
          <a:lstStyle/>
          <a:p>
            <a:endParaRPr lang="en-US"/>
          </a:p>
        </p:txBody>
      </p:sp>
      <p:sp>
        <p:nvSpPr>
          <p:cNvPr id="5" name="Shape 3"/>
          <p:cNvSpPr/>
          <p:nvPr/>
        </p:nvSpPr>
        <p:spPr>
          <a:xfrm>
            <a:off x="411480" y="1170432"/>
            <a:ext cx="2578608" cy="292608"/>
          </a:xfrm>
          <a:prstGeom prst="roundRect">
            <a:avLst>
              <a:gd name="adj" fmla="val 18750"/>
            </a:avLst>
          </a:prstGeom>
          <a:solidFill>
            <a:srgbClr val="0F6E56"/>
          </a:solidFill>
          <a:ln w="12700">
            <a:solidFill>
              <a:srgbClr val="0F6E56"/>
            </a:solidFill>
            <a:prstDash val="solid"/>
          </a:ln>
        </p:spPr>
        <p:txBody>
          <a:bodyPr/>
          <a:lstStyle/>
          <a:p>
            <a:endParaRPr lang="en-US"/>
          </a:p>
        </p:txBody>
      </p:sp>
      <p:sp>
        <p:nvSpPr>
          <p:cNvPr id="6" name="Text 4"/>
          <p:cNvSpPr/>
          <p:nvPr/>
        </p:nvSpPr>
        <p:spPr>
          <a:xfrm>
            <a:off x="411480" y="1179576"/>
            <a:ext cx="2578608" cy="274320"/>
          </a:xfrm>
          <a:prstGeom prst="rect">
            <a:avLst/>
          </a:prstGeom>
          <a:noFill/>
          <a:ln/>
        </p:spPr>
        <p:txBody>
          <a:bodyPr wrap="square" lIns="0" tIns="0" rIns="0" bIns="0" rtlCol="0" anchor="ctr"/>
          <a:lstStyle/>
          <a:p>
            <a:pPr marL="0" indent="0" algn="ctr">
              <a:buNone/>
            </a:pPr>
            <a:r>
              <a:rPr lang="en-US" sz="850" b="1" dirty="0">
                <a:solidFill>
                  <a:srgbClr val="FFFFFF"/>
                </a:solidFill>
                <a:latin typeface="Arial" pitchFamily="34" charset="0"/>
                <a:ea typeface="Arial" pitchFamily="34" charset="-122"/>
                <a:cs typeface="Arial" pitchFamily="34" charset="-120"/>
              </a:rPr>
              <a:t>Human challenged AI — and was right</a:t>
            </a:r>
            <a:endParaRPr lang="en-US" sz="850" dirty="0"/>
          </a:p>
        </p:txBody>
      </p:sp>
      <p:sp>
        <p:nvSpPr>
          <p:cNvPr id="7" name="Shape 5"/>
          <p:cNvSpPr/>
          <p:nvPr/>
        </p:nvSpPr>
        <p:spPr>
          <a:xfrm>
            <a:off x="3090672" y="1170432"/>
            <a:ext cx="2578608" cy="292608"/>
          </a:xfrm>
          <a:prstGeom prst="roundRect">
            <a:avLst>
              <a:gd name="adj" fmla="val 18750"/>
            </a:avLst>
          </a:prstGeom>
          <a:solidFill>
            <a:srgbClr val="1B4F9B"/>
          </a:solidFill>
          <a:ln w="12700">
            <a:solidFill>
              <a:srgbClr val="1B4F9B"/>
            </a:solidFill>
            <a:prstDash val="solid"/>
          </a:ln>
        </p:spPr>
        <p:txBody>
          <a:bodyPr/>
          <a:lstStyle/>
          <a:p>
            <a:endParaRPr lang="en-US"/>
          </a:p>
        </p:txBody>
      </p:sp>
      <p:sp>
        <p:nvSpPr>
          <p:cNvPr id="8" name="Text 6"/>
          <p:cNvSpPr/>
          <p:nvPr/>
        </p:nvSpPr>
        <p:spPr>
          <a:xfrm>
            <a:off x="3090672" y="1179576"/>
            <a:ext cx="2578608" cy="274320"/>
          </a:xfrm>
          <a:prstGeom prst="rect">
            <a:avLst/>
          </a:prstGeom>
          <a:noFill/>
          <a:ln/>
        </p:spPr>
        <p:txBody>
          <a:bodyPr wrap="square" lIns="0" tIns="0" rIns="0" bIns="0" rtlCol="0" anchor="ctr"/>
          <a:lstStyle/>
          <a:p>
            <a:pPr marL="0" indent="0" algn="ctr">
              <a:buNone/>
            </a:pPr>
            <a:r>
              <a:rPr lang="en-US" sz="850" b="1" dirty="0">
                <a:solidFill>
                  <a:srgbClr val="FFFFFF"/>
                </a:solidFill>
                <a:latin typeface="Arial" pitchFamily="34" charset="0"/>
                <a:ea typeface="Arial" pitchFamily="34" charset="-122"/>
                <a:cs typeface="Arial" pitchFamily="34" charset="-120"/>
              </a:rPr>
              <a:t>AI challenged human — and was right</a:t>
            </a:r>
            <a:endParaRPr lang="en-US" sz="850" dirty="0"/>
          </a:p>
        </p:txBody>
      </p:sp>
      <p:sp>
        <p:nvSpPr>
          <p:cNvPr id="9" name="Shape 7"/>
          <p:cNvSpPr/>
          <p:nvPr/>
        </p:nvSpPr>
        <p:spPr>
          <a:xfrm>
            <a:off x="5760720" y="1170432"/>
            <a:ext cx="2578608" cy="292608"/>
          </a:xfrm>
          <a:prstGeom prst="roundRect">
            <a:avLst>
              <a:gd name="adj" fmla="val 18750"/>
            </a:avLst>
          </a:prstGeom>
          <a:solidFill>
            <a:srgbClr val="A32D2D"/>
          </a:solidFill>
          <a:ln w="12700">
            <a:solidFill>
              <a:srgbClr val="A32D2D"/>
            </a:solidFill>
            <a:prstDash val="solid"/>
          </a:ln>
        </p:spPr>
        <p:txBody>
          <a:bodyPr/>
          <a:lstStyle/>
          <a:p>
            <a:endParaRPr lang="en-US"/>
          </a:p>
        </p:txBody>
      </p:sp>
      <p:sp>
        <p:nvSpPr>
          <p:cNvPr id="10" name="Text 8"/>
          <p:cNvSpPr/>
          <p:nvPr/>
        </p:nvSpPr>
        <p:spPr>
          <a:xfrm>
            <a:off x="5760720" y="1179576"/>
            <a:ext cx="2578608" cy="274320"/>
          </a:xfrm>
          <a:prstGeom prst="rect">
            <a:avLst/>
          </a:prstGeom>
          <a:noFill/>
          <a:ln/>
        </p:spPr>
        <p:txBody>
          <a:bodyPr wrap="square" lIns="0" tIns="0" rIns="0" bIns="0" rtlCol="0" anchor="ctr"/>
          <a:lstStyle/>
          <a:p>
            <a:pPr marL="0" indent="0" algn="ctr">
              <a:buNone/>
            </a:pPr>
            <a:r>
              <a:rPr lang="en-US" sz="850" b="1" dirty="0">
                <a:solidFill>
                  <a:srgbClr val="FFFFFF"/>
                </a:solidFill>
                <a:latin typeface="Arial" pitchFamily="34" charset="0"/>
                <a:ea typeface="Arial" pitchFamily="34" charset="-122"/>
                <a:cs typeface="Arial" pitchFamily="34" charset="-120"/>
              </a:rPr>
              <a:t>AI was wrong</a:t>
            </a:r>
            <a:endParaRPr lang="en-US" sz="850" dirty="0"/>
          </a:p>
        </p:txBody>
      </p:sp>
      <p:sp>
        <p:nvSpPr>
          <p:cNvPr id="11" name="Shape 9"/>
          <p:cNvSpPr/>
          <p:nvPr/>
        </p:nvSpPr>
        <p:spPr>
          <a:xfrm>
            <a:off x="411480" y="1536192"/>
            <a:ext cx="2578608" cy="1005840"/>
          </a:xfrm>
          <a:prstGeom prst="roundRect">
            <a:avLst>
              <a:gd name="adj" fmla="val 7273"/>
            </a:avLst>
          </a:prstGeom>
          <a:solidFill>
            <a:srgbClr val="E1F5EE"/>
          </a:solidFill>
          <a:ln w="6350">
            <a:solidFill>
              <a:srgbClr val="D3D1C7"/>
            </a:solidFill>
            <a:prstDash val="solid"/>
          </a:ln>
          <a:effectLst>
            <a:outerShdw blurRad="63500" dist="25400" dir="2700000" algn="bl" rotWithShape="0">
              <a:srgbClr val="000000">
                <a:alpha val="6000"/>
              </a:srgbClr>
            </a:outerShdw>
          </a:effectLst>
        </p:spPr>
        <p:txBody>
          <a:bodyPr/>
          <a:lstStyle/>
          <a:p>
            <a:endParaRPr lang="en-US"/>
          </a:p>
        </p:txBody>
      </p:sp>
      <p:sp>
        <p:nvSpPr>
          <p:cNvPr id="12" name="Text 10"/>
          <p:cNvSpPr/>
          <p:nvPr/>
        </p:nvSpPr>
        <p:spPr>
          <a:xfrm>
            <a:off x="548640" y="1627632"/>
            <a:ext cx="2304288" cy="256032"/>
          </a:xfrm>
          <a:prstGeom prst="rect">
            <a:avLst/>
          </a:prstGeom>
          <a:noFill/>
          <a:ln/>
        </p:spPr>
        <p:txBody>
          <a:bodyPr wrap="square" rtlCol="0" anchor="ctr"/>
          <a:lstStyle/>
          <a:p>
            <a:pPr marL="0" indent="0">
              <a:buNone/>
            </a:pPr>
            <a:r>
              <a:rPr lang="en-US" sz="1000" b="1" dirty="0">
                <a:solidFill>
                  <a:srgbClr val="0F6E56"/>
                </a:solidFill>
                <a:latin typeface="Arial" pitchFamily="34" charset="0"/>
                <a:ea typeface="Arial" pitchFamily="34" charset="-122"/>
                <a:cs typeface="Arial" pitchFamily="34" charset="-120"/>
              </a:rPr>
              <a:t>Jira as memory source of truth</a:t>
            </a:r>
            <a:endParaRPr lang="en-US" sz="1000" dirty="0"/>
          </a:p>
        </p:txBody>
      </p:sp>
      <p:sp>
        <p:nvSpPr>
          <p:cNvPr id="13" name="Text 11"/>
          <p:cNvSpPr/>
          <p:nvPr/>
        </p:nvSpPr>
        <p:spPr>
          <a:xfrm>
            <a:off x="548640" y="1883664"/>
            <a:ext cx="2304288" cy="594360"/>
          </a:xfrm>
          <a:prstGeom prst="rect">
            <a:avLst/>
          </a:prstGeom>
          <a:noFill/>
          <a:ln/>
        </p:spPr>
        <p:txBody>
          <a:bodyPr wrap="square" rtlCol="0" anchor="t"/>
          <a:lstStyle/>
          <a:p>
            <a:pPr marL="0" indent="0">
              <a:buNone/>
            </a:pPr>
            <a:r>
              <a:rPr lang="en-US" sz="900" dirty="0">
                <a:solidFill>
                  <a:srgbClr val="1A1A1A"/>
                </a:solidFill>
                <a:latin typeface="Arial" pitchFamily="34" charset="0"/>
                <a:ea typeface="Arial" pitchFamily="34" charset="-122"/>
                <a:cs typeface="Arial" pitchFamily="34" charset="-120"/>
              </a:rPr>
              <a:t>Claude built a Supabase adrs table. You pointed out Jira already has everything. Simpler, no duplication, architects own it.</a:t>
            </a:r>
            <a:endParaRPr lang="en-US" sz="900" dirty="0"/>
          </a:p>
        </p:txBody>
      </p:sp>
      <p:sp>
        <p:nvSpPr>
          <p:cNvPr id="14" name="Shape 12"/>
          <p:cNvSpPr/>
          <p:nvPr/>
        </p:nvSpPr>
        <p:spPr>
          <a:xfrm>
            <a:off x="411480" y="2651760"/>
            <a:ext cx="2578608" cy="1005840"/>
          </a:xfrm>
          <a:prstGeom prst="roundRect">
            <a:avLst>
              <a:gd name="adj" fmla="val 7273"/>
            </a:avLst>
          </a:prstGeom>
          <a:solidFill>
            <a:srgbClr val="E1F5EE"/>
          </a:solidFill>
          <a:ln w="6350">
            <a:solidFill>
              <a:srgbClr val="D3D1C7"/>
            </a:solidFill>
            <a:prstDash val="solid"/>
          </a:ln>
          <a:effectLst>
            <a:outerShdw blurRad="63500" dist="25400" dir="2700000" algn="bl" rotWithShape="0">
              <a:srgbClr val="000000">
                <a:alpha val="6000"/>
              </a:srgbClr>
            </a:outerShdw>
          </a:effectLst>
        </p:spPr>
        <p:txBody>
          <a:bodyPr/>
          <a:lstStyle/>
          <a:p>
            <a:endParaRPr lang="en-US"/>
          </a:p>
        </p:txBody>
      </p:sp>
      <p:sp>
        <p:nvSpPr>
          <p:cNvPr id="15" name="Text 13"/>
          <p:cNvSpPr/>
          <p:nvPr/>
        </p:nvSpPr>
        <p:spPr>
          <a:xfrm>
            <a:off x="548640" y="2743200"/>
            <a:ext cx="2304288" cy="256032"/>
          </a:xfrm>
          <a:prstGeom prst="rect">
            <a:avLst/>
          </a:prstGeom>
          <a:noFill/>
          <a:ln/>
        </p:spPr>
        <p:txBody>
          <a:bodyPr wrap="square" rtlCol="0" anchor="ctr"/>
          <a:lstStyle/>
          <a:p>
            <a:pPr marL="0" indent="0">
              <a:buNone/>
            </a:pPr>
            <a:r>
              <a:rPr lang="en-US" sz="1000" b="1" dirty="0">
                <a:solidFill>
                  <a:srgbClr val="0F6E56"/>
                </a:solidFill>
                <a:latin typeface="Arial" pitchFamily="34" charset="0"/>
                <a:ea typeface="Arial" pitchFamily="34" charset="-122"/>
                <a:cs typeface="Arial" pitchFamily="34" charset="-120"/>
              </a:rPr>
              <a:t>Countersign logic was too blunt</a:t>
            </a:r>
            <a:endParaRPr lang="en-US" sz="1000" dirty="0"/>
          </a:p>
        </p:txBody>
      </p:sp>
      <p:sp>
        <p:nvSpPr>
          <p:cNvPr id="16" name="Text 14"/>
          <p:cNvSpPr/>
          <p:nvPr/>
        </p:nvSpPr>
        <p:spPr>
          <a:xfrm>
            <a:off x="548640" y="2999232"/>
            <a:ext cx="2304288" cy="594360"/>
          </a:xfrm>
          <a:prstGeom prst="rect">
            <a:avLst/>
          </a:prstGeom>
          <a:noFill/>
          <a:ln/>
        </p:spPr>
        <p:txBody>
          <a:bodyPr wrap="square" rtlCol="0" anchor="t"/>
          <a:lstStyle/>
          <a:p>
            <a:pPr marL="0" indent="0">
              <a:buNone/>
            </a:pPr>
            <a:r>
              <a:rPr lang="en-US" sz="900" dirty="0">
                <a:solidFill>
                  <a:srgbClr val="1A1A1A"/>
                </a:solidFill>
                <a:latin typeface="Arial" pitchFamily="34" charset="0"/>
                <a:ea typeface="Arial" pitchFamily="34" charset="-122"/>
                <a:cs typeface="Arial" pitchFamily="34" charset="-120"/>
              </a:rPr>
              <a:t>Claude made countersign available on every session. You said low-confidence decisions need forced assignment, not a one-click stamp.</a:t>
            </a:r>
            <a:endParaRPr lang="en-US" sz="900" dirty="0"/>
          </a:p>
        </p:txBody>
      </p:sp>
      <p:sp>
        <p:nvSpPr>
          <p:cNvPr id="17" name="Shape 15"/>
          <p:cNvSpPr/>
          <p:nvPr/>
        </p:nvSpPr>
        <p:spPr>
          <a:xfrm>
            <a:off x="411480" y="3767328"/>
            <a:ext cx="2578608" cy="1005840"/>
          </a:xfrm>
          <a:prstGeom prst="roundRect">
            <a:avLst>
              <a:gd name="adj" fmla="val 7273"/>
            </a:avLst>
          </a:prstGeom>
          <a:solidFill>
            <a:srgbClr val="E1F5EE"/>
          </a:solidFill>
          <a:ln w="6350">
            <a:solidFill>
              <a:srgbClr val="D3D1C7"/>
            </a:solidFill>
            <a:prstDash val="solid"/>
          </a:ln>
          <a:effectLst>
            <a:outerShdw blurRad="63500" dist="25400" dir="2700000" algn="bl" rotWithShape="0">
              <a:srgbClr val="000000">
                <a:alpha val="6000"/>
              </a:srgbClr>
            </a:outerShdw>
          </a:effectLst>
        </p:spPr>
        <p:txBody>
          <a:bodyPr/>
          <a:lstStyle/>
          <a:p>
            <a:endParaRPr lang="en-US"/>
          </a:p>
        </p:txBody>
      </p:sp>
      <p:sp>
        <p:nvSpPr>
          <p:cNvPr id="18" name="Text 16"/>
          <p:cNvSpPr/>
          <p:nvPr/>
        </p:nvSpPr>
        <p:spPr>
          <a:xfrm>
            <a:off x="548640" y="3858768"/>
            <a:ext cx="2304288" cy="256032"/>
          </a:xfrm>
          <a:prstGeom prst="rect">
            <a:avLst/>
          </a:prstGeom>
          <a:noFill/>
          <a:ln/>
        </p:spPr>
        <p:txBody>
          <a:bodyPr wrap="square" rtlCol="0" anchor="ctr"/>
          <a:lstStyle/>
          <a:p>
            <a:pPr marL="0" indent="0">
              <a:buNone/>
            </a:pPr>
            <a:r>
              <a:rPr lang="en-US" sz="1000" b="1" dirty="0">
                <a:solidFill>
                  <a:srgbClr val="0F6E56"/>
                </a:solidFill>
                <a:latin typeface="Arial" pitchFamily="34" charset="0"/>
                <a:ea typeface="Arial" pitchFamily="34" charset="-122"/>
                <a:cs typeface="Arial" pitchFamily="34" charset="-120"/>
              </a:rPr>
              <a:t>Stopping to define personas</a:t>
            </a:r>
            <a:endParaRPr lang="en-US" sz="1000" dirty="0"/>
          </a:p>
        </p:txBody>
      </p:sp>
      <p:sp>
        <p:nvSpPr>
          <p:cNvPr id="19" name="Text 17"/>
          <p:cNvSpPr/>
          <p:nvPr/>
        </p:nvSpPr>
        <p:spPr>
          <a:xfrm>
            <a:off x="548640" y="4114800"/>
            <a:ext cx="2304288" cy="594360"/>
          </a:xfrm>
          <a:prstGeom prst="rect">
            <a:avLst/>
          </a:prstGeom>
          <a:noFill/>
          <a:ln/>
        </p:spPr>
        <p:txBody>
          <a:bodyPr wrap="square" rtlCol="0" anchor="t"/>
          <a:lstStyle/>
          <a:p>
            <a:pPr marL="0" indent="0">
              <a:buNone/>
            </a:pPr>
            <a:r>
              <a:rPr lang="en-US" sz="900" dirty="0">
                <a:solidFill>
                  <a:srgbClr val="1A1A1A"/>
                </a:solidFill>
                <a:latin typeface="Arial" pitchFamily="34" charset="0"/>
                <a:ea typeface="Arial" pitchFamily="34" charset="-122"/>
                <a:cs typeface="Arial" pitchFamily="34" charset="-120"/>
              </a:rPr>
              <a:t>Midway through building the endorsement UI, you asked who actually runs this. Claude hadn't raised it. The answer shaped the whole flow.</a:t>
            </a:r>
            <a:endParaRPr lang="en-US" sz="900" dirty="0"/>
          </a:p>
        </p:txBody>
      </p:sp>
      <p:sp>
        <p:nvSpPr>
          <p:cNvPr id="20" name="Shape 18"/>
          <p:cNvSpPr/>
          <p:nvPr/>
        </p:nvSpPr>
        <p:spPr>
          <a:xfrm>
            <a:off x="3090672" y="1536192"/>
            <a:ext cx="2578608" cy="1005840"/>
          </a:xfrm>
          <a:prstGeom prst="roundRect">
            <a:avLst>
              <a:gd name="adj" fmla="val 7273"/>
            </a:avLst>
          </a:prstGeom>
          <a:solidFill>
            <a:srgbClr val="EBF2FA"/>
          </a:solidFill>
          <a:ln w="6350">
            <a:solidFill>
              <a:srgbClr val="D3D1C7"/>
            </a:solidFill>
            <a:prstDash val="solid"/>
          </a:ln>
          <a:effectLst>
            <a:outerShdw blurRad="63500" dist="25400" dir="2700000" algn="bl" rotWithShape="0">
              <a:srgbClr val="000000">
                <a:alpha val="6000"/>
              </a:srgbClr>
            </a:outerShdw>
          </a:effectLst>
        </p:spPr>
        <p:txBody>
          <a:bodyPr/>
          <a:lstStyle/>
          <a:p>
            <a:endParaRPr lang="en-US"/>
          </a:p>
        </p:txBody>
      </p:sp>
      <p:sp>
        <p:nvSpPr>
          <p:cNvPr id="21" name="Text 19"/>
          <p:cNvSpPr/>
          <p:nvPr/>
        </p:nvSpPr>
        <p:spPr>
          <a:xfrm>
            <a:off x="3227832" y="1627632"/>
            <a:ext cx="2304288" cy="256032"/>
          </a:xfrm>
          <a:prstGeom prst="rect">
            <a:avLst/>
          </a:prstGeom>
          <a:noFill/>
          <a:ln/>
        </p:spPr>
        <p:txBody>
          <a:bodyPr wrap="square" rtlCol="0" anchor="ctr"/>
          <a:lstStyle/>
          <a:p>
            <a:pPr marL="0" indent="0">
              <a:buNone/>
            </a:pPr>
            <a:r>
              <a:rPr lang="en-US" sz="1000" b="1" dirty="0">
                <a:solidFill>
                  <a:srgbClr val="1B4F9B"/>
                </a:solidFill>
                <a:latin typeface="Arial" pitchFamily="34" charset="0"/>
                <a:ea typeface="Arial" pitchFamily="34" charset="-122"/>
                <a:cs typeface="Arial" pitchFamily="34" charset="-120"/>
              </a:rPr>
              <a:t>pgvector RAG before Friday</a:t>
            </a:r>
            <a:endParaRPr lang="en-US" sz="1000" dirty="0"/>
          </a:p>
        </p:txBody>
      </p:sp>
      <p:sp>
        <p:nvSpPr>
          <p:cNvPr id="22" name="Text 20"/>
          <p:cNvSpPr/>
          <p:nvPr/>
        </p:nvSpPr>
        <p:spPr>
          <a:xfrm>
            <a:off x="3227832" y="1883664"/>
            <a:ext cx="2304288" cy="594360"/>
          </a:xfrm>
          <a:prstGeom prst="rect">
            <a:avLst/>
          </a:prstGeom>
          <a:noFill/>
          <a:ln/>
        </p:spPr>
        <p:txBody>
          <a:bodyPr wrap="square" rtlCol="0" anchor="t"/>
          <a:lstStyle/>
          <a:p>
            <a:pPr marL="0" indent="0">
              <a:buNone/>
            </a:pPr>
            <a:r>
              <a:rPr lang="en-US" sz="900" dirty="0">
                <a:solidFill>
                  <a:srgbClr val="1A1A1A"/>
                </a:solidFill>
                <a:latin typeface="Arial" pitchFamily="34" charset="0"/>
                <a:ea typeface="Arial" pitchFamily="34" charset="-122"/>
                <a:cs typeface="Arial" pitchFamily="34" charset="-120"/>
              </a:rPr>
              <a:t>You wanted full WA Framework ingestion. Claude said too risky two days before demo. Static principles in 30 minutes instead.</a:t>
            </a:r>
            <a:endParaRPr lang="en-US" sz="900" dirty="0"/>
          </a:p>
        </p:txBody>
      </p:sp>
      <p:sp>
        <p:nvSpPr>
          <p:cNvPr id="23" name="Shape 21"/>
          <p:cNvSpPr/>
          <p:nvPr/>
        </p:nvSpPr>
        <p:spPr>
          <a:xfrm>
            <a:off x="3090672" y="2651760"/>
            <a:ext cx="2578608" cy="1005840"/>
          </a:xfrm>
          <a:prstGeom prst="roundRect">
            <a:avLst>
              <a:gd name="adj" fmla="val 7273"/>
            </a:avLst>
          </a:prstGeom>
          <a:solidFill>
            <a:srgbClr val="EBF2FA"/>
          </a:solidFill>
          <a:ln w="6350">
            <a:solidFill>
              <a:srgbClr val="D3D1C7"/>
            </a:solidFill>
            <a:prstDash val="solid"/>
          </a:ln>
          <a:effectLst>
            <a:outerShdw blurRad="63500" dist="25400" dir="2700000" algn="bl" rotWithShape="0">
              <a:srgbClr val="000000">
                <a:alpha val="6000"/>
              </a:srgbClr>
            </a:outerShdw>
          </a:effectLst>
        </p:spPr>
        <p:txBody>
          <a:bodyPr/>
          <a:lstStyle/>
          <a:p>
            <a:endParaRPr lang="en-US"/>
          </a:p>
        </p:txBody>
      </p:sp>
      <p:sp>
        <p:nvSpPr>
          <p:cNvPr id="24" name="Text 22"/>
          <p:cNvSpPr/>
          <p:nvPr/>
        </p:nvSpPr>
        <p:spPr>
          <a:xfrm>
            <a:off x="3227832" y="2743200"/>
            <a:ext cx="2304288" cy="256032"/>
          </a:xfrm>
          <a:prstGeom prst="rect">
            <a:avLst/>
          </a:prstGeom>
          <a:noFill/>
          <a:ln/>
        </p:spPr>
        <p:txBody>
          <a:bodyPr wrap="square" rtlCol="0" anchor="ctr"/>
          <a:lstStyle/>
          <a:p>
            <a:pPr marL="0" indent="0">
              <a:buNone/>
            </a:pPr>
            <a:r>
              <a:rPr lang="en-US" sz="1000" b="1" dirty="0">
                <a:solidFill>
                  <a:srgbClr val="1B4F9B"/>
                </a:solidFill>
                <a:latin typeface="Arial" pitchFamily="34" charset="0"/>
                <a:ea typeface="Arial" pitchFamily="34" charset="-122"/>
                <a:cs typeface="Arial" pitchFamily="34" charset="-120"/>
              </a:rPr>
              <a:t>MCP before functional build</a:t>
            </a:r>
            <a:endParaRPr lang="en-US" sz="1000" dirty="0"/>
          </a:p>
        </p:txBody>
      </p:sp>
      <p:sp>
        <p:nvSpPr>
          <p:cNvPr id="25" name="Text 23"/>
          <p:cNvSpPr/>
          <p:nvPr/>
        </p:nvSpPr>
        <p:spPr>
          <a:xfrm>
            <a:off x="3227832" y="2999232"/>
            <a:ext cx="2304288" cy="594360"/>
          </a:xfrm>
          <a:prstGeom prst="rect">
            <a:avLst/>
          </a:prstGeom>
          <a:noFill/>
          <a:ln/>
        </p:spPr>
        <p:txBody>
          <a:bodyPr wrap="square" rtlCol="0" anchor="t"/>
          <a:lstStyle/>
          <a:p>
            <a:pPr marL="0" indent="0">
              <a:buNone/>
            </a:pPr>
            <a:r>
              <a:rPr lang="en-US" sz="900" dirty="0">
                <a:solidFill>
                  <a:srgbClr val="1A1A1A"/>
                </a:solidFill>
                <a:latin typeface="Arial" pitchFamily="34" charset="0"/>
                <a:ea typeface="Arial" pitchFamily="34" charset="-122"/>
                <a:cs typeface="Arial" pitchFamily="34" charset="-120"/>
              </a:rPr>
              <a:t>MCP was a priority early. Claude kept pushing it back — jsforce works, licensing blocks it. Right call. Everything else shipped.</a:t>
            </a:r>
            <a:endParaRPr lang="en-US" sz="900" dirty="0"/>
          </a:p>
        </p:txBody>
      </p:sp>
      <p:sp>
        <p:nvSpPr>
          <p:cNvPr id="26" name="Shape 24"/>
          <p:cNvSpPr/>
          <p:nvPr/>
        </p:nvSpPr>
        <p:spPr>
          <a:xfrm>
            <a:off x="3090672" y="3767328"/>
            <a:ext cx="2578608" cy="1005840"/>
          </a:xfrm>
          <a:prstGeom prst="roundRect">
            <a:avLst>
              <a:gd name="adj" fmla="val 7273"/>
            </a:avLst>
          </a:prstGeom>
          <a:solidFill>
            <a:srgbClr val="EBF2FA"/>
          </a:solidFill>
          <a:ln w="6350">
            <a:solidFill>
              <a:srgbClr val="D3D1C7"/>
            </a:solidFill>
            <a:prstDash val="solid"/>
          </a:ln>
          <a:effectLst>
            <a:outerShdw blurRad="63500" dist="25400" dir="2700000" algn="bl" rotWithShape="0">
              <a:srgbClr val="000000">
                <a:alpha val="6000"/>
              </a:srgbClr>
            </a:outerShdw>
          </a:effectLst>
        </p:spPr>
        <p:txBody>
          <a:bodyPr/>
          <a:lstStyle/>
          <a:p>
            <a:endParaRPr lang="en-US"/>
          </a:p>
        </p:txBody>
      </p:sp>
      <p:sp>
        <p:nvSpPr>
          <p:cNvPr id="27" name="Text 25"/>
          <p:cNvSpPr/>
          <p:nvPr/>
        </p:nvSpPr>
        <p:spPr>
          <a:xfrm>
            <a:off x="3227832" y="3858768"/>
            <a:ext cx="2304288" cy="256032"/>
          </a:xfrm>
          <a:prstGeom prst="rect">
            <a:avLst/>
          </a:prstGeom>
          <a:noFill/>
          <a:ln/>
        </p:spPr>
        <p:txBody>
          <a:bodyPr wrap="square" rtlCol="0" anchor="ctr"/>
          <a:lstStyle/>
          <a:p>
            <a:pPr marL="0" indent="0">
              <a:buNone/>
            </a:pPr>
            <a:r>
              <a:rPr lang="en-US" sz="1000" b="1" dirty="0">
                <a:solidFill>
                  <a:srgbClr val="1B4F9B"/>
                </a:solidFill>
                <a:latin typeface="Arial" pitchFamily="34" charset="0"/>
                <a:ea typeface="Arial" pitchFamily="34" charset="-122"/>
                <a:cs typeface="Arial" pitchFamily="34" charset="-120"/>
              </a:rPr>
              <a:t>Opus vs Sonnet</a:t>
            </a:r>
            <a:endParaRPr lang="en-US" sz="1000" dirty="0"/>
          </a:p>
        </p:txBody>
      </p:sp>
      <p:sp>
        <p:nvSpPr>
          <p:cNvPr id="28" name="Text 26"/>
          <p:cNvSpPr/>
          <p:nvPr/>
        </p:nvSpPr>
        <p:spPr>
          <a:xfrm>
            <a:off x="3227832" y="4114800"/>
            <a:ext cx="2304288" cy="594360"/>
          </a:xfrm>
          <a:prstGeom prst="rect">
            <a:avLst/>
          </a:prstGeom>
          <a:noFill/>
          <a:ln/>
        </p:spPr>
        <p:txBody>
          <a:bodyPr wrap="square" rtlCol="0" anchor="t"/>
          <a:lstStyle/>
          <a:p>
            <a:pPr marL="0" indent="0">
              <a:buNone/>
            </a:pPr>
            <a:r>
              <a:rPr lang="en-US" sz="900" dirty="0">
                <a:solidFill>
                  <a:srgbClr val="1A1A1A"/>
                </a:solidFill>
                <a:latin typeface="Arial" pitchFamily="34" charset="0"/>
                <a:ea typeface="Arial" pitchFamily="34" charset="-122"/>
                <a:cs typeface="Arial" pitchFamily="34" charset="-120"/>
              </a:rPr>
              <a:t>You asked about Opus quality. Claude said the grounding architecture does the lifting — 10x cost for marginal gain is not worth it.</a:t>
            </a:r>
            <a:endParaRPr lang="en-US" sz="900" dirty="0"/>
          </a:p>
        </p:txBody>
      </p:sp>
      <p:sp>
        <p:nvSpPr>
          <p:cNvPr id="29" name="Shape 27"/>
          <p:cNvSpPr/>
          <p:nvPr/>
        </p:nvSpPr>
        <p:spPr>
          <a:xfrm>
            <a:off x="5760720" y="1536192"/>
            <a:ext cx="2578608" cy="1005840"/>
          </a:xfrm>
          <a:prstGeom prst="roundRect">
            <a:avLst>
              <a:gd name="adj" fmla="val 7273"/>
            </a:avLst>
          </a:prstGeom>
          <a:solidFill>
            <a:srgbClr val="FCEBEB"/>
          </a:solidFill>
          <a:ln w="6350">
            <a:solidFill>
              <a:srgbClr val="D3D1C7"/>
            </a:solidFill>
            <a:prstDash val="solid"/>
          </a:ln>
          <a:effectLst>
            <a:outerShdw blurRad="63500" dist="25400" dir="2700000" algn="bl" rotWithShape="0">
              <a:srgbClr val="000000">
                <a:alpha val="6000"/>
              </a:srgbClr>
            </a:outerShdw>
          </a:effectLst>
        </p:spPr>
        <p:txBody>
          <a:bodyPr/>
          <a:lstStyle/>
          <a:p>
            <a:endParaRPr lang="en-US"/>
          </a:p>
        </p:txBody>
      </p:sp>
      <p:sp>
        <p:nvSpPr>
          <p:cNvPr id="30" name="Text 28"/>
          <p:cNvSpPr/>
          <p:nvPr/>
        </p:nvSpPr>
        <p:spPr>
          <a:xfrm>
            <a:off x="5897880" y="1627632"/>
            <a:ext cx="2304288" cy="256032"/>
          </a:xfrm>
          <a:prstGeom prst="rect">
            <a:avLst/>
          </a:prstGeom>
          <a:noFill/>
          <a:ln/>
        </p:spPr>
        <p:txBody>
          <a:bodyPr wrap="square" rtlCol="0" anchor="ctr"/>
          <a:lstStyle/>
          <a:p>
            <a:pPr marL="0" indent="0">
              <a:buNone/>
            </a:pPr>
            <a:r>
              <a:rPr lang="en-US" sz="1000" b="1" dirty="0">
                <a:solidFill>
                  <a:srgbClr val="A32D2D"/>
                </a:solidFill>
                <a:latin typeface="Arial" pitchFamily="34" charset="0"/>
                <a:ea typeface="Arial" pitchFamily="34" charset="-122"/>
                <a:cs typeface="Arial" pitchFamily="34" charset="-120"/>
              </a:rPr>
              <a:t>Cost estimate off by 10x</a:t>
            </a:r>
            <a:endParaRPr lang="en-US" sz="1000" dirty="0"/>
          </a:p>
        </p:txBody>
      </p:sp>
      <p:sp>
        <p:nvSpPr>
          <p:cNvPr id="31" name="Text 29"/>
          <p:cNvSpPr/>
          <p:nvPr/>
        </p:nvSpPr>
        <p:spPr>
          <a:xfrm>
            <a:off x="5897880" y="1883664"/>
            <a:ext cx="2304288" cy="594360"/>
          </a:xfrm>
          <a:prstGeom prst="rect">
            <a:avLst/>
          </a:prstGeom>
          <a:noFill/>
          <a:ln/>
        </p:spPr>
        <p:txBody>
          <a:bodyPr wrap="square" rtlCol="0" anchor="t"/>
          <a:lstStyle/>
          <a:p>
            <a:pPr marL="0" indent="0">
              <a:buNone/>
            </a:pPr>
            <a:r>
              <a:rPr lang="en-US" sz="900" dirty="0">
                <a:solidFill>
                  <a:srgbClr val="1A1A1A"/>
                </a:solidFill>
                <a:latin typeface="Arial" pitchFamily="34" charset="0"/>
                <a:ea typeface="Arial" pitchFamily="34" charset="-122"/>
                <a:cs typeface="Arial" pitchFamily="34" charset="-120"/>
              </a:rPr>
              <a:t>Claude said $2-3 per session. Real number after calculation: $0.29, and $0.08 after optimisation. Overestimate nearly changed the API key decision.</a:t>
            </a:r>
            <a:endParaRPr lang="en-US" sz="900" dirty="0"/>
          </a:p>
        </p:txBody>
      </p:sp>
      <p:sp>
        <p:nvSpPr>
          <p:cNvPr id="32" name="Shape 30"/>
          <p:cNvSpPr/>
          <p:nvPr/>
        </p:nvSpPr>
        <p:spPr>
          <a:xfrm>
            <a:off x="5760720" y="2651760"/>
            <a:ext cx="2578608" cy="1005840"/>
          </a:xfrm>
          <a:prstGeom prst="roundRect">
            <a:avLst>
              <a:gd name="adj" fmla="val 7273"/>
            </a:avLst>
          </a:prstGeom>
          <a:solidFill>
            <a:srgbClr val="FCEBEB"/>
          </a:solidFill>
          <a:ln w="6350">
            <a:solidFill>
              <a:srgbClr val="D3D1C7"/>
            </a:solidFill>
            <a:prstDash val="solid"/>
          </a:ln>
          <a:effectLst>
            <a:outerShdw blurRad="63500" dist="25400" dir="2700000" algn="bl" rotWithShape="0">
              <a:srgbClr val="000000">
                <a:alpha val="6000"/>
              </a:srgbClr>
            </a:outerShdw>
          </a:effectLst>
        </p:spPr>
        <p:txBody>
          <a:bodyPr/>
          <a:lstStyle/>
          <a:p>
            <a:endParaRPr lang="en-US"/>
          </a:p>
        </p:txBody>
      </p:sp>
      <p:sp>
        <p:nvSpPr>
          <p:cNvPr id="33" name="Text 31"/>
          <p:cNvSpPr/>
          <p:nvPr/>
        </p:nvSpPr>
        <p:spPr>
          <a:xfrm>
            <a:off x="5897880" y="2743200"/>
            <a:ext cx="2304288" cy="256032"/>
          </a:xfrm>
          <a:prstGeom prst="rect">
            <a:avLst/>
          </a:prstGeom>
          <a:noFill/>
          <a:ln/>
        </p:spPr>
        <p:txBody>
          <a:bodyPr wrap="square" rtlCol="0" anchor="ctr"/>
          <a:lstStyle/>
          <a:p>
            <a:pPr marL="0" indent="0">
              <a:buNone/>
            </a:pPr>
            <a:r>
              <a:rPr lang="en-US" sz="1000" b="1" dirty="0">
                <a:solidFill>
                  <a:srgbClr val="A32D2D"/>
                </a:solidFill>
                <a:latin typeface="Arial" pitchFamily="34" charset="0"/>
                <a:ea typeface="Arial" pitchFamily="34" charset="-122"/>
                <a:cs typeface="Arial" pitchFamily="34" charset="-120"/>
              </a:rPr>
              <a:t>Built infra that should not exist</a:t>
            </a:r>
            <a:endParaRPr lang="en-US" sz="1000" dirty="0"/>
          </a:p>
        </p:txBody>
      </p:sp>
      <p:sp>
        <p:nvSpPr>
          <p:cNvPr id="34" name="Text 32"/>
          <p:cNvSpPr/>
          <p:nvPr/>
        </p:nvSpPr>
        <p:spPr>
          <a:xfrm>
            <a:off x="5897880" y="2999232"/>
            <a:ext cx="2304288" cy="594360"/>
          </a:xfrm>
          <a:prstGeom prst="rect">
            <a:avLst/>
          </a:prstGeom>
          <a:noFill/>
          <a:ln/>
        </p:spPr>
        <p:txBody>
          <a:bodyPr wrap="square" rtlCol="0" anchor="t"/>
          <a:lstStyle/>
          <a:p>
            <a:pPr marL="0" indent="0">
              <a:buNone/>
            </a:pPr>
            <a:r>
              <a:rPr lang="en-US" sz="900" dirty="0">
                <a:solidFill>
                  <a:srgbClr val="1A1A1A"/>
                </a:solidFill>
                <a:latin typeface="Arial" pitchFamily="34" charset="0"/>
                <a:ea typeface="Arial" pitchFamily="34" charset="-122"/>
                <a:cs typeface="Arial" pitchFamily="34" charset="-120"/>
              </a:rPr>
              <a:t>The Supabase adrs table was designed, migrated, and built before the simpler answer was found. Cost real build time.</a:t>
            </a:r>
            <a:endParaRPr lang="en-US" sz="900" dirty="0"/>
          </a:p>
        </p:txBody>
      </p:sp>
      <p:sp>
        <p:nvSpPr>
          <p:cNvPr id="35" name="Shape 33"/>
          <p:cNvSpPr/>
          <p:nvPr/>
        </p:nvSpPr>
        <p:spPr>
          <a:xfrm>
            <a:off x="5760720" y="3767328"/>
            <a:ext cx="2578608" cy="1005840"/>
          </a:xfrm>
          <a:prstGeom prst="roundRect">
            <a:avLst>
              <a:gd name="adj" fmla="val 7273"/>
            </a:avLst>
          </a:prstGeom>
          <a:solidFill>
            <a:srgbClr val="FCEBEB"/>
          </a:solidFill>
          <a:ln w="6350">
            <a:solidFill>
              <a:srgbClr val="D3D1C7"/>
            </a:solidFill>
            <a:prstDash val="solid"/>
          </a:ln>
          <a:effectLst>
            <a:outerShdw blurRad="63500" dist="25400" dir="2700000" algn="bl" rotWithShape="0">
              <a:srgbClr val="000000">
                <a:alpha val="6000"/>
              </a:srgbClr>
            </a:outerShdw>
          </a:effectLst>
        </p:spPr>
        <p:txBody>
          <a:bodyPr/>
          <a:lstStyle/>
          <a:p>
            <a:endParaRPr lang="en-US"/>
          </a:p>
        </p:txBody>
      </p:sp>
      <p:sp>
        <p:nvSpPr>
          <p:cNvPr id="36" name="Text 34"/>
          <p:cNvSpPr/>
          <p:nvPr/>
        </p:nvSpPr>
        <p:spPr>
          <a:xfrm>
            <a:off x="5897880" y="3858768"/>
            <a:ext cx="2304288" cy="256032"/>
          </a:xfrm>
          <a:prstGeom prst="rect">
            <a:avLst/>
          </a:prstGeom>
          <a:noFill/>
          <a:ln/>
        </p:spPr>
        <p:txBody>
          <a:bodyPr wrap="square" rtlCol="0" anchor="ctr"/>
          <a:lstStyle/>
          <a:p>
            <a:pPr marL="0" indent="0">
              <a:buNone/>
            </a:pPr>
            <a:r>
              <a:rPr lang="en-US" sz="1000" b="1" dirty="0">
                <a:solidFill>
                  <a:srgbClr val="A32D2D"/>
                </a:solidFill>
                <a:latin typeface="Arial" pitchFamily="34" charset="0"/>
                <a:ea typeface="Arial" pitchFamily="34" charset="-122"/>
                <a:cs typeface="Arial" pitchFamily="34" charset="-120"/>
              </a:rPr>
              <a:t>Misdiagnosed upload bug</a:t>
            </a:r>
            <a:endParaRPr lang="en-US" sz="1000" dirty="0"/>
          </a:p>
        </p:txBody>
      </p:sp>
      <p:sp>
        <p:nvSpPr>
          <p:cNvPr id="37" name="Text 35"/>
          <p:cNvSpPr/>
          <p:nvPr/>
        </p:nvSpPr>
        <p:spPr>
          <a:xfrm>
            <a:off x="5897880" y="4114800"/>
            <a:ext cx="2304288" cy="594360"/>
          </a:xfrm>
          <a:prstGeom prst="rect">
            <a:avLst/>
          </a:prstGeom>
          <a:noFill/>
          <a:ln/>
        </p:spPr>
        <p:txBody>
          <a:bodyPr wrap="square" rtlCol="0" anchor="t"/>
          <a:lstStyle/>
          <a:p>
            <a:pPr marL="0" indent="0">
              <a:buNone/>
            </a:pPr>
            <a:r>
              <a:rPr lang="en-US" sz="900" dirty="0">
                <a:solidFill>
                  <a:srgbClr val="1A1A1A"/>
                </a:solidFill>
                <a:latin typeface="Arial" pitchFamily="34" charset="0"/>
                <a:ea typeface="Arial" pitchFamily="34" charset="-122"/>
                <a:cs typeface="Arial" pitchFamily="34" charset="-120"/>
              </a:rPr>
              <a:t>Claude said Impact Analysis showing wrong content was mock mode behaviour. It was a real bug — extracted text not flowing to analyzeImpact.</a:t>
            </a:r>
            <a:endParaRPr lang="en-US" sz="900" dirty="0"/>
          </a:p>
        </p:txBody>
      </p:sp>
      <p:sp>
        <p:nvSpPr>
          <p:cNvPr id="38" name="Shape 36"/>
          <p:cNvSpPr/>
          <p:nvPr/>
        </p:nvSpPr>
        <p:spPr>
          <a:xfrm>
            <a:off x="411480" y="4553712"/>
            <a:ext cx="8321040" cy="347472"/>
          </a:xfrm>
          <a:prstGeom prst="roundRect">
            <a:avLst>
              <a:gd name="adj" fmla="val 15789"/>
            </a:avLst>
          </a:prstGeom>
          <a:solidFill>
            <a:srgbClr val="0F1E3C"/>
          </a:solidFill>
          <a:ln w="12700">
            <a:solidFill>
              <a:srgbClr val="0F1E3C"/>
            </a:solidFill>
            <a:prstDash val="solid"/>
          </a:ln>
        </p:spPr>
        <p:txBody>
          <a:bodyPr/>
          <a:lstStyle/>
          <a:p>
            <a:endParaRPr lang="en-US"/>
          </a:p>
        </p:txBody>
      </p:sp>
      <p:sp>
        <p:nvSpPr>
          <p:cNvPr id="39" name="Text 37"/>
          <p:cNvSpPr/>
          <p:nvPr/>
        </p:nvSpPr>
        <p:spPr>
          <a:xfrm>
            <a:off x="548640" y="4562856"/>
            <a:ext cx="8046720" cy="329184"/>
          </a:xfrm>
          <a:prstGeom prst="rect">
            <a:avLst/>
          </a:prstGeom>
          <a:noFill/>
          <a:ln/>
        </p:spPr>
        <p:txBody>
          <a:bodyPr wrap="square" rtlCol="0" anchor="ctr"/>
          <a:lstStyle/>
          <a:p>
            <a:pPr marL="0" indent="0">
              <a:buNone/>
            </a:pPr>
            <a:r>
              <a:rPr lang="en-US" sz="1000" b="1" dirty="0">
                <a:solidFill>
                  <a:srgbClr val="FFFFFF"/>
                </a:solidFill>
                <a:latin typeface="Arial" pitchFamily="34" charset="0"/>
                <a:ea typeface="Arial" pitchFamily="34" charset="-122"/>
                <a:cs typeface="Arial" pitchFamily="34" charset="-120"/>
              </a:rPr>
              <a:t>The pattern: human brought domain judgment + architectural instinct. AI brought systems thinking + timing discipline. Neither alone gets here.</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2427</Words>
  <Application>Microsoft Office PowerPoint</Application>
  <PresentationFormat>On-screen Show (16:9)</PresentationFormat>
  <Paragraphs>423</Paragraphs>
  <Slides>19</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ARBoard — AI Architecture Review Board</dc:title>
  <dc:subject>PptxGenJS Presentation</dc:subject>
  <dc:creator>PptxGenJS</dc:creator>
  <cp:lastModifiedBy>Ganapatineedi, Rama</cp:lastModifiedBy>
  <cp:revision>2</cp:revision>
  <dcterms:created xsi:type="dcterms:W3CDTF">2026-06-27T03:16:30Z</dcterms:created>
  <dcterms:modified xsi:type="dcterms:W3CDTF">2026-06-30T02:24:20Z</dcterms:modified>
</cp:coreProperties>
</file>