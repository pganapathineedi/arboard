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58" r:id="rId5"/>
    <p:sldId id="259" r:id="rId6"/>
    <p:sldId id="270" r:id="rId7"/>
    <p:sldId id="271" r:id="rId8"/>
    <p:sldId id="260" r:id="rId9"/>
    <p:sldId id="273" r:id="rId10"/>
    <p:sldId id="272" r:id="rId11"/>
    <p:sldId id="261" r:id="rId12"/>
    <p:sldId id="262" r:id="rId13"/>
    <p:sldId id="274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6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went through 4 rounds of design challenge before a line of code was written. 7 queries defined first — schema designed to answer them. Write-before-run means traces survive orchestrator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RBoar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Why ARBoard — not just Claude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Base Claude gives you ~30-40% of ARBoard. Here is what the other 60-70% looks like.</a:t>
            </a:r>
          </a:p>
        </p:txBody>
      </p:sp>
      <p:sp>
        <p:nvSpPr>
          <p:cNvPr id="5" name="ColHdr1"/>
          <p:cNvSpPr/>
          <p:nvPr/>
        </p:nvSpPr>
        <p:spPr>
          <a:xfrm>
            <a:off x="457200" y="1120000"/>
            <a:ext cx="2743200" cy="33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Capability</a:t>
            </a:r>
          </a:p>
        </p:txBody>
      </p:sp>
      <p:sp>
        <p:nvSpPr>
          <p:cNvPr id="6" name="ColHdr2"/>
          <p:cNvSpPr/>
          <p:nvPr/>
        </p:nvSpPr>
        <p:spPr>
          <a:xfrm>
            <a:off x="3200400" y="1120000"/>
            <a:ext cx="2743200" cy="33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Base Claude</a:t>
            </a:r>
          </a:p>
        </p:txBody>
      </p:sp>
      <p:sp>
        <p:nvSpPr>
          <p:cNvPr id="7" name="ColHdr3"/>
          <p:cNvSpPr/>
          <p:nvPr/>
        </p:nvSpPr>
        <p:spPr>
          <a:xfrm>
            <a:off x="5943600" y="1120000"/>
            <a:ext cx="2743200" cy="33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ARBoard</a:t>
            </a:r>
          </a:p>
        </p:txBody>
      </p:sp>
      <p:sp>
        <p:nvSpPr>
          <p:cNvPr id="10" name="R1C1"/>
          <p:cNvSpPr/>
          <p:nvPr/>
        </p:nvSpPr>
        <p:spPr>
          <a:xfrm>
            <a:off x="457200" y="145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Specialist lenses</a:t>
            </a:r>
          </a:p>
        </p:txBody>
      </p:sp>
      <p:sp>
        <p:nvSpPr>
          <p:cNvPr id="11" name="R1C2"/>
          <p:cNvSpPr/>
          <p:nvPr/>
        </p:nvSpPr>
        <p:spPr>
          <a:xfrm>
            <a:off x="3200400" y="145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1 generalist opinion</a:t>
            </a:r>
          </a:p>
        </p:txBody>
      </p:sp>
      <p:sp>
        <p:nvSpPr>
          <p:cNvPr id="12" name="R1C3"/>
          <p:cNvSpPr/>
          <p:nvPr/>
        </p:nvSpPr>
        <p:spPr>
          <a:xfrm>
            <a:off x="5943600" y="145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10 specialist agents challenge each other</a:t>
            </a:r>
          </a:p>
        </p:txBody>
      </p:sp>
      <p:sp>
        <p:nvSpPr>
          <p:cNvPr id="13" name="R2C1"/>
          <p:cNvSpPr/>
          <p:nvPr/>
        </p:nvSpPr>
        <p:spPr>
          <a:xfrm>
            <a:off x="457200" y="184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Adversarial posture</a:t>
            </a:r>
          </a:p>
        </p:txBody>
      </p:sp>
      <p:sp>
        <p:nvSpPr>
          <p:cNvPr id="14" name="R2C2"/>
          <p:cNvSpPr/>
          <p:nvPr/>
        </p:nvSpPr>
        <p:spPr>
          <a:xfrm>
            <a:off x="3200400" y="184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Helpful and agreeable</a:t>
            </a:r>
          </a:p>
        </p:txBody>
      </p:sp>
      <p:sp>
        <p:nvSpPr>
          <p:cNvPr id="15" name="R2C3"/>
          <p:cNvSpPr/>
          <p:nvPr/>
        </p:nvSpPr>
        <p:spPr>
          <a:xfrm>
            <a:off x="5943600" y="184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Agents challenge before they assess — by design</a:t>
            </a:r>
          </a:p>
        </p:txBody>
      </p:sp>
      <p:sp>
        <p:nvSpPr>
          <p:cNvPr id="16" name="R3C1"/>
          <p:cNvSpPr/>
          <p:nvPr/>
        </p:nvSpPr>
        <p:spPr>
          <a:xfrm>
            <a:off x="457200" y="223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SI failure patterns</a:t>
            </a:r>
          </a:p>
        </p:txBody>
      </p:sp>
      <p:sp>
        <p:nvSpPr>
          <p:cNvPr id="17" name="R3C2"/>
          <p:cNvSpPr/>
          <p:nvPr/>
        </p:nvSpPr>
        <p:spPr>
          <a:xfrm>
            <a:off x="3200400" y="223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Salesforce best practice only</a:t>
            </a:r>
          </a:p>
        </p:txBody>
      </p:sp>
      <p:sp>
        <p:nvSpPr>
          <p:cNvPr id="18" name="R3C3"/>
          <p:cNvSpPr/>
          <p:nvPr/>
        </p:nvSpPr>
        <p:spPr>
          <a:xfrm>
            <a:off x="5943600" y="223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25 named patterns — FP-004–FP-020, PERM-001–PERM-008</a:t>
            </a:r>
          </a:p>
        </p:txBody>
      </p:sp>
      <p:sp>
        <p:nvSpPr>
          <p:cNvPr id="19" name="R4C1"/>
          <p:cNvSpPr/>
          <p:nvPr/>
        </p:nvSpPr>
        <p:spPr>
          <a:xfrm>
            <a:off x="457200" y="262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Org memory</a:t>
            </a:r>
          </a:p>
        </p:txBody>
      </p:sp>
      <p:sp>
        <p:nvSpPr>
          <p:cNvPr id="20" name="R4C2"/>
          <p:cNvSpPr/>
          <p:nvPr/>
        </p:nvSpPr>
        <p:spPr>
          <a:xfrm>
            <a:off x="3200400" y="262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Forgets everything between sessions</a:t>
            </a:r>
          </a:p>
        </p:txBody>
      </p:sp>
      <p:sp>
        <p:nvSpPr>
          <p:cNvPr id="21" name="R4C3"/>
          <p:cNvSpPr/>
          <p:nvPr/>
        </p:nvSpPr>
        <p:spPr>
          <a:xfrm>
            <a:off x="5943600" y="262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Org learnings compound across every session in Supabase</a:t>
            </a:r>
          </a:p>
        </p:txBody>
      </p:sp>
      <p:sp>
        <p:nvSpPr>
          <p:cNvPr id="22" name="R5C1"/>
          <p:cNvSpPr/>
          <p:nvPr/>
        </p:nvSpPr>
        <p:spPr>
          <a:xfrm>
            <a:off x="457200" y="301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Governance trail</a:t>
            </a:r>
          </a:p>
        </p:txBody>
      </p:sp>
      <p:sp>
        <p:nvSpPr>
          <p:cNvPr id="23" name="R5C2"/>
          <p:cNvSpPr/>
          <p:nvPr/>
        </p:nvSpPr>
        <p:spPr>
          <a:xfrm>
            <a:off x="3200400" y="301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Text output only — no audit trail</a:t>
            </a:r>
          </a:p>
        </p:txBody>
      </p:sp>
      <p:sp>
        <p:nvSpPr>
          <p:cNvPr id="24" name="R5C3"/>
          <p:cNvSpPr/>
          <p:nvPr/>
        </p:nvSpPr>
        <p:spPr>
          <a:xfrm>
            <a:off x="5943600" y="301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Structured ADR — Supabase + Jira, auditable and signed off</a:t>
            </a:r>
          </a:p>
        </p:txBody>
      </p:sp>
      <p:sp>
        <p:nvSpPr>
          <p:cNvPr id="25" name="R6C1"/>
          <p:cNvSpPr/>
          <p:nvPr/>
        </p:nvSpPr>
        <p:spPr>
          <a:xfrm>
            <a:off x="457200" y="340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Delivery standards</a:t>
            </a:r>
          </a:p>
        </p:txBody>
      </p:sp>
      <p:sp>
        <p:nvSpPr>
          <p:cNvPr id="26" name="R6C2"/>
          <p:cNvSpPr/>
          <p:nvPr/>
        </p:nvSpPr>
        <p:spPr>
          <a:xfrm>
            <a:off x="3200400" y="340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— not tuned to your practice</a:t>
            </a:r>
          </a:p>
        </p:txBody>
      </p:sp>
      <p:sp>
        <p:nvSpPr>
          <p:cNvPr id="27" name="R6C3"/>
          <p:cNvSpPr/>
          <p:nvPr/>
        </p:nvSpPr>
        <p:spPr>
          <a:xfrm>
            <a:off x="5943600" y="340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Guardrails tuned to Accenture delivery standards</a:t>
            </a:r>
          </a:p>
        </p:txBody>
      </p:sp>
      <p:sp>
        <p:nvSpPr>
          <p:cNvPr id="28" name="Callout"/>
          <p:cNvSpPr/>
          <p:nvPr/>
        </p:nvSpPr>
        <p:spPr>
          <a:xfrm>
            <a:off x="457200" y="3870000"/>
            <a:ext cx="8229600" cy="32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prompt engineering is the product. The adversarial posture, the failure patterns, the org memory — none of that comes free with Claude.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less Distribu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Headless ARBoard — Brain, Not UI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The agent brain is decoupled from the UI — consumable via three distribution channels today</a:t>
            </a:r>
          </a:p>
        </p:txBody>
      </p:sp>
      <p:sp>
        <p:nvSpPr>
          <p:cNvPr id="5" name="C1Header"/>
          <p:cNvSpPr/>
          <p:nvPr/>
        </p:nvSpPr>
        <p:spPr>
          <a:xfrm>
            <a:off x="457200" y="1120000"/>
            <a:ext cx="2600000" cy="34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 — Claude Projects</a:t>
            </a:r>
          </a:p>
        </p:txBody>
      </p:sp>
      <p:sp>
        <p:nvSpPr>
          <p:cNvPr id="6" name="C1Body"/>
          <p:cNvSpPr/>
          <p:nvPr/>
        </p:nvSpPr>
        <p:spPr>
          <a:xfrm>
            <a:off x="457200" y="1460000"/>
            <a:ext cx="2600000" cy="180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Zero infra · Zero API cost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Full 9-agent review via shared Claude Project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Summary-first output · expand on demand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Challenge round · genuine cross-agent debate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Shareable to entire Accenture team today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Internal architects, ad-hoc reviews</a:t>
            </a:r>
          </a:p>
        </p:txBody>
      </p:sp>
      <p:sp>
        <p:nvSpPr>
          <p:cNvPr id="7" name="C2Header"/>
          <p:cNvSpPr/>
          <p:nvPr/>
        </p:nvSpPr>
        <p:spPr>
          <a:xfrm>
            <a:off x="3272000" y="1120000"/>
            <a:ext cx="26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 — REST API</a:t>
            </a:r>
          </a:p>
        </p:txBody>
      </p:sp>
      <p:sp>
        <p:nvSpPr>
          <p:cNvPr id="8" name="C2Body"/>
          <p:cNvSpPr/>
          <p:nvPr/>
        </p:nvSpPr>
        <p:spPr>
          <a:xfrm>
            <a:off x="3272000" y="1460000"/>
            <a:ext cx="2600000" cy="18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POST /api/v1/review · Live today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API key auth via Supabase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JSON in → verdict + findings + cost out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Individual agent subsetting via agentIds[]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Caller brings their own Anthropic key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CI/CD, 3rd party tools, pipelines</a:t>
            </a:r>
          </a:p>
        </p:txBody>
      </p:sp>
      <p:sp>
        <p:nvSpPr>
          <p:cNvPr id="9" name="C3Header"/>
          <p:cNvSpPr/>
          <p:nvPr/>
        </p:nvSpPr>
        <p:spPr>
          <a:xfrm>
            <a:off x="6087000" y="1120000"/>
            <a:ext cx="26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 — NPM SDK (roadmap)</a:t>
            </a:r>
          </a:p>
        </p:txBody>
      </p:sp>
      <p:sp>
        <p:nvSpPr>
          <p:cNvPr id="10" name="C3Body"/>
          <p:cNvSpPr/>
          <p:nvPr/>
        </p:nvSpPr>
        <p:spPr>
          <a:xfrm>
            <a:off x="6087000" y="1460000"/>
            <a:ext cx="2600000" cy="18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/>
              </a:rPr>
              <a:t>@accenture/arboard-sdk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Import agents directly into any Node app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VS Code extension · Salesforce CLI plugin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Runs in caller's environment, caller's key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GitHub Actions ARB review on every PR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IDE plugins, CI pipelines, partners</a:t>
            </a:r>
          </a:p>
        </p:txBody>
      </p:sp>
      <p:sp>
        <p:nvSpPr>
          <p:cNvPr id="11" name="Callout"/>
          <p:cNvSpPr/>
          <p:nvPr/>
        </p:nvSpPr>
        <p:spPr>
          <a:xfrm>
            <a:off x="457200" y="3370000"/>
            <a:ext cx="8229600" cy="34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Channels 1 and 2 validated today. Zero new infrastructure. Zero additional cost.</a:t>
            </a:r>
          </a:p>
        </p:txBody>
      </p:sp>
      <p:sp>
        <p:nvSpPr>
          <p:cNvPr id="12" name="APIBox"/>
          <p:cNvSpPr/>
          <p:nvPr/>
        </p:nvSpPr>
        <p:spPr>
          <a:xfrm>
            <a:off x="457200" y="3810000"/>
            <a:ext cx="8229600" cy="38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49" charset="0"/>
              </a:rPr>
              <a:t>POST arboard.vercel.app/api/v1/review  |  x-api-key: {key}  |  { "document": "...", "agentIds": ["sf-apex","sf-judge"]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yond Salesforc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Beyond Salesforce — The Platform Play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/>
              </a:rPr>
              <a:t>The engine is domain-agnostic. Salesforce is the first domain pack.</a:t>
            </a:r>
          </a:p>
        </p:txBody>
      </p:sp>
      <p:sp>
        <p:nvSpPr>
          <p:cNvPr id="5" name="LH"/>
          <p:cNvSpPr/>
          <p:nvPr/>
        </p:nvSpPr>
        <p:spPr>
          <a:xfrm>
            <a:off x="457200" y="1120000"/>
            <a:ext cx="39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Engine — domain-agnostic today</a:t>
            </a:r>
          </a:p>
        </p:txBody>
      </p:sp>
      <p:sp>
        <p:nvSpPr>
          <p:cNvPr id="6" name="LB"/>
          <p:cNvSpPr/>
          <p:nvPr/>
        </p:nvSpPr>
        <p:spPr>
          <a:xfrm>
            <a:off x="457200" y="1460000"/>
            <a:ext cx="3900000" cy="19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Deliberation engine — sequential, episodic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Judge pattern — conflict synthesis, binding verdict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Memory — org learnings compound across sessions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Governance trail — ADR, audit, sign-off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REST API — callable from any tool, any stack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Multi-tenant — client_id and domain partitioning built in</a:t>
            </a:r>
          </a:p>
        </p:txBody>
      </p:sp>
      <p:sp>
        <p:nvSpPr>
          <p:cNvPr id="7" name="RH"/>
          <p:cNvSpPr/>
          <p:nvPr/>
        </p:nvSpPr>
        <p:spPr>
          <a:xfrm>
            <a:off x="4786800" y="1120000"/>
            <a:ext cx="39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Domain pack — authoring investment</a:t>
            </a:r>
          </a:p>
        </p:txBody>
      </p:sp>
      <p:sp>
        <p:nvSpPr>
          <p:cNvPr id="8" name="RB"/>
          <p:cNvSpPr/>
          <p:nvPr/>
        </p:nvSpPr>
        <p:spPr>
          <a:xfrm>
            <a:off x="4786800" y="1460000"/>
            <a:ext cx="3900000" cy="19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/>
              </a:rPr>
              <a:t>To expand to a new domain, author: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Specialist agent prompts for that domain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Domain + cross-cutting skills library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Delivery failure pattern library for that stack</a:t>
            </a:r>
          </a:p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Potential domain packs: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MuleSoft Integration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Azure / AWS Cloud Architecture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SAP / ERP Implementation ARB</a:t>
            </a:r>
          </a:p>
        </p:txBody>
      </p:sp>
      <p:sp>
        <p:nvSpPr>
          <p:cNvPr id="9" name="Callout"/>
          <p:cNvSpPr/>
          <p:nvPr/>
        </p:nvSpPr>
        <p:spPr>
          <a:xfrm>
            <a:off x="457200" y="3460000"/>
            <a:ext cx="8229600" cy="38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The engine is built. Expanding to a new domain is an authoring investment — not an engineering one.</a:t>
            </a:r>
          </a:p>
        </p:txBody>
      </p:sp>
      <p:sp>
        <p:nvSpPr>
          <p:cNvPr id="10" name="Q"/>
          <p:cNvSpPr/>
          <p:nvPr/>
        </p:nvSpPr>
        <p:spPr>
          <a:xfrm>
            <a:off x="457200" y="394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/>
              </a:rPr>
              <a:t>"Does this scale beyond Salesforce?" — Yes. The question is which domain pack we build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25 SI Failure Patterns (FP-004–FP-020, PERM-001–PERM-008)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 RAG live: pgvector + Voyage AI · Two-path grounding: skill files (RAG) + structured FP rows (Judge citation)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54864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137160"/>
            <a:ext cx="1714500" cy="342900"/>
          </a:xfrm>
          <a:prstGeom prst="roundRect">
            <a:avLst>
              <a:gd name="adj" fmla="val 24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6309360" y="13716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Target state achieved</a:t>
            </a:r>
            <a:endParaRPr lang="en-US" sz="825" dirty="0"/>
          </a:p>
        </p:txBody>
      </p:sp>
      <p:sp>
        <p:nvSpPr>
          <p:cNvPr id="6" name="Shape 4"/>
          <p:cNvSpPr/>
          <p:nvPr/>
        </p:nvSpPr>
        <p:spPr>
          <a:xfrm>
            <a:off x="171450" y="754380"/>
            <a:ext cx="3977640" cy="260604"/>
          </a:xfrm>
          <a:prstGeom prst="roundRect">
            <a:avLst>
              <a:gd name="adj" fmla="val 13158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171450" y="754380"/>
            <a:ext cx="3977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 —  from 4 mechanisms to 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05740" y="1097280"/>
            <a:ext cx="1783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25980" y="1097280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(today)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5740" y="1357884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205740" y="135788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205740" y="1543050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→ skill file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002536" y="1543050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205740" y="1851660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205740" y="1851660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</a:t>
            </a:r>
            <a:endParaRPr lang="en-US" sz="713" dirty="0"/>
          </a:p>
        </p:txBody>
      </p:sp>
      <p:sp>
        <p:nvSpPr>
          <p:cNvPr id="16" name="Text 14"/>
          <p:cNvSpPr/>
          <p:nvPr/>
        </p:nvSpPr>
        <p:spPr>
          <a:xfrm>
            <a:off x="205740" y="2036826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table query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002536" y="2036826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205740" y="2345436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205740" y="2345436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</a:t>
            </a:r>
            <a:endParaRPr lang="en-US" sz="713" dirty="0"/>
          </a:p>
        </p:txBody>
      </p:sp>
      <p:sp>
        <p:nvSpPr>
          <p:cNvPr id="20" name="Text 18"/>
          <p:cNvSpPr/>
          <p:nvPr/>
        </p:nvSpPr>
        <p:spPr>
          <a:xfrm>
            <a:off x="205740" y="253060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 query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002536" y="2530602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205740" y="2839212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205740" y="2839212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ADRs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205740" y="3024378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per session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002536" y="3024378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2125980" y="1357884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2125980" y="135788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FPs</a:t>
            </a:r>
            <a:endParaRPr lang="en-US" sz="713" dirty="0"/>
          </a:p>
        </p:txBody>
      </p:sp>
      <p:sp>
        <p:nvSpPr>
          <p:cNvPr id="28" name="Text 26"/>
          <p:cNvSpPr/>
          <p:nvPr/>
        </p:nvSpPr>
        <p:spPr>
          <a:xfrm>
            <a:off x="2125980" y="1543050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chunks, seeded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125980" y="1851660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2125980" y="1851660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</a:t>
            </a:r>
            <a:endParaRPr lang="en-US" sz="713" dirty="0"/>
          </a:p>
        </p:txBody>
      </p:sp>
      <p:sp>
        <p:nvSpPr>
          <p:cNvPr id="31" name="Text 29"/>
          <p:cNvSpPr/>
          <p:nvPr/>
        </p:nvSpPr>
        <p:spPr>
          <a:xfrm>
            <a:off x="2125980" y="2036826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+ auto-embed on insert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125980" y="2345436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1"/>
          <p:cNvSpPr/>
          <p:nvPr/>
        </p:nvSpPr>
        <p:spPr>
          <a:xfrm>
            <a:off x="2125980" y="234543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ADRs</a:t>
            </a:r>
            <a:endParaRPr lang="en-US" sz="713" dirty="0"/>
          </a:p>
        </p:txBody>
      </p:sp>
      <p:sp>
        <p:nvSpPr>
          <p:cNvPr id="34" name="Text 32"/>
          <p:cNvSpPr/>
          <p:nvPr/>
        </p:nvSpPr>
        <p:spPr>
          <a:xfrm>
            <a:off x="2125980" y="2530602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real ADR + auto-embed on create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125980" y="2839212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4"/>
          <p:cNvSpPr/>
          <p:nvPr/>
        </p:nvSpPr>
        <p:spPr>
          <a:xfrm>
            <a:off x="2125980" y="2839212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</a:t>
            </a:r>
            <a:endParaRPr lang="en-US" sz="713" dirty="0"/>
          </a:p>
        </p:txBody>
      </p:sp>
      <p:sp>
        <p:nvSpPr>
          <p:cNvPr id="37" name="Text 35"/>
          <p:cNvSpPr/>
          <p:nvPr/>
        </p:nvSpPr>
        <p:spPr>
          <a:xfrm>
            <a:off x="2125980" y="3024378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semantic retrieval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663440" y="754380"/>
            <a:ext cx="4251960" cy="260604"/>
          </a:xfrm>
          <a:prstGeom prst="roundRect">
            <a:avLst>
              <a:gd name="adj" fmla="val 13158"/>
            </a:avLst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7"/>
          <p:cNvSpPr/>
          <p:nvPr/>
        </p:nvSpPr>
        <p:spPr>
          <a:xfrm>
            <a:off x="4663440" y="754380"/>
            <a:ext cx="42519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 —  unified semantic retrieval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5417820" y="1131570"/>
            <a:ext cx="2743200" cy="288036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Text 39"/>
          <p:cNvSpPr/>
          <p:nvPr/>
        </p:nvSpPr>
        <p:spPr>
          <a:xfrm>
            <a:off x="5417820" y="1131570"/>
            <a:ext cx="2743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document / requirement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89420" y="1419606"/>
            <a:ext cx="0" cy="17830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Shape 41"/>
          <p:cNvSpPr/>
          <p:nvPr/>
        </p:nvSpPr>
        <p:spPr>
          <a:xfrm>
            <a:off x="5417820" y="1597914"/>
            <a:ext cx="2743200" cy="288036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4" name="Text 42"/>
          <p:cNvSpPr/>
          <p:nvPr/>
        </p:nvSpPr>
        <p:spPr>
          <a:xfrm>
            <a:off x="5417820" y="1597914"/>
            <a:ext cx="2743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ImpactAnalyser — selects agents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89420" y="1885950"/>
            <a:ext cx="0" cy="17830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Shape 44"/>
          <p:cNvSpPr/>
          <p:nvPr/>
        </p:nvSpPr>
        <p:spPr>
          <a:xfrm>
            <a:off x="5417820" y="2064258"/>
            <a:ext cx="2743200" cy="356616"/>
          </a:xfrm>
          <a:prstGeom prst="roundRect">
            <a:avLst>
              <a:gd name="adj" fmla="val 1153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7" name="Text 45"/>
          <p:cNvSpPr/>
          <p:nvPr/>
        </p:nvSpPr>
        <p:spPr>
          <a:xfrm>
            <a:off x="5417820" y="2064258"/>
            <a:ext cx="27432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RAG retriever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5417820" y="2242566"/>
            <a:ext cx="2743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embed → pgvector similarity search</a:t>
            </a:r>
            <a:endParaRPr lang="en-US" sz="638" dirty="0"/>
          </a:p>
        </p:txBody>
      </p:sp>
      <p:sp>
        <p:nvSpPr>
          <p:cNvPr id="49" name="Shape 47"/>
          <p:cNvSpPr/>
          <p:nvPr/>
        </p:nvSpPr>
        <p:spPr>
          <a:xfrm>
            <a:off x="6789420" y="2420874"/>
            <a:ext cx="0" cy="1508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Shape 48"/>
          <p:cNvSpPr/>
          <p:nvPr/>
        </p:nvSpPr>
        <p:spPr>
          <a:xfrm>
            <a:off x="4800600" y="257175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9525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1" name="Text 49"/>
          <p:cNvSpPr/>
          <p:nvPr/>
        </p:nvSpPr>
        <p:spPr>
          <a:xfrm>
            <a:off x="4800600" y="2585466"/>
            <a:ext cx="39776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grounding_embeddings  —  86 chunks, 3 source types</a:t>
            </a:r>
            <a:endParaRPr lang="en-US" sz="713" dirty="0"/>
          </a:p>
        </p:txBody>
      </p:sp>
      <p:sp>
        <p:nvSpPr>
          <p:cNvPr id="52" name="Shape 50"/>
          <p:cNvSpPr/>
          <p:nvPr/>
        </p:nvSpPr>
        <p:spPr>
          <a:xfrm>
            <a:off x="4834890" y="2798064"/>
            <a:ext cx="1261872" cy="384048"/>
          </a:xfrm>
          <a:prstGeom prst="roundRect">
            <a:avLst>
              <a:gd name="adj" fmla="val 8929"/>
            </a:avLst>
          </a:prstGeom>
          <a:solidFill>
            <a:srgbClr val="DDD6FE"/>
          </a:solidFill>
          <a:ln w="63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3" name="Text 51"/>
          <p:cNvSpPr/>
          <p:nvPr/>
        </p:nvSpPr>
        <p:spPr>
          <a:xfrm>
            <a:off x="4834890" y="2798064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FPs</a:t>
            </a:r>
            <a:endParaRPr lang="en-US" sz="638" dirty="0"/>
          </a:p>
        </p:txBody>
      </p:sp>
      <p:sp>
        <p:nvSpPr>
          <p:cNvPr id="54" name="Text 52"/>
          <p:cNvSpPr/>
          <p:nvPr/>
        </p:nvSpPr>
        <p:spPr>
          <a:xfrm>
            <a:off x="4834890" y="2928366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chunks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4834890" y="3044952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7C6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once</a:t>
            </a:r>
            <a:endParaRPr lang="en-US" sz="525" dirty="0"/>
          </a:p>
        </p:txBody>
      </p:sp>
      <p:sp>
        <p:nvSpPr>
          <p:cNvPr id="56" name="Shape 54"/>
          <p:cNvSpPr/>
          <p:nvPr/>
        </p:nvSpPr>
        <p:spPr>
          <a:xfrm>
            <a:off x="6151626" y="2798064"/>
            <a:ext cx="1261872" cy="384048"/>
          </a:xfrm>
          <a:prstGeom prst="roundRect">
            <a:avLst>
              <a:gd name="adj" fmla="val 8929"/>
            </a:avLst>
          </a:prstGeom>
          <a:solidFill>
            <a:srgbClr val="DDD6FE"/>
          </a:solidFill>
          <a:ln w="63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7" name="Text 55"/>
          <p:cNvSpPr/>
          <p:nvPr/>
        </p:nvSpPr>
        <p:spPr>
          <a:xfrm>
            <a:off x="6151626" y="2798064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</a:t>
            </a:r>
            <a:endParaRPr lang="en-US" sz="638" dirty="0"/>
          </a:p>
        </p:txBody>
      </p:sp>
      <p:sp>
        <p:nvSpPr>
          <p:cNvPr id="58" name="Text 56"/>
          <p:cNvSpPr/>
          <p:nvPr/>
        </p:nvSpPr>
        <p:spPr>
          <a:xfrm>
            <a:off x="6151626" y="2928366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today</a:t>
            </a:r>
            <a:endParaRPr lang="en-US" sz="563" dirty="0"/>
          </a:p>
        </p:txBody>
      </p:sp>
      <p:sp>
        <p:nvSpPr>
          <p:cNvPr id="59" name="Text 57"/>
          <p:cNvSpPr/>
          <p:nvPr/>
        </p:nvSpPr>
        <p:spPr>
          <a:xfrm>
            <a:off x="6151626" y="3044952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7C6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 on insert</a:t>
            </a:r>
            <a:endParaRPr lang="en-US" sz="525" dirty="0"/>
          </a:p>
        </p:txBody>
      </p:sp>
      <p:sp>
        <p:nvSpPr>
          <p:cNvPr id="60" name="Shape 58"/>
          <p:cNvSpPr/>
          <p:nvPr/>
        </p:nvSpPr>
        <p:spPr>
          <a:xfrm>
            <a:off x="7468362" y="2798064"/>
            <a:ext cx="1261872" cy="384048"/>
          </a:xfrm>
          <a:prstGeom prst="roundRect">
            <a:avLst>
              <a:gd name="adj" fmla="val 8929"/>
            </a:avLst>
          </a:prstGeom>
          <a:solidFill>
            <a:srgbClr val="DDD6FE"/>
          </a:solidFill>
          <a:ln w="63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Text 59"/>
          <p:cNvSpPr/>
          <p:nvPr/>
        </p:nvSpPr>
        <p:spPr>
          <a:xfrm>
            <a:off x="7468362" y="2798064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ADRs</a:t>
            </a:r>
            <a:endParaRPr lang="en-US" sz="638" dirty="0"/>
          </a:p>
        </p:txBody>
      </p:sp>
      <p:sp>
        <p:nvSpPr>
          <p:cNvPr id="62" name="Text 60"/>
          <p:cNvSpPr/>
          <p:nvPr/>
        </p:nvSpPr>
        <p:spPr>
          <a:xfrm>
            <a:off x="7468362" y="2928366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ADR today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7468362" y="3044952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7C6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 on create</a:t>
            </a:r>
            <a:endParaRPr lang="en-US" sz="525" dirty="0"/>
          </a:p>
        </p:txBody>
      </p:sp>
      <p:sp>
        <p:nvSpPr>
          <p:cNvPr id="64" name="Shape 62"/>
          <p:cNvSpPr/>
          <p:nvPr/>
        </p:nvSpPr>
        <p:spPr>
          <a:xfrm>
            <a:off x="6789420" y="3230118"/>
            <a:ext cx="0" cy="1508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5" name="Shape 63"/>
          <p:cNvSpPr/>
          <p:nvPr/>
        </p:nvSpPr>
        <p:spPr>
          <a:xfrm>
            <a:off x="5417820" y="3380994"/>
            <a:ext cx="2743200" cy="308610"/>
          </a:xfrm>
          <a:prstGeom prst="round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6" name="Text 64"/>
          <p:cNvSpPr/>
          <p:nvPr/>
        </p:nvSpPr>
        <p:spPr>
          <a:xfrm>
            <a:off x="5417820" y="3380994"/>
            <a:ext cx="2743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 prompt  ·  top-5 relevant chunks</a:t>
            </a:r>
            <a:endParaRPr lang="en-US" sz="713" dirty="0"/>
          </a:p>
        </p:txBody>
      </p:sp>
      <p:sp>
        <p:nvSpPr>
          <p:cNvPr id="67" name="Shape 65"/>
          <p:cNvSpPr/>
          <p:nvPr/>
        </p:nvSpPr>
        <p:spPr>
          <a:xfrm>
            <a:off x="6789420" y="3689604"/>
            <a:ext cx="0" cy="1371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8" name="Shape 66"/>
          <p:cNvSpPr/>
          <p:nvPr/>
        </p:nvSpPr>
        <p:spPr>
          <a:xfrm>
            <a:off x="5417820" y="3826764"/>
            <a:ext cx="2743200" cy="260604"/>
          </a:xfrm>
          <a:prstGeom prst="roundRect">
            <a:avLst>
              <a:gd name="adj" fmla="val 15789"/>
            </a:avLst>
          </a:prstGeom>
          <a:solidFill>
            <a:srgbClr val="E8EDF2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9" name="Text 67"/>
          <p:cNvSpPr/>
          <p:nvPr/>
        </p:nvSpPr>
        <p:spPr>
          <a:xfrm>
            <a:off x="5417820" y="3826764"/>
            <a:ext cx="2743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run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491990" y="720090"/>
            <a:ext cx="0" cy="41833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 sz="1350"/>
          </a:p>
        </p:txBody>
      </p:sp>
      <p:sp>
        <p:nvSpPr>
          <p:cNvPr id="71" name="Shape 69"/>
          <p:cNvSpPr/>
          <p:nvPr/>
        </p:nvSpPr>
        <p:spPr>
          <a:xfrm>
            <a:off x="171450" y="4169664"/>
            <a:ext cx="8778240" cy="246888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Text 70"/>
          <p:cNvSpPr/>
          <p:nvPr/>
        </p:nvSpPr>
        <p:spPr>
          <a:xfrm>
            <a:off x="240030" y="4169664"/>
            <a:ext cx="8641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8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grounding sources now flow through a single vector store — skills, failure patterns, org learnings, and ADRs retrieved semantically per document. Auto-embed on insert keeps the store current.</a:t>
            </a:r>
            <a:endParaRPr lang="en-US" sz="638" dirty="0"/>
          </a:p>
        </p:txBody>
      </p:sp>
      <p:sp>
        <p:nvSpPr>
          <p:cNvPr id="73" name="Text 71"/>
          <p:cNvSpPr/>
          <p:nvPr/>
        </p:nvSpPr>
        <p:spPr>
          <a:xfrm>
            <a:off x="171450" y="4512564"/>
            <a:ext cx="8778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stack · ARBoard 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nboarding a New Ag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Onboarding a new agent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</a:rPr>
              <a:t>The manifest system makes adding a specialist a 15-minute authoring task — no pipeline changes required.</a:t>
            </a:r>
          </a:p>
        </p:txBody>
      </p:sp>
      <p:sp>
        <p:nvSpPr>
          <p:cNvPr id="5" name="Card1"/>
          <p:cNvSpPr/>
          <p:nvPr/>
        </p:nvSpPr>
        <p:spPr>
          <a:xfrm>
            <a:off x="320040" y="1190880"/>
            <a:ext cx="2560320" cy="3200400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um1"/>
          <p:cNvSpPr/>
          <p:nvPr/>
        </p:nvSpPr>
        <p:spPr>
          <a:xfrm>
            <a:off x="320040" y="1190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7" name="Head1"/>
          <p:cNvSpPr/>
          <p:nvPr/>
        </p:nvSpPr>
        <p:spPr>
          <a:xfrm>
            <a:off x="411480" y="178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Author prompt file</a:t>
            </a:r>
          </a:p>
        </p:txBody>
      </p:sp>
      <p:sp>
        <p:nvSpPr>
          <p:cNvPr id="8" name="Body1"/>
          <p:cNvSpPr/>
          <p:nvPr/>
        </p:nvSpPr>
        <p:spPr>
          <a:xfrm>
            <a:off x="411480" y="210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Create src/prompts/agents/sf-newagent.md with Role, Expertise, Guardrails, Output Format sections</a:t>
            </a:r>
          </a:p>
        </p:txBody>
      </p:sp>
      <p:sp>
        <p:nvSpPr>
          <p:cNvPr id="9" name="Card2"/>
          <p:cNvSpPr/>
          <p:nvPr/>
        </p:nvSpPr>
        <p:spPr>
          <a:xfrm>
            <a:off x="3111720" y="1190880"/>
            <a:ext cx="2560320" cy="3200400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um2"/>
          <p:cNvSpPr/>
          <p:nvPr/>
        </p:nvSpPr>
        <p:spPr>
          <a:xfrm>
            <a:off x="3111720" y="1190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1" name="Head2"/>
          <p:cNvSpPr/>
          <p:nvPr/>
        </p:nvSpPr>
        <p:spPr>
          <a:xfrm>
            <a:off x="3203160" y="178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Register in manifest</a:t>
            </a:r>
          </a:p>
        </p:txBody>
      </p:sp>
      <p:sp>
        <p:nvSpPr>
          <p:cNvPr id="12" name="Body2"/>
          <p:cNvSpPr/>
          <p:nvPr/>
        </p:nvSpPr>
        <p:spPr>
          <a:xfrm>
            <a:off x="3203160" y="210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Add one entry to agentManifest.json — id, name, keywords, enabled. ImpactAnalyser and agent array update automatically. Run npm run seed:agent -- sf-newagent to embed skill file + failure patterns.</a:t>
            </a:r>
          </a:p>
        </p:txBody>
      </p:sp>
      <p:sp>
        <p:nvSpPr>
          <p:cNvPr id="13" name="Card3"/>
          <p:cNvSpPr/>
          <p:nvPr/>
        </p:nvSpPr>
        <p:spPr>
          <a:xfrm>
            <a:off x="5903400" y="1190880"/>
            <a:ext cx="2560320" cy="3200400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3"/>
          <p:cNvSpPr/>
          <p:nvPr/>
        </p:nvSpPr>
        <p:spPr>
          <a:xfrm>
            <a:off x="5903400" y="1190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5" name="Head3"/>
          <p:cNvSpPr/>
          <p:nvPr/>
        </p:nvSpPr>
        <p:spPr>
          <a:xfrm>
            <a:off x="5994840" y="178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Deploy — done</a:t>
            </a:r>
          </a:p>
        </p:txBody>
      </p:sp>
      <p:sp>
        <p:nvSpPr>
          <p:cNvPr id="16" name="Body3"/>
          <p:cNvSpPr/>
          <p:nvPr/>
        </p:nvSpPr>
        <p:spPr>
          <a:xfrm>
            <a:off x="5994840" y="210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No pipeline changes. No orchestrator edits. ForumOrchestrator picks up the new agent automatically on next run.</a:t>
            </a:r>
          </a:p>
        </p:txBody>
      </p:sp>
      <p:sp>
        <p:nvSpPr>
          <p:cNvPr id="17" name="Callout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11940"/>
            </a:avLst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sf-profiles-permissions added this way — 3 files + 1 manifest entry + seed:agent. Zero pipeline changes.</a:t>
            </a:r>
          </a:p>
        </p:txBody>
      </p:sp>
      <p:sp>
        <p:nvSpPr>
          <p:cNvPr id="18" name="Footer"/>
          <p:cNvSpPr/>
          <p:nvPr/>
        </p:nvSpPr>
        <p:spPr>
          <a:xfrm>
            <a:off x="457200" y="493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</a:rPr>
              <a:t>The engine is built. Expanding to a new domain or specialist is an authoring investment — not an engineering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enabled · 81 chunks embedded (voyage-code-3) · retrieval wiring next sprint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tic Maturity Roadmap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Autonomous Agentic Maturity — ARBoard Roadmap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</a:rPr>
              <a:t>Five levels from reactive pipeline to fully autonomous self-governing system. Honest positioning of where ARBoard sits today.</a:t>
            </a:r>
          </a:p>
        </p:txBody>
      </p:sp>
      <p:sp>
        <p:nvSpPr>
          <p:cNvPr id="10" name="L1Bar"/>
          <p:cNvSpPr/>
          <p:nvPr/>
        </p:nvSpPr>
        <p:spPr>
          <a:xfrm>
            <a:off x="457200" y="1140000"/>
            <a:ext cx="8229600" cy="560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L1Num"/>
          <p:cNvSpPr/>
          <p:nvPr/>
        </p:nvSpPr>
        <p:spPr>
          <a:xfrm>
            <a:off x="520000" y="1140000"/>
            <a:ext cx="4800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2" name="L1Label"/>
          <p:cNvSpPr/>
          <p:nvPr/>
        </p:nvSpPr>
        <p:spPr>
          <a:xfrm>
            <a:off x="1080000" y="1155000"/>
            <a:ext cx="2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Level 1 — Reactive</a:t>
            </a:r>
          </a:p>
        </p:txBody>
      </p:sp>
      <p:sp>
        <p:nvSpPr>
          <p:cNvPr id="13" name="L1Desc"/>
          <p:cNvSpPr/>
          <p:nvPr/>
        </p:nvSpPr>
        <p:spPr>
          <a:xfrm>
            <a:off x="1080000" y="1420000"/>
            <a:ext cx="60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Human uploads document → pipeline runs → human reads output</a:t>
            </a:r>
          </a:p>
        </p:txBody>
      </p:sp>
      <p:sp>
        <p:nvSpPr>
          <p:cNvPr id="20" name="L2Bar"/>
          <p:cNvSpPr/>
          <p:nvPr/>
        </p:nvSpPr>
        <p:spPr>
          <a:xfrm>
            <a:off x="457200" y="1760000"/>
            <a:ext cx="8229600" cy="5600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L2Num"/>
          <p:cNvSpPr/>
          <p:nvPr/>
        </p:nvSpPr>
        <p:spPr>
          <a:xfrm>
            <a:off x="520000" y="1760000"/>
            <a:ext cx="4800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2" name="L2Label"/>
          <p:cNvSpPr/>
          <p:nvPr/>
        </p:nvSpPr>
        <p:spPr>
          <a:xfrm>
            <a:off x="1080000" y="1775000"/>
            <a:ext cx="22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Level 2 — Triggered</a:t>
            </a:r>
          </a:p>
        </p:txBody>
      </p:sp>
      <p:sp>
        <p:nvSpPr>
          <p:cNvPr id="23" name="L2Desc"/>
          <p:cNvSpPr/>
          <p:nvPr/>
        </p:nvSpPr>
        <p:spPr>
          <a:xfrm>
            <a:off x="1080000" y="2040000"/>
            <a:ext cx="54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</a:rPr>
              <a:t>Human fetches from Jira + uploads SDD → full review pipeline runs unattended</a:t>
            </a:r>
          </a:p>
        </p:txBody>
      </p:sp>
      <p:sp>
        <p:nvSpPr>
          <p:cNvPr id="24" name="YouAreHere"/>
          <p:cNvSpPr/>
          <p:nvPr/>
        </p:nvSpPr>
        <p:spPr>
          <a:xfrm>
            <a:off x="7000000" y="1790000"/>
            <a:ext cx="1550000" cy="320000"/>
          </a:xfrm>
          <a:prstGeom prst="roundRect">
            <a:avLst>
              <a:gd name="adj" fmla="val 30000"/>
            </a:avLst>
          </a:prstGeom>
          <a:solidFill>
            <a:srgbClr val="14B8A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</a:rPr>
              <a:t>◀ YOU ARE HERE</a:t>
            </a:r>
          </a:p>
        </p:txBody>
      </p:sp>
      <p:sp>
        <p:nvSpPr>
          <p:cNvPr id="30" name="L3Bar"/>
          <p:cNvSpPr/>
          <p:nvPr/>
        </p:nvSpPr>
        <p:spPr>
          <a:xfrm>
            <a:off x="457200" y="2380000"/>
            <a:ext cx="8229600" cy="5600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L3Num"/>
          <p:cNvSpPr/>
          <p:nvPr/>
        </p:nvSpPr>
        <p:spPr>
          <a:xfrm>
            <a:off x="520000" y="2380000"/>
            <a:ext cx="4800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2" name="L3Label"/>
          <p:cNvSpPr/>
          <p:nvPr/>
        </p:nvSpPr>
        <p:spPr>
          <a:xfrm>
            <a:off x="1080000" y="2395000"/>
            <a:ext cx="28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</a:rPr>
              <a:t>Level 3 — Semi-Autonomous</a:t>
            </a:r>
          </a:p>
        </p:txBody>
      </p:sp>
      <p:sp>
        <p:nvSpPr>
          <p:cNvPr id="33" name="L3Desc"/>
          <p:cNvSpPr/>
          <p:nvPr/>
        </p:nvSpPr>
        <p:spPr>
          <a:xfrm>
            <a:off x="1080000" y="2660000"/>
            <a:ext cx="65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Scheduled monitor → detects new Jira tickets → runs pipeline unattended → posts findings</a:t>
            </a:r>
          </a:p>
        </p:txBody>
      </p:sp>
      <p:sp>
        <p:nvSpPr>
          <p:cNvPr id="40" name="L4Bar"/>
          <p:cNvSpPr/>
          <p:nvPr/>
        </p:nvSpPr>
        <p:spPr>
          <a:xfrm>
            <a:off x="457200" y="3000000"/>
            <a:ext cx="8229600" cy="5600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L4Num"/>
          <p:cNvSpPr/>
          <p:nvPr/>
        </p:nvSpPr>
        <p:spPr>
          <a:xfrm>
            <a:off x="520000" y="3000000"/>
            <a:ext cx="4800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2" name="L4Label"/>
          <p:cNvSpPr/>
          <p:nvPr/>
        </p:nvSpPr>
        <p:spPr>
          <a:xfrm>
            <a:off x="1080000" y="3015000"/>
            <a:ext cx="25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</a:rPr>
              <a:t>Level 4 — Goal-Directed</a:t>
            </a:r>
          </a:p>
        </p:txBody>
      </p:sp>
      <p:sp>
        <p:nvSpPr>
          <p:cNvPr id="43" name="L4Desc"/>
          <p:cNvSpPr/>
          <p:nvPr/>
        </p:nvSpPr>
        <p:spPr>
          <a:xfrm>
            <a:off x="1080000" y="3280000"/>
            <a:ext cx="68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LLM orchestrator → dynamic agent selection → agents signal next steps → self-routing review</a:t>
            </a:r>
          </a:p>
        </p:txBody>
      </p:sp>
      <p:sp>
        <p:nvSpPr>
          <p:cNvPr id="50" name="L5Bar"/>
          <p:cNvSpPr/>
          <p:nvPr/>
        </p:nvSpPr>
        <p:spPr>
          <a:xfrm>
            <a:off x="457200" y="3620000"/>
            <a:ext cx="8229600" cy="6000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L5Num"/>
          <p:cNvSpPr/>
          <p:nvPr/>
        </p:nvSpPr>
        <p:spPr>
          <a:xfrm>
            <a:off x="520000" y="3620000"/>
            <a:ext cx="48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2" name="L5Label"/>
          <p:cNvSpPr/>
          <p:nvPr/>
        </p:nvSpPr>
        <p:spPr>
          <a:xfrm>
            <a:off x="1080000" y="3635000"/>
            <a:ext cx="2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</a:rPr>
              <a:t>Level 5 — Fully Autonomous</a:t>
            </a:r>
          </a:p>
        </p:txBody>
      </p:sp>
      <p:sp>
        <p:nvSpPr>
          <p:cNvPr id="53" name="L5Desc"/>
          <p:cNvSpPr/>
          <p:nvPr/>
        </p:nvSpPr>
        <p:spPr>
          <a:xfrm>
            <a:off x="1080000" y="3910000"/>
            <a:ext cx="70000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Multi-system monitoring → self-initiating → self-recovering → cost-governed → explainable audit trail</a:t>
            </a:r>
          </a:p>
        </p:txBody>
      </p:sp>
      <p:sp>
        <p:nvSpPr>
          <p:cNvPr id="60" name="Footer"/>
          <p:cNvSpPr/>
          <p:nvPr/>
        </p:nvSpPr>
        <p:spPr>
          <a:xfrm>
            <a:off x="457200" y="4380000"/>
            <a:ext cx="82296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</a:rPr>
              <a:t>Level 3 target: Jira webhook trigger · Level 4 target: agent-driven invocation (dynamic queue) · Level 5: multi-tenant + cost-governed autonomy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(9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512978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" y="5065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observability schema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5422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535838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SessionTracer — full agent lifecycle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57150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" y="56509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trace integrity hash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layer tracing (Q1/Q2)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 retrieval wiring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enabled in Supabase · 81 grounding chunks embedded via voyage-code-3 · similarity search index live. Next: wire Top-K retrieval into ForumOrchestrator to replace full-inject — improves relevance, reduces cost per session.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&amp; tracing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ARBoard session is fully traced — what was injected, which agents ran, what they found, and a tamper-evident integrity hash.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  ·  verdict · cost · tokens · hash  ·  resubmission chain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agent  ·  status · tokens · must-fix count  ·  sequence · round · dissent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08776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session_trace_injections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8776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grounding layer  ·  type · file · keywords matched  ·  token 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queries — designed first, schema built to answer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layers + token cost per agent 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least triggered cross-cutting skills this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319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 and error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3192" y="4197096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41970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" y="4151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across document resubmissions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deviating most from expected token budget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803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8523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producing the most Must-Fix findings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specialists dissented from Judge verdict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· Write-before-run (crash-safe) · SHA-256 integrity · Mock excluded from analytics · client_id + round on every row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2946</Words>
  <Application>Microsoft Office PowerPoint</Application>
  <PresentationFormat>On-screen Show (16:9)</PresentationFormat>
  <Paragraphs>430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Ganapatineedi, Rama</cp:lastModifiedBy>
  <cp:revision>5</cp:revision>
  <dcterms:created xsi:type="dcterms:W3CDTF">2026-07-06T05:46:55Z</dcterms:created>
  <dcterms:modified xsi:type="dcterms:W3CDTF">2026-07-13T11:43:52Z</dcterms:modified>
</cp:coreProperties>
</file>