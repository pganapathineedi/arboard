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9" r:id="rId4"/>
    <p:sldId id="258" r:id="rId5"/>
    <p:sldId id="259" r:id="rId6"/>
    <p:sldId id="270" r:id="rId7"/>
    <p:sldId id="271" r:id="rId8"/>
    <p:sldId id="260" r:id="rId9"/>
    <p:sldId id="273" r:id="rId10"/>
    <p:sldId id="272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6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408" y="-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6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saying: This is ARBoard — a multi-agent AI system that runs a full Architecture Review Board in under 2 minutes. Let me show you what that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quo for enterprise Salesforce ARBs is expensive, slow, and inconsistent. ARBoard addresses all four of these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value proposition. $0.22 vs $27,500 — that's the number that lands with finance and leadership. The quality story is about the deliberative engine, not just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 is sequential deliberation — each agent builds on prior agent findings. This is not parallel execution; it is structured debate. The dissent panel shows where agents disagree with the final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grounding stack is the real IP. Competitors can replicate the UI. They cannot replicate the accumulated org learnings, failure patterns, and institutional memory injected into every agent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ARBoard is production-ready, not just a prototype. Security and operational hardening have been completed before any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maturity assessment against canonical agentic architecture patterns. The green items are the foundation. Red items are the next sprint — timeout and retry are the most operationally critical before client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Done column shows how rapidly ARBoard has evolved. Next sprint items are prioritised by operational risk — timeout and retry first, then quality improvements like Round 2 Rebuttal and HITL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$27,500 number to anchor. Then show $0.22. The 99.2% cost reduction is the headline. But also emphasise: this isn't a cost play — it's a quality and consistency play. The cost is just the proof it's worth trying.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clean Next.js monolith on Vercel. No heavyweight orchestration framework — the deliberative pattern is implemented directly in TypeScript, which makes it auditable, debuggable, and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conversation to have with leadership: which client engagement do we run this on first? The platform is ready. We need a domain package and a client context to make it 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The question isn't whether AI belongs in architecture review. The question is whether we build the institutional memory and governance layer to make it trustworthy. ARBoard does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went through 4 rounds of design challenge before a line of code was written. 7 queries defined first — schema designed to answer them. Write-before-run means traces survive orchestrator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Architecture Review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 ·  9 Grounding Layers  ·  Governed ADR Trail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332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32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019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019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706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06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93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393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0799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7667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7667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535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4535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1403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1403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82712" y="422452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82712" y="42245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·  Lead Architecture Practice  · 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ARBs require 4–8 architects, weeks of scheduling, and hours of prep per engagement.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6868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51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033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10328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quality varies by who attends. Different architects flag different risks.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past engagements aren't systematically captured or reused.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~$27,500 per review at blended $150/hr rates. Unscalable for frequent Salesforce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ARBoar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Why ARBoard — not just Claude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30000"/>
            <a:ext cx="82296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Base Claude gives you ~30-40% of ARBoard. Here is what the other 60-70% looks like.</a:t>
            </a:r>
          </a:p>
        </p:txBody>
      </p:sp>
      <p:sp>
        <p:nvSpPr>
          <p:cNvPr id="5" name="ColHdr1"/>
          <p:cNvSpPr/>
          <p:nvPr/>
        </p:nvSpPr>
        <p:spPr>
          <a:xfrm>
            <a:off x="457200" y="1120000"/>
            <a:ext cx="2743200" cy="33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Capability</a:t>
            </a:r>
          </a:p>
        </p:txBody>
      </p:sp>
      <p:sp>
        <p:nvSpPr>
          <p:cNvPr id="6" name="ColHdr2"/>
          <p:cNvSpPr/>
          <p:nvPr/>
        </p:nvSpPr>
        <p:spPr>
          <a:xfrm>
            <a:off x="3200400" y="1120000"/>
            <a:ext cx="2743200" cy="33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Base Claude</a:t>
            </a:r>
          </a:p>
        </p:txBody>
      </p:sp>
      <p:sp>
        <p:nvSpPr>
          <p:cNvPr id="7" name="ColHdr3"/>
          <p:cNvSpPr/>
          <p:nvPr/>
        </p:nvSpPr>
        <p:spPr>
          <a:xfrm>
            <a:off x="5943600" y="1120000"/>
            <a:ext cx="2743200" cy="33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ARBoard</a:t>
            </a:r>
          </a:p>
        </p:txBody>
      </p:sp>
      <p:sp>
        <p:nvSpPr>
          <p:cNvPr id="10" name="R1C1"/>
          <p:cNvSpPr/>
          <p:nvPr/>
        </p:nvSpPr>
        <p:spPr>
          <a:xfrm>
            <a:off x="457200" y="145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Specialist lenses</a:t>
            </a:r>
          </a:p>
        </p:txBody>
      </p:sp>
      <p:sp>
        <p:nvSpPr>
          <p:cNvPr id="11" name="R1C2"/>
          <p:cNvSpPr/>
          <p:nvPr/>
        </p:nvSpPr>
        <p:spPr>
          <a:xfrm>
            <a:off x="3200400" y="145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1 generalist opinion</a:t>
            </a:r>
          </a:p>
        </p:txBody>
      </p:sp>
      <p:sp>
        <p:nvSpPr>
          <p:cNvPr id="12" name="R1C3"/>
          <p:cNvSpPr/>
          <p:nvPr/>
        </p:nvSpPr>
        <p:spPr>
          <a:xfrm>
            <a:off x="5943600" y="145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9 specialist agents challenge each other</a:t>
            </a:r>
          </a:p>
        </p:txBody>
      </p:sp>
      <p:sp>
        <p:nvSpPr>
          <p:cNvPr id="13" name="R2C1"/>
          <p:cNvSpPr/>
          <p:nvPr/>
        </p:nvSpPr>
        <p:spPr>
          <a:xfrm>
            <a:off x="457200" y="184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Adversarial posture</a:t>
            </a:r>
          </a:p>
        </p:txBody>
      </p:sp>
      <p:sp>
        <p:nvSpPr>
          <p:cNvPr id="14" name="R2C2"/>
          <p:cNvSpPr/>
          <p:nvPr/>
        </p:nvSpPr>
        <p:spPr>
          <a:xfrm>
            <a:off x="3200400" y="184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Helpful and agreeable</a:t>
            </a:r>
          </a:p>
        </p:txBody>
      </p:sp>
      <p:sp>
        <p:nvSpPr>
          <p:cNvPr id="15" name="R2C3"/>
          <p:cNvSpPr/>
          <p:nvPr/>
        </p:nvSpPr>
        <p:spPr>
          <a:xfrm>
            <a:off x="5943600" y="184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Agents challenge before they assess — by design</a:t>
            </a:r>
          </a:p>
        </p:txBody>
      </p:sp>
      <p:sp>
        <p:nvSpPr>
          <p:cNvPr id="16" name="R3C1"/>
          <p:cNvSpPr/>
          <p:nvPr/>
        </p:nvSpPr>
        <p:spPr>
          <a:xfrm>
            <a:off x="457200" y="223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SI failure patterns</a:t>
            </a:r>
          </a:p>
        </p:txBody>
      </p:sp>
      <p:sp>
        <p:nvSpPr>
          <p:cNvPr id="17" name="R3C2"/>
          <p:cNvSpPr/>
          <p:nvPr/>
        </p:nvSpPr>
        <p:spPr>
          <a:xfrm>
            <a:off x="3200400" y="223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Salesforce best practice only</a:t>
            </a:r>
          </a:p>
        </p:txBody>
      </p:sp>
      <p:sp>
        <p:nvSpPr>
          <p:cNvPr id="18" name="R3C3"/>
          <p:cNvSpPr/>
          <p:nvPr/>
        </p:nvSpPr>
        <p:spPr>
          <a:xfrm>
            <a:off x="5943600" y="223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FP-004 to FP-012 — Accenture delivery failure library</a:t>
            </a:r>
          </a:p>
        </p:txBody>
      </p:sp>
      <p:sp>
        <p:nvSpPr>
          <p:cNvPr id="19" name="R4C1"/>
          <p:cNvSpPr/>
          <p:nvPr/>
        </p:nvSpPr>
        <p:spPr>
          <a:xfrm>
            <a:off x="457200" y="262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Org memory</a:t>
            </a:r>
          </a:p>
        </p:txBody>
      </p:sp>
      <p:sp>
        <p:nvSpPr>
          <p:cNvPr id="20" name="R4C2"/>
          <p:cNvSpPr/>
          <p:nvPr/>
        </p:nvSpPr>
        <p:spPr>
          <a:xfrm>
            <a:off x="3200400" y="262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Forgets everything between sessions</a:t>
            </a:r>
          </a:p>
        </p:txBody>
      </p:sp>
      <p:sp>
        <p:nvSpPr>
          <p:cNvPr id="21" name="R4C3"/>
          <p:cNvSpPr/>
          <p:nvPr/>
        </p:nvSpPr>
        <p:spPr>
          <a:xfrm>
            <a:off x="5943600" y="262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Org learnings compound across every session in Supabase</a:t>
            </a:r>
          </a:p>
        </p:txBody>
      </p:sp>
      <p:sp>
        <p:nvSpPr>
          <p:cNvPr id="22" name="R5C1"/>
          <p:cNvSpPr/>
          <p:nvPr/>
        </p:nvSpPr>
        <p:spPr>
          <a:xfrm>
            <a:off x="457200" y="3010000"/>
            <a:ext cx="2743200" cy="38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Governance trail</a:t>
            </a:r>
          </a:p>
        </p:txBody>
      </p:sp>
      <p:sp>
        <p:nvSpPr>
          <p:cNvPr id="23" name="R5C2"/>
          <p:cNvSpPr/>
          <p:nvPr/>
        </p:nvSpPr>
        <p:spPr>
          <a:xfrm>
            <a:off x="3200400" y="3010000"/>
            <a:ext cx="2743200" cy="38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Text output only — no audit trail</a:t>
            </a:r>
          </a:p>
        </p:txBody>
      </p:sp>
      <p:sp>
        <p:nvSpPr>
          <p:cNvPr id="24" name="R5C3"/>
          <p:cNvSpPr/>
          <p:nvPr/>
        </p:nvSpPr>
        <p:spPr>
          <a:xfrm>
            <a:off x="5943600" y="301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Structured ADR — Supabase + Jira, auditable and signed off</a:t>
            </a:r>
          </a:p>
        </p:txBody>
      </p:sp>
      <p:sp>
        <p:nvSpPr>
          <p:cNvPr id="25" name="R6C1"/>
          <p:cNvSpPr/>
          <p:nvPr/>
        </p:nvSpPr>
        <p:spPr>
          <a:xfrm>
            <a:off x="457200" y="3400000"/>
            <a:ext cx="2743200" cy="3800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</a:rPr>
              <a:t>Delivery standards</a:t>
            </a:r>
          </a:p>
        </p:txBody>
      </p:sp>
      <p:sp>
        <p:nvSpPr>
          <p:cNvPr id="26" name="R6C2"/>
          <p:cNvSpPr/>
          <p:nvPr/>
        </p:nvSpPr>
        <p:spPr>
          <a:xfrm>
            <a:off x="3200400" y="3400000"/>
            <a:ext cx="2743200" cy="3800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Generic — not tuned to your practice</a:t>
            </a:r>
          </a:p>
        </p:txBody>
      </p:sp>
      <p:sp>
        <p:nvSpPr>
          <p:cNvPr id="27" name="R6C3"/>
          <p:cNvSpPr/>
          <p:nvPr/>
        </p:nvSpPr>
        <p:spPr>
          <a:xfrm>
            <a:off x="5943600" y="3400000"/>
            <a:ext cx="2743200" cy="38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</a:rPr>
              <a:t>Guardrails tuned to Accenture delivery standards</a:t>
            </a:r>
          </a:p>
        </p:txBody>
      </p:sp>
      <p:sp>
        <p:nvSpPr>
          <p:cNvPr id="28" name="Callout"/>
          <p:cNvSpPr/>
          <p:nvPr/>
        </p:nvSpPr>
        <p:spPr>
          <a:xfrm>
            <a:off x="457200" y="3870000"/>
            <a:ext cx="8229600" cy="32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The prompt engineering is the product. The adversarial posture, the failure patterns, the org memory — none of that comes free with Claude.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Solution Design Document.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debate, critique, and synthesise a binding Architecture Decision Record in under 2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diagrams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38528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12848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12848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2848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848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risks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68496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68496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68496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10-Agent Debate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68496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9824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24144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24144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24144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Verdict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24144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decision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2624328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79792" y="1874520"/>
            <a:ext cx="1463040" cy="1508760"/>
          </a:xfrm>
          <a:prstGeom prst="roundRect">
            <a:avLst>
              <a:gd name="adj" fmla="val 6250"/>
            </a:avLst>
          </a:prstGeom>
          <a:solidFill>
            <a:srgbClr val="1A335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79792" y="1965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79792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+ Jira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9792" y="267919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~$0.35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33472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33472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633472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9744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9744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809744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equivalent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86016" y="36118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86016" y="3675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986016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deliberative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just run in parallel — each specialist builds on prior findings. The Judge synthesises all perspectives into a binding verdict.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1673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673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4086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4086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13248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37376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37376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61504" y="1325880"/>
            <a:ext cx="987552" cy="411480"/>
          </a:xfrm>
          <a:prstGeom prst="roundRect">
            <a:avLst>
              <a:gd name="adj" fmla="val 1555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61504" y="132588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0" y="178308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" y="2103120"/>
            <a:ext cx="790041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93024" y="2103120"/>
            <a:ext cx="0" cy="3200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24231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496312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090672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 —  Binding ARB Verdict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0" y="3063240"/>
            <a:ext cx="0" cy="25603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3716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3716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— ADR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0" y="3319272"/>
            <a:ext cx="320040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— Org Memory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run in parallel after verdict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51960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68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68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call flags where specialists diverged from the Judge verdict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4251960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40680" y="4114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ADR Trail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5440680" y="4480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Supabase + Jira with verdict, must-fix items, confidence score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eadless Distribu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Headless ARBoard — Brain, Not UI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3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</a:rPr>
              <a:t>The agent brain is decoupled from the UI — consumable via three distribution channels today</a:t>
            </a:r>
          </a:p>
        </p:txBody>
      </p:sp>
      <p:sp>
        <p:nvSpPr>
          <p:cNvPr id="5" name="C1Header"/>
          <p:cNvSpPr/>
          <p:nvPr/>
        </p:nvSpPr>
        <p:spPr>
          <a:xfrm>
            <a:off x="457200" y="1120000"/>
            <a:ext cx="2600000" cy="34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1 — Claude Projects</a:t>
            </a:r>
          </a:p>
        </p:txBody>
      </p:sp>
      <p:sp>
        <p:nvSpPr>
          <p:cNvPr id="6" name="C1Body"/>
          <p:cNvSpPr/>
          <p:nvPr/>
        </p:nvSpPr>
        <p:spPr>
          <a:xfrm>
            <a:off x="457200" y="1460000"/>
            <a:ext cx="2600000" cy="1800000"/>
          </a:xfrm>
          <a:prstGeom prst="rect">
            <a:avLst/>
          </a:prstGeom>
          <a:solidFill>
            <a:srgbClr val="EFF6FF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Zero infra · Zero API cost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Full 9-agent review via shared Claude Project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Summary-first output · expand on demand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Challenge round · genuine cross-agent debate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Shareable to entire Accenture team today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Internal architects, ad-hoc reviews</a:t>
            </a:r>
          </a:p>
        </p:txBody>
      </p:sp>
      <p:sp>
        <p:nvSpPr>
          <p:cNvPr id="7" name="C2Header"/>
          <p:cNvSpPr/>
          <p:nvPr/>
        </p:nvSpPr>
        <p:spPr>
          <a:xfrm>
            <a:off x="3272000" y="1120000"/>
            <a:ext cx="2600000" cy="34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2 — REST API</a:t>
            </a:r>
          </a:p>
        </p:txBody>
      </p:sp>
      <p:sp>
        <p:nvSpPr>
          <p:cNvPr id="8" name="C2Body"/>
          <p:cNvSpPr/>
          <p:nvPr/>
        </p:nvSpPr>
        <p:spPr>
          <a:xfrm>
            <a:off x="3272000" y="1460000"/>
            <a:ext cx="2600000" cy="180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POST /api/v1/review · Live today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API key auth via Supabase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JSON in → verdict + findings + cost out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Individual agent subsetting via agentIds[]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Caller brings their own Anthropic key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CI/CD, 3rd party tools, pipelines</a:t>
            </a:r>
          </a:p>
        </p:txBody>
      </p:sp>
      <p:sp>
        <p:nvSpPr>
          <p:cNvPr id="9" name="C3Header"/>
          <p:cNvSpPr/>
          <p:nvPr/>
        </p:nvSpPr>
        <p:spPr>
          <a:xfrm>
            <a:off x="6087000" y="1120000"/>
            <a:ext cx="2600000" cy="34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3 — NPM SDK (roadmap)</a:t>
            </a:r>
          </a:p>
        </p:txBody>
      </p:sp>
      <p:sp>
        <p:nvSpPr>
          <p:cNvPr id="10" name="C3Body"/>
          <p:cNvSpPr/>
          <p:nvPr/>
        </p:nvSpPr>
        <p:spPr>
          <a:xfrm>
            <a:off x="6087000" y="1460000"/>
            <a:ext cx="2600000" cy="180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/>
              </a:rPr>
              <a:t>@accenture/arboard-sdk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Import agents directly into any Node app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VS Code extension · Salesforce CLI plugin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Runs in caller's environment, caller's key</a:t>
            </a:r>
          </a:p>
          <a:p>
            <a:pPr marL="9144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/>
              </a:rPr>
              <a:t>GitHub Actions ARB review on every PR</a:t>
            </a:r>
          </a:p>
          <a:p>
            <a:pPr marL="9144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/>
              </a:rPr>
              <a:t>Best for: IDE plugins, CI pipelines, partners</a:t>
            </a:r>
          </a:p>
        </p:txBody>
      </p:sp>
      <p:sp>
        <p:nvSpPr>
          <p:cNvPr id="11" name="Callout"/>
          <p:cNvSpPr/>
          <p:nvPr/>
        </p:nvSpPr>
        <p:spPr>
          <a:xfrm>
            <a:off x="457200" y="3370000"/>
            <a:ext cx="8229600" cy="34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Channels 1 and 2 validated today. Zero new infrastructure. Zero additional cost.</a:t>
            </a:r>
          </a:p>
        </p:txBody>
      </p:sp>
      <p:sp>
        <p:nvSpPr>
          <p:cNvPr id="12" name="APIBox"/>
          <p:cNvSpPr/>
          <p:nvPr/>
        </p:nvSpPr>
        <p:spPr>
          <a:xfrm>
            <a:off x="457200" y="3810000"/>
            <a:ext cx="8229600" cy="380000"/>
          </a:xfrm>
          <a:prstGeom prst="rect">
            <a:avLst/>
          </a:prstGeom>
          <a:solidFill>
            <a:srgbClr val="0F1F3D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49" charset="0"/>
              </a:rPr>
              <a:t>POST arboard.vercel.app/api/v1/review  |  x-api-key: {key}  |  { "document": "...", "agentIds": ["sf-apex","sf-judge"]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eyond Salesforc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Beyond Salesforce — The Platform Play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73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/>
              </a:rPr>
              <a:t>The engine is domain-agnostic. Salesforce is the first domain pack.</a:t>
            </a:r>
          </a:p>
        </p:txBody>
      </p:sp>
      <p:sp>
        <p:nvSpPr>
          <p:cNvPr id="5" name="LH"/>
          <p:cNvSpPr/>
          <p:nvPr/>
        </p:nvSpPr>
        <p:spPr>
          <a:xfrm>
            <a:off x="457200" y="1120000"/>
            <a:ext cx="3900000" cy="340000"/>
          </a:xfrm>
          <a:prstGeom prst="rect">
            <a:avLst/>
          </a:prstGeom>
          <a:solidFill>
            <a:srgbClr val="1E40A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Engine — domain-agnostic today</a:t>
            </a:r>
          </a:p>
        </p:txBody>
      </p:sp>
      <p:sp>
        <p:nvSpPr>
          <p:cNvPr id="6" name="LB"/>
          <p:cNvSpPr/>
          <p:nvPr/>
        </p:nvSpPr>
        <p:spPr>
          <a:xfrm>
            <a:off x="457200" y="1460000"/>
            <a:ext cx="3900000" cy="1900000"/>
          </a:xfrm>
          <a:prstGeom prst="rect">
            <a:avLst/>
          </a:prstGeom>
          <a:solidFill>
            <a:srgbClr val="DBEAFE"/>
          </a:solidFill>
        </p:spPr>
        <p:txBody>
          <a:bodyPr wrap="square" rtlCol="0" anchor="t"/>
          <a:lstStyle/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Deliberation engine — sequential, episodic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Judge pattern — conflict synthesis, binding verdict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Memory — org learnings compound across sessions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Governance trail — ADR, audit, sign-off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REST API — callable from any tool, any stack</a:t>
            </a:r>
          </a:p>
          <a:p>
            <a:pPr marL="91440" indent="0">
              <a:buChar char="✓"/>
            </a:pPr>
            <a:r>
              <a:rPr lang="en-US" sz="1200" dirty="0">
                <a:solidFill>
                  <a:srgbClr val="1E3A5F"/>
                </a:solidFill>
                <a:latin typeface="Calibri"/>
              </a:rPr>
              <a:t>Multi-tenant — client_id and domain partitioning built in</a:t>
            </a:r>
          </a:p>
        </p:txBody>
      </p:sp>
      <p:sp>
        <p:nvSpPr>
          <p:cNvPr id="7" name="RH"/>
          <p:cNvSpPr/>
          <p:nvPr/>
        </p:nvSpPr>
        <p:spPr>
          <a:xfrm>
            <a:off x="4786800" y="1120000"/>
            <a:ext cx="3900000" cy="340000"/>
          </a:xfrm>
          <a:prstGeom prst="rect">
            <a:avLst/>
          </a:prstGeom>
          <a:solidFill>
            <a:srgbClr val="47556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Domain pack — authoring investment</a:t>
            </a:r>
          </a:p>
        </p:txBody>
      </p:sp>
      <p:sp>
        <p:nvSpPr>
          <p:cNvPr id="8" name="RB"/>
          <p:cNvSpPr/>
          <p:nvPr/>
        </p:nvSpPr>
        <p:spPr>
          <a:xfrm>
            <a:off x="4786800" y="1460000"/>
            <a:ext cx="3900000" cy="190000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t"/>
          <a:lstStyle/>
          <a:p>
            <a:pPr marL="9144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/>
              </a:rPr>
              <a:t>To expand to a new domain, author: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Specialist agent prompts for that domain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Domain + cross-cutting skills library</a:t>
            </a:r>
          </a:p>
          <a:p>
            <a:pPr marL="91440" indent="0">
              <a:buChar char="→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Delivery failure pattern library for that stack</a:t>
            </a:r>
          </a:p>
          <a:p>
            <a:pPr marL="9144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/>
              </a:rPr>
              <a:t>Potential domain packs: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MuleSoft Integration ARB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Azure / AWS Cloud Architecture ARB</a:t>
            </a:r>
          </a:p>
          <a:p>
            <a:pPr marL="91440" indent="0">
              <a:buChar char="·"/>
            </a:pPr>
            <a:r>
              <a:rPr lang="en-US" sz="1200" dirty="0">
                <a:solidFill>
                  <a:srgbClr val="334155"/>
                </a:solidFill>
                <a:latin typeface="Calibri"/>
              </a:rPr>
              <a:t>SAP / ERP Implementation ARB</a:t>
            </a:r>
          </a:p>
        </p:txBody>
      </p:sp>
      <p:sp>
        <p:nvSpPr>
          <p:cNvPr id="9" name="Callout"/>
          <p:cNvSpPr/>
          <p:nvPr/>
        </p:nvSpPr>
        <p:spPr>
          <a:xfrm>
            <a:off x="457200" y="3460000"/>
            <a:ext cx="8229600" cy="380000"/>
          </a:xfrm>
          <a:prstGeom prst="rect">
            <a:avLst/>
          </a:prstGeom>
          <a:solidFill>
            <a:srgbClr val="1E3A5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The engine is built. Expanding to a new domain is an authoring investment — not an engineering one.</a:t>
            </a:r>
          </a:p>
        </p:txBody>
      </p:sp>
      <p:sp>
        <p:nvSpPr>
          <p:cNvPr id="10" name="Q"/>
          <p:cNvSpPr/>
          <p:nvPr/>
        </p:nvSpPr>
        <p:spPr>
          <a:xfrm>
            <a:off x="457200" y="3940000"/>
            <a:ext cx="82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/>
              </a:rPr>
              <a:t>"Does this scale beyond Salesforce?" — Yes. The question is which domain pack we build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every session — grounded in institutional knowledge before generating a single finding.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289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knowledge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training — Salesforce patterns, LWC, Apex, integration, Flow, platform limits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0025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grounding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2951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Principles (per agent)  ·  SI Failure Pattern Library (FP-004–FP-012)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688336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skills always loaded per agent  ·  Cross-cutting skills keyword-triggered from document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401568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721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— prior agent findings injected forward  ·  Jira ADR cross-session reconciliation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8503920" cy="612648"/>
          </a:xfrm>
          <a:prstGeom prst="roundRect">
            <a:avLst>
              <a:gd name="adj" fmla="val 1194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4114800"/>
            <a:ext cx="4114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4142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434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(Supabase, compounds over time)  ·  Live Salesforce org metadata via MCP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stack is the moat — it compounds with every session as org learnings accumulate. RAG foundation live: 81 chunks embedded in pgvector, semantic retrieval wiring next sprint.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54864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09360" y="137160"/>
            <a:ext cx="1714500" cy="342900"/>
          </a:xfrm>
          <a:prstGeom prst="roundRect">
            <a:avLst>
              <a:gd name="adj" fmla="val 24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6309360" y="13716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Target state achieved</a:t>
            </a:r>
            <a:endParaRPr lang="en-US" sz="825" dirty="0"/>
          </a:p>
        </p:txBody>
      </p:sp>
      <p:sp>
        <p:nvSpPr>
          <p:cNvPr id="6" name="Shape 4"/>
          <p:cNvSpPr/>
          <p:nvPr/>
        </p:nvSpPr>
        <p:spPr>
          <a:xfrm>
            <a:off x="171450" y="754380"/>
            <a:ext cx="3977640" cy="260604"/>
          </a:xfrm>
          <a:prstGeom prst="roundRect">
            <a:avLst>
              <a:gd name="adj" fmla="val 13158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171450" y="754380"/>
            <a:ext cx="39776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 —  from 4 mechanisms to 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05740" y="1097280"/>
            <a:ext cx="17830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125980" y="1097280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(today)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5740" y="1357884"/>
            <a:ext cx="1783080" cy="377190"/>
          </a:xfrm>
          <a:prstGeom prst="roundRect">
            <a:avLst>
              <a:gd name="adj" fmla="val 10909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205740" y="135788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205740" y="1543050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 → skill file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002536" y="1543050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205740" y="1851660"/>
            <a:ext cx="1783080" cy="377190"/>
          </a:xfrm>
          <a:prstGeom prst="roundRect">
            <a:avLst>
              <a:gd name="adj" fmla="val 10909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205740" y="1851660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patterns</a:t>
            </a:r>
            <a:endParaRPr lang="en-US" sz="713" dirty="0"/>
          </a:p>
        </p:txBody>
      </p:sp>
      <p:sp>
        <p:nvSpPr>
          <p:cNvPr id="16" name="Text 14"/>
          <p:cNvSpPr/>
          <p:nvPr/>
        </p:nvSpPr>
        <p:spPr>
          <a:xfrm>
            <a:off x="205740" y="2036826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table query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2002536" y="2036826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205740" y="2345436"/>
            <a:ext cx="1783080" cy="377190"/>
          </a:xfrm>
          <a:prstGeom prst="roundRect">
            <a:avLst>
              <a:gd name="adj" fmla="val 1090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205740" y="2345436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</a:t>
            </a:r>
            <a:endParaRPr lang="en-US" sz="713" dirty="0"/>
          </a:p>
        </p:txBody>
      </p:sp>
      <p:sp>
        <p:nvSpPr>
          <p:cNvPr id="20" name="Text 18"/>
          <p:cNvSpPr/>
          <p:nvPr/>
        </p:nvSpPr>
        <p:spPr>
          <a:xfrm>
            <a:off x="205740" y="253060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filter query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002536" y="2530602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Shape 20"/>
          <p:cNvSpPr/>
          <p:nvPr/>
        </p:nvSpPr>
        <p:spPr>
          <a:xfrm>
            <a:off x="205740" y="2839212"/>
            <a:ext cx="1783080" cy="377190"/>
          </a:xfrm>
          <a:prstGeom prst="roundRect">
            <a:avLst>
              <a:gd name="adj" fmla="val 10909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205740" y="2839212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ADRs</a:t>
            </a:r>
            <a:endParaRPr lang="en-US" sz="713" dirty="0"/>
          </a:p>
        </p:txBody>
      </p:sp>
      <p:sp>
        <p:nvSpPr>
          <p:cNvPr id="24" name="Text 22"/>
          <p:cNvSpPr/>
          <p:nvPr/>
        </p:nvSpPr>
        <p:spPr>
          <a:xfrm>
            <a:off x="205740" y="3024378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per session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002536" y="3024378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Shape 24"/>
          <p:cNvSpPr/>
          <p:nvPr/>
        </p:nvSpPr>
        <p:spPr>
          <a:xfrm>
            <a:off x="2125980" y="1357884"/>
            <a:ext cx="1920240" cy="377190"/>
          </a:xfrm>
          <a:prstGeom prst="roundRect">
            <a:avLst>
              <a:gd name="adj" fmla="val 1090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Text 25"/>
          <p:cNvSpPr/>
          <p:nvPr/>
        </p:nvSpPr>
        <p:spPr>
          <a:xfrm>
            <a:off x="2125980" y="1357884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FPs</a:t>
            </a:r>
            <a:endParaRPr lang="en-US" sz="713" dirty="0"/>
          </a:p>
        </p:txBody>
      </p:sp>
      <p:sp>
        <p:nvSpPr>
          <p:cNvPr id="28" name="Text 26"/>
          <p:cNvSpPr/>
          <p:nvPr/>
        </p:nvSpPr>
        <p:spPr>
          <a:xfrm>
            <a:off x="2125980" y="1543050"/>
            <a:ext cx="19202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chunks, seeded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125980" y="1851660"/>
            <a:ext cx="1920240" cy="377190"/>
          </a:xfrm>
          <a:prstGeom prst="roundRect">
            <a:avLst>
              <a:gd name="adj" fmla="val 1090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28"/>
          <p:cNvSpPr/>
          <p:nvPr/>
        </p:nvSpPr>
        <p:spPr>
          <a:xfrm>
            <a:off x="2125980" y="1851660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</a:t>
            </a:r>
            <a:endParaRPr lang="en-US" sz="713" dirty="0"/>
          </a:p>
        </p:txBody>
      </p:sp>
      <p:sp>
        <p:nvSpPr>
          <p:cNvPr id="31" name="Text 29"/>
          <p:cNvSpPr/>
          <p:nvPr/>
        </p:nvSpPr>
        <p:spPr>
          <a:xfrm>
            <a:off x="2125980" y="2036826"/>
            <a:ext cx="19202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 + auto-embed on insert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125980" y="2345436"/>
            <a:ext cx="1920240" cy="377190"/>
          </a:xfrm>
          <a:prstGeom prst="roundRect">
            <a:avLst>
              <a:gd name="adj" fmla="val 1090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Text 31"/>
          <p:cNvSpPr/>
          <p:nvPr/>
        </p:nvSpPr>
        <p:spPr>
          <a:xfrm>
            <a:off x="2125980" y="2345436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ADRs</a:t>
            </a:r>
            <a:endParaRPr lang="en-US" sz="713" dirty="0"/>
          </a:p>
        </p:txBody>
      </p:sp>
      <p:sp>
        <p:nvSpPr>
          <p:cNvPr id="34" name="Text 32"/>
          <p:cNvSpPr/>
          <p:nvPr/>
        </p:nvSpPr>
        <p:spPr>
          <a:xfrm>
            <a:off x="2125980" y="2530602"/>
            <a:ext cx="19202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real ADR + auto-embed on create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125980" y="2839212"/>
            <a:ext cx="1920240" cy="377190"/>
          </a:xfrm>
          <a:prstGeom prst="roundRect">
            <a:avLst>
              <a:gd name="adj" fmla="val 10909"/>
            </a:avLst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6" name="Text 34"/>
          <p:cNvSpPr/>
          <p:nvPr/>
        </p:nvSpPr>
        <p:spPr>
          <a:xfrm>
            <a:off x="2125980" y="2839212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</a:t>
            </a:r>
            <a:endParaRPr lang="en-US" sz="713" dirty="0"/>
          </a:p>
        </p:txBody>
      </p:sp>
      <p:sp>
        <p:nvSpPr>
          <p:cNvPr id="37" name="Text 35"/>
          <p:cNvSpPr/>
          <p:nvPr/>
        </p:nvSpPr>
        <p:spPr>
          <a:xfrm>
            <a:off x="2125980" y="3024378"/>
            <a:ext cx="19202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semantic retrieval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4663440" y="754380"/>
            <a:ext cx="4251960" cy="260604"/>
          </a:xfrm>
          <a:prstGeom prst="roundRect">
            <a:avLst>
              <a:gd name="adj" fmla="val 13158"/>
            </a:avLst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Text 37"/>
          <p:cNvSpPr/>
          <p:nvPr/>
        </p:nvSpPr>
        <p:spPr>
          <a:xfrm>
            <a:off x="4663440" y="754380"/>
            <a:ext cx="42519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  —  unified semantic retrieval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5417820" y="1131570"/>
            <a:ext cx="2743200" cy="288036"/>
          </a:xfrm>
          <a:prstGeom prst="roundRect">
            <a:avLst>
              <a:gd name="adj" fmla="val 14286"/>
            </a:avLst>
          </a:prstGeom>
          <a:solidFill>
            <a:srgbClr val="E8EDF2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1" name="Text 39"/>
          <p:cNvSpPr/>
          <p:nvPr/>
        </p:nvSpPr>
        <p:spPr>
          <a:xfrm>
            <a:off x="5417820" y="1131570"/>
            <a:ext cx="2743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document / requirement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789420" y="1419606"/>
            <a:ext cx="0" cy="178308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3" name="Shape 41"/>
          <p:cNvSpPr/>
          <p:nvPr/>
        </p:nvSpPr>
        <p:spPr>
          <a:xfrm>
            <a:off x="5417820" y="1597914"/>
            <a:ext cx="2743200" cy="288036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4" name="Text 42"/>
          <p:cNvSpPr/>
          <p:nvPr/>
        </p:nvSpPr>
        <p:spPr>
          <a:xfrm>
            <a:off x="5417820" y="1597914"/>
            <a:ext cx="2743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ImpactAnalyser — selects agents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789420" y="1885950"/>
            <a:ext cx="0" cy="178308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6" name="Shape 44"/>
          <p:cNvSpPr/>
          <p:nvPr/>
        </p:nvSpPr>
        <p:spPr>
          <a:xfrm>
            <a:off x="5417820" y="2064258"/>
            <a:ext cx="2743200" cy="356616"/>
          </a:xfrm>
          <a:prstGeom prst="roundRect">
            <a:avLst>
              <a:gd name="adj" fmla="val 11538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7" name="Text 45"/>
          <p:cNvSpPr/>
          <p:nvPr/>
        </p:nvSpPr>
        <p:spPr>
          <a:xfrm>
            <a:off x="5417820" y="2064258"/>
            <a:ext cx="27432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RAG retriever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5417820" y="2242566"/>
            <a:ext cx="2743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embed → pgvector similarity search</a:t>
            </a:r>
            <a:endParaRPr lang="en-US" sz="638" dirty="0"/>
          </a:p>
        </p:txBody>
      </p:sp>
      <p:sp>
        <p:nvSpPr>
          <p:cNvPr id="49" name="Shape 47"/>
          <p:cNvSpPr/>
          <p:nvPr/>
        </p:nvSpPr>
        <p:spPr>
          <a:xfrm>
            <a:off x="6789420" y="2420874"/>
            <a:ext cx="0" cy="1508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0" name="Shape 48"/>
          <p:cNvSpPr/>
          <p:nvPr/>
        </p:nvSpPr>
        <p:spPr>
          <a:xfrm>
            <a:off x="4800600" y="257175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 w="9525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1" name="Text 49"/>
          <p:cNvSpPr/>
          <p:nvPr/>
        </p:nvSpPr>
        <p:spPr>
          <a:xfrm>
            <a:off x="4800600" y="2585466"/>
            <a:ext cx="39776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grounding_embeddings  —  86 chunks, 3 source types</a:t>
            </a:r>
            <a:endParaRPr lang="en-US" sz="713" dirty="0"/>
          </a:p>
        </p:txBody>
      </p:sp>
      <p:sp>
        <p:nvSpPr>
          <p:cNvPr id="52" name="Shape 50"/>
          <p:cNvSpPr/>
          <p:nvPr/>
        </p:nvSpPr>
        <p:spPr>
          <a:xfrm>
            <a:off x="4834890" y="2798064"/>
            <a:ext cx="1261872" cy="384048"/>
          </a:xfrm>
          <a:prstGeom prst="roundRect">
            <a:avLst>
              <a:gd name="adj" fmla="val 8929"/>
            </a:avLst>
          </a:prstGeom>
          <a:solidFill>
            <a:srgbClr val="DDD6FE"/>
          </a:solidFill>
          <a:ln w="63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3" name="Text 51"/>
          <p:cNvSpPr/>
          <p:nvPr/>
        </p:nvSpPr>
        <p:spPr>
          <a:xfrm>
            <a:off x="4834890" y="2798064"/>
            <a:ext cx="1261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FPs</a:t>
            </a:r>
            <a:endParaRPr lang="en-US" sz="638" dirty="0"/>
          </a:p>
        </p:txBody>
      </p:sp>
      <p:sp>
        <p:nvSpPr>
          <p:cNvPr id="54" name="Text 52"/>
          <p:cNvSpPr/>
          <p:nvPr/>
        </p:nvSpPr>
        <p:spPr>
          <a:xfrm>
            <a:off x="4834890" y="2928366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chunks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4834890" y="3044952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7C6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once</a:t>
            </a:r>
            <a:endParaRPr lang="en-US" sz="525" dirty="0"/>
          </a:p>
        </p:txBody>
      </p:sp>
      <p:sp>
        <p:nvSpPr>
          <p:cNvPr id="56" name="Shape 54"/>
          <p:cNvSpPr/>
          <p:nvPr/>
        </p:nvSpPr>
        <p:spPr>
          <a:xfrm>
            <a:off x="6151626" y="2798064"/>
            <a:ext cx="1261872" cy="384048"/>
          </a:xfrm>
          <a:prstGeom prst="roundRect">
            <a:avLst>
              <a:gd name="adj" fmla="val 8929"/>
            </a:avLst>
          </a:prstGeom>
          <a:solidFill>
            <a:srgbClr val="DDD6FE"/>
          </a:solidFill>
          <a:ln w="63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7" name="Text 55"/>
          <p:cNvSpPr/>
          <p:nvPr/>
        </p:nvSpPr>
        <p:spPr>
          <a:xfrm>
            <a:off x="6151626" y="2798064"/>
            <a:ext cx="1261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</a:t>
            </a:r>
            <a:endParaRPr lang="en-US" sz="638" dirty="0"/>
          </a:p>
        </p:txBody>
      </p:sp>
      <p:sp>
        <p:nvSpPr>
          <p:cNvPr id="58" name="Text 56"/>
          <p:cNvSpPr/>
          <p:nvPr/>
        </p:nvSpPr>
        <p:spPr>
          <a:xfrm>
            <a:off x="6151626" y="2928366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 today</a:t>
            </a:r>
            <a:endParaRPr lang="en-US" sz="563" dirty="0"/>
          </a:p>
        </p:txBody>
      </p:sp>
      <p:sp>
        <p:nvSpPr>
          <p:cNvPr id="59" name="Text 57"/>
          <p:cNvSpPr/>
          <p:nvPr/>
        </p:nvSpPr>
        <p:spPr>
          <a:xfrm>
            <a:off x="6151626" y="3044952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7C6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auto-embed on insert</a:t>
            </a:r>
            <a:endParaRPr lang="en-US" sz="525" dirty="0"/>
          </a:p>
        </p:txBody>
      </p:sp>
      <p:sp>
        <p:nvSpPr>
          <p:cNvPr id="60" name="Shape 58"/>
          <p:cNvSpPr/>
          <p:nvPr/>
        </p:nvSpPr>
        <p:spPr>
          <a:xfrm>
            <a:off x="7468362" y="2798064"/>
            <a:ext cx="1261872" cy="384048"/>
          </a:xfrm>
          <a:prstGeom prst="roundRect">
            <a:avLst>
              <a:gd name="adj" fmla="val 8929"/>
            </a:avLst>
          </a:prstGeom>
          <a:solidFill>
            <a:srgbClr val="DDD6FE"/>
          </a:solidFill>
          <a:ln w="63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1" name="Text 59"/>
          <p:cNvSpPr/>
          <p:nvPr/>
        </p:nvSpPr>
        <p:spPr>
          <a:xfrm>
            <a:off x="7468362" y="2798064"/>
            <a:ext cx="1261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ADRs</a:t>
            </a:r>
            <a:endParaRPr lang="en-US" sz="638" dirty="0"/>
          </a:p>
        </p:txBody>
      </p:sp>
      <p:sp>
        <p:nvSpPr>
          <p:cNvPr id="62" name="Text 60"/>
          <p:cNvSpPr/>
          <p:nvPr/>
        </p:nvSpPr>
        <p:spPr>
          <a:xfrm>
            <a:off x="7468362" y="2928366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ADR today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7468362" y="3044952"/>
            <a:ext cx="126187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25" dirty="0">
                <a:solidFill>
                  <a:srgbClr val="7C6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auto-embed on create</a:t>
            </a:r>
            <a:endParaRPr lang="en-US" sz="525" dirty="0"/>
          </a:p>
        </p:txBody>
      </p:sp>
      <p:sp>
        <p:nvSpPr>
          <p:cNvPr id="64" name="Shape 62"/>
          <p:cNvSpPr/>
          <p:nvPr/>
        </p:nvSpPr>
        <p:spPr>
          <a:xfrm>
            <a:off x="6789420" y="3230118"/>
            <a:ext cx="0" cy="1508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5" name="Shape 63"/>
          <p:cNvSpPr/>
          <p:nvPr/>
        </p:nvSpPr>
        <p:spPr>
          <a:xfrm>
            <a:off x="5417820" y="3380994"/>
            <a:ext cx="2743200" cy="308610"/>
          </a:xfrm>
          <a:prstGeom prst="roundRect">
            <a:avLst>
              <a:gd name="adj" fmla="val 13333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6" name="Text 64"/>
          <p:cNvSpPr/>
          <p:nvPr/>
        </p:nvSpPr>
        <p:spPr>
          <a:xfrm>
            <a:off x="5417820" y="3380994"/>
            <a:ext cx="2743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 prompt  ·  top-5 relevant chunks</a:t>
            </a:r>
            <a:endParaRPr lang="en-US" sz="713" dirty="0"/>
          </a:p>
        </p:txBody>
      </p:sp>
      <p:sp>
        <p:nvSpPr>
          <p:cNvPr id="67" name="Shape 65"/>
          <p:cNvSpPr/>
          <p:nvPr/>
        </p:nvSpPr>
        <p:spPr>
          <a:xfrm>
            <a:off x="6789420" y="3689604"/>
            <a:ext cx="0" cy="1371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8" name="Shape 66"/>
          <p:cNvSpPr/>
          <p:nvPr/>
        </p:nvSpPr>
        <p:spPr>
          <a:xfrm>
            <a:off x="5417820" y="3826764"/>
            <a:ext cx="2743200" cy="260604"/>
          </a:xfrm>
          <a:prstGeom prst="roundRect">
            <a:avLst>
              <a:gd name="adj" fmla="val 15789"/>
            </a:avLst>
          </a:prstGeom>
          <a:solidFill>
            <a:srgbClr val="E8EDF2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9" name="Text 67"/>
          <p:cNvSpPr/>
          <p:nvPr/>
        </p:nvSpPr>
        <p:spPr>
          <a:xfrm>
            <a:off x="5417820" y="3826764"/>
            <a:ext cx="2743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run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491990" y="720090"/>
            <a:ext cx="0" cy="41833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 sz="1350"/>
          </a:p>
        </p:txBody>
      </p:sp>
      <p:sp>
        <p:nvSpPr>
          <p:cNvPr id="71" name="Shape 69"/>
          <p:cNvSpPr/>
          <p:nvPr/>
        </p:nvSpPr>
        <p:spPr>
          <a:xfrm>
            <a:off x="171450" y="4169664"/>
            <a:ext cx="8778240" cy="246888"/>
          </a:xfrm>
          <a:prstGeom prst="roundRect">
            <a:avLst>
              <a:gd name="adj" fmla="val 13889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2" name="Text 70"/>
          <p:cNvSpPr/>
          <p:nvPr/>
        </p:nvSpPr>
        <p:spPr>
          <a:xfrm>
            <a:off x="240030" y="4169664"/>
            <a:ext cx="8641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38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grounding sources now flow through a single vector store — skills, failure patterns, org learnings, and ADRs retrieved semantically per document. Auto-embed on insert keeps the store current.</a:t>
            </a:r>
            <a:endParaRPr lang="en-US" sz="638" dirty="0"/>
          </a:p>
        </p:txBody>
      </p:sp>
      <p:sp>
        <p:nvSpPr>
          <p:cNvPr id="73" name="Text 71"/>
          <p:cNvSpPr/>
          <p:nvPr/>
        </p:nvSpPr>
        <p:spPr>
          <a:xfrm>
            <a:off x="171450" y="4512564"/>
            <a:ext cx="8778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stack · ARBoard 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nboarding a New Ag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Onboarding a new agent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</a:rPr>
              <a:t>The manifest system makes adding a specialist a 15-minute authoring task — no pipeline changes required.</a:t>
            </a:r>
          </a:p>
        </p:txBody>
      </p:sp>
      <p:sp>
        <p:nvSpPr>
          <p:cNvPr id="5" name="Card1"/>
          <p:cNvSpPr/>
          <p:nvPr/>
        </p:nvSpPr>
        <p:spPr>
          <a:xfrm>
            <a:off x="320040" y="1190880"/>
            <a:ext cx="2560320" cy="3200400"/>
          </a:xfrm>
          <a:prstGeom prst="roundRect">
            <a:avLst>
              <a:gd name="adj" fmla="val 1194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um1"/>
          <p:cNvSpPr/>
          <p:nvPr/>
        </p:nvSpPr>
        <p:spPr>
          <a:xfrm>
            <a:off x="320040" y="1190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7" name="Head1"/>
          <p:cNvSpPr/>
          <p:nvPr/>
        </p:nvSpPr>
        <p:spPr>
          <a:xfrm>
            <a:off x="411480" y="178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Author prompt file</a:t>
            </a:r>
          </a:p>
        </p:txBody>
      </p:sp>
      <p:sp>
        <p:nvSpPr>
          <p:cNvPr id="8" name="Body1"/>
          <p:cNvSpPr/>
          <p:nvPr/>
        </p:nvSpPr>
        <p:spPr>
          <a:xfrm>
            <a:off x="411480" y="210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</a:rPr>
              <a:t>Create src/prompts/agents/sf-newagent.md with Role, Expertise, Guardrails, Output Format sections</a:t>
            </a:r>
          </a:p>
        </p:txBody>
      </p:sp>
      <p:sp>
        <p:nvSpPr>
          <p:cNvPr id="9" name="Card2"/>
          <p:cNvSpPr/>
          <p:nvPr/>
        </p:nvSpPr>
        <p:spPr>
          <a:xfrm>
            <a:off x="3111720" y="1190880"/>
            <a:ext cx="2560320" cy="3200400"/>
          </a:xfrm>
          <a:prstGeom prst="roundRect">
            <a:avLst>
              <a:gd name="adj" fmla="val 1194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um2"/>
          <p:cNvSpPr/>
          <p:nvPr/>
        </p:nvSpPr>
        <p:spPr>
          <a:xfrm>
            <a:off x="3111720" y="1190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1" name="Head2"/>
          <p:cNvSpPr/>
          <p:nvPr/>
        </p:nvSpPr>
        <p:spPr>
          <a:xfrm>
            <a:off x="3203160" y="178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Register in manifest</a:t>
            </a:r>
          </a:p>
        </p:txBody>
      </p:sp>
      <p:sp>
        <p:nvSpPr>
          <p:cNvPr id="12" name="Body2"/>
          <p:cNvSpPr/>
          <p:nvPr/>
        </p:nvSpPr>
        <p:spPr>
          <a:xfrm>
            <a:off x="3203160" y="210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</a:rPr>
              <a:t>Add one entry to agentManifest.json — id, name, keywords, enabled. ImpactAnalyser and agent array update automatically.</a:t>
            </a:r>
          </a:p>
        </p:txBody>
      </p:sp>
      <p:sp>
        <p:nvSpPr>
          <p:cNvPr id="13" name="Card3"/>
          <p:cNvSpPr/>
          <p:nvPr/>
        </p:nvSpPr>
        <p:spPr>
          <a:xfrm>
            <a:off x="5903400" y="1190880"/>
            <a:ext cx="2560320" cy="3200400"/>
          </a:xfrm>
          <a:prstGeom prst="roundRect">
            <a:avLst>
              <a:gd name="adj" fmla="val 1194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um3"/>
          <p:cNvSpPr/>
          <p:nvPr/>
        </p:nvSpPr>
        <p:spPr>
          <a:xfrm>
            <a:off x="5903400" y="1190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5" name="Head3"/>
          <p:cNvSpPr/>
          <p:nvPr/>
        </p:nvSpPr>
        <p:spPr>
          <a:xfrm>
            <a:off x="5994840" y="178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Deploy — done</a:t>
            </a:r>
          </a:p>
        </p:txBody>
      </p:sp>
      <p:sp>
        <p:nvSpPr>
          <p:cNvPr id="16" name="Body3"/>
          <p:cNvSpPr/>
          <p:nvPr/>
        </p:nvSpPr>
        <p:spPr>
          <a:xfrm>
            <a:off x="5994840" y="210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4D4"/>
                </a:solidFill>
                <a:latin typeface="Calibri" pitchFamily="34" charset="0"/>
              </a:rPr>
              <a:t>No pipeline changes. No orchestrator edits. ForumOrchestrator picks up the new agent automatically on next run.</a:t>
            </a:r>
          </a:p>
        </p:txBody>
      </p:sp>
      <p:sp>
        <p:nvSpPr>
          <p:cNvPr id="17" name="Callout"/>
          <p:cNvSpPr/>
          <p:nvPr/>
        </p:nvSpPr>
        <p:spPr>
          <a:xfrm>
            <a:off x="320040" y="4572000"/>
            <a:ext cx="8503920" cy="320040"/>
          </a:xfrm>
          <a:prstGeom prst="roundRect">
            <a:avLst>
              <a:gd name="adj" fmla="val 11940"/>
            </a:avLst>
          </a:prstGeom>
          <a:solidFill>
            <a:srgbClr val="1E40AF"/>
          </a:solidFill>
          <a:ln w="6350">
            <a:solidFill>
              <a:srgbClr val="1E40AF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sf-agentforce was added this way in under 15 minutes — 2 files + 1 manifest entry. Zero pipeline changes.</a:t>
            </a:r>
          </a:p>
        </p:txBody>
      </p:sp>
      <p:sp>
        <p:nvSpPr>
          <p:cNvPr id="18" name="Footer"/>
          <p:cNvSpPr/>
          <p:nvPr/>
        </p:nvSpPr>
        <p:spPr>
          <a:xfrm>
            <a:off x="457200" y="4938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</a:rPr>
              <a:t>The engine is built. Expanding to a new domain or specialist is an authoring investment — not an engineering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— completed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41832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41832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isolation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and Supabase keys server-side only. No NEXT_PUBLIC_ exposure. Key mutation removed from request handlers.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27448" y="80467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41832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9418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349240" y="941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10328" y="12801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authentication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032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Shared-secret auth guard on all 7 high-risk API routes. 401 on missing or incorrect key. Local dev no-op when unset.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359152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41832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41832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fixed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02920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now explicitly threaded through ImpactAnalyser and ForumOrchestrator. No real API calls in mock sessions.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27448" y="222199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35915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349240" y="23591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349240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910328" y="26974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10328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on all tables. Service role key used server-side only for writes. Anon key removed.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76472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41832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0FDFB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941832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502920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Map cache added to skillLoader.ts. 20–40 disk reads per session reduced to first-call only.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27448" y="3639312"/>
            <a:ext cx="406908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776472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349240" y="37764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5349240" y="3776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910328" y="411480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910328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and Learner now run concurrently after Judge verdict. ~10s saved per session. Sequential debate chain preserved.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maturity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8046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88920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18304" y="80467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65192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on 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94576" y="8046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41464" y="777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logical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2070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1115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11155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episodic memory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1155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Session-scoped, injected forward between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44475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15361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1444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persistent memory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44475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learnings in Supabase + Jira ADR cross-session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1773936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18653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03120" y="177393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7739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enabled · 81 chunks embedded (voyage-code-3) · retrieval wiring next sprint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194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21031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21031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critique → synthesis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103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→ 8 specialists → Judge — textbook deliberative pattern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432304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5237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03120" y="24323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rounds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24323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Re-submission exists; Round 2 in-session rebuttal not yet built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761488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28529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03120" y="27614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signalling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27614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scores implemented; document-relevance-based scoring TBD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090672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03120" y="30906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detection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94960" y="30906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Post-verdict dissent panel via Haiku call — working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419856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35112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" y="341985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34198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34198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per-agent timeout or cancel button — risk for demos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749040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" y="38404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03120" y="3749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failure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37490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agents silently drop — Judge synthesises incomplete input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078224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" y="41696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5800" y="40782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40782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ADR output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94960" y="40782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Jira + Supabase — full governed trail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440740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449884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03120" y="44074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94960" y="44074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 endpoint exists — HITL workflow not yet wired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73659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57200" y="482803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103120" y="47365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tracing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94960" y="473659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trace of injection decisions per agent — not built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" y="13258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16184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grounding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91109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Library (8 files)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2037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4963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Dissent Panel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27889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Intelligence Learner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" y="30815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vision (docx)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37413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 + ROI estimator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366674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360273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+ security hardening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" y="39593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" y="389534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 guard (7 routes)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" y="42519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" y="418795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 isolation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" y="45445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448056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+ Learner parallelised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" y="48371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" y="477316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file caching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" y="512978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" y="506577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observability schema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" y="54223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" y="535838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SessionTracer — full agent lifecycle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" y="57150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512" y="565099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trace integrity hash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64408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64408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429000" y="13258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11880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timeout + cancel button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1618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11880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transient API failure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29000" y="19110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11880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Rebuttal flow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2203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11880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29000" y="2496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11880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layer tracing (Q1/Q2)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29000" y="27889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11880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confidence scoring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30815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11880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prompt injection guard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29000" y="337413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11880" y="3310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08776" y="77724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08776" y="7772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373368" y="13258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56248" y="126187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RAG retrieval wiring (foundation done)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73368" y="16184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56248" y="155448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multi-tenant config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73368" y="19110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56248" y="184708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versioning across resubmissions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73368" y="22037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56248" y="213969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write alongside Jira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73368" y="249631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556248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model strategy (Haiku/Sonnet/Opus)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73368" y="27889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556248" y="2724912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MCP integration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73368" y="308152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556248" y="3017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real numbers from live runs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~$0.35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ARBoard 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NovaPeak SDD · 12 findings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96312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(actual)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44k estimated (+68%)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2584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sequential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841248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8856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$27,500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ARB equivalent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1865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architects × 45 hrs × $150/hr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95728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395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cost reduction  ·  Tiered model: Haiku for Scribe &amp; Learner, Sonnet for Specialists &amp; Judge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2971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pricing (Sonnet claude-sonnet-4-6)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$3.00 / MTok   ·   Cached read: $0.30 / MTok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$15.00 / MTok   ·   Cache write: $3.75 / MTok</a:t>
            </a:r>
            <a:endParaRPr lang="en-US" sz="1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880360"/>
            <a:ext cx="2560320" cy="20116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ROI estimator built into ARBoard UI — pre-run estimate and post-session actuals with complexity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1A335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(deploy)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56816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56816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56816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56816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/api/* route handlers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56816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56816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 (x-arboard-key)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56816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56816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56816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56816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vision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30752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6E6E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30752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30752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30752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ForumOrchestrator.ts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30752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30752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AgentRunner (stream)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30752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PromptBuilder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0752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30752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skillLoader (cached)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04688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04688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04688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(Claude)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04688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04688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Haiku tiered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04688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04688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04688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04688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Dissent analyser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78624" y="804672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065A82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78624" y="804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78624" y="12618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78624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(RLS enabled)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78624" y="17190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78624" y="1719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server-only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78624" y="21762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78624" y="21762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(ADR tickets)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78624" y="2633472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78624" y="26334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org_learnings table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· TypeScript · Anthropic SDK · Supabase · Jira REST API · Vercel · JSZip (diagram vision)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92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deployment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 regulated industry engagement (financial services or public sector). Inject client-specific compliance standards, failure patterns, and Well-Architected principles as a domain package.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27448" y="804672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96926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969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semantic memory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10328" y="13990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enabled in Supabase · 81 grounding chunks embedded via voyage-code-3 · similarity search index live. Next: wire Top-K retrieval into ForumOrchestrator to replace full-inject — improves relevance, reduces cost per session.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077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2920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existing countersign endpoint to a HITL escalation flow. When Judge flags human judgement points, route to a named reviewer before ADR is finalised.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27448" y="274320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0F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077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&amp; white-label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10328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Registry in Supabase with client_id partitioning. Each client accumulates their own org learnings. One ARBoard engine, many domain/client configurations.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Board is open.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agents. 9 grounding layers. One governed verdict.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77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 is production-ready — security hardened, cost-validated, and aligned to enterprise agentic architecture patterns.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35112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 (Sonnet + Haiku tiered)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38313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Supabase · Jira · Vercel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41513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github.com/pganapathineedi/arboard (private)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Ganapathineedi  ·  Lead Architect, Accenture Australia  ·  Salesforce / Agentforce  ·  Agentblazer Legend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observability &amp; tracing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ARBoard session is fully traced — what was injected, which agents ran, what they found, and a tamper-evident integrity hash.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1F3D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session  ·  verdict · cost · tokens · hash  ·  resubmission chain ·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81528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F4C75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408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agent  ·  status · tokens · must-fix count  ·  sequence · round · dissent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737360"/>
            <a:ext cx="16459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2344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08776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session_trace_injections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16276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08776" y="166420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grounding layer  ·  type · file · keywords matched  ·  token estimate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7614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analytics queries — designed first, schema built to answer them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319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layers + token cost per agent per session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319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/ least triggered cross-cutting skills this 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319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failure rate and error patterns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51376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3192" y="4197096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3192" y="419709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" y="41513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changes across document resubmissions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8032" y="3154680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31546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deviating most from expected token budget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456432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28032" y="3502152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28032" y="35021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8523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producing the most Must-Fix findings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803904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28032" y="38496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384962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Q6b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85232" y="38039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where specialists dissented from Judge verdict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645152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storage · Write-before-run (crash-safe) · SHA-256 integrity · Mock excluded from analytics · client_id + round on every row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2776</Words>
  <Application>Microsoft Office PowerPoint</Application>
  <PresentationFormat>On-screen Show (16:9)</PresentationFormat>
  <Paragraphs>411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ARBoard — AI-Powered Architecture Review Board</dc:title>
  <dc:subject>PptxGenJS Presentation</dc:subject>
  <dc:creator>PptxGenJS</dc:creator>
  <cp:lastModifiedBy>Ganapatineedi, Rama</cp:lastModifiedBy>
  <cp:revision>5</cp:revision>
  <dcterms:created xsi:type="dcterms:W3CDTF">2026-07-06T05:46:55Z</dcterms:created>
  <dcterms:modified xsi:type="dcterms:W3CDTF">2026-07-13T08:43:23Z</dcterms:modified>
</cp:coreProperties>
</file>