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74" r:id="rId25"/>
    <p:sldId id="262" r:id="rId8"/>
    <p:sldId id="263" r:id="rId9"/>
    <p:sldId id="261" r:id="rId7"/>
    <p:sldId id="264" r:id="rId10"/>
    <p:sldId id="265" r:id="rId11"/>
    <p:sldId id="266" r:id="rId12"/>
    <p:sldId id="267" r:id="rId18"/>
    <p:sldId id="268" r:id="rId19"/>
    <p:sldId id="269" r:id="rId20"/>
    <p:sldId id="270" r:id="rId21"/>
    <p:sldId id="271" r:id="rId22"/>
    <p:sldId id="272" r:id="rId23"/>
    <p:sldId id="273" r:id="rId24"/>
    <p:sldId id="275" r:id="rId26"/>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p:bgPr>
    </p:bg>
    <p:spTree>
      <p:nvGrpSpPr>
        <p:cNvPr id="1" name=""/>
        <p:cNvGrpSpPr/>
        <p:nvPr/>
      </p:nvGrpSpPr>
      <p:grpSpPr>
        <a:xfrm>
          <a:off x="0" y="0"/>
          <a:ext cx="0" cy="0"/>
          <a:chOff x="0" y="0"/>
          <a:chExt cx="0" cy="0"/>
        </a:xfrm>
      </p:grpSpPr>
      <p:sp>
        <p:nvSpPr>
          <p:cNvPr id="2" name="Text 0"/>
          <p:cNvSpPr/>
          <p:nvPr/>
        </p:nvSpPr>
        <p:spPr>
          <a:xfrm>
            <a:off x="502920" y="1005840"/>
            <a:ext cx="8229600" cy="1005840"/>
          </a:xfrm>
          <a:prstGeom prst="rect">
            <a:avLst/>
          </a:prstGeom>
          <a:noFill/>
          <a:ln/>
        </p:spPr>
        <p:txBody>
          <a:bodyPr wrap="square" rtlCol="0" anchor="ctr"/>
          <a:lstStyle/>
          <a:p>
            <a:pPr indent="0" marL="0">
              <a:buNone/>
            </a:pPr>
            <a:r>
              <a:rPr lang="en-US" sz="5600" b="1" dirty="0">
                <a:solidFill>
                  <a:srgbClr val="FFFFFF"/>
                </a:solidFill>
                <a:latin typeface="Arial" pitchFamily="34" charset="0"/>
                <a:ea typeface="Arial" pitchFamily="34" charset="-122"/>
                <a:cs typeface="Arial" pitchFamily="34" charset="-120"/>
              </a:rPr>
              <a:t>ARBoard</a:t>
            </a:r>
            <a:endParaRPr lang="en-US" sz="5600" dirty="0"/>
          </a:p>
        </p:txBody>
      </p:sp>
      <p:sp>
        <p:nvSpPr>
          <p:cNvPr id="3" name="Text 1"/>
          <p:cNvSpPr/>
          <p:nvPr/>
        </p:nvSpPr>
        <p:spPr>
          <a:xfrm>
            <a:off x="502920" y="1965960"/>
            <a:ext cx="7315200" cy="457200"/>
          </a:xfrm>
          <a:prstGeom prst="rect">
            <a:avLst/>
          </a:prstGeom>
          <a:noFill/>
          <a:ln/>
        </p:spPr>
        <p:txBody>
          <a:bodyPr wrap="square" rtlCol="0" anchor="ctr"/>
          <a:lstStyle/>
          <a:p>
            <a:pPr indent="0" marL="0">
              <a:buNone/>
            </a:pPr>
            <a:r>
              <a:rPr lang="en-US" sz="1800" dirty="0">
                <a:solidFill>
                  <a:srgbClr val="A0B8D8"/>
                </a:solidFill>
                <a:latin typeface="Arial" pitchFamily="34" charset="0"/>
                <a:ea typeface="Arial" pitchFamily="34" charset="-122"/>
                <a:cs typeface="Arial" pitchFamily="34" charset="-120"/>
              </a:rPr>
              <a:t>AI-Powered Salesforce Architecture Review Board</a:t>
            </a:r>
            <a:endParaRPr lang="en-US" sz="1800" dirty="0"/>
          </a:p>
        </p:txBody>
      </p:sp>
      <p:sp>
        <p:nvSpPr>
          <p:cNvPr id="4" name="Shape 2"/>
          <p:cNvSpPr/>
          <p:nvPr/>
        </p:nvSpPr>
        <p:spPr>
          <a:xfrm>
            <a:off x="502920" y="1920240"/>
            <a:ext cx="3200400" cy="0"/>
          </a:xfrm>
          <a:prstGeom prst="line">
            <a:avLst/>
          </a:prstGeom>
          <a:noFill/>
          <a:ln w="25400">
            <a:solidFill>
              <a:srgbClr val="2E6DA4"/>
            </a:solidFill>
            <a:prstDash val="solid"/>
          </a:ln>
        </p:spPr>
      </p:sp>
      <p:sp>
        <p:nvSpPr>
          <p:cNvPr id="5" name="Text 3"/>
          <p:cNvSpPr/>
          <p:nvPr/>
        </p:nvSpPr>
        <p:spPr>
          <a:xfrm>
            <a:off x="502920" y="2743200"/>
            <a:ext cx="8138160" cy="320040"/>
          </a:xfrm>
          <a:prstGeom prst="rect">
            <a:avLst/>
          </a:prstGeom>
          <a:noFill/>
          <a:ln/>
        </p:spPr>
        <p:txBody>
          <a:bodyPr wrap="square" rtlCol="0" anchor="ctr"/>
          <a:lstStyle/>
          <a:p>
            <a:pPr indent="0" marL="0">
              <a:buNone/>
            </a:pPr>
            <a:r>
              <a:rPr lang="en-US" sz="1100" i="1" dirty="0">
                <a:solidFill>
                  <a:srgbClr val="6A84A8"/>
                </a:solidFill>
                <a:latin typeface="Arial" pitchFamily="34" charset="0"/>
                <a:ea typeface="Arial" pitchFamily="34" charset="-122"/>
                <a:cs typeface="Arial" pitchFamily="34" charset="-120"/>
              </a:rPr>
              <a:t>9 specialist agents · Multi-phase debate · ADR output · Jira integration · Cross-session memory</a:t>
            </a:r>
            <a:endParaRPr lang="en-US" sz="1100" dirty="0"/>
          </a:p>
        </p:txBody>
      </p:sp>
      <p:sp>
        <p:nvSpPr>
          <p:cNvPr id="6" name="Text 4"/>
          <p:cNvSpPr/>
          <p:nvPr/>
        </p:nvSpPr>
        <p:spPr>
          <a:xfrm>
            <a:off x="502920" y="4480560"/>
            <a:ext cx="8138160" cy="274320"/>
          </a:xfrm>
          <a:prstGeom prst="rect">
            <a:avLst/>
          </a:prstGeom>
          <a:noFill/>
          <a:ln/>
        </p:spPr>
        <p:txBody>
          <a:bodyPr wrap="square" rtlCol="0" anchor="ctr"/>
          <a:lstStyle/>
          <a:p>
            <a:pPr indent="0" marL="0">
              <a:buNone/>
            </a:pPr>
            <a:r>
              <a:rPr lang="en-US" sz="1000" dirty="0">
                <a:solidFill>
                  <a:srgbClr val="445566"/>
                </a:solidFill>
                <a:latin typeface="Arial" pitchFamily="34" charset="0"/>
                <a:ea typeface="Arial" pitchFamily="34" charset="-122"/>
                <a:cs typeface="Arial" pitchFamily="34" charset="-120"/>
              </a:rPr>
              <a:t>Built with Claude API · Next.js 14 · Supabase · Vercel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Architecture reviews are slow, inconsistent, and often too late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502920" y="1417320"/>
            <a:ext cx="2011680" cy="2560320"/>
          </a:xfrm>
          <a:prstGeom prst="roundRect">
            <a:avLst>
              <a:gd name="adj" fmla="val 363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Text 4"/>
          <p:cNvSpPr/>
          <p:nvPr/>
        </p:nvSpPr>
        <p:spPr>
          <a:xfrm>
            <a:off x="502920" y="1554480"/>
            <a:ext cx="2011680"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7" name="Text 5"/>
          <p:cNvSpPr/>
          <p:nvPr/>
        </p:nvSpPr>
        <p:spPr>
          <a:xfrm>
            <a:off x="502920" y="2011680"/>
            <a:ext cx="201168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Too slow</a:t>
            </a:r>
            <a:endParaRPr lang="en-US" sz="1300" dirty="0"/>
          </a:p>
        </p:txBody>
      </p:sp>
      <p:sp>
        <p:nvSpPr>
          <p:cNvPr id="8" name="Text 6"/>
          <p:cNvSpPr/>
          <p:nvPr/>
        </p:nvSpPr>
        <p:spPr>
          <a:xfrm>
            <a:off x="502920" y="2331720"/>
            <a:ext cx="2011680" cy="822960"/>
          </a:xfrm>
          <a:prstGeom prst="rect">
            <a:avLst/>
          </a:prstGeom>
          <a:noFill/>
          <a:ln/>
        </p:spPr>
        <p:txBody>
          <a:bodyPr wrap="square" rtlCol="0" anchor="t"/>
          <a:lstStyle/>
          <a:p>
            <a:pPr algn="ctr" indent="0" marL="0">
              <a:buNone/>
            </a:pPr>
            <a:r>
              <a:rPr lang="en-US" sz="1050" dirty="0">
                <a:solidFill>
                  <a:srgbClr val="64635E"/>
                </a:solidFill>
                <a:latin typeface="Arial" pitchFamily="34" charset="0"/>
                <a:ea typeface="Arial" pitchFamily="34" charset="-122"/>
                <a:cs typeface="Arial" pitchFamily="34" charset="-120"/>
              </a:rPr>
              <a:t>ARB meetings take weeks to schedule. Design decisions cannot wait.</a:t>
            </a:r>
            <a:endParaRPr lang="en-US" sz="1050" dirty="0"/>
          </a:p>
        </p:txBody>
      </p:sp>
      <p:sp>
        <p:nvSpPr>
          <p:cNvPr id="9" name="Shape 7"/>
          <p:cNvSpPr/>
          <p:nvPr/>
        </p:nvSpPr>
        <p:spPr>
          <a:xfrm>
            <a:off x="2679192" y="1417320"/>
            <a:ext cx="2011680" cy="2560320"/>
          </a:xfrm>
          <a:prstGeom prst="roundRect">
            <a:avLst>
              <a:gd name="adj" fmla="val 363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0" name="Text 8"/>
          <p:cNvSpPr/>
          <p:nvPr/>
        </p:nvSpPr>
        <p:spPr>
          <a:xfrm>
            <a:off x="2679192" y="1554480"/>
            <a:ext cx="2011680"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2679192" y="2011680"/>
            <a:ext cx="201168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Inconsistent</a:t>
            </a:r>
            <a:endParaRPr lang="en-US" sz="1300" dirty="0"/>
          </a:p>
        </p:txBody>
      </p:sp>
      <p:sp>
        <p:nvSpPr>
          <p:cNvPr id="12" name="Text 10"/>
          <p:cNvSpPr/>
          <p:nvPr/>
        </p:nvSpPr>
        <p:spPr>
          <a:xfrm>
            <a:off x="2679192" y="2331720"/>
            <a:ext cx="2011680" cy="822960"/>
          </a:xfrm>
          <a:prstGeom prst="rect">
            <a:avLst/>
          </a:prstGeom>
          <a:noFill/>
          <a:ln/>
        </p:spPr>
        <p:txBody>
          <a:bodyPr wrap="square" rtlCol="0" anchor="t"/>
          <a:lstStyle/>
          <a:p>
            <a:pPr algn="ctr" indent="0" marL="0">
              <a:buNone/>
            </a:pPr>
            <a:r>
              <a:rPr lang="en-US" sz="1050" dirty="0">
                <a:solidFill>
                  <a:srgbClr val="64635E"/>
                </a:solidFill>
                <a:latin typeface="Arial" pitchFamily="34" charset="0"/>
                <a:ea typeface="Arial" pitchFamily="34" charset="-122"/>
                <a:cs typeface="Arial" pitchFamily="34" charset="-120"/>
              </a:rPr>
              <a:t>Quality depends on who is in the room. Same pattern, different outcome.</a:t>
            </a:r>
            <a:endParaRPr lang="en-US" sz="1050" dirty="0"/>
          </a:p>
        </p:txBody>
      </p:sp>
      <p:sp>
        <p:nvSpPr>
          <p:cNvPr id="13" name="Shape 11"/>
          <p:cNvSpPr/>
          <p:nvPr/>
        </p:nvSpPr>
        <p:spPr>
          <a:xfrm>
            <a:off x="4855464" y="1417320"/>
            <a:ext cx="2011680" cy="2560320"/>
          </a:xfrm>
          <a:prstGeom prst="roundRect">
            <a:avLst>
              <a:gd name="adj" fmla="val 363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4" name="Text 12"/>
          <p:cNvSpPr/>
          <p:nvPr/>
        </p:nvSpPr>
        <p:spPr>
          <a:xfrm>
            <a:off x="4855464" y="1554480"/>
            <a:ext cx="2011680"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4855464" y="2011680"/>
            <a:ext cx="201168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Too late</a:t>
            </a:r>
            <a:endParaRPr lang="en-US" sz="1300" dirty="0"/>
          </a:p>
        </p:txBody>
      </p:sp>
      <p:sp>
        <p:nvSpPr>
          <p:cNvPr id="16" name="Text 14"/>
          <p:cNvSpPr/>
          <p:nvPr/>
        </p:nvSpPr>
        <p:spPr>
          <a:xfrm>
            <a:off x="4855464" y="2331720"/>
            <a:ext cx="2011680" cy="822960"/>
          </a:xfrm>
          <a:prstGeom prst="rect">
            <a:avLst/>
          </a:prstGeom>
          <a:noFill/>
          <a:ln/>
        </p:spPr>
        <p:txBody>
          <a:bodyPr wrap="square" rtlCol="0" anchor="t"/>
          <a:lstStyle/>
          <a:p>
            <a:pPr algn="ctr" indent="0" marL="0">
              <a:buNone/>
            </a:pPr>
            <a:r>
              <a:rPr lang="en-US" sz="1050" dirty="0">
                <a:solidFill>
                  <a:srgbClr val="64635E"/>
                </a:solidFill>
                <a:latin typeface="Arial" pitchFamily="34" charset="0"/>
                <a:ea typeface="Arial" pitchFamily="34" charset="-122"/>
                <a:cs typeface="Arial" pitchFamily="34" charset="-120"/>
              </a:rPr>
              <a:t>Review happens after build starts. Rework is expensive.</a:t>
            </a:r>
            <a:endParaRPr lang="en-US" sz="1050" dirty="0"/>
          </a:p>
        </p:txBody>
      </p:sp>
      <p:sp>
        <p:nvSpPr>
          <p:cNvPr id="17" name="Shape 15"/>
          <p:cNvSpPr/>
          <p:nvPr/>
        </p:nvSpPr>
        <p:spPr>
          <a:xfrm>
            <a:off x="7031736" y="1417320"/>
            <a:ext cx="2011680" cy="2560320"/>
          </a:xfrm>
          <a:prstGeom prst="roundRect">
            <a:avLst>
              <a:gd name="adj" fmla="val 363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8" name="Text 16"/>
          <p:cNvSpPr/>
          <p:nvPr/>
        </p:nvSpPr>
        <p:spPr>
          <a:xfrm>
            <a:off x="7031736" y="1554480"/>
            <a:ext cx="2011680"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7031736" y="2011680"/>
            <a:ext cx="201168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No memory</a:t>
            </a:r>
            <a:endParaRPr lang="en-US" sz="1300" dirty="0"/>
          </a:p>
        </p:txBody>
      </p:sp>
      <p:sp>
        <p:nvSpPr>
          <p:cNvPr id="20" name="Text 18"/>
          <p:cNvSpPr/>
          <p:nvPr/>
        </p:nvSpPr>
        <p:spPr>
          <a:xfrm>
            <a:off x="7031736" y="2331720"/>
            <a:ext cx="2011680" cy="822960"/>
          </a:xfrm>
          <a:prstGeom prst="rect">
            <a:avLst/>
          </a:prstGeom>
          <a:noFill/>
          <a:ln/>
        </p:spPr>
        <p:txBody>
          <a:bodyPr wrap="square" rtlCol="0" anchor="t"/>
          <a:lstStyle/>
          <a:p>
            <a:pPr algn="ctr" indent="0" marL="0">
              <a:buNone/>
            </a:pPr>
            <a:r>
              <a:rPr lang="en-US" sz="1050" dirty="0">
                <a:solidFill>
                  <a:srgbClr val="64635E"/>
                </a:solidFill>
                <a:latin typeface="Arial" pitchFamily="34" charset="0"/>
                <a:ea typeface="Arial" pitchFamily="34" charset="-122"/>
                <a:cs typeface="Arial" pitchFamily="34" charset="-120"/>
              </a:rPr>
              <a:t>Each review starts from scratch. Past decisions are not enforced.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THE SOLUTION</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ARBoard runs a full architecture review in minutes, not weeks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365760" y="1371600"/>
            <a:ext cx="1965960" cy="2651760"/>
          </a:xfrm>
          <a:prstGeom prst="roundRect">
            <a:avLst>
              <a:gd name="adj" fmla="val 3721"/>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Shape 4"/>
          <p:cNvSpPr/>
          <p:nvPr/>
        </p:nvSpPr>
        <p:spPr>
          <a:xfrm>
            <a:off x="1097280" y="1481328"/>
            <a:ext cx="502920" cy="502920"/>
          </a:xfrm>
          <a:prstGeom prst="ellipse">
            <a:avLst/>
          </a:prstGeom>
          <a:solidFill>
            <a:srgbClr val="1B4F9B"/>
          </a:solidFill>
          <a:ln w="12700">
            <a:solidFill>
              <a:srgbClr val="1B4F9B"/>
            </a:solidFill>
            <a:prstDash val="solid"/>
          </a:ln>
        </p:spPr>
      </p:sp>
      <p:sp>
        <p:nvSpPr>
          <p:cNvPr id="7" name="Text 5"/>
          <p:cNvSpPr/>
          <p:nvPr/>
        </p:nvSpPr>
        <p:spPr>
          <a:xfrm>
            <a:off x="1097280" y="148132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365760" y="2057400"/>
            <a:ext cx="196596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Input</a:t>
            </a:r>
            <a:endParaRPr lang="en-US" sz="1300" dirty="0"/>
          </a:p>
        </p:txBody>
      </p:sp>
      <p:sp>
        <p:nvSpPr>
          <p:cNvPr id="9" name="Text 7"/>
          <p:cNvSpPr/>
          <p:nvPr/>
        </p:nvSpPr>
        <p:spPr>
          <a:xfrm>
            <a:off x="365760" y="2377440"/>
            <a:ext cx="1965960" cy="777240"/>
          </a:xfrm>
          <a:prstGeom prst="rect">
            <a:avLst/>
          </a:prstGeom>
          <a:noFill/>
          <a:ln/>
        </p:spPr>
        <p:txBody>
          <a:bodyPr wrap="square" rtlCol="0" anchor="t"/>
          <a:lstStyle/>
          <a:p>
            <a:pPr algn="ctr" indent="0" marL="0">
              <a:buNone/>
            </a:pPr>
            <a:r>
              <a:rPr lang="en-US" sz="1000" dirty="0">
                <a:solidFill>
                  <a:srgbClr val="64635E"/>
                </a:solidFill>
                <a:latin typeface="Arial" pitchFamily="34" charset="0"/>
                <a:ea typeface="Arial" pitchFamily="34" charset="-122"/>
                <a:cs typeface="Arial" pitchFamily="34" charset="-120"/>
              </a:rPr>
              <a:t>Requirement text or</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Solution Design doc</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(PDF / Word upload)</a:t>
            </a:r>
            <a:endParaRPr lang="en-US" sz="1000" dirty="0"/>
          </a:p>
        </p:txBody>
      </p:sp>
      <p:sp>
        <p:nvSpPr>
          <p:cNvPr id="10" name="Shape 8"/>
          <p:cNvSpPr/>
          <p:nvPr/>
        </p:nvSpPr>
        <p:spPr>
          <a:xfrm>
            <a:off x="2331720" y="1810512"/>
            <a:ext cx="182880" cy="0"/>
          </a:xfrm>
          <a:prstGeom prst="line">
            <a:avLst/>
          </a:prstGeom>
          <a:noFill/>
          <a:ln w="19050">
            <a:solidFill>
              <a:srgbClr val="2E6DA4"/>
            </a:solidFill>
            <a:prstDash val="solid"/>
          </a:ln>
        </p:spPr>
      </p:sp>
      <p:sp>
        <p:nvSpPr>
          <p:cNvPr id="11" name="Text 9"/>
          <p:cNvSpPr/>
          <p:nvPr/>
        </p:nvSpPr>
        <p:spPr>
          <a:xfrm>
            <a:off x="2359152" y="1700784"/>
            <a:ext cx="182880" cy="228600"/>
          </a:xfrm>
          <a:prstGeom prst="rect">
            <a:avLst/>
          </a:prstGeom>
          <a:noFill/>
          <a:ln/>
        </p:spPr>
        <p:txBody>
          <a:bodyPr wrap="square" rtlCol="0" anchor="ctr"/>
          <a:lstStyle/>
          <a:p>
            <a:pPr algn="ctr" indent="0" marL="0">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2514600" y="1371600"/>
            <a:ext cx="1965960" cy="2651760"/>
          </a:xfrm>
          <a:prstGeom prst="roundRect">
            <a:avLst>
              <a:gd name="adj" fmla="val 3721"/>
            </a:avLst>
          </a:prstGeom>
          <a:solidFill>
            <a:srgbClr val="EBF2FA"/>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3" name="Shape 11"/>
          <p:cNvSpPr/>
          <p:nvPr/>
        </p:nvSpPr>
        <p:spPr>
          <a:xfrm>
            <a:off x="3246120" y="1481328"/>
            <a:ext cx="502920" cy="502920"/>
          </a:xfrm>
          <a:prstGeom prst="ellipse">
            <a:avLst/>
          </a:prstGeom>
          <a:solidFill>
            <a:srgbClr val="1B4F9B"/>
          </a:solidFill>
          <a:ln w="12700">
            <a:solidFill>
              <a:srgbClr val="1B4F9B"/>
            </a:solidFill>
            <a:prstDash val="solid"/>
          </a:ln>
        </p:spPr>
      </p:sp>
      <p:sp>
        <p:nvSpPr>
          <p:cNvPr id="14" name="Text 12"/>
          <p:cNvSpPr/>
          <p:nvPr/>
        </p:nvSpPr>
        <p:spPr>
          <a:xfrm>
            <a:off x="3246120" y="148132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2514600" y="2057400"/>
            <a:ext cx="196596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Debate</a:t>
            </a:r>
            <a:endParaRPr lang="en-US" sz="1300" dirty="0"/>
          </a:p>
        </p:txBody>
      </p:sp>
      <p:sp>
        <p:nvSpPr>
          <p:cNvPr id="16" name="Text 14"/>
          <p:cNvSpPr/>
          <p:nvPr/>
        </p:nvSpPr>
        <p:spPr>
          <a:xfrm>
            <a:off x="2514600" y="2377440"/>
            <a:ext cx="1965960" cy="777240"/>
          </a:xfrm>
          <a:prstGeom prst="rect">
            <a:avLst/>
          </a:prstGeom>
          <a:noFill/>
          <a:ln/>
        </p:spPr>
        <p:txBody>
          <a:bodyPr wrap="square" rtlCol="0" anchor="t"/>
          <a:lstStyle/>
          <a:p>
            <a:pPr algn="ctr" indent="0" marL="0">
              <a:buNone/>
            </a:pPr>
            <a:r>
              <a:rPr lang="en-US" sz="1000" dirty="0">
                <a:solidFill>
                  <a:srgbClr val="64635E"/>
                </a:solidFill>
                <a:latin typeface="Arial" pitchFamily="34" charset="0"/>
                <a:ea typeface="Arial" pitchFamily="34" charset="-122"/>
                <a:cs typeface="Arial" pitchFamily="34" charset="-120"/>
              </a:rPr>
              <a:t>9 specialist agents run</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in sequence, each critiquing</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from their domain</a:t>
            </a:r>
            <a:endParaRPr lang="en-US" sz="1000" dirty="0"/>
          </a:p>
        </p:txBody>
      </p:sp>
      <p:sp>
        <p:nvSpPr>
          <p:cNvPr id="17" name="Shape 15"/>
          <p:cNvSpPr/>
          <p:nvPr/>
        </p:nvSpPr>
        <p:spPr>
          <a:xfrm>
            <a:off x="4480560" y="1810512"/>
            <a:ext cx="182880" cy="0"/>
          </a:xfrm>
          <a:prstGeom prst="line">
            <a:avLst/>
          </a:prstGeom>
          <a:noFill/>
          <a:ln w="19050">
            <a:solidFill>
              <a:srgbClr val="2E6DA4"/>
            </a:solidFill>
            <a:prstDash val="solid"/>
          </a:ln>
        </p:spPr>
      </p:sp>
      <p:sp>
        <p:nvSpPr>
          <p:cNvPr id="18" name="Text 16"/>
          <p:cNvSpPr/>
          <p:nvPr/>
        </p:nvSpPr>
        <p:spPr>
          <a:xfrm>
            <a:off x="4507992" y="1700784"/>
            <a:ext cx="182880" cy="228600"/>
          </a:xfrm>
          <a:prstGeom prst="rect">
            <a:avLst/>
          </a:prstGeom>
          <a:noFill/>
          <a:ln/>
        </p:spPr>
        <p:txBody>
          <a:bodyPr wrap="square" rtlCol="0" anchor="ctr"/>
          <a:lstStyle/>
          <a:p>
            <a:pPr algn="ctr" indent="0" marL="0">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4663440" y="1371600"/>
            <a:ext cx="1965960" cy="2651760"/>
          </a:xfrm>
          <a:prstGeom prst="roundRect">
            <a:avLst>
              <a:gd name="adj" fmla="val 3721"/>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0" name="Shape 18"/>
          <p:cNvSpPr/>
          <p:nvPr/>
        </p:nvSpPr>
        <p:spPr>
          <a:xfrm>
            <a:off x="5394960" y="1481328"/>
            <a:ext cx="502920" cy="502920"/>
          </a:xfrm>
          <a:prstGeom prst="ellipse">
            <a:avLst/>
          </a:prstGeom>
          <a:solidFill>
            <a:srgbClr val="1B4F9B"/>
          </a:solidFill>
          <a:ln w="12700">
            <a:solidFill>
              <a:srgbClr val="1B4F9B"/>
            </a:solidFill>
            <a:prstDash val="solid"/>
          </a:ln>
        </p:spPr>
      </p:sp>
      <p:sp>
        <p:nvSpPr>
          <p:cNvPr id="21" name="Text 19"/>
          <p:cNvSpPr/>
          <p:nvPr/>
        </p:nvSpPr>
        <p:spPr>
          <a:xfrm>
            <a:off x="5394960" y="148132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p:nvPr/>
        </p:nvSpPr>
        <p:spPr>
          <a:xfrm>
            <a:off x="4663440" y="2057400"/>
            <a:ext cx="196596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Judge</a:t>
            </a:r>
            <a:endParaRPr lang="en-US" sz="1300" dirty="0"/>
          </a:p>
        </p:txBody>
      </p:sp>
      <p:sp>
        <p:nvSpPr>
          <p:cNvPr id="23" name="Text 21"/>
          <p:cNvSpPr/>
          <p:nvPr/>
        </p:nvSpPr>
        <p:spPr>
          <a:xfrm>
            <a:off x="4663440" y="2377440"/>
            <a:ext cx="1965960" cy="777240"/>
          </a:xfrm>
          <a:prstGeom prst="rect">
            <a:avLst/>
          </a:prstGeom>
          <a:noFill/>
          <a:ln/>
        </p:spPr>
        <p:txBody>
          <a:bodyPr wrap="square" rtlCol="0" anchor="t"/>
          <a:lstStyle/>
          <a:p>
            <a:pPr algn="ctr" indent="0" marL="0">
              <a:buNone/>
            </a:pPr>
            <a:r>
              <a:rPr lang="en-US" sz="1000" dirty="0">
                <a:solidFill>
                  <a:srgbClr val="64635E"/>
                </a:solidFill>
                <a:latin typeface="Arial" pitchFamily="34" charset="0"/>
                <a:ea typeface="Arial" pitchFamily="34" charset="-122"/>
                <a:cs typeface="Arial" pitchFamily="34" charset="-120"/>
              </a:rPr>
              <a:t>Judge agent arbitrates</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conflicts, assigns</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confidence score</a:t>
            </a:r>
            <a:endParaRPr lang="en-US" sz="1000" dirty="0"/>
          </a:p>
        </p:txBody>
      </p:sp>
      <p:sp>
        <p:nvSpPr>
          <p:cNvPr id="24" name="Shape 22"/>
          <p:cNvSpPr/>
          <p:nvPr/>
        </p:nvSpPr>
        <p:spPr>
          <a:xfrm>
            <a:off x="6629400" y="1810512"/>
            <a:ext cx="182880" cy="0"/>
          </a:xfrm>
          <a:prstGeom prst="line">
            <a:avLst/>
          </a:prstGeom>
          <a:noFill/>
          <a:ln w="19050">
            <a:solidFill>
              <a:srgbClr val="2E6DA4"/>
            </a:solidFill>
            <a:prstDash val="solid"/>
          </a:ln>
        </p:spPr>
      </p:sp>
      <p:sp>
        <p:nvSpPr>
          <p:cNvPr id="25" name="Text 23"/>
          <p:cNvSpPr/>
          <p:nvPr/>
        </p:nvSpPr>
        <p:spPr>
          <a:xfrm>
            <a:off x="6656832" y="1700784"/>
            <a:ext cx="182880" cy="228600"/>
          </a:xfrm>
          <a:prstGeom prst="rect">
            <a:avLst/>
          </a:prstGeom>
          <a:noFill/>
          <a:ln/>
        </p:spPr>
        <p:txBody>
          <a:bodyPr wrap="square" rtlCol="0" anchor="ctr"/>
          <a:lstStyle/>
          <a:p>
            <a:pPr algn="ctr" indent="0" marL="0">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26" name="Shape 24"/>
          <p:cNvSpPr/>
          <p:nvPr/>
        </p:nvSpPr>
        <p:spPr>
          <a:xfrm>
            <a:off x="6812280" y="1371600"/>
            <a:ext cx="1965960" cy="2651760"/>
          </a:xfrm>
          <a:prstGeom prst="roundRect">
            <a:avLst>
              <a:gd name="adj" fmla="val 3721"/>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7" name="Shape 25"/>
          <p:cNvSpPr/>
          <p:nvPr/>
        </p:nvSpPr>
        <p:spPr>
          <a:xfrm>
            <a:off x="7543800" y="1481328"/>
            <a:ext cx="502920" cy="502920"/>
          </a:xfrm>
          <a:prstGeom prst="ellipse">
            <a:avLst/>
          </a:prstGeom>
          <a:solidFill>
            <a:srgbClr val="1B4F9B"/>
          </a:solidFill>
          <a:ln w="12700">
            <a:solidFill>
              <a:srgbClr val="1B4F9B"/>
            </a:solidFill>
            <a:prstDash val="solid"/>
          </a:ln>
        </p:spPr>
      </p:sp>
      <p:sp>
        <p:nvSpPr>
          <p:cNvPr id="28" name="Text 26"/>
          <p:cNvSpPr/>
          <p:nvPr/>
        </p:nvSpPr>
        <p:spPr>
          <a:xfrm>
            <a:off x="7543800" y="148132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9" name="Text 27"/>
          <p:cNvSpPr/>
          <p:nvPr/>
        </p:nvSpPr>
        <p:spPr>
          <a:xfrm>
            <a:off x="6812280" y="2057400"/>
            <a:ext cx="196596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Endorse</a:t>
            </a:r>
            <a:endParaRPr lang="en-US" sz="1300" dirty="0"/>
          </a:p>
        </p:txBody>
      </p:sp>
      <p:sp>
        <p:nvSpPr>
          <p:cNvPr id="30" name="Text 28"/>
          <p:cNvSpPr/>
          <p:nvPr/>
        </p:nvSpPr>
        <p:spPr>
          <a:xfrm>
            <a:off x="6812280" y="2377440"/>
            <a:ext cx="1965960" cy="777240"/>
          </a:xfrm>
          <a:prstGeom prst="rect">
            <a:avLst/>
          </a:prstGeom>
          <a:noFill/>
          <a:ln/>
        </p:spPr>
        <p:txBody>
          <a:bodyPr wrap="square" rtlCol="0" anchor="t"/>
          <a:lstStyle/>
          <a:p>
            <a:pPr algn="ctr" indent="0" marL="0">
              <a:buNone/>
            </a:pPr>
            <a:r>
              <a:rPr lang="en-US" sz="1000" dirty="0">
                <a:solidFill>
                  <a:srgbClr val="64635E"/>
                </a:solidFill>
                <a:latin typeface="Arial" pitchFamily="34" charset="0"/>
                <a:ea typeface="Arial" pitchFamily="34" charset="-122"/>
                <a:cs typeface="Arial" pitchFamily="34" charset="-120"/>
              </a:rPr>
              <a:t>Admin countersigns</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or assigns to architect</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via Jira</a:t>
            </a:r>
            <a:endParaRPr lang="en-US" sz="1000" dirty="0"/>
          </a:p>
        </p:txBody>
      </p:sp>
      <p:sp>
        <p:nvSpPr>
          <p:cNvPr id="31" name="Text 29"/>
          <p:cNvSpPr/>
          <p:nvPr/>
        </p:nvSpPr>
        <p:spPr>
          <a:xfrm>
            <a:off x="502920" y="4206240"/>
            <a:ext cx="8138160" cy="274320"/>
          </a:xfrm>
          <a:prstGeom prst="rect">
            <a:avLst/>
          </a:prstGeom>
          <a:noFill/>
          <a:ln/>
        </p:spPr>
        <p:txBody>
          <a:bodyPr wrap="square" rtlCol="0" anchor="ctr"/>
          <a:lstStyle/>
          <a:p>
            <a:pPr indent="0" marL="0">
              <a:buNone/>
            </a:pPr>
            <a:r>
              <a:rPr lang="en-US" sz="1000" b="1" i="1" dirty="0">
                <a:solidFill>
                  <a:srgbClr val="0F6E56"/>
                </a:solidFill>
                <a:latin typeface="Arial" pitchFamily="34" charset="0"/>
                <a:ea typeface="Arial" pitchFamily="34" charset="-122"/>
                <a:cs typeface="Arial" pitchFamily="34" charset="-120"/>
              </a:rPr>
              <a:t>Three modes: Document Review · Greenfield Design · Debate My Approach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MULTI-AGENT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Each agent brings genuine domain expertise — and they disagree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36576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Text 4"/>
          <p:cNvSpPr/>
          <p:nvPr/>
        </p:nvSpPr>
        <p:spPr>
          <a:xfrm>
            <a:off x="36576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Designer</a:t>
            </a:r>
            <a:endParaRPr lang="en-US" sz="1200" dirty="0"/>
          </a:p>
        </p:txBody>
      </p:sp>
      <p:sp>
        <p:nvSpPr>
          <p:cNvPr id="7" name="Text 5"/>
          <p:cNvSpPr/>
          <p:nvPr/>
        </p:nvSpPr>
        <p:spPr>
          <a:xfrm>
            <a:off x="36576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Overall architecture</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and patterns</a:t>
            </a:r>
            <a:endParaRPr lang="en-US" sz="900" dirty="0"/>
          </a:p>
        </p:txBody>
      </p:sp>
      <p:sp>
        <p:nvSpPr>
          <p:cNvPr id="8" name="Shape 6"/>
          <p:cNvSpPr/>
          <p:nvPr/>
        </p:nvSpPr>
        <p:spPr>
          <a:xfrm>
            <a:off x="205740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9" name="Text 7"/>
          <p:cNvSpPr/>
          <p:nvPr/>
        </p:nvSpPr>
        <p:spPr>
          <a:xfrm>
            <a:off x="205740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Apex</a:t>
            </a:r>
            <a:endParaRPr lang="en-US" sz="1200" dirty="0"/>
          </a:p>
        </p:txBody>
      </p:sp>
      <p:sp>
        <p:nvSpPr>
          <p:cNvPr id="10" name="Text 8"/>
          <p:cNvSpPr/>
          <p:nvPr/>
        </p:nvSpPr>
        <p:spPr>
          <a:xfrm>
            <a:off x="205740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Governor limits,</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triggers, async</a:t>
            </a:r>
            <a:endParaRPr lang="en-US" sz="900" dirty="0"/>
          </a:p>
        </p:txBody>
      </p:sp>
      <p:sp>
        <p:nvSpPr>
          <p:cNvPr id="11" name="Shape 9"/>
          <p:cNvSpPr/>
          <p:nvPr/>
        </p:nvSpPr>
        <p:spPr>
          <a:xfrm>
            <a:off x="374904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2" name="Text 10"/>
          <p:cNvSpPr/>
          <p:nvPr/>
        </p:nvSpPr>
        <p:spPr>
          <a:xfrm>
            <a:off x="374904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LWC</a:t>
            </a:r>
            <a:endParaRPr lang="en-US" sz="1200" dirty="0"/>
          </a:p>
        </p:txBody>
      </p:sp>
      <p:sp>
        <p:nvSpPr>
          <p:cNvPr id="13" name="Text 11"/>
          <p:cNvSpPr/>
          <p:nvPr/>
        </p:nvSpPr>
        <p:spPr>
          <a:xfrm>
            <a:off x="374904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UI components,</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portal performance</a:t>
            </a:r>
            <a:endParaRPr lang="en-US" sz="900" dirty="0"/>
          </a:p>
        </p:txBody>
      </p:sp>
      <p:sp>
        <p:nvSpPr>
          <p:cNvPr id="14" name="Shape 12"/>
          <p:cNvSpPr/>
          <p:nvPr/>
        </p:nvSpPr>
        <p:spPr>
          <a:xfrm>
            <a:off x="544068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5" name="Text 13"/>
          <p:cNvSpPr/>
          <p:nvPr/>
        </p:nvSpPr>
        <p:spPr>
          <a:xfrm>
            <a:off x="544068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Flow</a:t>
            </a:r>
            <a:endParaRPr lang="en-US" sz="1200" dirty="0"/>
          </a:p>
        </p:txBody>
      </p:sp>
      <p:sp>
        <p:nvSpPr>
          <p:cNvPr id="16" name="Text 14"/>
          <p:cNvSpPr/>
          <p:nvPr/>
        </p:nvSpPr>
        <p:spPr>
          <a:xfrm>
            <a:off x="544068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Automation,</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declarative logic</a:t>
            </a:r>
            <a:endParaRPr lang="en-US" sz="900" dirty="0"/>
          </a:p>
        </p:txBody>
      </p:sp>
      <p:sp>
        <p:nvSpPr>
          <p:cNvPr id="17" name="Shape 15"/>
          <p:cNvSpPr/>
          <p:nvPr/>
        </p:nvSpPr>
        <p:spPr>
          <a:xfrm>
            <a:off x="713232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8" name="Text 16"/>
          <p:cNvSpPr/>
          <p:nvPr/>
        </p:nvSpPr>
        <p:spPr>
          <a:xfrm>
            <a:off x="713232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Integration</a:t>
            </a:r>
            <a:endParaRPr lang="en-US" sz="1200" dirty="0"/>
          </a:p>
        </p:txBody>
      </p:sp>
      <p:sp>
        <p:nvSpPr>
          <p:cNvPr id="19" name="Text 17"/>
          <p:cNvSpPr/>
          <p:nvPr/>
        </p:nvSpPr>
        <p:spPr>
          <a:xfrm>
            <a:off x="713232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APIs, events,</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middleware</a:t>
            </a:r>
            <a:endParaRPr lang="en-US" sz="900" dirty="0"/>
          </a:p>
        </p:txBody>
      </p:sp>
      <p:sp>
        <p:nvSpPr>
          <p:cNvPr id="20" name="Shape 18"/>
          <p:cNvSpPr/>
          <p:nvPr/>
        </p:nvSpPr>
        <p:spPr>
          <a:xfrm>
            <a:off x="365760" y="278892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1" name="Text 19"/>
          <p:cNvSpPr/>
          <p:nvPr/>
        </p:nvSpPr>
        <p:spPr>
          <a:xfrm>
            <a:off x="365760" y="289864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Data</a:t>
            </a:r>
            <a:endParaRPr lang="en-US" sz="1200" dirty="0"/>
          </a:p>
        </p:txBody>
      </p:sp>
      <p:sp>
        <p:nvSpPr>
          <p:cNvPr id="22" name="Text 20"/>
          <p:cNvSpPr/>
          <p:nvPr/>
        </p:nvSpPr>
        <p:spPr>
          <a:xfrm>
            <a:off x="365760" y="324612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Schema, volume,</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security model</a:t>
            </a:r>
            <a:endParaRPr lang="en-US" sz="900" dirty="0"/>
          </a:p>
        </p:txBody>
      </p:sp>
      <p:sp>
        <p:nvSpPr>
          <p:cNvPr id="23" name="Shape 21"/>
          <p:cNvSpPr/>
          <p:nvPr/>
        </p:nvSpPr>
        <p:spPr>
          <a:xfrm>
            <a:off x="2057400" y="278892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4" name="Text 22"/>
          <p:cNvSpPr/>
          <p:nvPr/>
        </p:nvSpPr>
        <p:spPr>
          <a:xfrm>
            <a:off x="2057400" y="289864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OmniStudio</a:t>
            </a:r>
            <a:endParaRPr lang="en-US" sz="1200" dirty="0"/>
          </a:p>
        </p:txBody>
      </p:sp>
      <p:sp>
        <p:nvSpPr>
          <p:cNvPr id="25" name="Text 23"/>
          <p:cNvSpPr/>
          <p:nvPr/>
        </p:nvSpPr>
        <p:spPr>
          <a:xfrm>
            <a:off x="2057400" y="324612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Vlocity, DataRaptor,</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OmniScript</a:t>
            </a:r>
            <a:endParaRPr lang="en-US" sz="900" dirty="0"/>
          </a:p>
        </p:txBody>
      </p:sp>
      <p:sp>
        <p:nvSpPr>
          <p:cNvPr id="26" name="Shape 24"/>
          <p:cNvSpPr/>
          <p:nvPr/>
        </p:nvSpPr>
        <p:spPr>
          <a:xfrm>
            <a:off x="3749040" y="278892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7" name="Text 25"/>
          <p:cNvSpPr/>
          <p:nvPr/>
        </p:nvSpPr>
        <p:spPr>
          <a:xfrm>
            <a:off x="3749040" y="289864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Patterns</a:t>
            </a:r>
            <a:endParaRPr lang="en-US" sz="1200" dirty="0"/>
          </a:p>
        </p:txBody>
      </p:sp>
      <p:sp>
        <p:nvSpPr>
          <p:cNvPr id="28" name="Text 26"/>
          <p:cNvSpPr/>
          <p:nvPr/>
        </p:nvSpPr>
        <p:spPr>
          <a:xfrm>
            <a:off x="3749040" y="324612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SI failure patterns,</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anti-patterns</a:t>
            </a:r>
            <a:endParaRPr lang="en-US" sz="900" dirty="0"/>
          </a:p>
        </p:txBody>
      </p:sp>
      <p:sp>
        <p:nvSpPr>
          <p:cNvPr id="29" name="Shape 27"/>
          <p:cNvSpPr/>
          <p:nvPr/>
        </p:nvSpPr>
        <p:spPr>
          <a:xfrm>
            <a:off x="5440680" y="2788920"/>
            <a:ext cx="1554480" cy="1234440"/>
          </a:xfrm>
          <a:prstGeom prst="roundRect">
            <a:avLst>
              <a:gd name="adj" fmla="val 5926"/>
            </a:avLst>
          </a:prstGeom>
          <a:solidFill>
            <a:srgbClr val="0F1E3C"/>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30" name="Text 28"/>
          <p:cNvSpPr/>
          <p:nvPr/>
        </p:nvSpPr>
        <p:spPr>
          <a:xfrm>
            <a:off x="5440680" y="2898648"/>
            <a:ext cx="15544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Judge</a:t>
            </a:r>
            <a:endParaRPr lang="en-US" sz="1200" dirty="0"/>
          </a:p>
        </p:txBody>
      </p:sp>
      <p:sp>
        <p:nvSpPr>
          <p:cNvPr id="31" name="Text 29"/>
          <p:cNvSpPr/>
          <p:nvPr/>
        </p:nvSpPr>
        <p:spPr>
          <a:xfrm>
            <a:off x="5440680" y="3246120"/>
            <a:ext cx="1554480" cy="640080"/>
          </a:xfrm>
          <a:prstGeom prst="rect">
            <a:avLst/>
          </a:prstGeom>
          <a:noFill/>
          <a:ln/>
        </p:spPr>
        <p:txBody>
          <a:bodyPr wrap="square" rtlCol="0" anchor="t"/>
          <a:lstStyle/>
          <a:p>
            <a:pPr algn="ctr" indent="0" marL="0">
              <a:buNone/>
            </a:pPr>
            <a:r>
              <a:rPr lang="en-US" sz="900" dirty="0">
                <a:solidFill>
                  <a:srgbClr val="A0B8D8"/>
                </a:solidFill>
                <a:latin typeface="Arial" pitchFamily="34" charset="0"/>
                <a:ea typeface="Arial" pitchFamily="34" charset="-122"/>
                <a:cs typeface="Arial" pitchFamily="34" charset="-120"/>
              </a:rPr>
              <a:t>Arbitrates conflicts,</a:t>
            </a:r>
            <a:endParaRPr lang="en-US" sz="900" dirty="0"/>
          </a:p>
          <a:p>
            <a:pPr algn="ctr" indent="0" marL="0">
              <a:buNone/>
            </a:pPr>
            <a:r>
              <a:rPr lang="en-US" sz="900" dirty="0">
                <a:solidFill>
                  <a:srgbClr val="A0B8D8"/>
                </a:solidFill>
                <a:latin typeface="Arial" pitchFamily="34" charset="0"/>
                <a:ea typeface="Arial" pitchFamily="34" charset="-122"/>
                <a:cs typeface="Arial" pitchFamily="34" charset="-120"/>
              </a:rPr>
              <a:t>final verdict</a:t>
            </a:r>
            <a:endParaRPr lang="en-US" sz="900" dirty="0"/>
          </a:p>
        </p:txBody>
      </p:sp>
      <p:sp>
        <p:nvSpPr>
          <p:cNvPr id="32" name="Text 30"/>
          <p:cNvSpPr/>
          <p:nvPr/>
        </p:nvSpPr>
        <p:spPr>
          <a:xfrm>
            <a:off x="502920" y="4480560"/>
            <a:ext cx="8138160" cy="256032"/>
          </a:xfrm>
          <a:prstGeom prst="rect">
            <a:avLst/>
          </a:prstGeom>
          <a:noFill/>
          <a:ln/>
        </p:spPr>
        <p:txBody>
          <a:bodyPr wrap="square" rtlCol="0" anchor="ctr"/>
          <a:lstStyle/>
          <a:p>
            <a:pPr algn="ctr" indent="0" marL="0">
              <a:buNone/>
            </a:pPr>
            <a:r>
              <a:rPr lang="en-US" sz="1000" i="1" dirty="0">
                <a:solidFill>
                  <a:srgbClr val="64635E"/>
                </a:solidFill>
                <a:latin typeface="Arial" pitchFamily="34" charset="0"/>
                <a:ea typeface="Arial" pitchFamily="34" charset="-122"/>
                <a:cs typeface="Arial" pitchFamily="34" charset="-120"/>
              </a:rPr>
              <a:t>Phase 1: Designer (skipped on doc upload) → Phase 2: 7 specialists in sequence → Phase 3: Judge + Scribe + Learner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AGENT GROUNDING</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Agents are grounded in four layers of knowledge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502920" y="1371600"/>
            <a:ext cx="8138160" cy="640080"/>
          </a:xfrm>
          <a:prstGeom prst="roundRect">
            <a:avLst>
              <a:gd name="adj" fmla="val 11429"/>
            </a:avLst>
          </a:prstGeom>
          <a:solidFill>
            <a:srgbClr val="EBEBEB"/>
          </a:solidFill>
          <a:ln w="6350">
            <a:solidFill>
              <a:srgbClr val="D3D1C7"/>
            </a:solidFill>
            <a:prstDash val="solid"/>
          </a:ln>
        </p:spPr>
      </p:sp>
      <p:sp>
        <p:nvSpPr>
          <p:cNvPr id="6" name="Shape 4"/>
          <p:cNvSpPr/>
          <p:nvPr/>
        </p:nvSpPr>
        <p:spPr>
          <a:xfrm>
            <a:off x="658368" y="1463040"/>
            <a:ext cx="411480" cy="411480"/>
          </a:xfrm>
          <a:prstGeom prst="ellipse">
            <a:avLst/>
          </a:prstGeom>
          <a:solidFill>
            <a:srgbClr val="0F1E3C"/>
          </a:solidFill>
          <a:ln w="12700">
            <a:solidFill>
              <a:srgbClr val="0F1E3C"/>
            </a:solidFill>
            <a:prstDash val="solid"/>
          </a:ln>
        </p:spPr>
      </p:sp>
      <p:sp>
        <p:nvSpPr>
          <p:cNvPr id="7" name="Text 5"/>
          <p:cNvSpPr/>
          <p:nvPr/>
        </p:nvSpPr>
        <p:spPr>
          <a:xfrm>
            <a:off x="658368" y="14630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207008" y="1426464"/>
            <a:ext cx="2926080" cy="256032"/>
          </a:xfrm>
          <a:prstGeom prst="rect">
            <a:avLst/>
          </a:prstGeom>
          <a:noFill/>
          <a:ln/>
        </p:spPr>
        <p:txBody>
          <a:bodyPr wrap="square" rtlCol="0" anchor="ctr"/>
          <a:lstStyle/>
          <a:p>
            <a:pPr indent="0" marL="0">
              <a:buNone/>
            </a:pPr>
            <a:r>
              <a:rPr lang="en-US" sz="1200" b="1" dirty="0">
                <a:solidFill>
                  <a:srgbClr val="0F1E3C"/>
                </a:solidFill>
                <a:latin typeface="Arial" pitchFamily="34" charset="0"/>
                <a:ea typeface="Arial" pitchFamily="34" charset="-122"/>
                <a:cs typeface="Arial" pitchFamily="34" charset="-120"/>
              </a:rPr>
              <a:t>Base model knowledge</a:t>
            </a:r>
            <a:endParaRPr lang="en-US" sz="1200" dirty="0"/>
          </a:p>
        </p:txBody>
      </p:sp>
      <p:sp>
        <p:nvSpPr>
          <p:cNvPr id="9" name="Text 7"/>
          <p:cNvSpPr/>
          <p:nvPr/>
        </p:nvSpPr>
        <p:spPr>
          <a:xfrm>
            <a:off x="1207008" y="1700784"/>
            <a:ext cx="7223760" cy="219456"/>
          </a:xfrm>
          <a:prstGeom prst="rect">
            <a:avLst/>
          </a:prstGeom>
          <a:noFill/>
          <a:ln/>
        </p:spPr>
        <p:txBody>
          <a:bodyPr wrap="square" rtlCol="0" anchor="ctr"/>
          <a:lstStyle/>
          <a:p>
            <a:pPr indent="0" marL="0">
              <a:buNone/>
            </a:pPr>
            <a:r>
              <a:rPr lang="en-US" sz="1000" dirty="0">
                <a:solidFill>
                  <a:srgbClr val="64635E"/>
                </a:solidFill>
                <a:latin typeface="Arial" pitchFamily="34" charset="0"/>
                <a:ea typeface="Arial" pitchFamily="34" charset="-122"/>
                <a:cs typeface="Arial" pitchFamily="34" charset="-120"/>
              </a:rPr>
              <a:t>Claude's training — Salesforce patterns, anti-patterns, best practices</a:t>
            </a:r>
            <a:endParaRPr lang="en-US" sz="1000" dirty="0"/>
          </a:p>
        </p:txBody>
      </p:sp>
      <p:sp>
        <p:nvSpPr>
          <p:cNvPr id="10" name="Shape 8"/>
          <p:cNvSpPr/>
          <p:nvPr/>
        </p:nvSpPr>
        <p:spPr>
          <a:xfrm>
            <a:off x="502920" y="2121408"/>
            <a:ext cx="8138160" cy="640080"/>
          </a:xfrm>
          <a:prstGeom prst="roundRect">
            <a:avLst>
              <a:gd name="adj" fmla="val 11429"/>
            </a:avLst>
          </a:prstGeom>
          <a:solidFill>
            <a:srgbClr val="EBF2FA"/>
          </a:solidFill>
          <a:ln w="6350">
            <a:solidFill>
              <a:srgbClr val="D3D1C7"/>
            </a:solidFill>
            <a:prstDash val="solid"/>
          </a:ln>
        </p:spPr>
      </p:sp>
      <p:sp>
        <p:nvSpPr>
          <p:cNvPr id="11" name="Shape 9"/>
          <p:cNvSpPr/>
          <p:nvPr/>
        </p:nvSpPr>
        <p:spPr>
          <a:xfrm>
            <a:off x="658368" y="2212848"/>
            <a:ext cx="411480" cy="411480"/>
          </a:xfrm>
          <a:prstGeom prst="ellipse">
            <a:avLst/>
          </a:prstGeom>
          <a:solidFill>
            <a:srgbClr val="1B4F9B"/>
          </a:solidFill>
          <a:ln w="12700">
            <a:solidFill>
              <a:srgbClr val="1B4F9B"/>
            </a:solidFill>
            <a:prstDash val="solid"/>
          </a:ln>
        </p:spPr>
      </p:sp>
      <p:sp>
        <p:nvSpPr>
          <p:cNvPr id="12" name="Text 10"/>
          <p:cNvSpPr/>
          <p:nvPr/>
        </p:nvSpPr>
        <p:spPr>
          <a:xfrm>
            <a:off x="658368" y="221284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1207008" y="2176272"/>
            <a:ext cx="2926080" cy="256032"/>
          </a:xfrm>
          <a:prstGeom prst="rect">
            <a:avLst/>
          </a:prstGeom>
          <a:noFill/>
          <a:ln/>
        </p:spPr>
        <p:txBody>
          <a:bodyPr wrap="square" rtlCol="0" anchor="ctr"/>
          <a:lstStyle/>
          <a:p>
            <a:pPr indent="0" marL="0">
              <a:buNone/>
            </a:pPr>
            <a:r>
              <a:rPr lang="en-US" sz="1200" b="1" dirty="0">
                <a:solidFill>
                  <a:srgbClr val="1B4F9B"/>
                </a:solidFill>
                <a:latin typeface="Arial" pitchFamily="34" charset="0"/>
                <a:ea typeface="Arial" pitchFamily="34" charset="-122"/>
                <a:cs typeface="Arial" pitchFamily="34" charset="-120"/>
              </a:rPr>
              <a:t>Static principles</a:t>
            </a:r>
            <a:endParaRPr lang="en-US" sz="1200" dirty="0"/>
          </a:p>
        </p:txBody>
      </p:sp>
      <p:sp>
        <p:nvSpPr>
          <p:cNvPr id="14" name="Text 12"/>
          <p:cNvSpPr/>
          <p:nvPr/>
        </p:nvSpPr>
        <p:spPr>
          <a:xfrm>
            <a:off x="1207008" y="2450592"/>
            <a:ext cx="7223760" cy="219456"/>
          </a:xfrm>
          <a:prstGeom prst="rect">
            <a:avLst/>
          </a:prstGeom>
          <a:noFill/>
          <a:ln/>
        </p:spPr>
        <p:txBody>
          <a:bodyPr wrap="square" rtlCol="0" anchor="ctr"/>
          <a:lstStyle/>
          <a:p>
            <a:pPr indent="0" marL="0">
              <a:buNone/>
            </a:pPr>
            <a:r>
              <a:rPr lang="en-US" sz="1000" dirty="0">
                <a:solidFill>
                  <a:srgbClr val="64635E"/>
                </a:solidFill>
                <a:latin typeface="Arial" pitchFamily="34" charset="0"/>
                <a:ea typeface="Arial" pitchFamily="34" charset="-122"/>
                <a:cs typeface="Arial" pitchFamily="34" charset="-120"/>
              </a:rPr>
              <a:t>Curated Salesforce Well-Architected principles injected per agent. Zero latency.</a:t>
            </a:r>
            <a:endParaRPr lang="en-US" sz="1000" dirty="0"/>
          </a:p>
        </p:txBody>
      </p:sp>
      <p:sp>
        <p:nvSpPr>
          <p:cNvPr id="15" name="Shape 13"/>
          <p:cNvSpPr/>
          <p:nvPr/>
        </p:nvSpPr>
        <p:spPr>
          <a:xfrm>
            <a:off x="502920" y="2871216"/>
            <a:ext cx="8138160" cy="640080"/>
          </a:xfrm>
          <a:prstGeom prst="roundRect">
            <a:avLst>
              <a:gd name="adj" fmla="val 11429"/>
            </a:avLst>
          </a:prstGeom>
          <a:solidFill>
            <a:srgbClr val="E1F5EE"/>
          </a:solidFill>
          <a:ln w="6350">
            <a:solidFill>
              <a:srgbClr val="D3D1C7"/>
            </a:solidFill>
            <a:prstDash val="solid"/>
          </a:ln>
        </p:spPr>
      </p:sp>
      <p:sp>
        <p:nvSpPr>
          <p:cNvPr id="16" name="Shape 14"/>
          <p:cNvSpPr/>
          <p:nvPr/>
        </p:nvSpPr>
        <p:spPr>
          <a:xfrm>
            <a:off x="658368" y="2962656"/>
            <a:ext cx="411480" cy="411480"/>
          </a:xfrm>
          <a:prstGeom prst="ellipse">
            <a:avLst/>
          </a:prstGeom>
          <a:solidFill>
            <a:srgbClr val="0F6E56"/>
          </a:solidFill>
          <a:ln w="12700">
            <a:solidFill>
              <a:srgbClr val="0F6E56"/>
            </a:solidFill>
            <a:prstDash val="solid"/>
          </a:ln>
        </p:spPr>
      </p:sp>
      <p:sp>
        <p:nvSpPr>
          <p:cNvPr id="17" name="Text 15"/>
          <p:cNvSpPr/>
          <p:nvPr/>
        </p:nvSpPr>
        <p:spPr>
          <a:xfrm>
            <a:off x="658368" y="296265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1207008" y="2926080"/>
            <a:ext cx="2926080" cy="256032"/>
          </a:xfrm>
          <a:prstGeom prst="rect">
            <a:avLst/>
          </a:prstGeom>
          <a:noFill/>
          <a:ln/>
        </p:spPr>
        <p:txBody>
          <a:bodyPr wrap="square" rtlCol="0" anchor="ctr"/>
          <a:lstStyle/>
          <a:p>
            <a:pPr indent="0" marL="0">
              <a:buNone/>
            </a:pPr>
            <a:r>
              <a:rPr lang="en-US" sz="1200" b="1" dirty="0">
                <a:solidFill>
                  <a:srgbClr val="0F6E56"/>
                </a:solidFill>
                <a:latin typeface="Arial" pitchFamily="34" charset="0"/>
                <a:ea typeface="Arial" pitchFamily="34" charset="-122"/>
                <a:cs typeface="Arial" pitchFamily="34" charset="-120"/>
              </a:rPr>
              <a:t>SI failure pattern library</a:t>
            </a:r>
            <a:endParaRPr lang="en-US" sz="1200" dirty="0"/>
          </a:p>
        </p:txBody>
      </p:sp>
      <p:sp>
        <p:nvSpPr>
          <p:cNvPr id="19" name="Text 17"/>
          <p:cNvSpPr/>
          <p:nvPr/>
        </p:nvSpPr>
        <p:spPr>
          <a:xfrm>
            <a:off x="1207008" y="3200400"/>
            <a:ext cx="7223760" cy="219456"/>
          </a:xfrm>
          <a:prstGeom prst="rect">
            <a:avLst/>
          </a:prstGeom>
          <a:noFill/>
          <a:ln/>
        </p:spPr>
        <p:txBody>
          <a:bodyPr wrap="square" rtlCol="0" anchor="ctr"/>
          <a:lstStyle/>
          <a:p>
            <a:pPr indent="0" marL="0">
              <a:buNone/>
            </a:pPr>
            <a:r>
              <a:rPr lang="en-US" sz="1000" dirty="0">
                <a:solidFill>
                  <a:srgbClr val="64635E"/>
                </a:solidFill>
                <a:latin typeface="Arial" pitchFamily="34" charset="0"/>
                <a:ea typeface="Arial" pitchFamily="34" charset="-122"/>
                <a:cs typeface="Arial" pitchFamily="34" charset="-120"/>
              </a:rPr>
              <a:t>Real patterns from past engagements (FP-004 to FP-012). Agents cite by ID.</a:t>
            </a:r>
            <a:endParaRPr lang="en-US" sz="1000" dirty="0"/>
          </a:p>
        </p:txBody>
      </p:sp>
      <p:sp>
        <p:nvSpPr>
          <p:cNvPr id="20" name="Shape 18"/>
          <p:cNvSpPr/>
          <p:nvPr/>
        </p:nvSpPr>
        <p:spPr>
          <a:xfrm>
            <a:off x="502920" y="3621024"/>
            <a:ext cx="8138160" cy="640080"/>
          </a:xfrm>
          <a:prstGeom prst="roundRect">
            <a:avLst>
              <a:gd name="adj" fmla="val 11429"/>
            </a:avLst>
          </a:prstGeom>
          <a:solidFill>
            <a:srgbClr val="FAEEDA"/>
          </a:solidFill>
          <a:ln w="6350">
            <a:solidFill>
              <a:srgbClr val="D3D1C7"/>
            </a:solidFill>
            <a:prstDash val="solid"/>
          </a:ln>
        </p:spPr>
      </p:sp>
      <p:sp>
        <p:nvSpPr>
          <p:cNvPr id="21" name="Shape 19"/>
          <p:cNvSpPr/>
          <p:nvPr/>
        </p:nvSpPr>
        <p:spPr>
          <a:xfrm>
            <a:off x="658368" y="3712464"/>
            <a:ext cx="411480" cy="411480"/>
          </a:xfrm>
          <a:prstGeom prst="ellipse">
            <a:avLst/>
          </a:prstGeom>
          <a:solidFill>
            <a:srgbClr val="BA7517"/>
          </a:solidFill>
          <a:ln w="12700">
            <a:solidFill>
              <a:srgbClr val="BA7517"/>
            </a:solidFill>
            <a:prstDash val="solid"/>
          </a:ln>
        </p:spPr>
      </p:sp>
      <p:sp>
        <p:nvSpPr>
          <p:cNvPr id="22" name="Text 20"/>
          <p:cNvSpPr/>
          <p:nvPr/>
        </p:nvSpPr>
        <p:spPr>
          <a:xfrm>
            <a:off x="658368" y="371246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p:nvPr/>
        </p:nvSpPr>
        <p:spPr>
          <a:xfrm>
            <a:off x="1207008" y="3675888"/>
            <a:ext cx="2926080" cy="256032"/>
          </a:xfrm>
          <a:prstGeom prst="rect">
            <a:avLst/>
          </a:prstGeom>
          <a:noFill/>
          <a:ln/>
        </p:spPr>
        <p:txBody>
          <a:bodyPr wrap="square" rtlCol="0" anchor="ctr"/>
          <a:lstStyle/>
          <a:p>
            <a:pPr indent="0" marL="0">
              <a:buNone/>
            </a:pPr>
            <a:r>
              <a:rPr lang="en-US" sz="1200" b="1" dirty="0">
                <a:solidFill>
                  <a:srgbClr val="BA7517"/>
                </a:solidFill>
                <a:latin typeface="Arial" pitchFamily="34" charset="0"/>
                <a:ea typeface="Arial" pitchFamily="34" charset="-122"/>
                <a:cs typeface="Arial" pitchFamily="34" charset="-120"/>
              </a:rPr>
              <a:t>Cross-session memory</a:t>
            </a:r>
            <a:endParaRPr lang="en-US" sz="1200" dirty="0"/>
          </a:p>
        </p:txBody>
      </p:sp>
      <p:sp>
        <p:nvSpPr>
          <p:cNvPr id="24" name="Text 22"/>
          <p:cNvSpPr/>
          <p:nvPr/>
        </p:nvSpPr>
        <p:spPr>
          <a:xfrm>
            <a:off x="1207008" y="3950208"/>
            <a:ext cx="7223760" cy="219456"/>
          </a:xfrm>
          <a:prstGeom prst="rect">
            <a:avLst/>
          </a:prstGeom>
          <a:noFill/>
          <a:ln/>
        </p:spPr>
        <p:txBody>
          <a:bodyPr wrap="square" rtlCol="0" anchor="ctr"/>
          <a:lstStyle/>
          <a:p>
            <a:pPr indent="0" marL="0">
              <a:buNone/>
            </a:pPr>
            <a:r>
              <a:rPr lang="en-US" sz="1000" dirty="0">
                <a:solidFill>
                  <a:srgbClr val="64635E"/>
                </a:solidFill>
                <a:latin typeface="Arial" pitchFamily="34" charset="0"/>
                <a:ea typeface="Arial" pitchFamily="34" charset="-122"/>
                <a:cs typeface="Arial" pitchFamily="34" charset="-120"/>
              </a:rPr>
              <a:t>Past ADR decisions retrieved from Jira. Agents enforce consistency across sessions.</a:t>
            </a:r>
            <a:endParaRPr lang="en-US" sz="1000" dirty="0"/>
          </a:p>
        </p:txBody>
      </p:sp>
      <p:sp>
        <p:nvSpPr>
          <p:cNvPr id="25" name="Text 23"/>
          <p:cNvSpPr/>
          <p:nvPr/>
        </p:nvSpPr>
        <p:spPr>
          <a:xfrm>
            <a:off x="502920" y="4480560"/>
            <a:ext cx="8138160" cy="256032"/>
          </a:xfrm>
          <a:prstGeom prst="rect">
            <a:avLst/>
          </a:prstGeom>
          <a:noFill/>
          <a:ln/>
        </p:spPr>
        <p:txBody>
          <a:bodyPr wrap="square" rtlCol="0" anchor="ctr"/>
          <a:lstStyle/>
          <a:p>
            <a:pPr indent="0" marL="0">
              <a:buNone/>
            </a:pPr>
            <a:r>
              <a:rPr lang="en-US" sz="1000" b="1" i="1" dirty="0">
                <a:solidFill>
                  <a:srgbClr val="0F6E56"/>
                </a:solidFill>
                <a:latin typeface="Arial" pitchFamily="34" charset="0"/>
                <a:ea typeface="Arial" pitchFamily="34" charset="-122"/>
                <a:cs typeface="Arial" pitchFamily="34" charset="-120"/>
              </a:rPr>
              <a:t>Planned: pgvector RAG in Supabase — Well-Architected Framework + delivery standards as searchable vector store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COST ENGINEERING — LEARNINGS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Token consumption: measured, then engineered down</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Text 3"/>
          <p:cNvSpPr/>
          <p:nvPr/>
        </p:nvSpPr>
        <p:spPr>
          <a:xfrm>
            <a:off x="502920" y="1325880"/>
            <a:ext cx="3840480" cy="274320"/>
          </a:xfrm>
          <a:prstGeom prst="rect">
            <a:avLst/>
          </a:prstGeom>
          <a:noFill/>
          <a:ln/>
        </p:spPr>
        <p:txBody>
          <a:bodyPr wrap="square" rtlCol="0" anchor="ctr"/>
          <a:lstStyle/>
          <a:p>
            <a:pPr indent="0" marL="0">
              <a:buNone/>
            </a:pPr>
            <a:r>
              <a:rPr lang="en-US" sz="1200" b="1" dirty="0">
                <a:solidFill>
                  <a:srgbClr val="0F1E3C"/>
                </a:solidFill>
                <a:latin typeface="Arial" pitchFamily="34" charset="0"/>
                <a:ea typeface="Arial" pitchFamily="34" charset="-122"/>
                <a:cs typeface="Arial" pitchFamily="34" charset="-120"/>
              </a:rPr>
              <a:t>Baseline per session (9 agents, real doc)</a:t>
            </a:r>
            <a:endParaRPr lang="en-US" sz="1200" dirty="0"/>
          </a:p>
        </p:txBody>
      </p:sp>
      <p:sp>
        <p:nvSpPr>
          <p:cNvPr id="6" name="Shape 4"/>
          <p:cNvSpPr/>
          <p:nvPr/>
        </p:nvSpPr>
        <p:spPr>
          <a:xfrm>
            <a:off x="502920" y="1627632"/>
            <a:ext cx="5029200" cy="329184"/>
          </a:xfrm>
          <a:prstGeom prst="rect">
            <a:avLst/>
          </a:prstGeom>
          <a:solidFill>
            <a:srgbClr val="0F1E3C"/>
          </a:solidFill>
          <a:ln w="6350">
            <a:solidFill>
              <a:srgbClr val="EBEBEB"/>
            </a:solidFill>
            <a:prstDash val="solid"/>
          </a:ln>
        </p:spPr>
      </p:sp>
      <p:sp>
        <p:nvSpPr>
          <p:cNvPr id="7" name="Text 5"/>
          <p:cNvSpPr/>
          <p:nvPr/>
        </p:nvSpPr>
        <p:spPr>
          <a:xfrm>
            <a:off x="594360" y="1673352"/>
            <a:ext cx="283464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Source</a:t>
            </a:r>
            <a:endParaRPr lang="en-US" sz="900" dirty="0"/>
          </a:p>
        </p:txBody>
      </p:sp>
      <p:sp>
        <p:nvSpPr>
          <p:cNvPr id="8" name="Text 6"/>
          <p:cNvSpPr/>
          <p:nvPr/>
        </p:nvSpPr>
        <p:spPr>
          <a:xfrm>
            <a:off x="3474720" y="1673352"/>
            <a:ext cx="68580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Tokens</a:t>
            </a:r>
            <a:endParaRPr lang="en-US" sz="900" dirty="0"/>
          </a:p>
        </p:txBody>
      </p:sp>
      <p:sp>
        <p:nvSpPr>
          <p:cNvPr id="9" name="Text 7"/>
          <p:cNvSpPr/>
          <p:nvPr/>
        </p:nvSpPr>
        <p:spPr>
          <a:xfrm>
            <a:off x="4206240" y="1673352"/>
            <a:ext cx="123444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Notes</a:t>
            </a:r>
            <a:endParaRPr lang="en-US" sz="900" dirty="0"/>
          </a:p>
        </p:txBody>
      </p:sp>
      <p:sp>
        <p:nvSpPr>
          <p:cNvPr id="10" name="Shape 8"/>
          <p:cNvSpPr/>
          <p:nvPr/>
        </p:nvSpPr>
        <p:spPr>
          <a:xfrm>
            <a:off x="502920" y="1975104"/>
            <a:ext cx="5029200" cy="329184"/>
          </a:xfrm>
          <a:prstGeom prst="rect">
            <a:avLst/>
          </a:prstGeom>
          <a:solidFill>
            <a:srgbClr val="F7F8FA"/>
          </a:solidFill>
          <a:ln w="6350">
            <a:solidFill>
              <a:srgbClr val="EBEBEB"/>
            </a:solidFill>
            <a:prstDash val="solid"/>
          </a:ln>
        </p:spPr>
      </p:sp>
      <p:sp>
        <p:nvSpPr>
          <p:cNvPr id="11" name="Text 9"/>
          <p:cNvSpPr/>
          <p:nvPr/>
        </p:nvSpPr>
        <p:spPr>
          <a:xfrm>
            <a:off x="594360" y="2020824"/>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Document input (NovaPeak SDD)</a:t>
            </a:r>
            <a:endParaRPr lang="en-US" sz="950" dirty="0"/>
          </a:p>
        </p:txBody>
      </p:sp>
      <p:sp>
        <p:nvSpPr>
          <p:cNvPr id="12" name="Text 10"/>
          <p:cNvSpPr/>
          <p:nvPr/>
        </p:nvSpPr>
        <p:spPr>
          <a:xfrm>
            <a:off x="3474720" y="2020824"/>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~4,000</a:t>
            </a:r>
            <a:endParaRPr lang="en-US" sz="950" dirty="0"/>
          </a:p>
        </p:txBody>
      </p:sp>
      <p:sp>
        <p:nvSpPr>
          <p:cNvPr id="13" name="Text 11"/>
          <p:cNvSpPr/>
          <p:nvPr/>
        </p:nvSpPr>
        <p:spPr>
          <a:xfrm>
            <a:off x="4206240" y="2020824"/>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Injected to all agents</a:t>
            </a:r>
            <a:endParaRPr lang="en-US" sz="950" dirty="0"/>
          </a:p>
        </p:txBody>
      </p:sp>
      <p:sp>
        <p:nvSpPr>
          <p:cNvPr id="14" name="Shape 12"/>
          <p:cNvSpPr/>
          <p:nvPr/>
        </p:nvSpPr>
        <p:spPr>
          <a:xfrm>
            <a:off x="502920" y="2322576"/>
            <a:ext cx="5029200" cy="329184"/>
          </a:xfrm>
          <a:prstGeom prst="rect">
            <a:avLst/>
          </a:prstGeom>
          <a:solidFill>
            <a:srgbClr val="FFFFFF"/>
          </a:solidFill>
          <a:ln w="6350">
            <a:solidFill>
              <a:srgbClr val="EBEBEB"/>
            </a:solidFill>
            <a:prstDash val="solid"/>
          </a:ln>
        </p:spPr>
      </p:sp>
      <p:sp>
        <p:nvSpPr>
          <p:cNvPr id="15" name="Text 13"/>
          <p:cNvSpPr/>
          <p:nvPr/>
        </p:nvSpPr>
        <p:spPr>
          <a:xfrm>
            <a:off x="594360" y="2368296"/>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9 agent system prompts</a:t>
            </a:r>
            <a:endParaRPr lang="en-US" sz="950" dirty="0"/>
          </a:p>
        </p:txBody>
      </p:sp>
      <p:sp>
        <p:nvSpPr>
          <p:cNvPr id="16" name="Text 14"/>
          <p:cNvSpPr/>
          <p:nvPr/>
        </p:nvSpPr>
        <p:spPr>
          <a:xfrm>
            <a:off x="3474720" y="2368296"/>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~18,000</a:t>
            </a:r>
            <a:endParaRPr lang="en-US" sz="950" dirty="0"/>
          </a:p>
        </p:txBody>
      </p:sp>
      <p:sp>
        <p:nvSpPr>
          <p:cNvPr id="17" name="Text 15"/>
          <p:cNvSpPr/>
          <p:nvPr/>
        </p:nvSpPr>
        <p:spPr>
          <a:xfrm>
            <a:off x="4206240" y="2368296"/>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Duplicated boilerplate = waste</a:t>
            </a:r>
            <a:endParaRPr lang="en-US" sz="950" dirty="0"/>
          </a:p>
        </p:txBody>
      </p:sp>
      <p:sp>
        <p:nvSpPr>
          <p:cNvPr id="18" name="Shape 16"/>
          <p:cNvSpPr/>
          <p:nvPr/>
        </p:nvSpPr>
        <p:spPr>
          <a:xfrm>
            <a:off x="502920" y="2670048"/>
            <a:ext cx="5029200" cy="329184"/>
          </a:xfrm>
          <a:prstGeom prst="rect">
            <a:avLst/>
          </a:prstGeom>
          <a:solidFill>
            <a:srgbClr val="F7F8FA"/>
          </a:solidFill>
          <a:ln w="6350">
            <a:solidFill>
              <a:srgbClr val="EBEBEB"/>
            </a:solidFill>
            <a:prstDash val="solid"/>
          </a:ln>
        </p:spPr>
      </p:sp>
      <p:sp>
        <p:nvSpPr>
          <p:cNvPr id="19" name="Text 17"/>
          <p:cNvSpPr/>
          <p:nvPr/>
        </p:nvSpPr>
        <p:spPr>
          <a:xfrm>
            <a:off x="594360" y="2715768"/>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Jira memory (50 tickets fetched)</a:t>
            </a:r>
            <a:endParaRPr lang="en-US" sz="950" dirty="0"/>
          </a:p>
        </p:txBody>
      </p:sp>
      <p:sp>
        <p:nvSpPr>
          <p:cNvPr id="20" name="Text 18"/>
          <p:cNvSpPr/>
          <p:nvPr/>
        </p:nvSpPr>
        <p:spPr>
          <a:xfrm>
            <a:off x="3474720" y="2715768"/>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~50,000</a:t>
            </a:r>
            <a:endParaRPr lang="en-US" sz="950" dirty="0"/>
          </a:p>
        </p:txBody>
      </p:sp>
      <p:sp>
        <p:nvSpPr>
          <p:cNvPr id="21" name="Text 19"/>
          <p:cNvSpPr/>
          <p:nvPr/>
        </p:nvSpPr>
        <p:spPr>
          <a:xfrm>
            <a:off x="4206240" y="2715768"/>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Over-fetching, scored client-side</a:t>
            </a:r>
            <a:endParaRPr lang="en-US" sz="950" dirty="0"/>
          </a:p>
        </p:txBody>
      </p:sp>
      <p:sp>
        <p:nvSpPr>
          <p:cNvPr id="22" name="Shape 20"/>
          <p:cNvSpPr/>
          <p:nvPr/>
        </p:nvSpPr>
        <p:spPr>
          <a:xfrm>
            <a:off x="502920" y="3017520"/>
            <a:ext cx="5029200" cy="329184"/>
          </a:xfrm>
          <a:prstGeom prst="rect">
            <a:avLst/>
          </a:prstGeom>
          <a:solidFill>
            <a:srgbClr val="FFFFFF"/>
          </a:solidFill>
          <a:ln w="6350">
            <a:solidFill>
              <a:srgbClr val="EBEBEB"/>
            </a:solidFill>
            <a:prstDash val="solid"/>
          </a:ln>
        </p:spPr>
      </p:sp>
      <p:sp>
        <p:nvSpPr>
          <p:cNvPr id="23" name="Text 21"/>
          <p:cNvSpPr/>
          <p:nvPr/>
        </p:nvSpPr>
        <p:spPr>
          <a:xfrm>
            <a:off x="594360" y="3063240"/>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Scribe + Learner full context</a:t>
            </a:r>
            <a:endParaRPr lang="en-US" sz="950" dirty="0"/>
          </a:p>
        </p:txBody>
      </p:sp>
      <p:sp>
        <p:nvSpPr>
          <p:cNvPr id="24" name="Text 22"/>
          <p:cNvSpPr/>
          <p:nvPr/>
        </p:nvSpPr>
        <p:spPr>
          <a:xfrm>
            <a:off x="3474720" y="3063240"/>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~6,000</a:t>
            </a:r>
            <a:endParaRPr lang="en-US" sz="950" dirty="0"/>
          </a:p>
        </p:txBody>
      </p:sp>
      <p:sp>
        <p:nvSpPr>
          <p:cNvPr id="25" name="Text 23"/>
          <p:cNvSpPr/>
          <p:nvPr/>
        </p:nvSpPr>
        <p:spPr>
          <a:xfrm>
            <a:off x="4206240" y="3063240"/>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Unnecessary — only need Judge output</a:t>
            </a:r>
            <a:endParaRPr lang="en-US" sz="950" dirty="0"/>
          </a:p>
        </p:txBody>
      </p:sp>
      <p:sp>
        <p:nvSpPr>
          <p:cNvPr id="26" name="Shape 24"/>
          <p:cNvSpPr/>
          <p:nvPr/>
        </p:nvSpPr>
        <p:spPr>
          <a:xfrm>
            <a:off x="502920" y="3364992"/>
            <a:ext cx="5029200" cy="329184"/>
          </a:xfrm>
          <a:prstGeom prst="rect">
            <a:avLst/>
          </a:prstGeom>
          <a:solidFill>
            <a:srgbClr val="F7F8FA"/>
          </a:solidFill>
          <a:ln w="6350">
            <a:solidFill>
              <a:srgbClr val="EBEBEB"/>
            </a:solidFill>
            <a:prstDash val="solid"/>
          </a:ln>
        </p:spPr>
      </p:sp>
      <p:sp>
        <p:nvSpPr>
          <p:cNvPr id="27" name="Text 25"/>
          <p:cNvSpPr/>
          <p:nvPr/>
        </p:nvSpPr>
        <p:spPr>
          <a:xfrm>
            <a:off x="594360" y="3410712"/>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Agent outputs (9 × 500)</a:t>
            </a:r>
            <a:endParaRPr lang="en-US" sz="950" dirty="0"/>
          </a:p>
        </p:txBody>
      </p:sp>
      <p:sp>
        <p:nvSpPr>
          <p:cNvPr id="28" name="Text 26"/>
          <p:cNvSpPr/>
          <p:nvPr/>
        </p:nvSpPr>
        <p:spPr>
          <a:xfrm>
            <a:off x="3474720" y="3410712"/>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~4,500</a:t>
            </a:r>
            <a:endParaRPr lang="en-US" sz="950" dirty="0"/>
          </a:p>
        </p:txBody>
      </p:sp>
      <p:sp>
        <p:nvSpPr>
          <p:cNvPr id="29" name="Text 27"/>
          <p:cNvSpPr/>
          <p:nvPr/>
        </p:nvSpPr>
        <p:spPr>
          <a:xfrm>
            <a:off x="4206240" y="3410712"/>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Output tokens</a:t>
            </a:r>
            <a:endParaRPr lang="en-US" sz="950" dirty="0"/>
          </a:p>
        </p:txBody>
      </p:sp>
      <p:sp>
        <p:nvSpPr>
          <p:cNvPr id="30" name="Shape 28"/>
          <p:cNvSpPr/>
          <p:nvPr/>
        </p:nvSpPr>
        <p:spPr>
          <a:xfrm>
            <a:off x="502920" y="3712464"/>
            <a:ext cx="5029200" cy="329184"/>
          </a:xfrm>
          <a:prstGeom prst="rect">
            <a:avLst/>
          </a:prstGeom>
          <a:solidFill>
            <a:srgbClr val="EBF2FA"/>
          </a:solidFill>
          <a:ln w="6350">
            <a:solidFill>
              <a:srgbClr val="EBEBEB"/>
            </a:solidFill>
            <a:prstDash val="solid"/>
          </a:ln>
        </p:spPr>
      </p:sp>
      <p:sp>
        <p:nvSpPr>
          <p:cNvPr id="31" name="Text 29"/>
          <p:cNvSpPr/>
          <p:nvPr/>
        </p:nvSpPr>
        <p:spPr>
          <a:xfrm>
            <a:off x="594360" y="3758184"/>
            <a:ext cx="2834640" cy="237744"/>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Total baseline</a:t>
            </a:r>
            <a:endParaRPr lang="en-US" sz="950" dirty="0"/>
          </a:p>
        </p:txBody>
      </p:sp>
      <p:sp>
        <p:nvSpPr>
          <p:cNvPr id="32" name="Text 30"/>
          <p:cNvSpPr/>
          <p:nvPr/>
        </p:nvSpPr>
        <p:spPr>
          <a:xfrm>
            <a:off x="3474720" y="3758184"/>
            <a:ext cx="685800" cy="237744"/>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~82,500</a:t>
            </a:r>
            <a:endParaRPr lang="en-US" sz="950" dirty="0"/>
          </a:p>
        </p:txBody>
      </p:sp>
      <p:sp>
        <p:nvSpPr>
          <p:cNvPr id="33" name="Text 31"/>
          <p:cNvSpPr/>
          <p:nvPr/>
        </p:nvSpPr>
        <p:spPr>
          <a:xfrm>
            <a:off x="4206240" y="3758184"/>
            <a:ext cx="1234440" cy="237744"/>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~$0.29 per session on Sonnet</a:t>
            </a:r>
            <a:endParaRPr lang="en-US" sz="950" dirty="0"/>
          </a:p>
        </p:txBody>
      </p:sp>
      <p:sp>
        <p:nvSpPr>
          <p:cNvPr id="34" name="Text 32"/>
          <p:cNvSpPr/>
          <p:nvPr/>
        </p:nvSpPr>
        <p:spPr>
          <a:xfrm>
            <a:off x="5806440" y="1325880"/>
            <a:ext cx="2880360" cy="274320"/>
          </a:xfrm>
          <a:prstGeom prst="rect">
            <a:avLst/>
          </a:prstGeom>
          <a:noFill/>
          <a:ln/>
        </p:spPr>
        <p:txBody>
          <a:bodyPr wrap="square" rtlCol="0" anchor="ctr"/>
          <a:lstStyle/>
          <a:p>
            <a:pPr indent="0" marL="0">
              <a:buNone/>
            </a:pPr>
            <a:r>
              <a:rPr lang="en-US" sz="1200" b="1" dirty="0">
                <a:solidFill>
                  <a:srgbClr val="0F1E3C"/>
                </a:solidFill>
                <a:latin typeface="Arial" pitchFamily="34" charset="0"/>
                <a:ea typeface="Arial" pitchFamily="34" charset="-122"/>
                <a:cs typeface="Arial" pitchFamily="34" charset="-120"/>
              </a:rPr>
              <a:t>Optimisations implemented</a:t>
            </a:r>
            <a:endParaRPr lang="en-US" sz="1200" dirty="0"/>
          </a:p>
        </p:txBody>
      </p:sp>
      <p:sp>
        <p:nvSpPr>
          <p:cNvPr id="35" name="Shape 33"/>
          <p:cNvSpPr/>
          <p:nvPr/>
        </p:nvSpPr>
        <p:spPr>
          <a:xfrm>
            <a:off x="5806440" y="1627632"/>
            <a:ext cx="2880360" cy="402336"/>
          </a:xfrm>
          <a:prstGeom prst="roundRect">
            <a:avLst>
              <a:gd name="adj" fmla="val 18182"/>
            </a:avLst>
          </a:prstGeom>
          <a:solidFill>
            <a:srgbClr val="E1F5EE"/>
          </a:solidFill>
          <a:ln w="6350">
            <a:solidFill>
              <a:srgbClr val="D3D1C7"/>
            </a:solidFill>
            <a:prstDash val="solid"/>
          </a:ln>
        </p:spPr>
      </p:sp>
      <p:sp>
        <p:nvSpPr>
          <p:cNvPr id="36" name="Text 34"/>
          <p:cNvSpPr/>
          <p:nvPr/>
        </p:nvSpPr>
        <p:spPr>
          <a:xfrm>
            <a:off x="5897880" y="1664208"/>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Jira JQL tightening</a:t>
            </a:r>
            <a:endParaRPr lang="en-US" sz="950" dirty="0"/>
          </a:p>
        </p:txBody>
      </p:sp>
      <p:sp>
        <p:nvSpPr>
          <p:cNvPr id="37" name="Text 35"/>
          <p:cNvSpPr/>
          <p:nvPr/>
        </p:nvSpPr>
        <p:spPr>
          <a:xfrm>
            <a:off x="5897880" y="1847088"/>
            <a:ext cx="2697480" cy="164592"/>
          </a:xfrm>
          <a:prstGeom prst="rect">
            <a:avLst/>
          </a:prstGeom>
          <a:noFill/>
          <a:ln/>
        </p:spPr>
        <p:txBody>
          <a:bodyPr wrap="square" rtlCol="0" anchor="ctr"/>
          <a:lstStyle/>
          <a:p>
            <a:pPr indent="0" marL="0">
              <a:buNone/>
            </a:pPr>
            <a:r>
              <a:rPr lang="en-US" sz="900" b="1" dirty="0">
                <a:solidFill>
                  <a:srgbClr val="0F6E56"/>
                </a:solidFill>
                <a:latin typeface="Arial" pitchFamily="34" charset="0"/>
                <a:ea typeface="Arial" pitchFamily="34" charset="-122"/>
                <a:cs typeface="Arial" pitchFamily="34" charset="-120"/>
              </a:rPr>
              <a:t>saves ~30,000 tokens</a:t>
            </a:r>
            <a:endParaRPr lang="en-US" sz="900" dirty="0"/>
          </a:p>
        </p:txBody>
      </p:sp>
      <p:sp>
        <p:nvSpPr>
          <p:cNvPr id="38" name="Shape 36"/>
          <p:cNvSpPr/>
          <p:nvPr/>
        </p:nvSpPr>
        <p:spPr>
          <a:xfrm>
            <a:off x="5806440" y="2103120"/>
            <a:ext cx="2880360" cy="402336"/>
          </a:xfrm>
          <a:prstGeom prst="roundRect">
            <a:avLst>
              <a:gd name="adj" fmla="val 18182"/>
            </a:avLst>
          </a:prstGeom>
          <a:solidFill>
            <a:srgbClr val="FAEEDA"/>
          </a:solidFill>
          <a:ln w="6350">
            <a:solidFill>
              <a:srgbClr val="D3D1C7"/>
            </a:solidFill>
            <a:prstDash val="solid"/>
          </a:ln>
        </p:spPr>
      </p:sp>
      <p:sp>
        <p:nvSpPr>
          <p:cNvPr id="39" name="Text 37"/>
          <p:cNvSpPr/>
          <p:nvPr/>
        </p:nvSpPr>
        <p:spPr>
          <a:xfrm>
            <a:off x="5897880" y="2139696"/>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Scribe/Learner context trim</a:t>
            </a:r>
            <a:endParaRPr lang="en-US" sz="950" dirty="0"/>
          </a:p>
        </p:txBody>
      </p:sp>
      <p:sp>
        <p:nvSpPr>
          <p:cNvPr id="40" name="Text 38"/>
          <p:cNvSpPr/>
          <p:nvPr/>
        </p:nvSpPr>
        <p:spPr>
          <a:xfrm>
            <a:off x="5897880" y="2322576"/>
            <a:ext cx="2697480" cy="164592"/>
          </a:xfrm>
          <a:prstGeom prst="rect">
            <a:avLst/>
          </a:prstGeom>
          <a:noFill/>
          <a:ln/>
        </p:spPr>
        <p:txBody>
          <a:bodyPr wrap="square" rtlCol="0" anchor="ctr"/>
          <a:lstStyle/>
          <a:p>
            <a:pPr indent="0" marL="0">
              <a:buNone/>
            </a:pPr>
            <a:r>
              <a:rPr lang="en-US" sz="900" b="1" dirty="0">
                <a:solidFill>
                  <a:srgbClr val="BA7517"/>
                </a:solidFill>
                <a:latin typeface="Arial" pitchFamily="34" charset="0"/>
                <a:ea typeface="Arial" pitchFamily="34" charset="-122"/>
                <a:cs typeface="Arial" pitchFamily="34" charset="-120"/>
              </a:rPr>
              <a:t>saves ~6,000 tokens</a:t>
            </a:r>
            <a:endParaRPr lang="en-US" sz="900" dirty="0"/>
          </a:p>
        </p:txBody>
      </p:sp>
      <p:sp>
        <p:nvSpPr>
          <p:cNvPr id="41" name="Shape 39"/>
          <p:cNvSpPr/>
          <p:nvPr/>
        </p:nvSpPr>
        <p:spPr>
          <a:xfrm>
            <a:off x="5806440" y="2578608"/>
            <a:ext cx="2880360" cy="402336"/>
          </a:xfrm>
          <a:prstGeom prst="roundRect">
            <a:avLst>
              <a:gd name="adj" fmla="val 18182"/>
            </a:avLst>
          </a:prstGeom>
          <a:solidFill>
            <a:srgbClr val="EBF2FA"/>
          </a:solidFill>
          <a:ln w="6350">
            <a:solidFill>
              <a:srgbClr val="D3D1C7"/>
            </a:solidFill>
            <a:prstDash val="solid"/>
          </a:ln>
        </p:spPr>
      </p:sp>
      <p:sp>
        <p:nvSpPr>
          <p:cNvPr id="42" name="Text 40"/>
          <p:cNvSpPr/>
          <p:nvPr/>
        </p:nvSpPr>
        <p:spPr>
          <a:xfrm>
            <a:off x="5897880" y="2615184"/>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Shared base prompt</a:t>
            </a:r>
            <a:endParaRPr lang="en-US" sz="950" dirty="0"/>
          </a:p>
        </p:txBody>
      </p:sp>
      <p:sp>
        <p:nvSpPr>
          <p:cNvPr id="43" name="Text 41"/>
          <p:cNvSpPr/>
          <p:nvPr/>
        </p:nvSpPr>
        <p:spPr>
          <a:xfrm>
            <a:off x="5897880" y="2798064"/>
            <a:ext cx="2697480" cy="164592"/>
          </a:xfrm>
          <a:prstGeom prst="rect">
            <a:avLst/>
          </a:prstGeom>
          <a:noFill/>
          <a:ln/>
        </p:spPr>
        <p:txBody>
          <a:bodyPr wrap="square" rtlCol="0" anchor="ctr"/>
          <a:lstStyle/>
          <a:p>
            <a:pPr indent="0" marL="0">
              <a:buNone/>
            </a:pPr>
            <a:r>
              <a:rPr lang="en-US" sz="900" b="1" dirty="0">
                <a:solidFill>
                  <a:srgbClr val="1B4F9B"/>
                </a:solidFill>
                <a:latin typeface="Arial" pitchFamily="34" charset="0"/>
                <a:ea typeface="Arial" pitchFamily="34" charset="-122"/>
                <a:cs typeface="Arial" pitchFamily="34" charset="-120"/>
              </a:rPr>
              <a:t>saves ~5,000 tokens</a:t>
            </a:r>
            <a:endParaRPr lang="en-US" sz="900" dirty="0"/>
          </a:p>
        </p:txBody>
      </p:sp>
      <p:sp>
        <p:nvSpPr>
          <p:cNvPr id="44" name="Shape 42"/>
          <p:cNvSpPr/>
          <p:nvPr/>
        </p:nvSpPr>
        <p:spPr>
          <a:xfrm>
            <a:off x="5806440" y="3054096"/>
            <a:ext cx="2880360" cy="402336"/>
          </a:xfrm>
          <a:prstGeom prst="roundRect">
            <a:avLst>
              <a:gd name="adj" fmla="val 18182"/>
            </a:avLst>
          </a:prstGeom>
          <a:solidFill>
            <a:srgbClr val="EBEBEB"/>
          </a:solidFill>
          <a:ln w="6350">
            <a:solidFill>
              <a:srgbClr val="D3D1C7"/>
            </a:solidFill>
            <a:prstDash val="solid"/>
          </a:ln>
        </p:spPr>
      </p:sp>
      <p:sp>
        <p:nvSpPr>
          <p:cNvPr id="45" name="Text 43"/>
          <p:cNvSpPr/>
          <p:nvPr/>
        </p:nvSpPr>
        <p:spPr>
          <a:xfrm>
            <a:off x="5897880" y="3090672"/>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Doc section routing (planned)</a:t>
            </a:r>
            <a:endParaRPr lang="en-US" sz="950" dirty="0"/>
          </a:p>
        </p:txBody>
      </p:sp>
      <p:sp>
        <p:nvSpPr>
          <p:cNvPr id="46" name="Text 44"/>
          <p:cNvSpPr/>
          <p:nvPr/>
        </p:nvSpPr>
        <p:spPr>
          <a:xfrm>
            <a:off x="5897880" y="3273552"/>
            <a:ext cx="2697480" cy="164592"/>
          </a:xfrm>
          <a:prstGeom prst="rect">
            <a:avLst/>
          </a:prstGeom>
          <a:noFill/>
          <a:ln/>
        </p:spPr>
        <p:txBody>
          <a:bodyPr wrap="square" rtlCol="0" anchor="ctr"/>
          <a:lstStyle/>
          <a:p>
            <a:pPr indent="0" marL="0">
              <a:buNone/>
            </a:pPr>
            <a:r>
              <a:rPr lang="en-US" sz="900" b="1" dirty="0">
                <a:solidFill>
                  <a:srgbClr val="64635E"/>
                </a:solidFill>
                <a:latin typeface="Arial" pitchFamily="34" charset="0"/>
                <a:ea typeface="Arial" pitchFamily="34" charset="-122"/>
                <a:cs typeface="Arial" pitchFamily="34" charset="-120"/>
              </a:rPr>
              <a:t>saves ~20,000 tokens</a:t>
            </a:r>
            <a:endParaRPr lang="en-US" sz="900" dirty="0"/>
          </a:p>
        </p:txBody>
      </p:sp>
      <p:sp>
        <p:nvSpPr>
          <p:cNvPr id="47" name="Shape 45"/>
          <p:cNvSpPr/>
          <p:nvPr/>
        </p:nvSpPr>
        <p:spPr>
          <a:xfrm>
            <a:off x="5806440" y="3529584"/>
            <a:ext cx="2880360" cy="402336"/>
          </a:xfrm>
          <a:prstGeom prst="roundRect">
            <a:avLst>
              <a:gd name="adj" fmla="val 18182"/>
            </a:avLst>
          </a:prstGeom>
          <a:solidFill>
            <a:srgbClr val="E1F5EE"/>
          </a:solidFill>
          <a:ln w="6350">
            <a:solidFill>
              <a:srgbClr val="D3D1C7"/>
            </a:solidFill>
            <a:prstDash val="solid"/>
          </a:ln>
        </p:spPr>
      </p:sp>
      <p:sp>
        <p:nvSpPr>
          <p:cNvPr id="48" name="Text 46"/>
          <p:cNvSpPr/>
          <p:nvPr/>
        </p:nvSpPr>
        <p:spPr>
          <a:xfrm>
            <a:off x="5897880" y="3566160"/>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Prompt caching (planned)</a:t>
            </a:r>
            <a:endParaRPr lang="en-US" sz="950" dirty="0"/>
          </a:p>
        </p:txBody>
      </p:sp>
      <p:sp>
        <p:nvSpPr>
          <p:cNvPr id="49" name="Text 47"/>
          <p:cNvSpPr/>
          <p:nvPr/>
        </p:nvSpPr>
        <p:spPr>
          <a:xfrm>
            <a:off x="5897880" y="3749040"/>
            <a:ext cx="2697480" cy="164592"/>
          </a:xfrm>
          <a:prstGeom prst="rect">
            <a:avLst/>
          </a:prstGeom>
          <a:noFill/>
          <a:ln/>
        </p:spPr>
        <p:txBody>
          <a:bodyPr wrap="square" rtlCol="0" anchor="ctr"/>
          <a:lstStyle/>
          <a:p>
            <a:pPr indent="0" marL="0">
              <a:buNone/>
            </a:pPr>
            <a:r>
              <a:rPr lang="en-US" sz="900" b="1" dirty="0">
                <a:solidFill>
                  <a:srgbClr val="0F6E56"/>
                </a:solidFill>
                <a:latin typeface="Arial" pitchFamily="34" charset="0"/>
                <a:ea typeface="Arial" pitchFamily="34" charset="-122"/>
                <a:cs typeface="Arial" pitchFamily="34" charset="-120"/>
              </a:rPr>
              <a:t>saves 90% on system prompts</a:t>
            </a:r>
            <a:endParaRPr lang="en-US" sz="900" dirty="0"/>
          </a:p>
        </p:txBody>
      </p:sp>
      <p:sp>
        <p:nvSpPr>
          <p:cNvPr id="50" name="Text 48"/>
          <p:cNvSpPr/>
          <p:nvPr/>
        </p:nvSpPr>
        <p:spPr>
          <a:xfrm>
            <a:off x="502920" y="4462272"/>
            <a:ext cx="8138160" cy="256032"/>
          </a:xfrm>
          <a:prstGeom prst="rect">
            <a:avLst/>
          </a:prstGeom>
          <a:noFill/>
          <a:ln/>
        </p:spPr>
        <p:txBody>
          <a:bodyPr wrap="square" rtlCol="0" anchor="ctr"/>
          <a:lstStyle/>
          <a:p>
            <a:pPr indent="0" marL="0">
              <a:buNone/>
            </a:pPr>
            <a:r>
              <a:rPr lang="en-US" sz="1000" b="1" i="1" dirty="0">
                <a:solidFill>
                  <a:srgbClr val="0F6E56"/>
                </a:solidFill>
                <a:latin typeface="Arial" pitchFamily="34" charset="0"/>
                <a:ea typeface="Arial" pitchFamily="34" charset="-122"/>
                <a:cs typeface="Arial" pitchFamily="34" charset="-120"/>
              </a:rPr>
              <a:t>After optimisations: ~$0.08–0.12 per session  ·  Full 9-agent run reserved for demo rehearsal only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SYSTEM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Every user action maps to a deliberate backend decision</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8321040" cy="365760"/>
          </a:xfrm>
          <a:prstGeom prst="rect">
            <a:avLst/>
          </a:prstGeom>
          <a:solidFill>
            <a:srgbClr val="0F1E3C"/>
          </a:solidFill>
          <a:ln w="6350">
            <a:solidFill>
              <a:srgbClr val="EBEBEB"/>
            </a:solidFill>
            <a:prstDash val="solid"/>
          </a:ln>
        </p:spPr>
      </p:sp>
      <p:sp>
        <p:nvSpPr>
          <p:cNvPr id="6" name="Text 4"/>
          <p:cNvSpPr/>
          <p:nvPr/>
        </p:nvSpPr>
        <p:spPr>
          <a:xfrm>
            <a:off x="502920" y="1362456"/>
            <a:ext cx="256032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User action</a:t>
            </a:r>
            <a:endParaRPr lang="en-US" sz="900" dirty="0"/>
          </a:p>
        </p:txBody>
      </p:sp>
      <p:sp>
        <p:nvSpPr>
          <p:cNvPr id="7" name="Text 5"/>
          <p:cNvSpPr/>
          <p:nvPr/>
        </p:nvSpPr>
        <p:spPr>
          <a:xfrm>
            <a:off x="3108960" y="1362456"/>
            <a:ext cx="274320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8" name="Text 6"/>
          <p:cNvSpPr/>
          <p:nvPr/>
        </p:nvSpPr>
        <p:spPr>
          <a:xfrm>
            <a:off x="5897880" y="1362456"/>
            <a:ext cx="269748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Backend system</a:t>
            </a:r>
            <a:endParaRPr lang="en-US" sz="900" dirty="0"/>
          </a:p>
        </p:txBody>
      </p:sp>
      <p:sp>
        <p:nvSpPr>
          <p:cNvPr id="9" name="Shape 7"/>
          <p:cNvSpPr/>
          <p:nvPr/>
        </p:nvSpPr>
        <p:spPr>
          <a:xfrm>
            <a:off x="411480" y="1682496"/>
            <a:ext cx="8321040" cy="365760"/>
          </a:xfrm>
          <a:prstGeom prst="rect">
            <a:avLst/>
          </a:prstGeom>
          <a:solidFill>
            <a:srgbClr val="F7F8FA"/>
          </a:solidFill>
          <a:ln w="6350">
            <a:solidFill>
              <a:srgbClr val="EBEBEB"/>
            </a:solidFill>
            <a:prstDash val="solid"/>
          </a:ln>
        </p:spPr>
      </p:sp>
      <p:sp>
        <p:nvSpPr>
          <p:cNvPr id="10" name="Text 8"/>
          <p:cNvSpPr/>
          <p:nvPr/>
        </p:nvSpPr>
        <p:spPr>
          <a:xfrm>
            <a:off x="502920" y="1746504"/>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Submit requirement or doc</a:t>
            </a:r>
            <a:endParaRPr lang="en-US" sz="950" dirty="0"/>
          </a:p>
        </p:txBody>
      </p:sp>
      <p:sp>
        <p:nvSpPr>
          <p:cNvPr id="11" name="Text 9"/>
          <p:cNvSpPr/>
          <p:nvPr/>
        </p:nvSpPr>
        <p:spPr>
          <a:xfrm>
            <a:off x="3108960" y="1746504"/>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ForumOrchestrator triggers 3-phase pipeline</a:t>
            </a:r>
            <a:endParaRPr lang="en-US" sz="950" dirty="0"/>
          </a:p>
        </p:txBody>
      </p:sp>
      <p:sp>
        <p:nvSpPr>
          <p:cNvPr id="12" name="Text 10"/>
          <p:cNvSpPr/>
          <p:nvPr/>
        </p:nvSpPr>
        <p:spPr>
          <a:xfrm>
            <a:off x="5897880" y="1746504"/>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Anthropic Claude API (SSE streaming)</a:t>
            </a:r>
            <a:endParaRPr lang="en-US" sz="950" dirty="0"/>
          </a:p>
        </p:txBody>
      </p:sp>
      <p:sp>
        <p:nvSpPr>
          <p:cNvPr id="13" name="Shape 11"/>
          <p:cNvSpPr/>
          <p:nvPr/>
        </p:nvSpPr>
        <p:spPr>
          <a:xfrm>
            <a:off x="411480" y="2066544"/>
            <a:ext cx="8321040" cy="365760"/>
          </a:xfrm>
          <a:prstGeom prst="rect">
            <a:avLst/>
          </a:prstGeom>
          <a:solidFill>
            <a:srgbClr val="FFFFFF"/>
          </a:solidFill>
          <a:ln w="6350">
            <a:solidFill>
              <a:srgbClr val="EBEBEB"/>
            </a:solidFill>
            <a:prstDash val="solid"/>
          </a:ln>
        </p:spPr>
      </p:sp>
      <p:sp>
        <p:nvSpPr>
          <p:cNvPr id="14" name="Text 12"/>
          <p:cNvSpPr/>
          <p:nvPr/>
        </p:nvSpPr>
        <p:spPr>
          <a:xfrm>
            <a:off x="502920" y="2130552"/>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Doc upload (PDF/Word)</a:t>
            </a:r>
            <a:endParaRPr lang="en-US" sz="950" dirty="0"/>
          </a:p>
        </p:txBody>
      </p:sp>
      <p:sp>
        <p:nvSpPr>
          <p:cNvPr id="15" name="Text 13"/>
          <p:cNvSpPr/>
          <p:nvPr/>
        </p:nvSpPr>
        <p:spPr>
          <a:xfrm>
            <a:off x="3108960" y="2130552"/>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Text extracted, chunked by section</a:t>
            </a:r>
            <a:endParaRPr lang="en-US" sz="950" dirty="0"/>
          </a:p>
        </p:txBody>
      </p:sp>
      <p:sp>
        <p:nvSpPr>
          <p:cNvPr id="16" name="Text 14"/>
          <p:cNvSpPr/>
          <p:nvPr/>
        </p:nvSpPr>
        <p:spPr>
          <a:xfrm>
            <a:off x="5897880" y="2130552"/>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Next.js API route → agent context</a:t>
            </a:r>
            <a:endParaRPr lang="en-US" sz="950" dirty="0"/>
          </a:p>
        </p:txBody>
      </p:sp>
      <p:sp>
        <p:nvSpPr>
          <p:cNvPr id="17" name="Shape 15"/>
          <p:cNvSpPr/>
          <p:nvPr/>
        </p:nvSpPr>
        <p:spPr>
          <a:xfrm>
            <a:off x="411480" y="2450592"/>
            <a:ext cx="8321040" cy="365760"/>
          </a:xfrm>
          <a:prstGeom prst="rect">
            <a:avLst/>
          </a:prstGeom>
          <a:solidFill>
            <a:srgbClr val="F7F8FA"/>
          </a:solidFill>
          <a:ln w="6350">
            <a:solidFill>
              <a:srgbClr val="EBEBEB"/>
            </a:solidFill>
            <a:prstDash val="solid"/>
          </a:ln>
        </p:spPr>
      </p:sp>
      <p:sp>
        <p:nvSpPr>
          <p:cNvPr id="18" name="Text 16"/>
          <p:cNvSpPr/>
          <p:nvPr/>
        </p:nvSpPr>
        <p:spPr>
          <a:xfrm>
            <a:off x="502920" y="2514600"/>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Session runs</a:t>
            </a:r>
            <a:endParaRPr lang="en-US" sz="950" dirty="0"/>
          </a:p>
        </p:txBody>
      </p:sp>
      <p:sp>
        <p:nvSpPr>
          <p:cNvPr id="19" name="Text 17"/>
          <p:cNvSpPr/>
          <p:nvPr/>
        </p:nvSpPr>
        <p:spPr>
          <a:xfrm>
            <a:off x="3108960" y="2514600"/>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Jira memory retrieved before agents start</a:t>
            </a:r>
            <a:endParaRPr lang="en-US" sz="950" dirty="0"/>
          </a:p>
        </p:txBody>
      </p:sp>
      <p:sp>
        <p:nvSpPr>
          <p:cNvPr id="20" name="Text 18"/>
          <p:cNvSpPr/>
          <p:nvPr/>
        </p:nvSpPr>
        <p:spPr>
          <a:xfrm>
            <a:off x="5897880" y="2514600"/>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Jira REST API (ARBOARD project)</a:t>
            </a:r>
            <a:endParaRPr lang="en-US" sz="950" dirty="0"/>
          </a:p>
        </p:txBody>
      </p:sp>
      <p:sp>
        <p:nvSpPr>
          <p:cNvPr id="21" name="Shape 19"/>
          <p:cNvSpPr/>
          <p:nvPr/>
        </p:nvSpPr>
        <p:spPr>
          <a:xfrm>
            <a:off x="411480" y="2834640"/>
            <a:ext cx="8321040" cy="365760"/>
          </a:xfrm>
          <a:prstGeom prst="rect">
            <a:avLst/>
          </a:prstGeom>
          <a:solidFill>
            <a:srgbClr val="FFFFFF"/>
          </a:solidFill>
          <a:ln w="6350">
            <a:solidFill>
              <a:srgbClr val="EBEBEB"/>
            </a:solidFill>
            <a:prstDash val="solid"/>
          </a:ln>
        </p:spPr>
      </p:sp>
      <p:sp>
        <p:nvSpPr>
          <p:cNvPr id="22" name="Text 20"/>
          <p:cNvSpPr/>
          <p:nvPr/>
        </p:nvSpPr>
        <p:spPr>
          <a:xfrm>
            <a:off x="502920" y="2898648"/>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Agent outputs</a:t>
            </a:r>
            <a:endParaRPr lang="en-US" sz="950" dirty="0"/>
          </a:p>
        </p:txBody>
      </p:sp>
      <p:sp>
        <p:nvSpPr>
          <p:cNvPr id="23" name="Text 21"/>
          <p:cNvSpPr/>
          <p:nvPr/>
        </p:nvSpPr>
        <p:spPr>
          <a:xfrm>
            <a:off x="3108960" y="2898648"/>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Failure patterns matched, FP-xxx cited</a:t>
            </a:r>
            <a:endParaRPr lang="en-US" sz="950" dirty="0"/>
          </a:p>
        </p:txBody>
      </p:sp>
      <p:sp>
        <p:nvSpPr>
          <p:cNvPr id="24" name="Text 22"/>
          <p:cNvSpPr/>
          <p:nvPr/>
        </p:nvSpPr>
        <p:spPr>
          <a:xfrm>
            <a:off x="5897880" y="2898648"/>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Supabase — failure_patterns table</a:t>
            </a:r>
            <a:endParaRPr lang="en-US" sz="950" dirty="0"/>
          </a:p>
        </p:txBody>
      </p:sp>
      <p:sp>
        <p:nvSpPr>
          <p:cNvPr id="25" name="Shape 23"/>
          <p:cNvSpPr/>
          <p:nvPr/>
        </p:nvSpPr>
        <p:spPr>
          <a:xfrm>
            <a:off x="411480" y="3218688"/>
            <a:ext cx="8321040" cy="365760"/>
          </a:xfrm>
          <a:prstGeom prst="rect">
            <a:avLst/>
          </a:prstGeom>
          <a:solidFill>
            <a:srgbClr val="F7F8FA"/>
          </a:solidFill>
          <a:ln w="6350">
            <a:solidFill>
              <a:srgbClr val="EBEBEB"/>
            </a:solidFill>
            <a:prstDash val="solid"/>
          </a:ln>
        </p:spPr>
      </p:sp>
      <p:sp>
        <p:nvSpPr>
          <p:cNvPr id="26" name="Text 24"/>
          <p:cNvSpPr/>
          <p:nvPr/>
        </p:nvSpPr>
        <p:spPr>
          <a:xfrm>
            <a:off x="502920" y="3282696"/>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Session completes</a:t>
            </a:r>
            <a:endParaRPr lang="en-US" sz="950" dirty="0"/>
          </a:p>
        </p:txBody>
      </p:sp>
      <p:sp>
        <p:nvSpPr>
          <p:cNvPr id="27" name="Text 25"/>
          <p:cNvSpPr/>
          <p:nvPr/>
        </p:nvSpPr>
        <p:spPr>
          <a:xfrm>
            <a:off x="3108960" y="3282696"/>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Admin makes endorsement decision</a:t>
            </a:r>
            <a:endParaRPr lang="en-US" sz="950" dirty="0"/>
          </a:p>
        </p:txBody>
      </p:sp>
      <p:sp>
        <p:nvSpPr>
          <p:cNvPr id="28" name="Text 26"/>
          <p:cNvSpPr/>
          <p:nvPr/>
        </p:nvSpPr>
        <p:spPr>
          <a:xfrm>
            <a:off x="5897880" y="3282696"/>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Endorsement Review Panel (new)</a:t>
            </a:r>
            <a:endParaRPr lang="en-US" sz="950" dirty="0"/>
          </a:p>
        </p:txBody>
      </p:sp>
      <p:sp>
        <p:nvSpPr>
          <p:cNvPr id="29" name="Shape 27"/>
          <p:cNvSpPr/>
          <p:nvPr/>
        </p:nvSpPr>
        <p:spPr>
          <a:xfrm>
            <a:off x="411480" y="3602736"/>
            <a:ext cx="8321040" cy="365760"/>
          </a:xfrm>
          <a:prstGeom prst="rect">
            <a:avLst/>
          </a:prstGeom>
          <a:solidFill>
            <a:srgbClr val="FFFFFF"/>
          </a:solidFill>
          <a:ln w="6350">
            <a:solidFill>
              <a:srgbClr val="EBEBEB"/>
            </a:solidFill>
            <a:prstDash val="solid"/>
          </a:ln>
        </p:spPr>
      </p:sp>
      <p:sp>
        <p:nvSpPr>
          <p:cNvPr id="30" name="Text 28"/>
          <p:cNvSpPr/>
          <p:nvPr/>
        </p:nvSpPr>
        <p:spPr>
          <a:xfrm>
            <a:off x="502920" y="3666744"/>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Endorse / assign</a:t>
            </a:r>
            <a:endParaRPr lang="en-US" sz="950" dirty="0"/>
          </a:p>
        </p:txBody>
      </p:sp>
      <p:sp>
        <p:nvSpPr>
          <p:cNvPr id="31" name="Text 29"/>
          <p:cNvSpPr/>
          <p:nvPr/>
        </p:nvSpPr>
        <p:spPr>
          <a:xfrm>
            <a:off x="3108960" y="3666744"/>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Jira ticket created with assignee + comment</a:t>
            </a:r>
            <a:endParaRPr lang="en-US" sz="950" dirty="0"/>
          </a:p>
        </p:txBody>
      </p:sp>
      <p:sp>
        <p:nvSpPr>
          <p:cNvPr id="32" name="Text 30"/>
          <p:cNvSpPr/>
          <p:nvPr/>
        </p:nvSpPr>
        <p:spPr>
          <a:xfrm>
            <a:off x="5897880" y="3666744"/>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Jira REST — arboard-adr / arboard-signed</a:t>
            </a:r>
            <a:endParaRPr lang="en-US" sz="950" dirty="0"/>
          </a:p>
        </p:txBody>
      </p:sp>
      <p:sp>
        <p:nvSpPr>
          <p:cNvPr id="33" name="Shape 31"/>
          <p:cNvSpPr/>
          <p:nvPr/>
        </p:nvSpPr>
        <p:spPr>
          <a:xfrm>
            <a:off x="411480" y="3986784"/>
            <a:ext cx="8321040" cy="365760"/>
          </a:xfrm>
          <a:prstGeom prst="rect">
            <a:avLst/>
          </a:prstGeom>
          <a:solidFill>
            <a:srgbClr val="F7F8FA"/>
          </a:solidFill>
          <a:ln w="6350">
            <a:solidFill>
              <a:srgbClr val="EBEBEB"/>
            </a:solidFill>
            <a:prstDash val="solid"/>
          </a:ln>
        </p:spPr>
      </p:sp>
      <p:sp>
        <p:nvSpPr>
          <p:cNvPr id="34" name="Text 32"/>
          <p:cNvSpPr/>
          <p:nvPr/>
        </p:nvSpPr>
        <p:spPr>
          <a:xfrm>
            <a:off x="502920" y="4050792"/>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Countersign</a:t>
            </a:r>
            <a:endParaRPr lang="en-US" sz="950" dirty="0"/>
          </a:p>
        </p:txBody>
      </p:sp>
      <p:sp>
        <p:nvSpPr>
          <p:cNvPr id="35" name="Text 33"/>
          <p:cNvSpPr/>
          <p:nvPr/>
        </p:nvSpPr>
        <p:spPr>
          <a:xfrm>
            <a:off x="3108960" y="4050792"/>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Sign-off written to Supabase audit trail</a:t>
            </a:r>
            <a:endParaRPr lang="en-US" sz="950" dirty="0"/>
          </a:p>
        </p:txBody>
      </p:sp>
      <p:sp>
        <p:nvSpPr>
          <p:cNvPr id="36" name="Text 34"/>
          <p:cNvSpPr/>
          <p:nvPr/>
        </p:nvSpPr>
        <p:spPr>
          <a:xfrm>
            <a:off x="5897880" y="4050792"/>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Supabase — signoffs table</a:t>
            </a:r>
            <a:endParaRPr lang="en-US" sz="950" dirty="0"/>
          </a:p>
        </p:txBody>
      </p:sp>
      <p:sp>
        <p:nvSpPr>
          <p:cNvPr id="37" name="Shape 35"/>
          <p:cNvSpPr/>
          <p:nvPr/>
        </p:nvSpPr>
        <p:spPr>
          <a:xfrm>
            <a:off x="411480" y="4370832"/>
            <a:ext cx="8321040" cy="365760"/>
          </a:xfrm>
          <a:prstGeom prst="rect">
            <a:avLst/>
          </a:prstGeom>
          <a:solidFill>
            <a:srgbClr val="FFFFFF"/>
          </a:solidFill>
          <a:ln w="6350">
            <a:solidFill>
              <a:srgbClr val="EBEBEB"/>
            </a:solidFill>
            <a:prstDash val="solid"/>
          </a:ln>
        </p:spPr>
      </p:sp>
      <p:sp>
        <p:nvSpPr>
          <p:cNvPr id="38" name="Text 36"/>
          <p:cNvSpPr/>
          <p:nvPr/>
        </p:nvSpPr>
        <p:spPr>
          <a:xfrm>
            <a:off x="502920" y="4434840"/>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Org connect</a:t>
            </a:r>
            <a:endParaRPr lang="en-US" sz="950" dirty="0"/>
          </a:p>
        </p:txBody>
      </p:sp>
      <p:sp>
        <p:nvSpPr>
          <p:cNvPr id="39" name="Text 37"/>
          <p:cNvSpPr/>
          <p:nvPr/>
        </p:nvSpPr>
        <p:spPr>
          <a:xfrm>
            <a:off x="3108960" y="4434840"/>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Live metadata injected into agent prompts</a:t>
            </a:r>
            <a:endParaRPr lang="en-US" sz="950" dirty="0"/>
          </a:p>
        </p:txBody>
      </p:sp>
      <p:sp>
        <p:nvSpPr>
          <p:cNvPr id="40" name="Text 38"/>
          <p:cNvSpPr/>
          <p:nvPr/>
        </p:nvSpPr>
        <p:spPr>
          <a:xfrm>
            <a:off x="5897880" y="4434840"/>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Salesforce MCP / jsforce fallback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BUILD JOURNEY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From requirement input to production-grade review platform</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71600"/>
            <a:ext cx="1965960" cy="2834640"/>
          </a:xfrm>
          <a:prstGeom prst="roundRect">
            <a:avLst>
              <a:gd name="adj" fmla="val 3721"/>
            </a:avLst>
          </a:prstGeom>
          <a:solidFill>
            <a:srgbClr val="EBF2FA"/>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Text 4"/>
          <p:cNvSpPr/>
          <p:nvPr/>
        </p:nvSpPr>
        <p:spPr>
          <a:xfrm>
            <a:off x="411480" y="1463040"/>
            <a:ext cx="196596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Foundation</a:t>
            </a:r>
            <a:endParaRPr lang="en-US" sz="1200" dirty="0"/>
          </a:p>
        </p:txBody>
      </p:sp>
      <p:sp>
        <p:nvSpPr>
          <p:cNvPr id="7" name="Shape 5"/>
          <p:cNvSpPr/>
          <p:nvPr/>
        </p:nvSpPr>
        <p:spPr>
          <a:xfrm>
            <a:off x="594360" y="1828800"/>
            <a:ext cx="1600200" cy="0"/>
          </a:xfrm>
          <a:prstGeom prst="line">
            <a:avLst/>
          </a:prstGeom>
          <a:noFill/>
          <a:ln w="6350">
            <a:solidFill>
              <a:srgbClr val="EBEBEB"/>
            </a:solidFill>
            <a:prstDash val="solid"/>
          </a:ln>
        </p:spPr>
      </p:sp>
      <p:sp>
        <p:nvSpPr>
          <p:cNvPr id="8" name="Text 6"/>
          <p:cNvSpPr/>
          <p:nvPr/>
        </p:nvSpPr>
        <p:spPr>
          <a:xfrm>
            <a:off x="521208" y="1901952"/>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9 specialist agents + ForumOrchestrator</a:t>
            </a:r>
            <a:endParaRPr lang="en-US" sz="950" dirty="0"/>
          </a:p>
        </p:txBody>
      </p:sp>
      <p:sp>
        <p:nvSpPr>
          <p:cNvPr id="9" name="Text 7"/>
          <p:cNvSpPr/>
          <p:nvPr/>
        </p:nvSpPr>
        <p:spPr>
          <a:xfrm>
            <a:off x="521208" y="2377440"/>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3-phase parallel execution</a:t>
            </a:r>
            <a:endParaRPr lang="en-US" sz="950" dirty="0"/>
          </a:p>
        </p:txBody>
      </p:sp>
      <p:sp>
        <p:nvSpPr>
          <p:cNvPr id="10" name="Text 8"/>
          <p:cNvSpPr/>
          <p:nvPr/>
        </p:nvSpPr>
        <p:spPr>
          <a:xfrm>
            <a:off x="521208" y="2852928"/>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Impact Analyser — selective agent loading</a:t>
            </a:r>
            <a:endParaRPr lang="en-US" sz="950" dirty="0"/>
          </a:p>
        </p:txBody>
      </p:sp>
      <p:sp>
        <p:nvSpPr>
          <p:cNvPr id="11" name="Shape 9"/>
          <p:cNvSpPr/>
          <p:nvPr/>
        </p:nvSpPr>
        <p:spPr>
          <a:xfrm>
            <a:off x="2560320" y="1371600"/>
            <a:ext cx="1965960" cy="2834640"/>
          </a:xfrm>
          <a:prstGeom prst="roundRect">
            <a:avLst>
              <a:gd name="adj" fmla="val 3721"/>
            </a:avLst>
          </a:prstGeom>
          <a:solidFill>
            <a:srgbClr val="E1F5EE"/>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2" name="Text 10"/>
          <p:cNvSpPr/>
          <p:nvPr/>
        </p:nvSpPr>
        <p:spPr>
          <a:xfrm>
            <a:off x="2560320" y="1463040"/>
            <a:ext cx="1965960" cy="320040"/>
          </a:xfrm>
          <a:prstGeom prst="rect">
            <a:avLst/>
          </a:prstGeom>
          <a:noFill/>
          <a:ln/>
        </p:spPr>
        <p:txBody>
          <a:bodyPr wrap="square" rtlCol="0" anchor="ctr"/>
          <a:lstStyle/>
          <a:p>
            <a:pPr algn="ctr" indent="0" marL="0">
              <a:buNone/>
            </a:pPr>
            <a:r>
              <a:rPr lang="en-US" sz="1200" b="1" dirty="0">
                <a:solidFill>
                  <a:srgbClr val="0F6E56"/>
                </a:solidFill>
                <a:latin typeface="Arial" pitchFamily="34" charset="0"/>
                <a:ea typeface="Arial" pitchFamily="34" charset="-122"/>
                <a:cs typeface="Arial" pitchFamily="34" charset="-120"/>
              </a:rPr>
              <a:t>Integrations</a:t>
            </a:r>
            <a:endParaRPr lang="en-US" sz="1200" dirty="0"/>
          </a:p>
        </p:txBody>
      </p:sp>
      <p:sp>
        <p:nvSpPr>
          <p:cNvPr id="13" name="Shape 11"/>
          <p:cNvSpPr/>
          <p:nvPr/>
        </p:nvSpPr>
        <p:spPr>
          <a:xfrm>
            <a:off x="2743200" y="1828800"/>
            <a:ext cx="1600200" cy="0"/>
          </a:xfrm>
          <a:prstGeom prst="line">
            <a:avLst/>
          </a:prstGeom>
          <a:noFill/>
          <a:ln w="6350">
            <a:solidFill>
              <a:srgbClr val="EBEBEB"/>
            </a:solidFill>
            <a:prstDash val="solid"/>
          </a:ln>
        </p:spPr>
      </p:sp>
      <p:sp>
        <p:nvSpPr>
          <p:cNvPr id="14" name="Text 12"/>
          <p:cNvSpPr/>
          <p:nvPr/>
        </p:nvSpPr>
        <p:spPr>
          <a:xfrm>
            <a:off x="2670048" y="1901952"/>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Jira ADR ticket creation + countersign</a:t>
            </a:r>
            <a:endParaRPr lang="en-US" sz="950" dirty="0"/>
          </a:p>
        </p:txBody>
      </p:sp>
      <p:sp>
        <p:nvSpPr>
          <p:cNvPr id="15" name="Text 13"/>
          <p:cNvSpPr/>
          <p:nvPr/>
        </p:nvSpPr>
        <p:spPr>
          <a:xfrm>
            <a:off x="2670048" y="2377440"/>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Supabase operational store</a:t>
            </a:r>
            <a:endParaRPr lang="en-US" sz="950" dirty="0"/>
          </a:p>
        </p:txBody>
      </p:sp>
      <p:sp>
        <p:nvSpPr>
          <p:cNvPr id="16" name="Text 14"/>
          <p:cNvSpPr/>
          <p:nvPr/>
        </p:nvSpPr>
        <p:spPr>
          <a:xfrm>
            <a:off x="2670048" y="2852928"/>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Salesforce MCP + jsforce fallback</a:t>
            </a:r>
            <a:endParaRPr lang="en-US" sz="950" dirty="0"/>
          </a:p>
        </p:txBody>
      </p:sp>
      <p:sp>
        <p:nvSpPr>
          <p:cNvPr id="17" name="Shape 15"/>
          <p:cNvSpPr/>
          <p:nvPr/>
        </p:nvSpPr>
        <p:spPr>
          <a:xfrm>
            <a:off x="4709160" y="1371600"/>
            <a:ext cx="1965960" cy="2834640"/>
          </a:xfrm>
          <a:prstGeom prst="roundRect">
            <a:avLst>
              <a:gd name="adj" fmla="val 3721"/>
            </a:avLst>
          </a:prstGeom>
          <a:solidFill>
            <a:srgbClr val="FAEEDA"/>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8" name="Text 16"/>
          <p:cNvSpPr/>
          <p:nvPr/>
        </p:nvSpPr>
        <p:spPr>
          <a:xfrm>
            <a:off x="4709160" y="1463040"/>
            <a:ext cx="1965960" cy="320040"/>
          </a:xfrm>
          <a:prstGeom prst="rect">
            <a:avLst/>
          </a:prstGeom>
          <a:noFill/>
          <a:ln/>
        </p:spPr>
        <p:txBody>
          <a:bodyPr wrap="square" rtlCol="0" anchor="ctr"/>
          <a:lstStyle/>
          <a:p>
            <a:pPr algn="ctr" indent="0" marL="0">
              <a:buNone/>
            </a:pPr>
            <a:r>
              <a:rPr lang="en-US" sz="1200" b="1" dirty="0">
                <a:solidFill>
                  <a:srgbClr val="BA7517"/>
                </a:solidFill>
                <a:latin typeface="Arial" pitchFamily="34" charset="0"/>
                <a:ea typeface="Arial" pitchFamily="34" charset="-122"/>
                <a:cs typeface="Arial" pitchFamily="34" charset="-120"/>
              </a:rPr>
              <a:t>Intelligence</a:t>
            </a:r>
            <a:endParaRPr lang="en-US" sz="1200" dirty="0"/>
          </a:p>
        </p:txBody>
      </p:sp>
      <p:sp>
        <p:nvSpPr>
          <p:cNvPr id="19" name="Shape 17"/>
          <p:cNvSpPr/>
          <p:nvPr/>
        </p:nvSpPr>
        <p:spPr>
          <a:xfrm>
            <a:off x="4892040" y="1828800"/>
            <a:ext cx="1600200" cy="0"/>
          </a:xfrm>
          <a:prstGeom prst="line">
            <a:avLst/>
          </a:prstGeom>
          <a:noFill/>
          <a:ln w="6350">
            <a:solidFill>
              <a:srgbClr val="EBEBEB"/>
            </a:solidFill>
            <a:prstDash val="solid"/>
          </a:ln>
        </p:spPr>
      </p:sp>
      <p:sp>
        <p:nvSpPr>
          <p:cNvPr id="20" name="Text 18"/>
          <p:cNvSpPr/>
          <p:nvPr/>
        </p:nvSpPr>
        <p:spPr>
          <a:xfrm>
            <a:off x="4818888" y="1901952"/>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SI failure pattern library (FP-004→FP-012)</a:t>
            </a:r>
            <a:endParaRPr lang="en-US" sz="950" dirty="0"/>
          </a:p>
        </p:txBody>
      </p:sp>
      <p:sp>
        <p:nvSpPr>
          <p:cNvPr id="21" name="Text 19"/>
          <p:cNvSpPr/>
          <p:nvPr/>
        </p:nvSpPr>
        <p:spPr>
          <a:xfrm>
            <a:off x="4818888" y="2377440"/>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Cross-session memory via Jira</a:t>
            </a:r>
            <a:endParaRPr lang="en-US" sz="950" dirty="0"/>
          </a:p>
        </p:txBody>
      </p:sp>
      <p:sp>
        <p:nvSpPr>
          <p:cNvPr id="22" name="Text 20"/>
          <p:cNvSpPr/>
          <p:nvPr/>
        </p:nvSpPr>
        <p:spPr>
          <a:xfrm>
            <a:off x="4818888" y="2852928"/>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Endorsement Review Panel</a:t>
            </a:r>
            <a:endParaRPr lang="en-US" sz="950" dirty="0"/>
          </a:p>
        </p:txBody>
      </p:sp>
      <p:sp>
        <p:nvSpPr>
          <p:cNvPr id="23" name="Shape 21"/>
          <p:cNvSpPr/>
          <p:nvPr/>
        </p:nvSpPr>
        <p:spPr>
          <a:xfrm>
            <a:off x="6858000" y="1371600"/>
            <a:ext cx="1965960" cy="2834640"/>
          </a:xfrm>
          <a:prstGeom prst="roundRect">
            <a:avLst>
              <a:gd name="adj" fmla="val 3721"/>
            </a:avLst>
          </a:prstGeom>
          <a:solidFill>
            <a:srgbClr val="0F1E3C"/>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4" name="Text 22"/>
          <p:cNvSpPr/>
          <p:nvPr/>
        </p:nvSpPr>
        <p:spPr>
          <a:xfrm>
            <a:off x="6858000" y="1463040"/>
            <a:ext cx="196596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Optimisation</a:t>
            </a:r>
            <a:endParaRPr lang="en-US" sz="1200" dirty="0"/>
          </a:p>
        </p:txBody>
      </p:sp>
      <p:sp>
        <p:nvSpPr>
          <p:cNvPr id="25" name="Shape 23"/>
          <p:cNvSpPr/>
          <p:nvPr/>
        </p:nvSpPr>
        <p:spPr>
          <a:xfrm>
            <a:off x="7040880" y="1828800"/>
            <a:ext cx="1600200" cy="0"/>
          </a:xfrm>
          <a:prstGeom prst="line">
            <a:avLst/>
          </a:prstGeom>
          <a:noFill/>
          <a:ln w="6350">
            <a:solidFill>
              <a:srgbClr val="445566"/>
            </a:solidFill>
            <a:prstDash val="solid"/>
          </a:ln>
        </p:spPr>
      </p:sp>
      <p:sp>
        <p:nvSpPr>
          <p:cNvPr id="26" name="Text 24"/>
          <p:cNvSpPr/>
          <p:nvPr/>
        </p:nvSpPr>
        <p:spPr>
          <a:xfrm>
            <a:off x="6967728" y="1901952"/>
            <a:ext cx="1737360" cy="420624"/>
          </a:xfrm>
          <a:prstGeom prst="rect">
            <a:avLst/>
          </a:prstGeom>
          <a:noFill/>
          <a:ln/>
        </p:spPr>
        <p:txBody>
          <a:bodyPr wrap="square" rtlCol="0" anchor="t"/>
          <a:lstStyle/>
          <a:p>
            <a:pPr indent="0" marL="0">
              <a:buNone/>
            </a:pPr>
            <a:r>
              <a:rPr lang="en-US" sz="950" dirty="0">
                <a:solidFill>
                  <a:srgbClr val="A0B8D8"/>
                </a:solidFill>
                <a:latin typeface="Arial" pitchFamily="34" charset="0"/>
                <a:ea typeface="Arial" pitchFamily="34" charset="-122"/>
                <a:cs typeface="Arial" pitchFamily="34" charset="-120"/>
              </a:rPr>
              <a:t>→  Document review mode (NEW)</a:t>
            </a:r>
            <a:endParaRPr lang="en-US" sz="950" dirty="0"/>
          </a:p>
        </p:txBody>
      </p:sp>
      <p:sp>
        <p:nvSpPr>
          <p:cNvPr id="27" name="Text 25"/>
          <p:cNvSpPr/>
          <p:nvPr/>
        </p:nvSpPr>
        <p:spPr>
          <a:xfrm>
            <a:off x="6967728" y="2377440"/>
            <a:ext cx="1737360" cy="420624"/>
          </a:xfrm>
          <a:prstGeom prst="rect">
            <a:avLst/>
          </a:prstGeom>
          <a:noFill/>
          <a:ln/>
        </p:spPr>
        <p:txBody>
          <a:bodyPr wrap="square" rtlCol="0" anchor="t"/>
          <a:lstStyle/>
          <a:p>
            <a:pPr indent="0" marL="0">
              <a:buNone/>
            </a:pPr>
            <a:r>
              <a:rPr lang="en-US" sz="950" dirty="0">
                <a:solidFill>
                  <a:srgbClr val="A0B8D8"/>
                </a:solidFill>
                <a:latin typeface="Arial" pitchFamily="34" charset="0"/>
                <a:ea typeface="Arial" pitchFamily="34" charset="-122"/>
                <a:cs typeface="Arial" pitchFamily="34" charset="-120"/>
              </a:rPr>
              <a:t>→  Well-Architected principles injection</a:t>
            </a:r>
            <a:endParaRPr lang="en-US" sz="950" dirty="0"/>
          </a:p>
        </p:txBody>
      </p:sp>
      <p:sp>
        <p:nvSpPr>
          <p:cNvPr id="28" name="Text 26"/>
          <p:cNvSpPr/>
          <p:nvPr/>
        </p:nvSpPr>
        <p:spPr>
          <a:xfrm>
            <a:off x="6967728" y="2852928"/>
            <a:ext cx="1737360" cy="420624"/>
          </a:xfrm>
          <a:prstGeom prst="rect">
            <a:avLst/>
          </a:prstGeom>
          <a:noFill/>
          <a:ln/>
        </p:spPr>
        <p:txBody>
          <a:bodyPr wrap="square" rtlCol="0" anchor="t"/>
          <a:lstStyle/>
          <a:p>
            <a:pPr indent="0" marL="0">
              <a:buNone/>
            </a:pPr>
            <a:r>
              <a:rPr lang="en-US" sz="950" dirty="0">
                <a:solidFill>
                  <a:srgbClr val="A0B8D8"/>
                </a:solidFill>
                <a:latin typeface="Arial" pitchFamily="34" charset="0"/>
                <a:ea typeface="Arial" pitchFamily="34" charset="-122"/>
                <a:cs typeface="Arial" pitchFamily="34" charset="-120"/>
              </a:rPr>
              <a:t>→  Token optimisation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ROADMAP</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Engineered to deepen over time — not a one-shot tool</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25880"/>
            <a:ext cx="2651760" cy="3246120"/>
          </a:xfrm>
          <a:prstGeom prst="roundRect">
            <a:avLst>
              <a:gd name="adj" fmla="val 2759"/>
            </a:avLst>
          </a:prstGeom>
          <a:solidFill>
            <a:srgbClr val="E1F5EE"/>
          </a:solidFill>
          <a:ln w="6350">
            <a:solidFill>
              <a:srgbClr val="D3D1C7"/>
            </a:solidFill>
            <a:prstDash val="solid"/>
          </a:ln>
        </p:spPr>
      </p:sp>
      <p:sp>
        <p:nvSpPr>
          <p:cNvPr id="6" name="Shape 4"/>
          <p:cNvSpPr/>
          <p:nvPr/>
        </p:nvSpPr>
        <p:spPr>
          <a:xfrm>
            <a:off x="411480" y="1325880"/>
            <a:ext cx="2651760" cy="384048"/>
          </a:xfrm>
          <a:prstGeom prst="roundRect">
            <a:avLst>
              <a:gd name="adj" fmla="val 19048"/>
            </a:avLst>
          </a:prstGeom>
          <a:solidFill>
            <a:srgbClr val="0F6E56"/>
          </a:solidFill>
          <a:ln w="12700">
            <a:solidFill>
              <a:srgbClr val="0F6E56"/>
            </a:solidFill>
            <a:prstDash val="solid"/>
          </a:ln>
        </p:spPr>
      </p:sp>
      <p:sp>
        <p:nvSpPr>
          <p:cNvPr id="7" name="Text 5"/>
          <p:cNvSpPr/>
          <p:nvPr/>
        </p:nvSpPr>
        <p:spPr>
          <a:xfrm>
            <a:off x="411480" y="133502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Now — done</a:t>
            </a:r>
            <a:endParaRPr lang="en-US" sz="1200" dirty="0"/>
          </a:p>
        </p:txBody>
      </p:sp>
      <p:sp>
        <p:nvSpPr>
          <p:cNvPr id="8" name="Text 6"/>
          <p:cNvSpPr/>
          <p:nvPr/>
        </p:nvSpPr>
        <p:spPr>
          <a:xfrm>
            <a:off x="548640" y="1792224"/>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Cross-session Jira memory</a:t>
            </a:r>
            <a:endParaRPr lang="en-US" sz="1000" dirty="0"/>
          </a:p>
        </p:txBody>
      </p:sp>
      <p:sp>
        <p:nvSpPr>
          <p:cNvPr id="9" name="Text 7"/>
          <p:cNvSpPr/>
          <p:nvPr/>
        </p:nvSpPr>
        <p:spPr>
          <a:xfrm>
            <a:off x="548640" y="2304288"/>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SI failure pattern library</a:t>
            </a:r>
            <a:endParaRPr lang="en-US" sz="1000" dirty="0"/>
          </a:p>
        </p:txBody>
      </p:sp>
      <p:sp>
        <p:nvSpPr>
          <p:cNvPr id="10" name="Text 8"/>
          <p:cNvSpPr/>
          <p:nvPr/>
        </p:nvSpPr>
        <p:spPr>
          <a:xfrm>
            <a:off x="548640" y="2816352"/>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Confidence badges + endorsement flow</a:t>
            </a:r>
            <a:endParaRPr lang="en-US" sz="1000" dirty="0"/>
          </a:p>
        </p:txBody>
      </p:sp>
      <p:sp>
        <p:nvSpPr>
          <p:cNvPr id="11" name="Text 9"/>
          <p:cNvSpPr/>
          <p:nvPr/>
        </p:nvSpPr>
        <p:spPr>
          <a:xfrm>
            <a:off x="548640" y="3328416"/>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Salesforce org metadata injection</a:t>
            </a:r>
            <a:endParaRPr lang="en-US" sz="1000" dirty="0"/>
          </a:p>
        </p:txBody>
      </p:sp>
      <p:sp>
        <p:nvSpPr>
          <p:cNvPr id="12" name="Text 10"/>
          <p:cNvSpPr/>
          <p:nvPr/>
        </p:nvSpPr>
        <p:spPr>
          <a:xfrm>
            <a:off x="548640" y="3840480"/>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Supabase cost analytics</a:t>
            </a:r>
            <a:endParaRPr lang="en-US" sz="1000" dirty="0"/>
          </a:p>
        </p:txBody>
      </p:sp>
      <p:sp>
        <p:nvSpPr>
          <p:cNvPr id="13" name="Shape 11"/>
          <p:cNvSpPr/>
          <p:nvPr/>
        </p:nvSpPr>
        <p:spPr>
          <a:xfrm>
            <a:off x="3227832" y="1325880"/>
            <a:ext cx="2651760" cy="3246120"/>
          </a:xfrm>
          <a:prstGeom prst="roundRect">
            <a:avLst>
              <a:gd name="adj" fmla="val 2759"/>
            </a:avLst>
          </a:prstGeom>
          <a:solidFill>
            <a:srgbClr val="EBF2FA"/>
          </a:solidFill>
          <a:ln w="6350">
            <a:solidFill>
              <a:srgbClr val="D3D1C7"/>
            </a:solidFill>
            <a:prstDash val="solid"/>
          </a:ln>
        </p:spPr>
      </p:sp>
      <p:sp>
        <p:nvSpPr>
          <p:cNvPr id="14" name="Shape 12"/>
          <p:cNvSpPr/>
          <p:nvPr/>
        </p:nvSpPr>
        <p:spPr>
          <a:xfrm>
            <a:off x="3227832" y="1325880"/>
            <a:ext cx="2651760" cy="384048"/>
          </a:xfrm>
          <a:prstGeom prst="roundRect">
            <a:avLst>
              <a:gd name="adj" fmla="val 19048"/>
            </a:avLst>
          </a:prstGeom>
          <a:solidFill>
            <a:srgbClr val="1B4F9B"/>
          </a:solidFill>
          <a:ln w="12700">
            <a:solidFill>
              <a:srgbClr val="1B4F9B"/>
            </a:solidFill>
            <a:prstDash val="solid"/>
          </a:ln>
        </p:spPr>
      </p:sp>
      <p:sp>
        <p:nvSpPr>
          <p:cNvPr id="15" name="Text 13"/>
          <p:cNvSpPr/>
          <p:nvPr/>
        </p:nvSpPr>
        <p:spPr>
          <a:xfrm>
            <a:off x="3227832" y="133502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Also done</a:t>
            </a:r>
            <a:endParaRPr lang="en-US" sz="1200" dirty="0"/>
          </a:p>
        </p:txBody>
      </p:sp>
      <p:sp>
        <p:nvSpPr>
          <p:cNvPr id="16" name="Text 14"/>
          <p:cNvSpPr/>
          <p:nvPr/>
        </p:nvSpPr>
        <p:spPr>
          <a:xfrm>
            <a:off x="3364992" y="1792224"/>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Document review mode</a:t>
            </a:r>
            <a:endParaRPr lang="en-US" sz="1000" dirty="0"/>
          </a:p>
        </p:txBody>
      </p:sp>
      <p:sp>
        <p:nvSpPr>
          <p:cNvPr id="17" name="Text 15"/>
          <p:cNvSpPr/>
          <p:nvPr/>
        </p:nvSpPr>
        <p:spPr>
          <a:xfrm>
            <a:off x="3364992" y="2304288"/>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Well-Architected principles in prompts</a:t>
            </a:r>
            <a:endParaRPr lang="en-US" sz="1000" dirty="0"/>
          </a:p>
        </p:txBody>
      </p:sp>
      <p:sp>
        <p:nvSpPr>
          <p:cNvPr id="18" name="Text 16"/>
          <p:cNvSpPr/>
          <p:nvPr/>
        </p:nvSpPr>
        <p:spPr>
          <a:xfrm>
            <a:off x="3364992" y="2816352"/>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Token optimisations (3 fixes)</a:t>
            </a:r>
            <a:endParaRPr lang="en-US" sz="1000" dirty="0"/>
          </a:p>
        </p:txBody>
      </p:sp>
      <p:sp>
        <p:nvSpPr>
          <p:cNvPr id="19" name="Text 17"/>
          <p:cNvSpPr/>
          <p:nvPr/>
        </p:nvSpPr>
        <p:spPr>
          <a:xfrm>
            <a:off x="3364992" y="3328416"/>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Gated endorsement — Jira assign</a:t>
            </a:r>
            <a:endParaRPr lang="en-US" sz="1000" dirty="0"/>
          </a:p>
        </p:txBody>
      </p:sp>
      <p:sp>
        <p:nvSpPr>
          <p:cNvPr id="20" name="Text 18"/>
          <p:cNvSpPr/>
          <p:nvPr/>
        </p:nvSpPr>
        <p:spPr>
          <a:xfrm>
            <a:off x="3364992" y="3840480"/>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Fix Revision Round</a:t>
            </a:r>
            <a:endParaRPr lang="en-US" sz="1000" dirty="0"/>
          </a:p>
        </p:txBody>
      </p:sp>
      <p:sp>
        <p:nvSpPr>
          <p:cNvPr id="21" name="Shape 19"/>
          <p:cNvSpPr/>
          <p:nvPr/>
        </p:nvSpPr>
        <p:spPr>
          <a:xfrm>
            <a:off x="6044184" y="1325880"/>
            <a:ext cx="2651760" cy="3246120"/>
          </a:xfrm>
          <a:prstGeom prst="roundRect">
            <a:avLst>
              <a:gd name="adj" fmla="val 2759"/>
            </a:avLst>
          </a:prstGeom>
          <a:solidFill>
            <a:srgbClr val="FAEEDA"/>
          </a:solidFill>
          <a:ln w="6350">
            <a:solidFill>
              <a:srgbClr val="D3D1C7"/>
            </a:solidFill>
            <a:prstDash val="solid"/>
          </a:ln>
        </p:spPr>
      </p:sp>
      <p:sp>
        <p:nvSpPr>
          <p:cNvPr id="22" name="Shape 20"/>
          <p:cNvSpPr/>
          <p:nvPr/>
        </p:nvSpPr>
        <p:spPr>
          <a:xfrm>
            <a:off x="6044184" y="1325880"/>
            <a:ext cx="2651760" cy="384048"/>
          </a:xfrm>
          <a:prstGeom prst="roundRect">
            <a:avLst>
              <a:gd name="adj" fmla="val 19048"/>
            </a:avLst>
          </a:prstGeom>
          <a:solidFill>
            <a:srgbClr val="BA7517"/>
          </a:solidFill>
          <a:ln w="12700">
            <a:solidFill>
              <a:srgbClr val="BA7517"/>
            </a:solidFill>
            <a:prstDash val="solid"/>
          </a:ln>
        </p:spPr>
      </p:sp>
      <p:sp>
        <p:nvSpPr>
          <p:cNvPr id="23" name="Text 21"/>
          <p:cNvSpPr/>
          <p:nvPr/>
        </p:nvSpPr>
        <p:spPr>
          <a:xfrm>
            <a:off x="6044184" y="133502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Planned</a:t>
            </a:r>
            <a:endParaRPr lang="en-US" sz="1200" dirty="0"/>
          </a:p>
        </p:txBody>
      </p:sp>
      <p:sp>
        <p:nvSpPr>
          <p:cNvPr id="24" name="Text 22"/>
          <p:cNvSpPr/>
          <p:nvPr/>
        </p:nvSpPr>
        <p:spPr>
          <a:xfrm>
            <a:off x="6181344" y="1792224"/>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pgvector RAG — full framework corpus</a:t>
            </a:r>
            <a:endParaRPr lang="en-US" sz="1000" dirty="0"/>
          </a:p>
        </p:txBody>
      </p:sp>
      <p:sp>
        <p:nvSpPr>
          <p:cNvPr id="25" name="Text 23"/>
          <p:cNvSpPr/>
          <p:nvPr/>
        </p:nvSpPr>
        <p:spPr>
          <a:xfrm>
            <a:off x="6181344" y="2304288"/>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Multi-tenant client config in Supabase</a:t>
            </a:r>
            <a:endParaRPr lang="en-US" sz="1000" dirty="0"/>
          </a:p>
        </p:txBody>
      </p:sp>
      <p:sp>
        <p:nvSpPr>
          <p:cNvPr id="26" name="Text 24"/>
          <p:cNvSpPr/>
          <p:nvPr/>
        </p:nvSpPr>
        <p:spPr>
          <a:xfrm>
            <a:off x="6181344" y="2816352"/>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Prompt caching (90% cost reduction)</a:t>
            </a:r>
            <a:endParaRPr lang="en-US" sz="1000" dirty="0"/>
          </a:p>
        </p:txBody>
      </p:sp>
      <p:sp>
        <p:nvSpPr>
          <p:cNvPr id="27" name="Text 25"/>
          <p:cNvSpPr/>
          <p:nvPr/>
        </p:nvSpPr>
        <p:spPr>
          <a:xfrm>
            <a:off x="6181344" y="3328416"/>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Doc section routing per agent</a:t>
            </a:r>
            <a:endParaRPr lang="en-US" sz="1000" dirty="0"/>
          </a:p>
        </p:txBody>
      </p:sp>
      <p:sp>
        <p:nvSpPr>
          <p:cNvPr id="28" name="Text 26"/>
          <p:cNvSpPr/>
          <p:nvPr/>
        </p:nvSpPr>
        <p:spPr>
          <a:xfrm>
            <a:off x="6181344" y="3840480"/>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xml:space="preserve">✓  </a:t>
            </a:r>
            <a:pPr indent="0" marL="0">
              <a:buNone/>
            </a:pPr>
            <a:r>
              <a:rPr lang="en-US" sz="1000" dirty="0">
                <a:solidFill>
                  <a:srgbClr val="1A1A1A"/>
                </a:solidFill>
                <a:latin typeface="Arial" pitchFamily="34" charset="0"/>
                <a:ea typeface="Arial" pitchFamily="34" charset="-122"/>
                <a:cs typeface="Arial" pitchFamily="34" charset="-120"/>
              </a:rPr>
              <a:t>Confluence write-back</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LEARNINGS FOR OTHERS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What we would do differently — and what surprised us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7160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Text 4"/>
          <p:cNvSpPr/>
          <p:nvPr/>
        </p:nvSpPr>
        <p:spPr>
          <a:xfrm>
            <a:off x="411480" y="146304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7" name="Text 5"/>
          <p:cNvSpPr/>
          <p:nvPr/>
        </p:nvSpPr>
        <p:spPr>
          <a:xfrm>
            <a:off x="521208" y="182880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Measure before optimising</a:t>
            </a:r>
            <a:endParaRPr lang="en-US" sz="1100" dirty="0"/>
          </a:p>
        </p:txBody>
      </p:sp>
      <p:sp>
        <p:nvSpPr>
          <p:cNvPr id="8" name="Text 6"/>
          <p:cNvSpPr/>
          <p:nvPr/>
        </p:nvSpPr>
        <p:spPr>
          <a:xfrm>
            <a:off x="521208" y="210312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We hit ~$0.29/session baseline. Targeted 3 fixes cut it to ~$0.08. Know your token breakdown before building.</a:t>
            </a:r>
            <a:endParaRPr lang="en-US" sz="950" dirty="0"/>
          </a:p>
        </p:txBody>
      </p:sp>
      <p:sp>
        <p:nvSpPr>
          <p:cNvPr id="9" name="Shape 7"/>
          <p:cNvSpPr/>
          <p:nvPr/>
        </p:nvSpPr>
        <p:spPr>
          <a:xfrm>
            <a:off x="3227832" y="137160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0" name="Text 8"/>
          <p:cNvSpPr/>
          <p:nvPr/>
        </p:nvSpPr>
        <p:spPr>
          <a:xfrm>
            <a:off x="3227832" y="146304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1" name="Text 9"/>
          <p:cNvSpPr/>
          <p:nvPr/>
        </p:nvSpPr>
        <p:spPr>
          <a:xfrm>
            <a:off x="3337560" y="182880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Architecture beats prompt engineering</a:t>
            </a:r>
            <a:endParaRPr lang="en-US" sz="1100" dirty="0"/>
          </a:p>
        </p:txBody>
      </p:sp>
      <p:sp>
        <p:nvSpPr>
          <p:cNvPr id="12" name="Text 10"/>
          <p:cNvSpPr/>
          <p:nvPr/>
        </p:nvSpPr>
        <p:spPr>
          <a:xfrm>
            <a:off x="3337560" y="210312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The biggest quality gains came from structured grounding (memory, patterns, principles) — not tweaking prompts.</a:t>
            </a:r>
            <a:endParaRPr lang="en-US" sz="950" dirty="0"/>
          </a:p>
        </p:txBody>
      </p:sp>
      <p:sp>
        <p:nvSpPr>
          <p:cNvPr id="13" name="Shape 11"/>
          <p:cNvSpPr/>
          <p:nvPr/>
        </p:nvSpPr>
        <p:spPr>
          <a:xfrm>
            <a:off x="6044184" y="137160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4" name="Text 12"/>
          <p:cNvSpPr/>
          <p:nvPr/>
        </p:nvSpPr>
        <p:spPr>
          <a:xfrm>
            <a:off x="6044184" y="146304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5" name="Text 13"/>
          <p:cNvSpPr/>
          <p:nvPr/>
        </p:nvSpPr>
        <p:spPr>
          <a:xfrm>
            <a:off x="6153912" y="182880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Fail gracefully everywhere</a:t>
            </a:r>
            <a:endParaRPr lang="en-US" sz="1100" dirty="0"/>
          </a:p>
        </p:txBody>
      </p:sp>
      <p:sp>
        <p:nvSpPr>
          <p:cNvPr id="16" name="Text 14"/>
          <p:cNvSpPr/>
          <p:nvPr/>
        </p:nvSpPr>
        <p:spPr>
          <a:xfrm>
            <a:off x="6153912" y="210312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Every external call (Jira, Supabase, MCP) must be try/catch with fallback. A broken integration cannot kill a session.</a:t>
            </a:r>
            <a:endParaRPr lang="en-US" sz="950" dirty="0"/>
          </a:p>
        </p:txBody>
      </p:sp>
      <p:sp>
        <p:nvSpPr>
          <p:cNvPr id="17" name="Shape 15"/>
          <p:cNvSpPr/>
          <p:nvPr/>
        </p:nvSpPr>
        <p:spPr>
          <a:xfrm>
            <a:off x="411480" y="278892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8" name="Text 16"/>
          <p:cNvSpPr/>
          <p:nvPr/>
        </p:nvSpPr>
        <p:spPr>
          <a:xfrm>
            <a:off x="411480" y="288036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9" name="Text 17"/>
          <p:cNvSpPr/>
          <p:nvPr/>
        </p:nvSpPr>
        <p:spPr>
          <a:xfrm>
            <a:off x="521208" y="324612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Separate content from ops</a:t>
            </a:r>
            <a:endParaRPr lang="en-US" sz="1100" dirty="0"/>
          </a:p>
        </p:txBody>
      </p:sp>
      <p:sp>
        <p:nvSpPr>
          <p:cNvPr id="20" name="Text 18"/>
          <p:cNvSpPr/>
          <p:nvPr/>
        </p:nvSpPr>
        <p:spPr>
          <a:xfrm>
            <a:off x="521208" y="352044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Jira owns ADR content. Supabase owns operational data. Never duplicate. This decision made memory retrieval trivial.</a:t>
            </a:r>
            <a:endParaRPr lang="en-US" sz="950" dirty="0"/>
          </a:p>
        </p:txBody>
      </p:sp>
      <p:sp>
        <p:nvSpPr>
          <p:cNvPr id="21" name="Shape 19"/>
          <p:cNvSpPr/>
          <p:nvPr/>
        </p:nvSpPr>
        <p:spPr>
          <a:xfrm>
            <a:off x="3227832" y="278892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2" name="Text 20"/>
          <p:cNvSpPr/>
          <p:nvPr/>
        </p:nvSpPr>
        <p:spPr>
          <a:xfrm>
            <a:off x="3227832" y="288036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3" name="Text 21"/>
          <p:cNvSpPr/>
          <p:nvPr/>
        </p:nvSpPr>
        <p:spPr>
          <a:xfrm>
            <a:off x="3337560" y="324612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Mock mode is not optional</a:t>
            </a:r>
            <a:endParaRPr lang="en-US" sz="1100" dirty="0"/>
          </a:p>
        </p:txBody>
      </p:sp>
      <p:sp>
        <p:nvSpPr>
          <p:cNvPr id="24" name="Text 22"/>
          <p:cNvSpPr/>
          <p:nvPr/>
        </p:nvSpPr>
        <p:spPr>
          <a:xfrm>
            <a:off x="3337560" y="352044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ANTHROPIC_API_KEY=mock saved significant cost during build. Reserve real API calls for quality validation only.</a:t>
            </a:r>
            <a:endParaRPr lang="en-US" sz="950" dirty="0"/>
          </a:p>
        </p:txBody>
      </p:sp>
      <p:sp>
        <p:nvSpPr>
          <p:cNvPr id="25" name="Shape 23"/>
          <p:cNvSpPr/>
          <p:nvPr/>
        </p:nvSpPr>
        <p:spPr>
          <a:xfrm>
            <a:off x="6044184" y="278892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6" name="Text 24"/>
          <p:cNvSpPr/>
          <p:nvPr/>
        </p:nvSpPr>
        <p:spPr>
          <a:xfrm>
            <a:off x="6044184" y="288036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7" name="Text 25"/>
          <p:cNvSpPr/>
          <p:nvPr/>
        </p:nvSpPr>
        <p:spPr>
          <a:xfrm>
            <a:off x="6153912" y="324612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The IP is the reasoning layer</a:t>
            </a:r>
            <a:endParaRPr lang="en-US" sz="1100" dirty="0"/>
          </a:p>
        </p:txBody>
      </p:sp>
      <p:sp>
        <p:nvSpPr>
          <p:cNvPr id="28" name="Text 26"/>
          <p:cNvSpPr/>
          <p:nvPr/>
        </p:nvSpPr>
        <p:spPr>
          <a:xfrm>
            <a:off x="6153912" y="352044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Anyone can wire MCP to Claude. The defensible moat is the accumulated prompt engineering and pattern library.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E3C"/>
        </a:solidFill>
      </p:bgPr>
    </p:bg>
    <p:spTree>
      <p:nvGrpSpPr>
        <p:cNvPr id="1" name=""/>
        <p:cNvGrpSpPr/>
        <p:nvPr/>
      </p:nvGrpSpPr>
      <p:grpSpPr>
        <a:xfrm>
          <a:off x="0" y="0"/>
          <a:ext cx="0" cy="0"/>
          <a:chOff x="0" y="0"/>
          <a:chExt cx="0" cy="0"/>
        </a:xfrm>
      </p:grpSpPr>
      <p:sp>
        <p:nvSpPr>
          <p:cNvPr id="2" name="Text 0"/>
          <p:cNvSpPr/>
          <p:nvPr/>
        </p:nvSpPr>
        <p:spPr>
          <a:xfrm>
            <a:off x="502920" y="1371600"/>
            <a:ext cx="8138160" cy="822960"/>
          </a:xfrm>
          <a:prstGeom prst="rect">
            <a:avLst/>
          </a:prstGeom>
          <a:noFill/>
          <a:ln/>
        </p:spPr>
        <p:txBody>
          <a:bodyPr wrap="square"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The Review Board is open.</a:t>
            </a:r>
            <a:endParaRPr lang="en-US" sz="3800" dirty="0"/>
          </a:p>
        </p:txBody>
      </p:sp>
      <p:sp>
        <p:nvSpPr>
          <p:cNvPr id="3" name="Text 1"/>
          <p:cNvSpPr/>
          <p:nvPr/>
        </p:nvSpPr>
        <p:spPr>
          <a:xfrm>
            <a:off x="502920" y="2331720"/>
            <a:ext cx="8138160" cy="411480"/>
          </a:xfrm>
          <a:prstGeom prst="rect">
            <a:avLst/>
          </a:prstGeom>
          <a:noFill/>
          <a:ln/>
        </p:spPr>
        <p:txBody>
          <a:bodyPr wrap="square" rtlCol="0" anchor="ctr"/>
          <a:lstStyle/>
          <a:p>
            <a:pPr algn="ctr" indent="0" marL="0">
              <a:buNone/>
            </a:pPr>
            <a:r>
              <a:rPr lang="en-US" sz="1800" dirty="0">
                <a:solidFill>
                  <a:srgbClr val="6A84A8"/>
                </a:solidFill>
                <a:latin typeface="Arial" pitchFamily="34" charset="0"/>
                <a:ea typeface="Arial" pitchFamily="34" charset="-122"/>
                <a:cs typeface="Arial" pitchFamily="34" charset="-120"/>
              </a:rPr>
              <a:t>arboard.vercel.app</a:t>
            </a:r>
            <a:endParaRPr lang="en-US" sz="1800" dirty="0"/>
          </a:p>
        </p:txBody>
      </p:sp>
      <p:sp>
        <p:nvSpPr>
          <p:cNvPr id="4" name="Shape 2"/>
          <p:cNvSpPr/>
          <p:nvPr/>
        </p:nvSpPr>
        <p:spPr>
          <a:xfrm>
            <a:off x="2743200" y="2834640"/>
            <a:ext cx="3657600" cy="0"/>
          </a:xfrm>
          <a:prstGeom prst="line">
            <a:avLst/>
          </a:prstGeom>
          <a:noFill/>
          <a:ln w="12700">
            <a:solidFill>
              <a:srgbClr val="2E6DA4"/>
            </a:solidFill>
            <a:prstDash val="solid"/>
          </a:ln>
        </p:spPr>
      </p:sp>
      <p:sp>
        <p:nvSpPr>
          <p:cNvPr id="5" name="Text 3"/>
          <p:cNvSpPr/>
          <p:nvPr/>
        </p:nvSpPr>
        <p:spPr>
          <a:xfrm>
            <a:off x="914400" y="3017520"/>
            <a:ext cx="1828800" cy="502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9</a:t>
            </a:r>
            <a:endParaRPr lang="en-US" sz="2800" dirty="0"/>
          </a:p>
        </p:txBody>
      </p:sp>
      <p:sp>
        <p:nvSpPr>
          <p:cNvPr id="6" name="Text 4"/>
          <p:cNvSpPr/>
          <p:nvPr/>
        </p:nvSpPr>
        <p:spPr>
          <a:xfrm>
            <a:off x="914400" y="3520440"/>
            <a:ext cx="1828800" cy="274320"/>
          </a:xfrm>
          <a:prstGeom prst="rect">
            <a:avLst/>
          </a:prstGeom>
          <a:noFill/>
          <a:ln/>
        </p:spPr>
        <p:txBody>
          <a:bodyPr wrap="square" rtlCol="0" anchor="ctr"/>
          <a:lstStyle/>
          <a:p>
            <a:pPr algn="ctr" indent="0" marL="0">
              <a:buNone/>
            </a:pPr>
            <a:r>
              <a:rPr lang="en-US" sz="1000" dirty="0">
                <a:solidFill>
                  <a:srgbClr val="6A84A8"/>
                </a:solidFill>
                <a:latin typeface="Arial" pitchFamily="34" charset="0"/>
                <a:ea typeface="Arial" pitchFamily="34" charset="-122"/>
                <a:cs typeface="Arial" pitchFamily="34" charset="-120"/>
              </a:rPr>
              <a:t>specialist agents</a:t>
            </a:r>
            <a:endParaRPr lang="en-US" sz="1000" dirty="0"/>
          </a:p>
        </p:txBody>
      </p:sp>
      <p:sp>
        <p:nvSpPr>
          <p:cNvPr id="7" name="Text 5"/>
          <p:cNvSpPr/>
          <p:nvPr/>
        </p:nvSpPr>
        <p:spPr>
          <a:xfrm>
            <a:off x="2834640" y="3017520"/>
            <a:ext cx="1828800" cy="502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4</a:t>
            </a:r>
            <a:endParaRPr lang="en-US" sz="2800" dirty="0"/>
          </a:p>
        </p:txBody>
      </p:sp>
      <p:sp>
        <p:nvSpPr>
          <p:cNvPr id="8" name="Text 6"/>
          <p:cNvSpPr/>
          <p:nvPr/>
        </p:nvSpPr>
        <p:spPr>
          <a:xfrm>
            <a:off x="2834640" y="3520440"/>
            <a:ext cx="1828800" cy="274320"/>
          </a:xfrm>
          <a:prstGeom prst="rect">
            <a:avLst/>
          </a:prstGeom>
          <a:noFill/>
          <a:ln/>
        </p:spPr>
        <p:txBody>
          <a:bodyPr wrap="square" rtlCol="0" anchor="ctr"/>
          <a:lstStyle/>
          <a:p>
            <a:pPr algn="ctr" indent="0" marL="0">
              <a:buNone/>
            </a:pPr>
            <a:r>
              <a:rPr lang="en-US" sz="1000" dirty="0">
                <a:solidFill>
                  <a:srgbClr val="6A84A8"/>
                </a:solidFill>
                <a:latin typeface="Arial" pitchFamily="34" charset="0"/>
                <a:ea typeface="Arial" pitchFamily="34" charset="-122"/>
                <a:cs typeface="Arial" pitchFamily="34" charset="-120"/>
              </a:rPr>
              <a:t>grounding layers</a:t>
            </a:r>
            <a:endParaRPr lang="en-US" sz="1000" dirty="0"/>
          </a:p>
        </p:txBody>
      </p:sp>
      <p:sp>
        <p:nvSpPr>
          <p:cNvPr id="9" name="Text 7"/>
          <p:cNvSpPr/>
          <p:nvPr/>
        </p:nvSpPr>
        <p:spPr>
          <a:xfrm>
            <a:off x="4754880" y="3017520"/>
            <a:ext cx="1828800" cy="502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~$0.08</a:t>
            </a:r>
            <a:endParaRPr lang="en-US" sz="2800" dirty="0"/>
          </a:p>
        </p:txBody>
      </p:sp>
      <p:sp>
        <p:nvSpPr>
          <p:cNvPr id="10" name="Text 8"/>
          <p:cNvSpPr/>
          <p:nvPr/>
        </p:nvSpPr>
        <p:spPr>
          <a:xfrm>
            <a:off x="4754880" y="3520440"/>
            <a:ext cx="1828800" cy="274320"/>
          </a:xfrm>
          <a:prstGeom prst="rect">
            <a:avLst/>
          </a:prstGeom>
          <a:noFill/>
          <a:ln/>
        </p:spPr>
        <p:txBody>
          <a:bodyPr wrap="square" rtlCol="0" anchor="ctr"/>
          <a:lstStyle/>
          <a:p>
            <a:pPr algn="ctr" indent="0" marL="0">
              <a:buNone/>
            </a:pPr>
            <a:r>
              <a:rPr lang="en-US" sz="1000" dirty="0">
                <a:solidFill>
                  <a:srgbClr val="6A84A8"/>
                </a:solidFill>
                <a:latin typeface="Arial" pitchFamily="34" charset="0"/>
                <a:ea typeface="Arial" pitchFamily="34" charset="-122"/>
                <a:cs typeface="Arial" pitchFamily="34" charset="-120"/>
              </a:rPr>
              <a:t>per session (optimised)</a:t>
            </a:r>
            <a:endParaRPr lang="en-US" sz="1000" dirty="0"/>
          </a:p>
        </p:txBody>
      </p:sp>
      <p:sp>
        <p:nvSpPr>
          <p:cNvPr id="11" name="Text 9"/>
          <p:cNvSpPr/>
          <p:nvPr/>
        </p:nvSpPr>
        <p:spPr>
          <a:xfrm>
            <a:off x="6675120" y="3017520"/>
            <a:ext cx="1828800" cy="502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12" name="Text 10"/>
          <p:cNvSpPr/>
          <p:nvPr/>
        </p:nvSpPr>
        <p:spPr>
          <a:xfrm>
            <a:off x="6675120" y="3520440"/>
            <a:ext cx="1828800" cy="274320"/>
          </a:xfrm>
          <a:prstGeom prst="rect">
            <a:avLst/>
          </a:prstGeom>
          <a:noFill/>
          <a:ln/>
        </p:spPr>
        <p:txBody>
          <a:bodyPr wrap="square" rtlCol="0" anchor="ctr"/>
          <a:lstStyle/>
          <a:p>
            <a:pPr algn="ctr" indent="0" marL="0">
              <a:buNone/>
            </a:pPr>
            <a:r>
              <a:rPr lang="en-US" sz="1000" dirty="0">
                <a:solidFill>
                  <a:srgbClr val="6A84A8"/>
                </a:solidFill>
                <a:latin typeface="Arial" pitchFamily="34" charset="0"/>
                <a:ea typeface="Arial" pitchFamily="34" charset="-122"/>
                <a:cs typeface="Arial" pitchFamily="34" charset="-120"/>
              </a:rPr>
              <a:t>institutional memory</a:t>
            </a:r>
            <a:endParaRPr lang="en-US" sz="1000" dirty="0"/>
          </a:p>
        </p:txBody>
      </p:sp>
      <p:sp>
        <p:nvSpPr>
          <p:cNvPr id="13" name="Text 11"/>
          <p:cNvSpPr/>
          <p:nvPr/>
        </p:nvSpPr>
        <p:spPr>
          <a:xfrm>
            <a:off x="502920" y="4480560"/>
            <a:ext cx="8138160" cy="256032"/>
          </a:xfrm>
          <a:prstGeom prst="rect">
            <a:avLst/>
          </a:prstGeom>
          <a:noFill/>
          <a:ln/>
        </p:spPr>
        <p:txBody>
          <a:bodyPr wrap="square" rtlCol="0" anchor="ctr"/>
          <a:lstStyle/>
          <a:p>
            <a:pPr algn="ctr" indent="0" marL="0">
              <a:buNone/>
            </a:pPr>
            <a:r>
              <a:rPr lang="en-US" sz="950" dirty="0">
                <a:solidFill>
                  <a:srgbClr val="445566"/>
                </a:solidFill>
                <a:latin typeface="Arial" pitchFamily="34" charset="0"/>
                <a:ea typeface="Arial" pitchFamily="34" charset="-122"/>
                <a:cs typeface="Arial" pitchFamily="34" charset="-120"/>
              </a:rPr>
              <a:t>Built on Claude API · Next.js 14 · Supabase · Vercel · Jira · Salesforce MCP</a:t>
            </a:r>
            <a:endParaRPr lang="en-US" sz="95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1645920"/>
            <a:ext cx="8138160" cy="731520"/>
          </a:xfrm>
          <a:prstGeom prst="rect">
            <a:avLst/>
          </a:prstGeom>
          <a:noFill/>
          <a:ln/>
        </p:spPr>
        <p:txBody>
          <a:bodyPr wrap="square"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Technical Appendix</a:t>
            </a:r>
            <a:endParaRPr lang="en-US" sz="4200" dirty="0"/>
          </a:p>
        </p:txBody>
      </p:sp>
      <p:sp>
        <p:nvSpPr>
          <p:cNvPr id="3" name="Text 1"/>
          <p:cNvSpPr/>
          <p:nvPr/>
        </p:nvSpPr>
        <p:spPr>
          <a:xfrm>
            <a:off x="502920" y="2468880"/>
            <a:ext cx="8138160" cy="365760"/>
          </a:xfrm>
          <a:prstGeom prst="rect">
            <a:avLst/>
          </a:prstGeom>
          <a:noFill/>
          <a:ln/>
        </p:spPr>
        <p:txBody>
          <a:bodyPr wrap="square" rtlCol="0" anchor="ctr"/>
          <a:lstStyle/>
          <a:p>
            <a:pPr algn="ctr" indent="0" marL="0">
              <a:buNone/>
            </a:pPr>
            <a:r>
              <a:rPr lang="en-US" sz="1400" dirty="0">
                <a:solidFill>
                  <a:srgbClr val="6A84A8"/>
                </a:solidFill>
                <a:latin typeface="Arial" pitchFamily="34" charset="0"/>
                <a:ea typeface="Arial" pitchFamily="34" charset="-122"/>
                <a:cs typeface="Arial" pitchFamily="34" charset="-120"/>
              </a:rPr>
              <a:t>Codebase architecture · File map · Sequence flows · Prompt anatomy</a:t>
            </a:r>
            <a:endParaRPr lang="en-US" sz="1400" dirty="0"/>
          </a:p>
        </p:txBody>
      </p:sp>
      <p:sp>
        <p:nvSpPr>
          <p:cNvPr id="4" name="Shape 2"/>
          <p:cNvSpPr/>
          <p:nvPr/>
        </p:nvSpPr>
        <p:spPr>
          <a:xfrm>
            <a:off x="2286000" y="2423160"/>
            <a:ext cx="4572000" cy="0"/>
          </a:xfrm>
          <a:prstGeom prst="line">
            <a:avLst/>
          </a:prstGeom>
          <a:noFill/>
          <a:ln w="19050">
            <a:solidFill>
              <a:srgbClr val="2E6DA4"/>
            </a:solidFill>
            <a:prstDash val="solid"/>
          </a:ln>
        </p:spPr>
      </p:sp>
      <p:sp>
        <p:nvSpPr>
          <p:cNvPr id="5" name="Text 3"/>
          <p:cNvSpPr/>
          <p:nvPr/>
        </p:nvSpPr>
        <p:spPr>
          <a:xfrm>
            <a:off x="502920" y="4480560"/>
            <a:ext cx="8138160" cy="256032"/>
          </a:xfrm>
          <a:prstGeom prst="rect">
            <a:avLst/>
          </a:prstGeom>
          <a:noFill/>
          <a:ln/>
        </p:spPr>
        <p:txBody>
          <a:bodyPr wrap="square" rtlCol="0" anchor="ctr"/>
          <a:lstStyle/>
          <a:p>
            <a:pPr algn="ctr" indent="0" marL="0">
              <a:buNone/>
            </a:pPr>
            <a:r>
              <a:rPr lang="en-US" sz="1000" i="1" dirty="0">
                <a:solidFill>
                  <a:srgbClr val="445566"/>
                </a:solidFill>
                <a:latin typeface="Arial" pitchFamily="34" charset="0"/>
                <a:ea typeface="Arial" pitchFamily="34" charset="-122"/>
                <a:cs typeface="Arial" pitchFamily="34" charset="-120"/>
              </a:rPr>
              <a:t>For technical audiences — architects, leads, and developers</a:t>
            </a:r>
            <a:endParaRPr lang="en-US" sz="1000" dirty="0"/>
          </a:p>
        </p:txBody>
      </p:sp>
    </p:spTree>
    <p:bg>
      <p:bgPr>
        <a:solidFill>
          <a:srgbClr val="0F1E3C"/>
        </a:solidFill>
      </p:bgPr>
    </p:bg>
    <p:spTree>
      <p:nvGrpSpPr>
        <p:cNvPr id="1" name=""/>
        <p:cNvGrpSpPr/>
        <p:nvPr/>
      </p:nvGrpSpPr>
      <p:grpSpPr>
        <a:xfrm>
          <a:off x="0" y="0"/>
          <a:ext cx="0" cy="0"/>
          <a:chOff x="0" y="0"/>
          <a:chExt cx="0" cy="0"/>
        </a:xfrm>
      </p:grpSpPr>
      <p:sp>
        <p:nvSpPr>
          <p:cNvPr id="2" name="Text 0"/>
          <p:cNvSpPr/>
          <p:nvPr/>
        </p:nvSpPr>
        <p:spPr>
          <a:xfrm>
            <a:off x="502920" y="1645920"/>
            <a:ext cx="8138160" cy="731520"/>
          </a:xfrm>
          <a:prstGeom prst="rect">
            <a:avLst/>
          </a:prstGeom>
          <a:noFill/>
          <a:ln/>
        </p:spPr>
        <p:txBody>
          <a:bodyPr wrap="square"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Technical Appendix</a:t>
            </a:r>
            <a:endParaRPr lang="en-US" sz="4200" dirty="0"/>
          </a:p>
        </p:txBody>
      </p:sp>
      <p:sp>
        <p:nvSpPr>
          <p:cNvPr id="3" name="Text 1"/>
          <p:cNvSpPr/>
          <p:nvPr/>
        </p:nvSpPr>
        <p:spPr>
          <a:xfrm>
            <a:off x="502920" y="2468880"/>
            <a:ext cx="8138160" cy="365760"/>
          </a:xfrm>
          <a:prstGeom prst="rect">
            <a:avLst/>
          </a:prstGeom>
          <a:noFill/>
          <a:ln/>
        </p:spPr>
        <p:txBody>
          <a:bodyPr wrap="square" rtlCol="0" anchor="ctr"/>
          <a:lstStyle/>
          <a:p>
            <a:pPr algn="ctr" indent="0" marL="0">
              <a:buNone/>
            </a:pPr>
            <a:r>
              <a:rPr lang="en-US" sz="1400" dirty="0">
                <a:solidFill>
                  <a:srgbClr val="6A84A8"/>
                </a:solidFill>
                <a:latin typeface="Arial" pitchFamily="34" charset="0"/>
                <a:ea typeface="Arial" pitchFamily="34" charset="-122"/>
                <a:cs typeface="Arial" pitchFamily="34" charset="-120"/>
              </a:rPr>
              <a:t>Codebase architecture · File map · Sequence flows · Prompt anatomy</a:t>
            </a:r>
            <a:endParaRPr lang="en-US" sz="1400" dirty="0"/>
          </a:p>
        </p:txBody>
      </p:sp>
      <p:sp>
        <p:nvSpPr>
          <p:cNvPr id="4" name="Shape 2"/>
          <p:cNvSpPr/>
          <p:nvPr/>
        </p:nvSpPr>
        <p:spPr>
          <a:xfrm>
            <a:off x="2286000" y="2423160"/>
            <a:ext cx="4572000" cy="0"/>
          </a:xfrm>
          <a:prstGeom prst="line">
            <a:avLst/>
          </a:prstGeom>
          <a:noFill/>
          <a:ln w="19050">
            <a:solidFill>
              <a:srgbClr val="2E6DA4"/>
            </a:solidFill>
            <a:prstDash val="solid"/>
          </a:ln>
        </p:spPr>
      </p:sp>
      <p:sp>
        <p:nvSpPr>
          <p:cNvPr id="5" name="Text 3"/>
          <p:cNvSpPr/>
          <p:nvPr/>
        </p:nvSpPr>
        <p:spPr>
          <a:xfrm>
            <a:off x="502920" y="4480560"/>
            <a:ext cx="8138160" cy="256032"/>
          </a:xfrm>
          <a:prstGeom prst="rect">
            <a:avLst/>
          </a:prstGeom>
          <a:noFill/>
          <a:ln/>
        </p:spPr>
        <p:txBody>
          <a:bodyPr wrap="square" rtlCol="0" anchor="ctr"/>
          <a:lstStyle/>
          <a:p>
            <a:pPr algn="ctr" indent="0" marL="0">
              <a:buNone/>
            </a:pPr>
            <a:r>
              <a:rPr lang="en-US" sz="1000" i="1" dirty="0">
                <a:solidFill>
                  <a:srgbClr val="445566"/>
                </a:solidFill>
                <a:latin typeface="Arial" pitchFamily="34" charset="0"/>
                <a:ea typeface="Arial" pitchFamily="34" charset="-122"/>
                <a:cs typeface="Arial" pitchFamily="34" charset="-120"/>
              </a:rPr>
              <a:t>For technical audiences — architects, leads, and developers</a:t>
            </a:r>
            <a:endParaRPr lang="en-US" sz="10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CODEBASE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Every key file and what it owns</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411480" y="1298448"/>
            <a:ext cx="1005840" cy="640080"/>
          </a:xfrm>
          <a:prstGeom prst="roundRect">
            <a:avLst>
              <a:gd name="adj" fmla="val 11429"/>
            </a:avLst>
          </a:prstGeom>
          <a:solidFill>
            <a:srgbClr val="0F1E3C"/>
          </a:solidFill>
          <a:ln w="12700">
            <a:solidFill>
              <a:srgbClr val="0F1E3C"/>
            </a:solidFill>
            <a:prstDash val="solid"/>
          </a:ln>
        </p:spPr>
      </p:sp>
      <p:sp>
        <p:nvSpPr>
          <p:cNvPr id="7" name="Text 5"/>
          <p:cNvSpPr/>
          <p:nvPr/>
        </p:nvSpPr>
        <p:spPr>
          <a:xfrm>
            <a:off x="411480" y="1344168"/>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Orchestration</a:t>
            </a:r>
            <a:endParaRPr lang="en-US" sz="800" dirty="0"/>
          </a:p>
        </p:txBody>
      </p:sp>
      <p:sp>
        <p:nvSpPr>
          <p:cNvPr id="8" name="Text 6"/>
          <p:cNvSpPr/>
          <p:nvPr/>
        </p:nvSpPr>
        <p:spPr>
          <a:xfrm>
            <a:off x="1490472" y="1353312"/>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ForumOrchestrator.ts</a:t>
            </a:r>
            <a:endParaRPr lang="en-US" sz="1000" dirty="0"/>
          </a:p>
        </p:txBody>
      </p:sp>
      <p:sp>
        <p:nvSpPr>
          <p:cNvPr id="9" name="Text 7"/>
          <p:cNvSpPr/>
          <p:nvPr/>
        </p:nvSpPr>
        <p:spPr>
          <a:xfrm>
            <a:off x="1490472" y="1572768"/>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Runs the 3-phase pipeline. Coordinates memory retrieval, agent execution, and result assembly.</a:t>
            </a:r>
            <a:endParaRPr lang="en-US" sz="850" dirty="0"/>
          </a:p>
        </p:txBody>
      </p:sp>
      <p:sp>
        <p:nvSpPr>
          <p:cNvPr id="10" name="Shape 8"/>
          <p:cNvSpPr/>
          <p:nvPr/>
        </p:nvSpPr>
        <p:spPr>
          <a:xfrm>
            <a:off x="4663440" y="1298448"/>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1" name="Shape 9"/>
          <p:cNvSpPr/>
          <p:nvPr/>
        </p:nvSpPr>
        <p:spPr>
          <a:xfrm>
            <a:off x="4663440" y="1298448"/>
            <a:ext cx="1005840" cy="640080"/>
          </a:xfrm>
          <a:prstGeom prst="roundRect">
            <a:avLst>
              <a:gd name="adj" fmla="val 11429"/>
            </a:avLst>
          </a:prstGeom>
          <a:solidFill>
            <a:srgbClr val="1B4F9B"/>
          </a:solidFill>
          <a:ln w="12700">
            <a:solidFill>
              <a:srgbClr val="1B4F9B"/>
            </a:solidFill>
            <a:prstDash val="solid"/>
          </a:ln>
        </p:spPr>
      </p:sp>
      <p:sp>
        <p:nvSpPr>
          <p:cNvPr id="12" name="Text 10"/>
          <p:cNvSpPr/>
          <p:nvPr/>
        </p:nvSpPr>
        <p:spPr>
          <a:xfrm>
            <a:off x="4663440" y="1344168"/>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Agent runtime</a:t>
            </a:r>
            <a:endParaRPr lang="en-US" sz="800" dirty="0"/>
          </a:p>
        </p:txBody>
      </p:sp>
      <p:sp>
        <p:nvSpPr>
          <p:cNvPr id="13" name="Text 11"/>
          <p:cNvSpPr/>
          <p:nvPr/>
        </p:nvSpPr>
        <p:spPr>
          <a:xfrm>
            <a:off x="5742432" y="1353312"/>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AgentRunner.ts</a:t>
            </a:r>
            <a:endParaRPr lang="en-US" sz="1000" dirty="0"/>
          </a:p>
        </p:txBody>
      </p:sp>
      <p:sp>
        <p:nvSpPr>
          <p:cNvPr id="14" name="Text 12"/>
          <p:cNvSpPr/>
          <p:nvPr/>
        </p:nvSpPr>
        <p:spPr>
          <a:xfrm>
            <a:off x="5742432" y="1572768"/>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Builds each agent's final system prompt (base + WA principles + memory + org context) and calls Anthropic API.</a:t>
            </a:r>
            <a:endParaRPr lang="en-US" sz="850" dirty="0"/>
          </a:p>
        </p:txBody>
      </p:sp>
      <p:sp>
        <p:nvSpPr>
          <p:cNvPr id="15" name="Shape 13"/>
          <p:cNvSpPr/>
          <p:nvPr/>
        </p:nvSpPr>
        <p:spPr>
          <a:xfrm>
            <a:off x="411480" y="2048256"/>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6" name="Shape 14"/>
          <p:cNvSpPr/>
          <p:nvPr/>
        </p:nvSpPr>
        <p:spPr>
          <a:xfrm>
            <a:off x="411480" y="2048256"/>
            <a:ext cx="1005840" cy="640080"/>
          </a:xfrm>
          <a:prstGeom prst="roundRect">
            <a:avLst>
              <a:gd name="adj" fmla="val 11429"/>
            </a:avLst>
          </a:prstGeom>
          <a:solidFill>
            <a:srgbClr val="0F6E56"/>
          </a:solidFill>
          <a:ln w="12700">
            <a:solidFill>
              <a:srgbClr val="0F6E56"/>
            </a:solidFill>
            <a:prstDash val="solid"/>
          </a:ln>
        </p:spPr>
      </p:sp>
      <p:sp>
        <p:nvSpPr>
          <p:cNvPr id="17" name="Text 15"/>
          <p:cNvSpPr/>
          <p:nvPr/>
        </p:nvSpPr>
        <p:spPr>
          <a:xfrm>
            <a:off x="411480" y="2093976"/>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18" name="Text 16"/>
          <p:cNvSpPr/>
          <p:nvPr/>
        </p:nvSpPr>
        <p:spPr>
          <a:xfrm>
            <a:off x="1490472" y="2103120"/>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jiraMemoryRetriever.ts</a:t>
            </a:r>
            <a:endParaRPr lang="en-US" sz="1000" dirty="0"/>
          </a:p>
        </p:txBody>
      </p:sp>
      <p:sp>
        <p:nvSpPr>
          <p:cNvPr id="19" name="Text 17"/>
          <p:cNvSpPr/>
          <p:nvPr/>
        </p:nvSpPr>
        <p:spPr>
          <a:xfrm>
            <a:off x="1490472" y="2322576"/>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Queries ARBOARD Jira project for past ADRs. Scores by domain keyword overlap. Returns top 5 relevant decisions.</a:t>
            </a:r>
            <a:endParaRPr lang="en-US" sz="850" dirty="0"/>
          </a:p>
        </p:txBody>
      </p:sp>
      <p:sp>
        <p:nvSpPr>
          <p:cNvPr id="20" name="Shape 18"/>
          <p:cNvSpPr/>
          <p:nvPr/>
        </p:nvSpPr>
        <p:spPr>
          <a:xfrm>
            <a:off x="4663440" y="2048256"/>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1" name="Shape 19"/>
          <p:cNvSpPr/>
          <p:nvPr/>
        </p:nvSpPr>
        <p:spPr>
          <a:xfrm>
            <a:off x="4663440" y="2048256"/>
            <a:ext cx="1005840" cy="640080"/>
          </a:xfrm>
          <a:prstGeom prst="roundRect">
            <a:avLst>
              <a:gd name="adj" fmla="val 11429"/>
            </a:avLst>
          </a:prstGeom>
          <a:solidFill>
            <a:srgbClr val="0F6E56"/>
          </a:solidFill>
          <a:ln w="12700">
            <a:solidFill>
              <a:srgbClr val="0F6E56"/>
            </a:solidFill>
            <a:prstDash val="solid"/>
          </a:ln>
        </p:spPr>
      </p:sp>
      <p:sp>
        <p:nvSpPr>
          <p:cNvPr id="22" name="Text 20"/>
          <p:cNvSpPr/>
          <p:nvPr/>
        </p:nvSpPr>
        <p:spPr>
          <a:xfrm>
            <a:off x="4663440" y="2093976"/>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23" name="Text 21"/>
          <p:cNvSpPr/>
          <p:nvPr/>
        </p:nvSpPr>
        <p:spPr>
          <a:xfrm>
            <a:off x="5742432" y="2103120"/>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contextInjector.ts</a:t>
            </a:r>
            <a:endParaRPr lang="en-US" sz="1000" dirty="0"/>
          </a:p>
        </p:txBody>
      </p:sp>
      <p:sp>
        <p:nvSpPr>
          <p:cNvPr id="24" name="Text 22"/>
          <p:cNvSpPr/>
          <p:nvPr/>
        </p:nvSpPr>
        <p:spPr>
          <a:xfrm>
            <a:off x="5742432" y="2322576"/>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Formats past ADRs into per-agent memory blocks. Filters by agent domain. Adds conflict warnings where applicable.</a:t>
            </a:r>
            <a:endParaRPr lang="en-US" sz="850" dirty="0"/>
          </a:p>
        </p:txBody>
      </p:sp>
      <p:sp>
        <p:nvSpPr>
          <p:cNvPr id="25" name="Shape 23"/>
          <p:cNvSpPr/>
          <p:nvPr/>
        </p:nvSpPr>
        <p:spPr>
          <a:xfrm>
            <a:off x="411480" y="2798064"/>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6" name="Shape 24"/>
          <p:cNvSpPr/>
          <p:nvPr/>
        </p:nvSpPr>
        <p:spPr>
          <a:xfrm>
            <a:off x="411480" y="2798064"/>
            <a:ext cx="1005840" cy="640080"/>
          </a:xfrm>
          <a:prstGeom prst="roundRect">
            <a:avLst>
              <a:gd name="adj" fmla="val 11429"/>
            </a:avLst>
          </a:prstGeom>
          <a:solidFill>
            <a:srgbClr val="534AB7"/>
          </a:solidFill>
          <a:ln w="12700">
            <a:solidFill>
              <a:srgbClr val="534AB7"/>
            </a:solidFill>
            <a:prstDash val="solid"/>
          </a:ln>
        </p:spPr>
      </p:sp>
      <p:sp>
        <p:nvSpPr>
          <p:cNvPr id="27" name="Text 25"/>
          <p:cNvSpPr/>
          <p:nvPr/>
        </p:nvSpPr>
        <p:spPr>
          <a:xfrm>
            <a:off x="411480" y="2843784"/>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28" name="Text 26"/>
          <p:cNvSpPr/>
          <p:nvPr/>
        </p:nvSpPr>
        <p:spPr>
          <a:xfrm>
            <a:off x="1490472" y="2852928"/>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wellArchitectedPrinciples.ts</a:t>
            </a:r>
            <a:endParaRPr lang="en-US" sz="1000" dirty="0"/>
          </a:p>
        </p:txBody>
      </p:sp>
      <p:sp>
        <p:nvSpPr>
          <p:cNvPr id="29" name="Text 27"/>
          <p:cNvSpPr/>
          <p:nvPr/>
        </p:nvSpPr>
        <p:spPr>
          <a:xfrm>
            <a:off x="1490472" y="3072384"/>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9 agent-keyed principle sets. Injected into system prompt after memory. Grounds agents in SF Well-Architected Framework.</a:t>
            </a:r>
            <a:endParaRPr lang="en-US" sz="850" dirty="0"/>
          </a:p>
        </p:txBody>
      </p:sp>
      <p:sp>
        <p:nvSpPr>
          <p:cNvPr id="30" name="Shape 28"/>
          <p:cNvSpPr/>
          <p:nvPr/>
        </p:nvSpPr>
        <p:spPr>
          <a:xfrm>
            <a:off x="4663440" y="2798064"/>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1" name="Shape 29"/>
          <p:cNvSpPr/>
          <p:nvPr/>
        </p:nvSpPr>
        <p:spPr>
          <a:xfrm>
            <a:off x="4663440" y="2798064"/>
            <a:ext cx="1005840" cy="640080"/>
          </a:xfrm>
          <a:prstGeom prst="roundRect">
            <a:avLst>
              <a:gd name="adj" fmla="val 11429"/>
            </a:avLst>
          </a:prstGeom>
          <a:solidFill>
            <a:srgbClr val="534AB7"/>
          </a:solidFill>
          <a:ln w="12700">
            <a:solidFill>
              <a:srgbClr val="534AB7"/>
            </a:solidFill>
            <a:prstDash val="solid"/>
          </a:ln>
        </p:spPr>
      </p:sp>
      <p:sp>
        <p:nvSpPr>
          <p:cNvPr id="32" name="Text 30"/>
          <p:cNvSpPr/>
          <p:nvPr/>
        </p:nvSpPr>
        <p:spPr>
          <a:xfrm>
            <a:off x="4663440" y="2843784"/>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33" name="Text 31"/>
          <p:cNvSpPr/>
          <p:nvPr/>
        </p:nvSpPr>
        <p:spPr>
          <a:xfrm>
            <a:off x="5742432" y="2852928"/>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patternRetrieval.ts</a:t>
            </a:r>
            <a:endParaRPr lang="en-US" sz="1000" dirty="0"/>
          </a:p>
        </p:txBody>
      </p:sp>
      <p:sp>
        <p:nvSpPr>
          <p:cNvPr id="34" name="Text 32"/>
          <p:cNvSpPr/>
          <p:nvPr/>
        </p:nvSpPr>
        <p:spPr>
          <a:xfrm>
            <a:off x="5742432" y="3072384"/>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Retrieves SI failure patterns from Supabase. Agents cite FP-xxx IDs in their analysis when patterns are matched.</a:t>
            </a:r>
            <a:endParaRPr lang="en-US" sz="850" dirty="0"/>
          </a:p>
        </p:txBody>
      </p:sp>
      <p:sp>
        <p:nvSpPr>
          <p:cNvPr id="35" name="Shape 33"/>
          <p:cNvSpPr/>
          <p:nvPr/>
        </p:nvSpPr>
        <p:spPr>
          <a:xfrm>
            <a:off x="411480" y="3547872"/>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6" name="Shape 34"/>
          <p:cNvSpPr/>
          <p:nvPr/>
        </p:nvSpPr>
        <p:spPr>
          <a:xfrm>
            <a:off x="411480" y="3547872"/>
            <a:ext cx="1005840" cy="640080"/>
          </a:xfrm>
          <a:prstGeom prst="roundRect">
            <a:avLst>
              <a:gd name="adj" fmla="val 11429"/>
            </a:avLst>
          </a:prstGeom>
          <a:solidFill>
            <a:srgbClr val="BA7517"/>
          </a:solidFill>
          <a:ln w="12700">
            <a:solidFill>
              <a:srgbClr val="BA7517"/>
            </a:solidFill>
            <a:prstDash val="solid"/>
          </a:ln>
        </p:spPr>
      </p:sp>
      <p:sp>
        <p:nvSpPr>
          <p:cNvPr id="37" name="Text 35"/>
          <p:cNvSpPr/>
          <p:nvPr/>
        </p:nvSpPr>
        <p:spPr>
          <a:xfrm>
            <a:off x="411480" y="3593592"/>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38" name="Text 36"/>
          <p:cNvSpPr/>
          <p:nvPr/>
        </p:nvSpPr>
        <p:spPr>
          <a:xfrm>
            <a:off x="1490472" y="3602736"/>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jira.ts</a:t>
            </a:r>
            <a:endParaRPr lang="en-US" sz="1000" dirty="0"/>
          </a:p>
        </p:txBody>
      </p:sp>
      <p:sp>
        <p:nvSpPr>
          <p:cNvPr id="39" name="Text 37"/>
          <p:cNvSpPr/>
          <p:nvPr/>
        </p:nvSpPr>
        <p:spPr>
          <a:xfrm>
            <a:off x="1490472" y="3822192"/>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Creates ADR tickets in ARBOARD project. Assigns reviewers. Posts human judgement comments. Manages arboard-adr/signed labels.</a:t>
            </a:r>
            <a:endParaRPr lang="en-US" sz="850" dirty="0"/>
          </a:p>
        </p:txBody>
      </p:sp>
      <p:sp>
        <p:nvSpPr>
          <p:cNvPr id="40" name="Shape 38"/>
          <p:cNvSpPr/>
          <p:nvPr/>
        </p:nvSpPr>
        <p:spPr>
          <a:xfrm>
            <a:off x="4663440" y="3547872"/>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1" name="Shape 39"/>
          <p:cNvSpPr/>
          <p:nvPr/>
        </p:nvSpPr>
        <p:spPr>
          <a:xfrm>
            <a:off x="4663440" y="3547872"/>
            <a:ext cx="1005840" cy="640080"/>
          </a:xfrm>
          <a:prstGeom prst="roundRect">
            <a:avLst>
              <a:gd name="adj" fmla="val 11429"/>
            </a:avLst>
          </a:prstGeom>
          <a:solidFill>
            <a:srgbClr val="BA7517"/>
          </a:solidFill>
          <a:ln w="12700">
            <a:solidFill>
              <a:srgbClr val="BA7517"/>
            </a:solidFill>
            <a:prstDash val="solid"/>
          </a:ln>
        </p:spPr>
      </p:sp>
      <p:sp>
        <p:nvSpPr>
          <p:cNvPr id="42" name="Text 40"/>
          <p:cNvSpPr/>
          <p:nvPr/>
        </p:nvSpPr>
        <p:spPr>
          <a:xfrm>
            <a:off x="4663440" y="3593592"/>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43" name="Text 41"/>
          <p:cNvSpPr/>
          <p:nvPr/>
        </p:nvSpPr>
        <p:spPr>
          <a:xfrm>
            <a:off x="5742432" y="3602736"/>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OrgMetadataCollector.ts</a:t>
            </a:r>
            <a:endParaRPr lang="en-US" sz="1000" dirty="0"/>
          </a:p>
        </p:txBody>
      </p:sp>
      <p:sp>
        <p:nvSpPr>
          <p:cNvPr id="44" name="Text 42"/>
          <p:cNvSpPr/>
          <p:nvPr/>
        </p:nvSpPr>
        <p:spPr>
          <a:xfrm>
            <a:off x="5742432" y="3822192"/>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Collects live Salesforce org metadata via MCP or jsforce fallback. Feeds object/trigger/flow context to agents.</a:t>
            </a:r>
            <a:endParaRPr lang="en-US" sz="850" dirty="0"/>
          </a:p>
        </p:txBody>
      </p:sp>
      <p:sp>
        <p:nvSpPr>
          <p:cNvPr id="45" name="Shape 43"/>
          <p:cNvSpPr/>
          <p:nvPr/>
        </p:nvSpPr>
        <p:spPr>
          <a:xfrm>
            <a:off x="411480" y="4297680"/>
            <a:ext cx="832104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6" name="Shape 44"/>
          <p:cNvSpPr/>
          <p:nvPr/>
        </p:nvSpPr>
        <p:spPr>
          <a:xfrm>
            <a:off x="411480" y="4297680"/>
            <a:ext cx="1005840" cy="640080"/>
          </a:xfrm>
          <a:prstGeom prst="roundRect">
            <a:avLst>
              <a:gd name="adj" fmla="val 11429"/>
            </a:avLst>
          </a:prstGeom>
          <a:solidFill>
            <a:srgbClr val="993C1D"/>
          </a:solidFill>
          <a:ln w="12700">
            <a:solidFill>
              <a:srgbClr val="993C1D"/>
            </a:solidFill>
            <a:prstDash val="solid"/>
          </a:ln>
        </p:spPr>
      </p:sp>
      <p:sp>
        <p:nvSpPr>
          <p:cNvPr id="47" name="Text 45"/>
          <p:cNvSpPr/>
          <p:nvPr/>
        </p:nvSpPr>
        <p:spPr>
          <a:xfrm>
            <a:off x="411480" y="4343400"/>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Analysis</a:t>
            </a:r>
            <a:endParaRPr lang="en-US" sz="800" dirty="0"/>
          </a:p>
        </p:txBody>
      </p:sp>
      <p:sp>
        <p:nvSpPr>
          <p:cNvPr id="48" name="Text 46"/>
          <p:cNvSpPr/>
          <p:nvPr/>
        </p:nvSpPr>
        <p:spPr>
          <a:xfrm>
            <a:off x="1490472" y="4352544"/>
            <a:ext cx="717804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ImpactAnalyser.ts</a:t>
            </a:r>
            <a:endParaRPr lang="en-US" sz="1000" dirty="0"/>
          </a:p>
        </p:txBody>
      </p:sp>
      <p:sp>
        <p:nvSpPr>
          <p:cNvPr id="49" name="Text 47"/>
          <p:cNvSpPr/>
          <p:nvPr/>
        </p:nvSpPr>
        <p:spPr>
          <a:xfrm>
            <a:off x="1490472" y="4572000"/>
            <a:ext cx="717804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Analyses the requirement to determine which specialist agents are relevant. Avoids running all 9 agents when unnecessary.</a:t>
            </a:r>
            <a:endParaRPr lang="en-US" sz="85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CODEBASE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Every key file and what it owns</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411480" y="1298448"/>
            <a:ext cx="1005840" cy="640080"/>
          </a:xfrm>
          <a:prstGeom prst="roundRect">
            <a:avLst>
              <a:gd name="adj" fmla="val 11429"/>
            </a:avLst>
          </a:prstGeom>
          <a:solidFill>
            <a:srgbClr val="0F1E3C"/>
          </a:solidFill>
          <a:ln w="12700">
            <a:solidFill>
              <a:srgbClr val="0F1E3C"/>
            </a:solidFill>
            <a:prstDash val="solid"/>
          </a:ln>
        </p:spPr>
      </p:sp>
      <p:sp>
        <p:nvSpPr>
          <p:cNvPr id="7" name="Text 5"/>
          <p:cNvSpPr/>
          <p:nvPr/>
        </p:nvSpPr>
        <p:spPr>
          <a:xfrm>
            <a:off x="411480" y="1344168"/>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Orchestration</a:t>
            </a:r>
            <a:endParaRPr lang="en-US" sz="800" dirty="0"/>
          </a:p>
        </p:txBody>
      </p:sp>
      <p:sp>
        <p:nvSpPr>
          <p:cNvPr id="8" name="Text 6"/>
          <p:cNvSpPr/>
          <p:nvPr/>
        </p:nvSpPr>
        <p:spPr>
          <a:xfrm>
            <a:off x="1490472" y="1353312"/>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ForumOrchestrator.ts</a:t>
            </a:r>
            <a:endParaRPr lang="en-US" sz="1000" dirty="0"/>
          </a:p>
        </p:txBody>
      </p:sp>
      <p:sp>
        <p:nvSpPr>
          <p:cNvPr id="9" name="Text 7"/>
          <p:cNvSpPr/>
          <p:nvPr/>
        </p:nvSpPr>
        <p:spPr>
          <a:xfrm>
            <a:off x="1490472" y="1572768"/>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Runs the 3-phase pipeline. Coordinates memory retrieval, agent execution, and result assembly.</a:t>
            </a:r>
            <a:endParaRPr lang="en-US" sz="850" dirty="0"/>
          </a:p>
        </p:txBody>
      </p:sp>
      <p:sp>
        <p:nvSpPr>
          <p:cNvPr id="10" name="Shape 8"/>
          <p:cNvSpPr/>
          <p:nvPr/>
        </p:nvSpPr>
        <p:spPr>
          <a:xfrm>
            <a:off x="4663440" y="1298448"/>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1" name="Shape 9"/>
          <p:cNvSpPr/>
          <p:nvPr/>
        </p:nvSpPr>
        <p:spPr>
          <a:xfrm>
            <a:off x="4663440" y="1298448"/>
            <a:ext cx="1005840" cy="640080"/>
          </a:xfrm>
          <a:prstGeom prst="roundRect">
            <a:avLst>
              <a:gd name="adj" fmla="val 11429"/>
            </a:avLst>
          </a:prstGeom>
          <a:solidFill>
            <a:srgbClr val="1B4F9B"/>
          </a:solidFill>
          <a:ln w="12700">
            <a:solidFill>
              <a:srgbClr val="1B4F9B"/>
            </a:solidFill>
            <a:prstDash val="solid"/>
          </a:ln>
        </p:spPr>
      </p:sp>
      <p:sp>
        <p:nvSpPr>
          <p:cNvPr id="12" name="Text 10"/>
          <p:cNvSpPr/>
          <p:nvPr/>
        </p:nvSpPr>
        <p:spPr>
          <a:xfrm>
            <a:off x="4663440" y="1344168"/>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Agent runtime</a:t>
            </a:r>
            <a:endParaRPr lang="en-US" sz="800" dirty="0"/>
          </a:p>
        </p:txBody>
      </p:sp>
      <p:sp>
        <p:nvSpPr>
          <p:cNvPr id="13" name="Text 11"/>
          <p:cNvSpPr/>
          <p:nvPr/>
        </p:nvSpPr>
        <p:spPr>
          <a:xfrm>
            <a:off x="5742432" y="1353312"/>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AgentRunner.ts</a:t>
            </a:r>
            <a:endParaRPr lang="en-US" sz="1000" dirty="0"/>
          </a:p>
        </p:txBody>
      </p:sp>
      <p:sp>
        <p:nvSpPr>
          <p:cNvPr id="14" name="Text 12"/>
          <p:cNvSpPr/>
          <p:nvPr/>
        </p:nvSpPr>
        <p:spPr>
          <a:xfrm>
            <a:off x="5742432" y="1572768"/>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Builds each agent's final system prompt (base + WA principles + memory + org context) and calls Anthropic API.</a:t>
            </a:r>
            <a:endParaRPr lang="en-US" sz="850" dirty="0"/>
          </a:p>
        </p:txBody>
      </p:sp>
      <p:sp>
        <p:nvSpPr>
          <p:cNvPr id="15" name="Shape 13"/>
          <p:cNvSpPr/>
          <p:nvPr/>
        </p:nvSpPr>
        <p:spPr>
          <a:xfrm>
            <a:off x="411480" y="2048256"/>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6" name="Shape 14"/>
          <p:cNvSpPr/>
          <p:nvPr/>
        </p:nvSpPr>
        <p:spPr>
          <a:xfrm>
            <a:off x="411480" y="2048256"/>
            <a:ext cx="1005840" cy="640080"/>
          </a:xfrm>
          <a:prstGeom prst="roundRect">
            <a:avLst>
              <a:gd name="adj" fmla="val 11429"/>
            </a:avLst>
          </a:prstGeom>
          <a:solidFill>
            <a:srgbClr val="0F6E56"/>
          </a:solidFill>
          <a:ln w="12700">
            <a:solidFill>
              <a:srgbClr val="0F6E56"/>
            </a:solidFill>
            <a:prstDash val="solid"/>
          </a:ln>
        </p:spPr>
      </p:sp>
      <p:sp>
        <p:nvSpPr>
          <p:cNvPr id="17" name="Text 15"/>
          <p:cNvSpPr/>
          <p:nvPr/>
        </p:nvSpPr>
        <p:spPr>
          <a:xfrm>
            <a:off x="411480" y="2093976"/>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18" name="Text 16"/>
          <p:cNvSpPr/>
          <p:nvPr/>
        </p:nvSpPr>
        <p:spPr>
          <a:xfrm>
            <a:off x="1490472" y="2103120"/>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jiraMemoryRetriever.ts</a:t>
            </a:r>
            <a:endParaRPr lang="en-US" sz="1000" dirty="0"/>
          </a:p>
        </p:txBody>
      </p:sp>
      <p:sp>
        <p:nvSpPr>
          <p:cNvPr id="19" name="Text 17"/>
          <p:cNvSpPr/>
          <p:nvPr/>
        </p:nvSpPr>
        <p:spPr>
          <a:xfrm>
            <a:off x="1490472" y="2322576"/>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Queries ARBOARD Jira project for past ADRs. Scores by domain keyword overlap. Returns top 5 relevant decisions.</a:t>
            </a:r>
            <a:endParaRPr lang="en-US" sz="850" dirty="0"/>
          </a:p>
        </p:txBody>
      </p:sp>
      <p:sp>
        <p:nvSpPr>
          <p:cNvPr id="20" name="Shape 18"/>
          <p:cNvSpPr/>
          <p:nvPr/>
        </p:nvSpPr>
        <p:spPr>
          <a:xfrm>
            <a:off x="4663440" y="2048256"/>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1" name="Shape 19"/>
          <p:cNvSpPr/>
          <p:nvPr/>
        </p:nvSpPr>
        <p:spPr>
          <a:xfrm>
            <a:off x="4663440" y="2048256"/>
            <a:ext cx="1005840" cy="640080"/>
          </a:xfrm>
          <a:prstGeom prst="roundRect">
            <a:avLst>
              <a:gd name="adj" fmla="val 11429"/>
            </a:avLst>
          </a:prstGeom>
          <a:solidFill>
            <a:srgbClr val="0F6E56"/>
          </a:solidFill>
          <a:ln w="12700">
            <a:solidFill>
              <a:srgbClr val="0F6E56"/>
            </a:solidFill>
            <a:prstDash val="solid"/>
          </a:ln>
        </p:spPr>
      </p:sp>
      <p:sp>
        <p:nvSpPr>
          <p:cNvPr id="22" name="Text 20"/>
          <p:cNvSpPr/>
          <p:nvPr/>
        </p:nvSpPr>
        <p:spPr>
          <a:xfrm>
            <a:off x="4663440" y="2093976"/>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23" name="Text 21"/>
          <p:cNvSpPr/>
          <p:nvPr/>
        </p:nvSpPr>
        <p:spPr>
          <a:xfrm>
            <a:off x="5742432" y="2103120"/>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contextInjector.ts</a:t>
            </a:r>
            <a:endParaRPr lang="en-US" sz="1000" dirty="0"/>
          </a:p>
        </p:txBody>
      </p:sp>
      <p:sp>
        <p:nvSpPr>
          <p:cNvPr id="24" name="Text 22"/>
          <p:cNvSpPr/>
          <p:nvPr/>
        </p:nvSpPr>
        <p:spPr>
          <a:xfrm>
            <a:off x="5742432" y="2322576"/>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Formats past ADRs into per-agent memory blocks. Filters by agent domain. Adds conflict warnings where applicable.</a:t>
            </a:r>
            <a:endParaRPr lang="en-US" sz="850" dirty="0"/>
          </a:p>
        </p:txBody>
      </p:sp>
      <p:sp>
        <p:nvSpPr>
          <p:cNvPr id="25" name="Shape 23"/>
          <p:cNvSpPr/>
          <p:nvPr/>
        </p:nvSpPr>
        <p:spPr>
          <a:xfrm>
            <a:off x="411480" y="2798064"/>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6" name="Shape 24"/>
          <p:cNvSpPr/>
          <p:nvPr/>
        </p:nvSpPr>
        <p:spPr>
          <a:xfrm>
            <a:off x="411480" y="2798064"/>
            <a:ext cx="1005840" cy="640080"/>
          </a:xfrm>
          <a:prstGeom prst="roundRect">
            <a:avLst>
              <a:gd name="adj" fmla="val 11429"/>
            </a:avLst>
          </a:prstGeom>
          <a:solidFill>
            <a:srgbClr val="534AB7"/>
          </a:solidFill>
          <a:ln w="12700">
            <a:solidFill>
              <a:srgbClr val="534AB7"/>
            </a:solidFill>
            <a:prstDash val="solid"/>
          </a:ln>
        </p:spPr>
      </p:sp>
      <p:sp>
        <p:nvSpPr>
          <p:cNvPr id="27" name="Text 25"/>
          <p:cNvSpPr/>
          <p:nvPr/>
        </p:nvSpPr>
        <p:spPr>
          <a:xfrm>
            <a:off x="411480" y="2843784"/>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28" name="Text 26"/>
          <p:cNvSpPr/>
          <p:nvPr/>
        </p:nvSpPr>
        <p:spPr>
          <a:xfrm>
            <a:off x="1490472" y="2852928"/>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wellArchitectedPrinciples.ts</a:t>
            </a:r>
            <a:endParaRPr lang="en-US" sz="1000" dirty="0"/>
          </a:p>
        </p:txBody>
      </p:sp>
      <p:sp>
        <p:nvSpPr>
          <p:cNvPr id="29" name="Text 27"/>
          <p:cNvSpPr/>
          <p:nvPr/>
        </p:nvSpPr>
        <p:spPr>
          <a:xfrm>
            <a:off x="1490472" y="3072384"/>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9 agent-keyed principle sets. Injected into system prompt after memory. Grounds agents in SF Well-Architected Framework.</a:t>
            </a:r>
            <a:endParaRPr lang="en-US" sz="850" dirty="0"/>
          </a:p>
        </p:txBody>
      </p:sp>
      <p:sp>
        <p:nvSpPr>
          <p:cNvPr id="30" name="Shape 28"/>
          <p:cNvSpPr/>
          <p:nvPr/>
        </p:nvSpPr>
        <p:spPr>
          <a:xfrm>
            <a:off x="4663440" y="2798064"/>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1" name="Shape 29"/>
          <p:cNvSpPr/>
          <p:nvPr/>
        </p:nvSpPr>
        <p:spPr>
          <a:xfrm>
            <a:off x="4663440" y="2798064"/>
            <a:ext cx="1005840" cy="640080"/>
          </a:xfrm>
          <a:prstGeom prst="roundRect">
            <a:avLst>
              <a:gd name="adj" fmla="val 11429"/>
            </a:avLst>
          </a:prstGeom>
          <a:solidFill>
            <a:srgbClr val="534AB7"/>
          </a:solidFill>
          <a:ln w="12700">
            <a:solidFill>
              <a:srgbClr val="534AB7"/>
            </a:solidFill>
            <a:prstDash val="solid"/>
          </a:ln>
        </p:spPr>
      </p:sp>
      <p:sp>
        <p:nvSpPr>
          <p:cNvPr id="32" name="Text 30"/>
          <p:cNvSpPr/>
          <p:nvPr/>
        </p:nvSpPr>
        <p:spPr>
          <a:xfrm>
            <a:off x="4663440" y="2843784"/>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33" name="Text 31"/>
          <p:cNvSpPr/>
          <p:nvPr/>
        </p:nvSpPr>
        <p:spPr>
          <a:xfrm>
            <a:off x="5742432" y="2852928"/>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patternRetrieval.ts</a:t>
            </a:r>
            <a:endParaRPr lang="en-US" sz="1000" dirty="0"/>
          </a:p>
        </p:txBody>
      </p:sp>
      <p:sp>
        <p:nvSpPr>
          <p:cNvPr id="34" name="Text 32"/>
          <p:cNvSpPr/>
          <p:nvPr/>
        </p:nvSpPr>
        <p:spPr>
          <a:xfrm>
            <a:off x="5742432" y="3072384"/>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Retrieves SI failure patterns from Supabase. Agents cite FP-xxx IDs in their analysis when patterns are matched.</a:t>
            </a:r>
            <a:endParaRPr lang="en-US" sz="850" dirty="0"/>
          </a:p>
        </p:txBody>
      </p:sp>
      <p:sp>
        <p:nvSpPr>
          <p:cNvPr id="35" name="Shape 33"/>
          <p:cNvSpPr/>
          <p:nvPr/>
        </p:nvSpPr>
        <p:spPr>
          <a:xfrm>
            <a:off x="411480" y="3547872"/>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6" name="Shape 34"/>
          <p:cNvSpPr/>
          <p:nvPr/>
        </p:nvSpPr>
        <p:spPr>
          <a:xfrm>
            <a:off x="411480" y="3547872"/>
            <a:ext cx="1005840" cy="640080"/>
          </a:xfrm>
          <a:prstGeom prst="roundRect">
            <a:avLst>
              <a:gd name="adj" fmla="val 11429"/>
            </a:avLst>
          </a:prstGeom>
          <a:solidFill>
            <a:srgbClr val="BA7517"/>
          </a:solidFill>
          <a:ln w="12700">
            <a:solidFill>
              <a:srgbClr val="BA7517"/>
            </a:solidFill>
            <a:prstDash val="solid"/>
          </a:ln>
        </p:spPr>
      </p:sp>
      <p:sp>
        <p:nvSpPr>
          <p:cNvPr id="37" name="Text 35"/>
          <p:cNvSpPr/>
          <p:nvPr/>
        </p:nvSpPr>
        <p:spPr>
          <a:xfrm>
            <a:off x="411480" y="3593592"/>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38" name="Text 36"/>
          <p:cNvSpPr/>
          <p:nvPr/>
        </p:nvSpPr>
        <p:spPr>
          <a:xfrm>
            <a:off x="1490472" y="3602736"/>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jira.ts</a:t>
            </a:r>
            <a:endParaRPr lang="en-US" sz="1000" dirty="0"/>
          </a:p>
        </p:txBody>
      </p:sp>
      <p:sp>
        <p:nvSpPr>
          <p:cNvPr id="39" name="Text 37"/>
          <p:cNvSpPr/>
          <p:nvPr/>
        </p:nvSpPr>
        <p:spPr>
          <a:xfrm>
            <a:off x="1490472" y="3822192"/>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Creates ADR tickets in ARBOARD project. Assigns reviewers. Posts human judgement comments. Manages arboard-adr/signed labels.</a:t>
            </a:r>
            <a:endParaRPr lang="en-US" sz="850" dirty="0"/>
          </a:p>
        </p:txBody>
      </p:sp>
      <p:sp>
        <p:nvSpPr>
          <p:cNvPr id="40" name="Shape 38"/>
          <p:cNvSpPr/>
          <p:nvPr/>
        </p:nvSpPr>
        <p:spPr>
          <a:xfrm>
            <a:off x="4663440" y="3547872"/>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1" name="Shape 39"/>
          <p:cNvSpPr/>
          <p:nvPr/>
        </p:nvSpPr>
        <p:spPr>
          <a:xfrm>
            <a:off x="4663440" y="3547872"/>
            <a:ext cx="1005840" cy="640080"/>
          </a:xfrm>
          <a:prstGeom prst="roundRect">
            <a:avLst>
              <a:gd name="adj" fmla="val 11429"/>
            </a:avLst>
          </a:prstGeom>
          <a:solidFill>
            <a:srgbClr val="BA7517"/>
          </a:solidFill>
          <a:ln w="12700">
            <a:solidFill>
              <a:srgbClr val="BA7517"/>
            </a:solidFill>
            <a:prstDash val="solid"/>
          </a:ln>
        </p:spPr>
      </p:sp>
      <p:sp>
        <p:nvSpPr>
          <p:cNvPr id="42" name="Text 40"/>
          <p:cNvSpPr/>
          <p:nvPr/>
        </p:nvSpPr>
        <p:spPr>
          <a:xfrm>
            <a:off x="4663440" y="3593592"/>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43" name="Text 41"/>
          <p:cNvSpPr/>
          <p:nvPr/>
        </p:nvSpPr>
        <p:spPr>
          <a:xfrm>
            <a:off x="5742432" y="3602736"/>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OrgMetadataCollector.ts</a:t>
            </a:r>
            <a:endParaRPr lang="en-US" sz="1000" dirty="0"/>
          </a:p>
        </p:txBody>
      </p:sp>
      <p:sp>
        <p:nvSpPr>
          <p:cNvPr id="44" name="Text 42"/>
          <p:cNvSpPr/>
          <p:nvPr/>
        </p:nvSpPr>
        <p:spPr>
          <a:xfrm>
            <a:off x="5742432" y="3822192"/>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Collects live Salesforce org metadata via MCP or jsforce fallback. Feeds object/trigger/flow context to agents.</a:t>
            </a:r>
            <a:endParaRPr lang="en-US" sz="850" dirty="0"/>
          </a:p>
        </p:txBody>
      </p:sp>
      <p:sp>
        <p:nvSpPr>
          <p:cNvPr id="45" name="Shape 43"/>
          <p:cNvSpPr/>
          <p:nvPr/>
        </p:nvSpPr>
        <p:spPr>
          <a:xfrm>
            <a:off x="411480" y="4297680"/>
            <a:ext cx="832104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6" name="Shape 44"/>
          <p:cNvSpPr/>
          <p:nvPr/>
        </p:nvSpPr>
        <p:spPr>
          <a:xfrm>
            <a:off x="411480" y="4297680"/>
            <a:ext cx="1005840" cy="640080"/>
          </a:xfrm>
          <a:prstGeom prst="roundRect">
            <a:avLst>
              <a:gd name="adj" fmla="val 11429"/>
            </a:avLst>
          </a:prstGeom>
          <a:solidFill>
            <a:srgbClr val="993C1D"/>
          </a:solidFill>
          <a:ln w="12700">
            <a:solidFill>
              <a:srgbClr val="993C1D"/>
            </a:solidFill>
            <a:prstDash val="solid"/>
          </a:ln>
        </p:spPr>
      </p:sp>
      <p:sp>
        <p:nvSpPr>
          <p:cNvPr id="47" name="Text 45"/>
          <p:cNvSpPr/>
          <p:nvPr/>
        </p:nvSpPr>
        <p:spPr>
          <a:xfrm>
            <a:off x="411480" y="4343400"/>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Analysis</a:t>
            </a:r>
            <a:endParaRPr lang="en-US" sz="800" dirty="0"/>
          </a:p>
        </p:txBody>
      </p:sp>
      <p:sp>
        <p:nvSpPr>
          <p:cNvPr id="48" name="Text 46"/>
          <p:cNvSpPr/>
          <p:nvPr/>
        </p:nvSpPr>
        <p:spPr>
          <a:xfrm>
            <a:off x="1490472" y="4352544"/>
            <a:ext cx="717804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ImpactAnalyser.ts</a:t>
            </a:r>
            <a:endParaRPr lang="en-US" sz="1000" dirty="0"/>
          </a:p>
        </p:txBody>
      </p:sp>
      <p:sp>
        <p:nvSpPr>
          <p:cNvPr id="49" name="Text 47"/>
          <p:cNvSpPr/>
          <p:nvPr/>
        </p:nvSpPr>
        <p:spPr>
          <a:xfrm>
            <a:off x="1490472" y="4572000"/>
            <a:ext cx="717804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Analyses the requirement to determine which specialist agents are relevant. Avoids running all 9 agents when unnecessary.</a:t>
            </a:r>
            <a:endParaRPr lang="en-US" sz="85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SEQUENCE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End-to-end: from doc upload to Jira ticket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25880"/>
            <a:ext cx="2011680" cy="1353312"/>
          </a:xfrm>
          <a:prstGeom prst="roundRect">
            <a:avLst>
              <a:gd name="adj" fmla="val 5405"/>
            </a:avLst>
          </a:prstGeom>
          <a:solidFill>
            <a:srgbClr val="EB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1170432" y="1417320"/>
            <a:ext cx="475488" cy="475488"/>
          </a:xfrm>
          <a:prstGeom prst="ellipse">
            <a:avLst/>
          </a:prstGeom>
          <a:solidFill>
            <a:srgbClr val="0F1E3C"/>
          </a:solidFill>
          <a:ln w="12700">
            <a:solidFill>
              <a:srgbClr val="0F1E3C"/>
            </a:solidFill>
            <a:prstDash val="solid"/>
          </a:ln>
        </p:spPr>
      </p:sp>
      <p:sp>
        <p:nvSpPr>
          <p:cNvPr id="7" name="Text 5"/>
          <p:cNvSpPr/>
          <p:nvPr/>
        </p:nvSpPr>
        <p:spPr>
          <a:xfrm>
            <a:off x="117043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41148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Upload &amp; extract</a:t>
            </a:r>
            <a:endParaRPr lang="en-US" sz="1100" dirty="0"/>
          </a:p>
        </p:txBody>
      </p:sp>
      <p:sp>
        <p:nvSpPr>
          <p:cNvPr id="9" name="Text 7"/>
          <p:cNvSpPr/>
          <p:nvPr/>
        </p:nvSpPr>
        <p:spPr>
          <a:xfrm>
            <a:off x="411480" y="2203704"/>
            <a:ext cx="2011680" cy="201168"/>
          </a:xfrm>
          <a:prstGeom prst="rect">
            <a:avLst/>
          </a:prstGeom>
          <a:noFill/>
          <a:ln/>
        </p:spPr>
        <p:txBody>
          <a:bodyPr wrap="square" rtlCol="0" anchor="ctr"/>
          <a:lstStyle/>
          <a:p>
            <a:pPr algn="ctr" indent="0" marL="0">
              <a:buNone/>
            </a:pPr>
            <a:r>
              <a:rPr lang="en-US" sz="850" b="1" dirty="0">
                <a:solidFill>
                  <a:srgbClr val="0F1E3C"/>
                </a:solidFill>
                <a:latin typeface="Arial" pitchFamily="34" charset="0"/>
                <a:ea typeface="Arial" pitchFamily="34" charset="-122"/>
                <a:cs typeface="Arial" pitchFamily="34" charset="-120"/>
              </a:rPr>
              <a:t>api/upload/route.ts</a:t>
            </a:r>
            <a:endParaRPr lang="en-US" sz="850" dirty="0"/>
          </a:p>
        </p:txBody>
      </p:sp>
      <p:sp>
        <p:nvSpPr>
          <p:cNvPr id="10" name="Text 8"/>
          <p:cNvSpPr/>
          <p:nvPr/>
        </p:nvSpPr>
        <p:spPr>
          <a:xfrm>
            <a:off x="41148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PDF/Word → text extracted</a:t>
            </a:r>
            <a:endParaRPr lang="en-US" sz="850" dirty="0"/>
          </a:p>
        </p:txBody>
      </p:sp>
      <p:sp>
        <p:nvSpPr>
          <p:cNvPr id="11" name="Text 9"/>
          <p:cNvSpPr/>
          <p:nvPr/>
        </p:nvSpPr>
        <p:spPr>
          <a:xfrm>
            <a:off x="242316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560320" y="1325880"/>
            <a:ext cx="2011680" cy="1353312"/>
          </a:xfrm>
          <a:prstGeom prst="roundRect">
            <a:avLst>
              <a:gd name="adj" fmla="val 5405"/>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3" name="Shape 11"/>
          <p:cNvSpPr/>
          <p:nvPr/>
        </p:nvSpPr>
        <p:spPr>
          <a:xfrm>
            <a:off x="3319272" y="1417320"/>
            <a:ext cx="475488" cy="475488"/>
          </a:xfrm>
          <a:prstGeom prst="ellipse">
            <a:avLst/>
          </a:prstGeom>
          <a:solidFill>
            <a:srgbClr val="0F6E56"/>
          </a:solidFill>
          <a:ln w="12700">
            <a:solidFill>
              <a:srgbClr val="0F6E56"/>
            </a:solidFill>
            <a:prstDash val="solid"/>
          </a:ln>
        </p:spPr>
      </p:sp>
      <p:sp>
        <p:nvSpPr>
          <p:cNvPr id="14" name="Text 12"/>
          <p:cNvSpPr/>
          <p:nvPr/>
        </p:nvSpPr>
        <p:spPr>
          <a:xfrm>
            <a:off x="331927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56032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Memory retrieval</a:t>
            </a:r>
            <a:endParaRPr lang="en-US" sz="1100" dirty="0"/>
          </a:p>
        </p:txBody>
      </p:sp>
      <p:sp>
        <p:nvSpPr>
          <p:cNvPr id="16" name="Text 14"/>
          <p:cNvSpPr/>
          <p:nvPr/>
        </p:nvSpPr>
        <p:spPr>
          <a:xfrm>
            <a:off x="2560320" y="2203704"/>
            <a:ext cx="2011680" cy="201168"/>
          </a:xfrm>
          <a:prstGeom prst="rect">
            <a:avLst/>
          </a:prstGeom>
          <a:noFill/>
          <a:ln/>
        </p:spPr>
        <p:txBody>
          <a:bodyPr wrap="square" rtlCol="0" anchor="ctr"/>
          <a:lstStyle/>
          <a:p>
            <a:pPr algn="ctr" indent="0" marL="0">
              <a:buNone/>
            </a:pPr>
            <a:r>
              <a:rPr lang="en-US" sz="850" b="1" dirty="0">
                <a:solidFill>
                  <a:srgbClr val="0F6E56"/>
                </a:solidFill>
                <a:latin typeface="Arial" pitchFamily="34" charset="0"/>
                <a:ea typeface="Arial" pitchFamily="34" charset="-122"/>
                <a:cs typeface="Arial" pitchFamily="34" charset="-120"/>
              </a:rPr>
              <a:t>jiraMemoryRetriever.ts</a:t>
            </a:r>
            <a:endParaRPr lang="en-US" sz="850" dirty="0"/>
          </a:p>
        </p:txBody>
      </p:sp>
      <p:sp>
        <p:nvSpPr>
          <p:cNvPr id="17" name="Text 15"/>
          <p:cNvSpPr/>
          <p:nvPr/>
        </p:nvSpPr>
        <p:spPr>
          <a:xfrm>
            <a:off x="256032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Past ADRs scored + ranked</a:t>
            </a:r>
            <a:endParaRPr lang="en-US" sz="850" dirty="0"/>
          </a:p>
        </p:txBody>
      </p:sp>
      <p:sp>
        <p:nvSpPr>
          <p:cNvPr id="18" name="Text 16"/>
          <p:cNvSpPr/>
          <p:nvPr/>
        </p:nvSpPr>
        <p:spPr>
          <a:xfrm>
            <a:off x="457200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4709160" y="1325880"/>
            <a:ext cx="2011680" cy="1353312"/>
          </a:xfrm>
          <a:prstGeom prst="roundRect">
            <a:avLst>
              <a:gd name="adj" fmla="val 5405"/>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0" name="Shape 18"/>
          <p:cNvSpPr/>
          <p:nvPr/>
        </p:nvSpPr>
        <p:spPr>
          <a:xfrm>
            <a:off x="5468112" y="1417320"/>
            <a:ext cx="475488" cy="475488"/>
          </a:xfrm>
          <a:prstGeom prst="ellipse">
            <a:avLst/>
          </a:prstGeom>
          <a:solidFill>
            <a:srgbClr val="1B4F9B"/>
          </a:solidFill>
          <a:ln w="12700">
            <a:solidFill>
              <a:srgbClr val="1B4F9B"/>
            </a:solidFill>
            <a:prstDash val="solid"/>
          </a:ln>
        </p:spPr>
      </p:sp>
      <p:sp>
        <p:nvSpPr>
          <p:cNvPr id="21" name="Text 19"/>
          <p:cNvSpPr/>
          <p:nvPr/>
        </p:nvSpPr>
        <p:spPr>
          <a:xfrm>
            <a:off x="546811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470916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1 — Design</a:t>
            </a:r>
            <a:endParaRPr lang="en-US" sz="1100" dirty="0"/>
          </a:p>
        </p:txBody>
      </p:sp>
      <p:sp>
        <p:nvSpPr>
          <p:cNvPr id="23" name="Text 21"/>
          <p:cNvSpPr/>
          <p:nvPr/>
        </p:nvSpPr>
        <p:spPr>
          <a:xfrm>
            <a:off x="4709160" y="2203704"/>
            <a:ext cx="2011680" cy="201168"/>
          </a:xfrm>
          <a:prstGeom prst="rect">
            <a:avLst/>
          </a:prstGeom>
          <a:noFill/>
          <a:ln/>
        </p:spPr>
        <p:txBody>
          <a:bodyPr wrap="square" rtlCol="0" anchor="ctr"/>
          <a:lstStyle/>
          <a:p>
            <a:pPr algn="ctr" indent="0" marL="0">
              <a:buNone/>
            </a:pPr>
            <a:r>
              <a:rPr lang="en-US" sz="850" b="1" dirty="0">
                <a:solidFill>
                  <a:srgbClr val="1B4F9B"/>
                </a:solidFill>
                <a:latin typeface="Arial" pitchFamily="34" charset="0"/>
                <a:ea typeface="Arial" pitchFamily="34" charset="-122"/>
                <a:cs typeface="Arial" pitchFamily="34" charset="-120"/>
              </a:rPr>
              <a:t>ForumOrchestrator.ts</a:t>
            </a:r>
            <a:endParaRPr lang="en-US" sz="850" dirty="0"/>
          </a:p>
        </p:txBody>
      </p:sp>
      <p:sp>
        <p:nvSpPr>
          <p:cNvPr id="24" name="Text 22"/>
          <p:cNvSpPr/>
          <p:nvPr/>
        </p:nvSpPr>
        <p:spPr>
          <a:xfrm>
            <a:off x="470916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Designer agent (skipped in doc review mode)</a:t>
            </a:r>
            <a:endParaRPr lang="en-US" sz="850" dirty="0"/>
          </a:p>
        </p:txBody>
      </p:sp>
      <p:sp>
        <p:nvSpPr>
          <p:cNvPr id="25" name="Text 23"/>
          <p:cNvSpPr/>
          <p:nvPr/>
        </p:nvSpPr>
        <p:spPr>
          <a:xfrm>
            <a:off x="672084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6858000" y="1325880"/>
            <a:ext cx="2011680" cy="1353312"/>
          </a:xfrm>
          <a:prstGeom prst="roundRect">
            <a:avLst>
              <a:gd name="adj" fmla="val 5405"/>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Shape 25"/>
          <p:cNvSpPr/>
          <p:nvPr/>
        </p:nvSpPr>
        <p:spPr>
          <a:xfrm>
            <a:off x="7616952" y="1417320"/>
            <a:ext cx="475488" cy="475488"/>
          </a:xfrm>
          <a:prstGeom prst="ellipse">
            <a:avLst/>
          </a:prstGeom>
          <a:solidFill>
            <a:srgbClr val="1B4F9B"/>
          </a:solidFill>
          <a:ln w="12700">
            <a:solidFill>
              <a:srgbClr val="1B4F9B"/>
            </a:solidFill>
            <a:prstDash val="solid"/>
          </a:ln>
        </p:spPr>
      </p:sp>
      <p:sp>
        <p:nvSpPr>
          <p:cNvPr id="28" name="Text 26"/>
          <p:cNvSpPr/>
          <p:nvPr/>
        </p:nvSpPr>
        <p:spPr>
          <a:xfrm>
            <a:off x="761695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685800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2 — Debate</a:t>
            </a:r>
            <a:endParaRPr lang="en-US" sz="1100" dirty="0"/>
          </a:p>
        </p:txBody>
      </p:sp>
      <p:sp>
        <p:nvSpPr>
          <p:cNvPr id="30" name="Text 28"/>
          <p:cNvSpPr/>
          <p:nvPr/>
        </p:nvSpPr>
        <p:spPr>
          <a:xfrm>
            <a:off x="6858000" y="2203704"/>
            <a:ext cx="2011680" cy="201168"/>
          </a:xfrm>
          <a:prstGeom prst="rect">
            <a:avLst/>
          </a:prstGeom>
          <a:noFill/>
          <a:ln/>
        </p:spPr>
        <p:txBody>
          <a:bodyPr wrap="square" rtlCol="0" anchor="ctr"/>
          <a:lstStyle/>
          <a:p>
            <a:pPr algn="ctr" indent="0" marL="0">
              <a:buNone/>
            </a:pPr>
            <a:r>
              <a:rPr lang="en-US" sz="850" b="1" dirty="0">
                <a:solidFill>
                  <a:srgbClr val="1B4F9B"/>
                </a:solidFill>
                <a:latin typeface="Arial" pitchFamily="34" charset="0"/>
                <a:ea typeface="Arial" pitchFamily="34" charset="-122"/>
                <a:cs typeface="Arial" pitchFamily="34" charset="-120"/>
              </a:rPr>
              <a:t>7 specialist agents</a:t>
            </a:r>
            <a:endParaRPr lang="en-US" sz="850" dirty="0"/>
          </a:p>
        </p:txBody>
      </p:sp>
      <p:sp>
        <p:nvSpPr>
          <p:cNvPr id="31" name="Text 29"/>
          <p:cNvSpPr/>
          <p:nvPr/>
        </p:nvSpPr>
        <p:spPr>
          <a:xfrm>
            <a:off x="685800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Parallel, independent critique</a:t>
            </a:r>
            <a:endParaRPr lang="en-US" sz="850" dirty="0"/>
          </a:p>
        </p:txBody>
      </p:sp>
      <p:sp>
        <p:nvSpPr>
          <p:cNvPr id="32" name="Shape 30"/>
          <p:cNvSpPr/>
          <p:nvPr/>
        </p:nvSpPr>
        <p:spPr>
          <a:xfrm>
            <a:off x="411480" y="2834640"/>
            <a:ext cx="2011680" cy="1353312"/>
          </a:xfrm>
          <a:prstGeom prst="roundRect">
            <a:avLst>
              <a:gd name="adj" fmla="val 5405"/>
            </a:avLst>
          </a:prstGeom>
          <a:solidFill>
            <a:srgbClr val="EEEDF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3" name="Shape 31"/>
          <p:cNvSpPr/>
          <p:nvPr/>
        </p:nvSpPr>
        <p:spPr>
          <a:xfrm>
            <a:off x="1170432" y="2926080"/>
            <a:ext cx="475488" cy="475488"/>
          </a:xfrm>
          <a:prstGeom prst="ellipse">
            <a:avLst/>
          </a:prstGeom>
          <a:solidFill>
            <a:srgbClr val="534AB7"/>
          </a:solidFill>
          <a:ln w="12700">
            <a:solidFill>
              <a:srgbClr val="534AB7"/>
            </a:solidFill>
            <a:prstDash val="solid"/>
          </a:ln>
        </p:spPr>
      </p:sp>
      <p:sp>
        <p:nvSpPr>
          <p:cNvPr id="34" name="Text 32"/>
          <p:cNvSpPr/>
          <p:nvPr/>
        </p:nvSpPr>
        <p:spPr>
          <a:xfrm>
            <a:off x="117043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41148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3 — Judge</a:t>
            </a:r>
            <a:endParaRPr lang="en-US" sz="1100" dirty="0"/>
          </a:p>
        </p:txBody>
      </p:sp>
      <p:sp>
        <p:nvSpPr>
          <p:cNvPr id="36" name="Text 34"/>
          <p:cNvSpPr/>
          <p:nvPr/>
        </p:nvSpPr>
        <p:spPr>
          <a:xfrm>
            <a:off x="411480" y="3712464"/>
            <a:ext cx="2011680" cy="201168"/>
          </a:xfrm>
          <a:prstGeom prst="rect">
            <a:avLst/>
          </a:prstGeom>
          <a:noFill/>
          <a:ln/>
        </p:spPr>
        <p:txBody>
          <a:bodyPr wrap="square" rtlCol="0" anchor="ctr"/>
          <a:lstStyle/>
          <a:p>
            <a:pPr algn="ctr" indent="0" marL="0">
              <a:buNone/>
            </a:pPr>
            <a:r>
              <a:rPr lang="en-US" sz="850" b="1" dirty="0">
                <a:solidFill>
                  <a:srgbClr val="534AB7"/>
                </a:solidFill>
                <a:latin typeface="Arial" pitchFamily="34" charset="0"/>
                <a:ea typeface="Arial" pitchFamily="34" charset="-122"/>
                <a:cs typeface="Arial" pitchFamily="34" charset="-120"/>
              </a:rPr>
              <a:t>AgentRunner.ts</a:t>
            </a:r>
            <a:endParaRPr lang="en-US" sz="850" dirty="0"/>
          </a:p>
        </p:txBody>
      </p:sp>
      <p:sp>
        <p:nvSpPr>
          <p:cNvPr id="37" name="Text 35"/>
          <p:cNvSpPr/>
          <p:nvPr/>
        </p:nvSpPr>
        <p:spPr>
          <a:xfrm>
            <a:off x="41148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Arbitrates, confidence score</a:t>
            </a:r>
            <a:endParaRPr lang="en-US" sz="850" dirty="0"/>
          </a:p>
        </p:txBody>
      </p:sp>
      <p:sp>
        <p:nvSpPr>
          <p:cNvPr id="38" name="Text 36"/>
          <p:cNvSpPr/>
          <p:nvPr/>
        </p:nvSpPr>
        <p:spPr>
          <a:xfrm>
            <a:off x="242316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2560320" y="2834640"/>
            <a:ext cx="2011680" cy="1353312"/>
          </a:xfrm>
          <a:prstGeom prst="roundRect">
            <a:avLst>
              <a:gd name="adj" fmla="val 5405"/>
            </a:avLst>
          </a:prstGeom>
          <a:solidFill>
            <a:srgbClr val="FAEED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0" name="Shape 38"/>
          <p:cNvSpPr/>
          <p:nvPr/>
        </p:nvSpPr>
        <p:spPr>
          <a:xfrm>
            <a:off x="3319272" y="2926080"/>
            <a:ext cx="475488" cy="475488"/>
          </a:xfrm>
          <a:prstGeom prst="ellipse">
            <a:avLst/>
          </a:prstGeom>
          <a:solidFill>
            <a:srgbClr val="BA7517"/>
          </a:solidFill>
          <a:ln w="12700">
            <a:solidFill>
              <a:srgbClr val="BA7517"/>
            </a:solidFill>
            <a:prstDash val="solid"/>
          </a:ln>
        </p:spPr>
      </p:sp>
      <p:sp>
        <p:nvSpPr>
          <p:cNvPr id="41" name="Text 39"/>
          <p:cNvSpPr/>
          <p:nvPr/>
        </p:nvSpPr>
        <p:spPr>
          <a:xfrm>
            <a:off x="331927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p:nvPr/>
        </p:nvSpPr>
        <p:spPr>
          <a:xfrm>
            <a:off x="256032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Endorsement</a:t>
            </a:r>
            <a:endParaRPr lang="en-US" sz="1100" dirty="0"/>
          </a:p>
        </p:txBody>
      </p:sp>
      <p:sp>
        <p:nvSpPr>
          <p:cNvPr id="43" name="Text 41"/>
          <p:cNvSpPr/>
          <p:nvPr/>
        </p:nvSpPr>
        <p:spPr>
          <a:xfrm>
            <a:off x="2560320" y="3712464"/>
            <a:ext cx="2011680" cy="201168"/>
          </a:xfrm>
          <a:prstGeom prst="rect">
            <a:avLst/>
          </a:prstGeom>
          <a:noFill/>
          <a:ln/>
        </p:spPr>
        <p:txBody>
          <a:bodyPr wrap="square" rtlCol="0" anchor="ctr"/>
          <a:lstStyle/>
          <a:p>
            <a:pPr algn="ctr" indent="0" marL="0">
              <a:buNone/>
            </a:pPr>
            <a:r>
              <a:rPr lang="en-US" sz="850" b="1" dirty="0">
                <a:solidFill>
                  <a:srgbClr val="BA7517"/>
                </a:solidFill>
                <a:latin typeface="Arial" pitchFamily="34" charset="0"/>
                <a:ea typeface="Arial" pitchFamily="34" charset="-122"/>
                <a:cs typeface="Arial" pitchFamily="34" charset="-120"/>
              </a:rPr>
              <a:t>EndorsementPanel.tsx</a:t>
            </a:r>
            <a:endParaRPr lang="en-US" sz="850" dirty="0"/>
          </a:p>
        </p:txBody>
      </p:sp>
      <p:sp>
        <p:nvSpPr>
          <p:cNvPr id="44" name="Text 42"/>
          <p:cNvSpPr/>
          <p:nvPr/>
        </p:nvSpPr>
        <p:spPr>
          <a:xfrm>
            <a:off x="256032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Admin countersigns or assigns</a:t>
            </a:r>
            <a:endParaRPr lang="en-US" sz="850" dirty="0"/>
          </a:p>
        </p:txBody>
      </p:sp>
      <p:sp>
        <p:nvSpPr>
          <p:cNvPr id="45" name="Text 43"/>
          <p:cNvSpPr/>
          <p:nvPr/>
        </p:nvSpPr>
        <p:spPr>
          <a:xfrm>
            <a:off x="457200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46" name="Shape 44"/>
          <p:cNvSpPr/>
          <p:nvPr/>
        </p:nvSpPr>
        <p:spPr>
          <a:xfrm>
            <a:off x="4709160" y="2834640"/>
            <a:ext cx="2011680" cy="1353312"/>
          </a:xfrm>
          <a:prstGeom prst="roundRect">
            <a:avLst>
              <a:gd name="adj" fmla="val 5405"/>
            </a:avLst>
          </a:prstGeom>
          <a:solidFill>
            <a:srgbClr val="FAECE7"/>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7" name="Shape 45"/>
          <p:cNvSpPr/>
          <p:nvPr/>
        </p:nvSpPr>
        <p:spPr>
          <a:xfrm>
            <a:off x="5468112" y="2926080"/>
            <a:ext cx="475488" cy="475488"/>
          </a:xfrm>
          <a:prstGeom prst="ellipse">
            <a:avLst/>
          </a:prstGeom>
          <a:solidFill>
            <a:srgbClr val="993C1D"/>
          </a:solidFill>
          <a:ln w="12700">
            <a:solidFill>
              <a:srgbClr val="993C1D"/>
            </a:solidFill>
            <a:prstDash val="solid"/>
          </a:ln>
        </p:spPr>
      </p:sp>
      <p:sp>
        <p:nvSpPr>
          <p:cNvPr id="48" name="Text 46"/>
          <p:cNvSpPr/>
          <p:nvPr/>
        </p:nvSpPr>
        <p:spPr>
          <a:xfrm>
            <a:off x="546811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9" name="Text 47"/>
          <p:cNvSpPr/>
          <p:nvPr/>
        </p:nvSpPr>
        <p:spPr>
          <a:xfrm>
            <a:off x="470916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Jira write</a:t>
            </a:r>
            <a:endParaRPr lang="en-US" sz="1100" dirty="0"/>
          </a:p>
        </p:txBody>
      </p:sp>
      <p:sp>
        <p:nvSpPr>
          <p:cNvPr id="50" name="Text 48"/>
          <p:cNvSpPr/>
          <p:nvPr/>
        </p:nvSpPr>
        <p:spPr>
          <a:xfrm>
            <a:off x="4709160" y="3712464"/>
            <a:ext cx="2011680" cy="201168"/>
          </a:xfrm>
          <a:prstGeom prst="rect">
            <a:avLst/>
          </a:prstGeom>
          <a:noFill/>
          <a:ln/>
        </p:spPr>
        <p:txBody>
          <a:bodyPr wrap="square" rtlCol="0" anchor="ctr"/>
          <a:lstStyle/>
          <a:p>
            <a:pPr algn="ctr" indent="0" marL="0">
              <a:buNone/>
            </a:pPr>
            <a:r>
              <a:rPr lang="en-US" sz="850" b="1" dirty="0">
                <a:solidFill>
                  <a:srgbClr val="993C1D"/>
                </a:solidFill>
                <a:latin typeface="Arial" pitchFamily="34" charset="0"/>
                <a:ea typeface="Arial" pitchFamily="34" charset="-122"/>
                <a:cs typeface="Arial" pitchFamily="34" charset="-120"/>
              </a:rPr>
              <a:t>jira.ts</a:t>
            </a:r>
            <a:endParaRPr lang="en-US" sz="850" dirty="0"/>
          </a:p>
        </p:txBody>
      </p:sp>
      <p:sp>
        <p:nvSpPr>
          <p:cNvPr id="51" name="Text 49"/>
          <p:cNvSpPr/>
          <p:nvPr/>
        </p:nvSpPr>
        <p:spPr>
          <a:xfrm>
            <a:off x="470916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ADR ticket + assignee + comment</a:t>
            </a:r>
            <a:endParaRPr lang="en-US" sz="850" dirty="0"/>
          </a:p>
        </p:txBody>
      </p:sp>
      <p:sp>
        <p:nvSpPr>
          <p:cNvPr id="52" name="Text 50"/>
          <p:cNvSpPr/>
          <p:nvPr/>
        </p:nvSpPr>
        <p:spPr>
          <a:xfrm>
            <a:off x="672084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53" name="Shape 51"/>
          <p:cNvSpPr/>
          <p:nvPr/>
        </p:nvSpPr>
        <p:spPr>
          <a:xfrm>
            <a:off x="6858000" y="2834640"/>
            <a:ext cx="2011680" cy="1353312"/>
          </a:xfrm>
          <a:prstGeom prst="roundRect">
            <a:avLst>
              <a:gd name="adj" fmla="val 5405"/>
            </a:avLst>
          </a:prstGeom>
          <a:solidFill>
            <a:srgbClr val="EB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54" name="Shape 52"/>
          <p:cNvSpPr/>
          <p:nvPr/>
        </p:nvSpPr>
        <p:spPr>
          <a:xfrm>
            <a:off x="7616952" y="2926080"/>
            <a:ext cx="475488" cy="475488"/>
          </a:xfrm>
          <a:prstGeom prst="ellipse">
            <a:avLst/>
          </a:prstGeom>
          <a:solidFill>
            <a:srgbClr val="0F1E3C"/>
          </a:solidFill>
          <a:ln w="12700">
            <a:solidFill>
              <a:srgbClr val="0F1E3C"/>
            </a:solidFill>
            <a:prstDash val="solid"/>
          </a:ln>
        </p:spPr>
      </p:sp>
      <p:sp>
        <p:nvSpPr>
          <p:cNvPr id="55" name="Text 53"/>
          <p:cNvSpPr/>
          <p:nvPr/>
        </p:nvSpPr>
        <p:spPr>
          <a:xfrm>
            <a:off x="761695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6" name="Text 54"/>
          <p:cNvSpPr/>
          <p:nvPr/>
        </p:nvSpPr>
        <p:spPr>
          <a:xfrm>
            <a:off x="685800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Supabase log</a:t>
            </a:r>
            <a:endParaRPr lang="en-US" sz="1100" dirty="0"/>
          </a:p>
        </p:txBody>
      </p:sp>
      <p:sp>
        <p:nvSpPr>
          <p:cNvPr id="57" name="Text 55"/>
          <p:cNvSpPr/>
          <p:nvPr/>
        </p:nvSpPr>
        <p:spPr>
          <a:xfrm>
            <a:off x="6858000" y="3712464"/>
            <a:ext cx="2011680" cy="201168"/>
          </a:xfrm>
          <a:prstGeom prst="rect">
            <a:avLst/>
          </a:prstGeom>
          <a:noFill/>
          <a:ln/>
        </p:spPr>
        <p:txBody>
          <a:bodyPr wrap="square" rtlCol="0" anchor="ctr"/>
          <a:lstStyle/>
          <a:p>
            <a:pPr algn="ctr" indent="0" marL="0">
              <a:buNone/>
            </a:pPr>
            <a:r>
              <a:rPr lang="en-US" sz="850" b="1" dirty="0">
                <a:solidFill>
                  <a:srgbClr val="0F1E3C"/>
                </a:solidFill>
                <a:latin typeface="Arial" pitchFamily="34" charset="0"/>
                <a:ea typeface="Arial" pitchFamily="34" charset="-122"/>
                <a:cs typeface="Arial" pitchFamily="34" charset="-120"/>
              </a:rPr>
              <a:t>session.ts</a:t>
            </a:r>
            <a:endParaRPr lang="en-US" sz="850" dirty="0"/>
          </a:p>
        </p:txBody>
      </p:sp>
      <p:sp>
        <p:nvSpPr>
          <p:cNvPr id="58" name="Text 56"/>
          <p:cNvSpPr/>
          <p:nvPr/>
        </p:nvSpPr>
        <p:spPr>
          <a:xfrm>
            <a:off x="685800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Metadata + cost + audit trail</a:t>
            </a:r>
            <a:endParaRPr lang="en-US" sz="85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SEQUENCE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End-to-end: from doc upload to Jira ticket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25880"/>
            <a:ext cx="2011680" cy="1353312"/>
          </a:xfrm>
          <a:prstGeom prst="roundRect">
            <a:avLst>
              <a:gd name="adj" fmla="val 5405"/>
            </a:avLst>
          </a:prstGeom>
          <a:solidFill>
            <a:srgbClr val="EB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1170432" y="1417320"/>
            <a:ext cx="475488" cy="475488"/>
          </a:xfrm>
          <a:prstGeom prst="ellipse">
            <a:avLst/>
          </a:prstGeom>
          <a:solidFill>
            <a:srgbClr val="0F1E3C"/>
          </a:solidFill>
          <a:ln w="12700">
            <a:solidFill>
              <a:srgbClr val="0F1E3C"/>
            </a:solidFill>
            <a:prstDash val="solid"/>
          </a:ln>
        </p:spPr>
      </p:sp>
      <p:sp>
        <p:nvSpPr>
          <p:cNvPr id="7" name="Text 5"/>
          <p:cNvSpPr/>
          <p:nvPr/>
        </p:nvSpPr>
        <p:spPr>
          <a:xfrm>
            <a:off x="117043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41148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Upload &amp; extract</a:t>
            </a:r>
            <a:endParaRPr lang="en-US" sz="1100" dirty="0"/>
          </a:p>
        </p:txBody>
      </p:sp>
      <p:sp>
        <p:nvSpPr>
          <p:cNvPr id="9" name="Text 7"/>
          <p:cNvSpPr/>
          <p:nvPr/>
        </p:nvSpPr>
        <p:spPr>
          <a:xfrm>
            <a:off x="411480" y="2203704"/>
            <a:ext cx="2011680" cy="201168"/>
          </a:xfrm>
          <a:prstGeom prst="rect">
            <a:avLst/>
          </a:prstGeom>
          <a:noFill/>
          <a:ln/>
        </p:spPr>
        <p:txBody>
          <a:bodyPr wrap="square" rtlCol="0" anchor="ctr"/>
          <a:lstStyle/>
          <a:p>
            <a:pPr algn="ctr" indent="0" marL="0">
              <a:buNone/>
            </a:pPr>
            <a:r>
              <a:rPr lang="en-US" sz="850" b="1" dirty="0">
                <a:solidFill>
                  <a:srgbClr val="0F1E3C"/>
                </a:solidFill>
                <a:latin typeface="Arial" pitchFamily="34" charset="0"/>
                <a:ea typeface="Arial" pitchFamily="34" charset="-122"/>
                <a:cs typeface="Arial" pitchFamily="34" charset="-120"/>
              </a:rPr>
              <a:t>api/upload/route.ts</a:t>
            </a:r>
            <a:endParaRPr lang="en-US" sz="850" dirty="0"/>
          </a:p>
        </p:txBody>
      </p:sp>
      <p:sp>
        <p:nvSpPr>
          <p:cNvPr id="10" name="Text 8"/>
          <p:cNvSpPr/>
          <p:nvPr/>
        </p:nvSpPr>
        <p:spPr>
          <a:xfrm>
            <a:off x="41148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PDF/Word → text extracted</a:t>
            </a:r>
            <a:endParaRPr lang="en-US" sz="850" dirty="0"/>
          </a:p>
        </p:txBody>
      </p:sp>
      <p:sp>
        <p:nvSpPr>
          <p:cNvPr id="11" name="Text 9"/>
          <p:cNvSpPr/>
          <p:nvPr/>
        </p:nvSpPr>
        <p:spPr>
          <a:xfrm>
            <a:off x="242316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560320" y="1325880"/>
            <a:ext cx="2011680" cy="1353312"/>
          </a:xfrm>
          <a:prstGeom prst="roundRect">
            <a:avLst>
              <a:gd name="adj" fmla="val 5405"/>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3" name="Shape 11"/>
          <p:cNvSpPr/>
          <p:nvPr/>
        </p:nvSpPr>
        <p:spPr>
          <a:xfrm>
            <a:off x="3319272" y="1417320"/>
            <a:ext cx="475488" cy="475488"/>
          </a:xfrm>
          <a:prstGeom prst="ellipse">
            <a:avLst/>
          </a:prstGeom>
          <a:solidFill>
            <a:srgbClr val="0F6E56"/>
          </a:solidFill>
          <a:ln w="12700">
            <a:solidFill>
              <a:srgbClr val="0F6E56"/>
            </a:solidFill>
            <a:prstDash val="solid"/>
          </a:ln>
        </p:spPr>
      </p:sp>
      <p:sp>
        <p:nvSpPr>
          <p:cNvPr id="14" name="Text 12"/>
          <p:cNvSpPr/>
          <p:nvPr/>
        </p:nvSpPr>
        <p:spPr>
          <a:xfrm>
            <a:off x="331927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56032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Memory retrieval</a:t>
            </a:r>
            <a:endParaRPr lang="en-US" sz="1100" dirty="0"/>
          </a:p>
        </p:txBody>
      </p:sp>
      <p:sp>
        <p:nvSpPr>
          <p:cNvPr id="16" name="Text 14"/>
          <p:cNvSpPr/>
          <p:nvPr/>
        </p:nvSpPr>
        <p:spPr>
          <a:xfrm>
            <a:off x="2560320" y="2203704"/>
            <a:ext cx="2011680" cy="201168"/>
          </a:xfrm>
          <a:prstGeom prst="rect">
            <a:avLst/>
          </a:prstGeom>
          <a:noFill/>
          <a:ln/>
        </p:spPr>
        <p:txBody>
          <a:bodyPr wrap="square" rtlCol="0" anchor="ctr"/>
          <a:lstStyle/>
          <a:p>
            <a:pPr algn="ctr" indent="0" marL="0">
              <a:buNone/>
            </a:pPr>
            <a:r>
              <a:rPr lang="en-US" sz="850" b="1" dirty="0">
                <a:solidFill>
                  <a:srgbClr val="0F6E56"/>
                </a:solidFill>
                <a:latin typeface="Arial" pitchFamily="34" charset="0"/>
                <a:ea typeface="Arial" pitchFamily="34" charset="-122"/>
                <a:cs typeface="Arial" pitchFamily="34" charset="-120"/>
              </a:rPr>
              <a:t>jiraMemoryRetriever.ts</a:t>
            </a:r>
            <a:endParaRPr lang="en-US" sz="850" dirty="0"/>
          </a:p>
        </p:txBody>
      </p:sp>
      <p:sp>
        <p:nvSpPr>
          <p:cNvPr id="17" name="Text 15"/>
          <p:cNvSpPr/>
          <p:nvPr/>
        </p:nvSpPr>
        <p:spPr>
          <a:xfrm>
            <a:off x="256032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Past ADRs scored + ranked</a:t>
            </a:r>
            <a:endParaRPr lang="en-US" sz="850" dirty="0"/>
          </a:p>
        </p:txBody>
      </p:sp>
      <p:sp>
        <p:nvSpPr>
          <p:cNvPr id="18" name="Text 16"/>
          <p:cNvSpPr/>
          <p:nvPr/>
        </p:nvSpPr>
        <p:spPr>
          <a:xfrm>
            <a:off x="457200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4709160" y="1325880"/>
            <a:ext cx="2011680" cy="1353312"/>
          </a:xfrm>
          <a:prstGeom prst="roundRect">
            <a:avLst>
              <a:gd name="adj" fmla="val 5405"/>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0" name="Shape 18"/>
          <p:cNvSpPr/>
          <p:nvPr/>
        </p:nvSpPr>
        <p:spPr>
          <a:xfrm>
            <a:off x="5468112" y="1417320"/>
            <a:ext cx="475488" cy="475488"/>
          </a:xfrm>
          <a:prstGeom prst="ellipse">
            <a:avLst/>
          </a:prstGeom>
          <a:solidFill>
            <a:srgbClr val="1B4F9B"/>
          </a:solidFill>
          <a:ln w="12700">
            <a:solidFill>
              <a:srgbClr val="1B4F9B"/>
            </a:solidFill>
            <a:prstDash val="solid"/>
          </a:ln>
        </p:spPr>
      </p:sp>
      <p:sp>
        <p:nvSpPr>
          <p:cNvPr id="21" name="Text 19"/>
          <p:cNvSpPr/>
          <p:nvPr/>
        </p:nvSpPr>
        <p:spPr>
          <a:xfrm>
            <a:off x="546811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470916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1 — Design</a:t>
            </a:r>
            <a:endParaRPr lang="en-US" sz="1100" dirty="0"/>
          </a:p>
        </p:txBody>
      </p:sp>
      <p:sp>
        <p:nvSpPr>
          <p:cNvPr id="23" name="Text 21"/>
          <p:cNvSpPr/>
          <p:nvPr/>
        </p:nvSpPr>
        <p:spPr>
          <a:xfrm>
            <a:off x="4709160" y="2203704"/>
            <a:ext cx="2011680" cy="201168"/>
          </a:xfrm>
          <a:prstGeom prst="rect">
            <a:avLst/>
          </a:prstGeom>
          <a:noFill/>
          <a:ln/>
        </p:spPr>
        <p:txBody>
          <a:bodyPr wrap="square" rtlCol="0" anchor="ctr"/>
          <a:lstStyle/>
          <a:p>
            <a:pPr algn="ctr" indent="0" marL="0">
              <a:buNone/>
            </a:pPr>
            <a:r>
              <a:rPr lang="en-US" sz="850" b="1" dirty="0">
                <a:solidFill>
                  <a:srgbClr val="1B4F9B"/>
                </a:solidFill>
                <a:latin typeface="Arial" pitchFamily="34" charset="0"/>
                <a:ea typeface="Arial" pitchFamily="34" charset="-122"/>
                <a:cs typeface="Arial" pitchFamily="34" charset="-120"/>
              </a:rPr>
              <a:t>ForumOrchestrator.ts</a:t>
            </a:r>
            <a:endParaRPr lang="en-US" sz="850" dirty="0"/>
          </a:p>
        </p:txBody>
      </p:sp>
      <p:sp>
        <p:nvSpPr>
          <p:cNvPr id="24" name="Text 22"/>
          <p:cNvSpPr/>
          <p:nvPr/>
        </p:nvSpPr>
        <p:spPr>
          <a:xfrm>
            <a:off x="470916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Designer agent (skipped in doc review mode)</a:t>
            </a:r>
            <a:endParaRPr lang="en-US" sz="850" dirty="0"/>
          </a:p>
        </p:txBody>
      </p:sp>
      <p:sp>
        <p:nvSpPr>
          <p:cNvPr id="25" name="Text 23"/>
          <p:cNvSpPr/>
          <p:nvPr/>
        </p:nvSpPr>
        <p:spPr>
          <a:xfrm>
            <a:off x="672084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6858000" y="1325880"/>
            <a:ext cx="2011680" cy="1353312"/>
          </a:xfrm>
          <a:prstGeom prst="roundRect">
            <a:avLst>
              <a:gd name="adj" fmla="val 5405"/>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Shape 25"/>
          <p:cNvSpPr/>
          <p:nvPr/>
        </p:nvSpPr>
        <p:spPr>
          <a:xfrm>
            <a:off x="7616952" y="1417320"/>
            <a:ext cx="475488" cy="475488"/>
          </a:xfrm>
          <a:prstGeom prst="ellipse">
            <a:avLst/>
          </a:prstGeom>
          <a:solidFill>
            <a:srgbClr val="1B4F9B"/>
          </a:solidFill>
          <a:ln w="12700">
            <a:solidFill>
              <a:srgbClr val="1B4F9B"/>
            </a:solidFill>
            <a:prstDash val="solid"/>
          </a:ln>
        </p:spPr>
      </p:sp>
      <p:sp>
        <p:nvSpPr>
          <p:cNvPr id="28" name="Text 26"/>
          <p:cNvSpPr/>
          <p:nvPr/>
        </p:nvSpPr>
        <p:spPr>
          <a:xfrm>
            <a:off x="761695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685800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2 — Debate</a:t>
            </a:r>
            <a:endParaRPr lang="en-US" sz="1100" dirty="0"/>
          </a:p>
        </p:txBody>
      </p:sp>
      <p:sp>
        <p:nvSpPr>
          <p:cNvPr id="30" name="Text 28"/>
          <p:cNvSpPr/>
          <p:nvPr/>
        </p:nvSpPr>
        <p:spPr>
          <a:xfrm>
            <a:off x="6858000" y="2203704"/>
            <a:ext cx="2011680" cy="201168"/>
          </a:xfrm>
          <a:prstGeom prst="rect">
            <a:avLst/>
          </a:prstGeom>
          <a:noFill/>
          <a:ln/>
        </p:spPr>
        <p:txBody>
          <a:bodyPr wrap="square" rtlCol="0" anchor="ctr"/>
          <a:lstStyle/>
          <a:p>
            <a:pPr algn="ctr" indent="0" marL="0">
              <a:buNone/>
            </a:pPr>
            <a:r>
              <a:rPr lang="en-US" sz="850" b="1" dirty="0">
                <a:solidFill>
                  <a:srgbClr val="1B4F9B"/>
                </a:solidFill>
                <a:latin typeface="Arial" pitchFamily="34" charset="0"/>
                <a:ea typeface="Arial" pitchFamily="34" charset="-122"/>
                <a:cs typeface="Arial" pitchFamily="34" charset="-120"/>
              </a:rPr>
              <a:t>7 specialist agents</a:t>
            </a:r>
            <a:endParaRPr lang="en-US" sz="850" dirty="0"/>
          </a:p>
        </p:txBody>
      </p:sp>
      <p:sp>
        <p:nvSpPr>
          <p:cNvPr id="31" name="Text 29"/>
          <p:cNvSpPr/>
          <p:nvPr/>
        </p:nvSpPr>
        <p:spPr>
          <a:xfrm>
            <a:off x="685800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Parallel, independent critique</a:t>
            </a:r>
            <a:endParaRPr lang="en-US" sz="850" dirty="0"/>
          </a:p>
        </p:txBody>
      </p:sp>
      <p:sp>
        <p:nvSpPr>
          <p:cNvPr id="32" name="Shape 30"/>
          <p:cNvSpPr/>
          <p:nvPr/>
        </p:nvSpPr>
        <p:spPr>
          <a:xfrm>
            <a:off x="411480" y="2834640"/>
            <a:ext cx="2011680" cy="1353312"/>
          </a:xfrm>
          <a:prstGeom prst="roundRect">
            <a:avLst>
              <a:gd name="adj" fmla="val 5405"/>
            </a:avLst>
          </a:prstGeom>
          <a:solidFill>
            <a:srgbClr val="EEEDF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3" name="Shape 31"/>
          <p:cNvSpPr/>
          <p:nvPr/>
        </p:nvSpPr>
        <p:spPr>
          <a:xfrm>
            <a:off x="1170432" y="2926080"/>
            <a:ext cx="475488" cy="475488"/>
          </a:xfrm>
          <a:prstGeom prst="ellipse">
            <a:avLst/>
          </a:prstGeom>
          <a:solidFill>
            <a:srgbClr val="534AB7"/>
          </a:solidFill>
          <a:ln w="12700">
            <a:solidFill>
              <a:srgbClr val="534AB7"/>
            </a:solidFill>
            <a:prstDash val="solid"/>
          </a:ln>
        </p:spPr>
      </p:sp>
      <p:sp>
        <p:nvSpPr>
          <p:cNvPr id="34" name="Text 32"/>
          <p:cNvSpPr/>
          <p:nvPr/>
        </p:nvSpPr>
        <p:spPr>
          <a:xfrm>
            <a:off x="117043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41148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3 — Judge</a:t>
            </a:r>
            <a:endParaRPr lang="en-US" sz="1100" dirty="0"/>
          </a:p>
        </p:txBody>
      </p:sp>
      <p:sp>
        <p:nvSpPr>
          <p:cNvPr id="36" name="Text 34"/>
          <p:cNvSpPr/>
          <p:nvPr/>
        </p:nvSpPr>
        <p:spPr>
          <a:xfrm>
            <a:off x="411480" y="3712464"/>
            <a:ext cx="2011680" cy="201168"/>
          </a:xfrm>
          <a:prstGeom prst="rect">
            <a:avLst/>
          </a:prstGeom>
          <a:noFill/>
          <a:ln/>
        </p:spPr>
        <p:txBody>
          <a:bodyPr wrap="square" rtlCol="0" anchor="ctr"/>
          <a:lstStyle/>
          <a:p>
            <a:pPr algn="ctr" indent="0" marL="0">
              <a:buNone/>
            </a:pPr>
            <a:r>
              <a:rPr lang="en-US" sz="850" b="1" dirty="0">
                <a:solidFill>
                  <a:srgbClr val="534AB7"/>
                </a:solidFill>
                <a:latin typeface="Arial" pitchFamily="34" charset="0"/>
                <a:ea typeface="Arial" pitchFamily="34" charset="-122"/>
                <a:cs typeface="Arial" pitchFamily="34" charset="-120"/>
              </a:rPr>
              <a:t>AgentRunner.ts</a:t>
            </a:r>
            <a:endParaRPr lang="en-US" sz="850" dirty="0"/>
          </a:p>
        </p:txBody>
      </p:sp>
      <p:sp>
        <p:nvSpPr>
          <p:cNvPr id="37" name="Text 35"/>
          <p:cNvSpPr/>
          <p:nvPr/>
        </p:nvSpPr>
        <p:spPr>
          <a:xfrm>
            <a:off x="41148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Arbitrates, confidence score</a:t>
            </a:r>
            <a:endParaRPr lang="en-US" sz="850" dirty="0"/>
          </a:p>
        </p:txBody>
      </p:sp>
      <p:sp>
        <p:nvSpPr>
          <p:cNvPr id="38" name="Text 36"/>
          <p:cNvSpPr/>
          <p:nvPr/>
        </p:nvSpPr>
        <p:spPr>
          <a:xfrm>
            <a:off x="242316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2560320" y="2834640"/>
            <a:ext cx="2011680" cy="1353312"/>
          </a:xfrm>
          <a:prstGeom prst="roundRect">
            <a:avLst>
              <a:gd name="adj" fmla="val 5405"/>
            </a:avLst>
          </a:prstGeom>
          <a:solidFill>
            <a:srgbClr val="FAEED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0" name="Shape 38"/>
          <p:cNvSpPr/>
          <p:nvPr/>
        </p:nvSpPr>
        <p:spPr>
          <a:xfrm>
            <a:off x="3319272" y="2926080"/>
            <a:ext cx="475488" cy="475488"/>
          </a:xfrm>
          <a:prstGeom prst="ellipse">
            <a:avLst/>
          </a:prstGeom>
          <a:solidFill>
            <a:srgbClr val="BA7517"/>
          </a:solidFill>
          <a:ln w="12700">
            <a:solidFill>
              <a:srgbClr val="BA7517"/>
            </a:solidFill>
            <a:prstDash val="solid"/>
          </a:ln>
        </p:spPr>
      </p:sp>
      <p:sp>
        <p:nvSpPr>
          <p:cNvPr id="41" name="Text 39"/>
          <p:cNvSpPr/>
          <p:nvPr/>
        </p:nvSpPr>
        <p:spPr>
          <a:xfrm>
            <a:off x="331927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p:nvPr/>
        </p:nvSpPr>
        <p:spPr>
          <a:xfrm>
            <a:off x="256032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Endorsement</a:t>
            </a:r>
            <a:endParaRPr lang="en-US" sz="1100" dirty="0"/>
          </a:p>
        </p:txBody>
      </p:sp>
      <p:sp>
        <p:nvSpPr>
          <p:cNvPr id="43" name="Text 41"/>
          <p:cNvSpPr/>
          <p:nvPr/>
        </p:nvSpPr>
        <p:spPr>
          <a:xfrm>
            <a:off x="2560320" y="3712464"/>
            <a:ext cx="2011680" cy="201168"/>
          </a:xfrm>
          <a:prstGeom prst="rect">
            <a:avLst/>
          </a:prstGeom>
          <a:noFill/>
          <a:ln/>
        </p:spPr>
        <p:txBody>
          <a:bodyPr wrap="square" rtlCol="0" anchor="ctr"/>
          <a:lstStyle/>
          <a:p>
            <a:pPr algn="ctr" indent="0" marL="0">
              <a:buNone/>
            </a:pPr>
            <a:r>
              <a:rPr lang="en-US" sz="850" b="1" dirty="0">
                <a:solidFill>
                  <a:srgbClr val="BA7517"/>
                </a:solidFill>
                <a:latin typeface="Arial" pitchFamily="34" charset="0"/>
                <a:ea typeface="Arial" pitchFamily="34" charset="-122"/>
                <a:cs typeface="Arial" pitchFamily="34" charset="-120"/>
              </a:rPr>
              <a:t>EndorsementPanel.tsx</a:t>
            </a:r>
            <a:endParaRPr lang="en-US" sz="850" dirty="0"/>
          </a:p>
        </p:txBody>
      </p:sp>
      <p:sp>
        <p:nvSpPr>
          <p:cNvPr id="44" name="Text 42"/>
          <p:cNvSpPr/>
          <p:nvPr/>
        </p:nvSpPr>
        <p:spPr>
          <a:xfrm>
            <a:off x="256032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Admin countersigns or assigns</a:t>
            </a:r>
            <a:endParaRPr lang="en-US" sz="850" dirty="0"/>
          </a:p>
        </p:txBody>
      </p:sp>
      <p:sp>
        <p:nvSpPr>
          <p:cNvPr id="45" name="Text 43"/>
          <p:cNvSpPr/>
          <p:nvPr/>
        </p:nvSpPr>
        <p:spPr>
          <a:xfrm>
            <a:off x="457200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46" name="Shape 44"/>
          <p:cNvSpPr/>
          <p:nvPr/>
        </p:nvSpPr>
        <p:spPr>
          <a:xfrm>
            <a:off x="4709160" y="2834640"/>
            <a:ext cx="2011680" cy="1353312"/>
          </a:xfrm>
          <a:prstGeom prst="roundRect">
            <a:avLst>
              <a:gd name="adj" fmla="val 5405"/>
            </a:avLst>
          </a:prstGeom>
          <a:solidFill>
            <a:srgbClr val="FAECE7"/>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7" name="Shape 45"/>
          <p:cNvSpPr/>
          <p:nvPr/>
        </p:nvSpPr>
        <p:spPr>
          <a:xfrm>
            <a:off x="5468112" y="2926080"/>
            <a:ext cx="475488" cy="475488"/>
          </a:xfrm>
          <a:prstGeom prst="ellipse">
            <a:avLst/>
          </a:prstGeom>
          <a:solidFill>
            <a:srgbClr val="993C1D"/>
          </a:solidFill>
          <a:ln w="12700">
            <a:solidFill>
              <a:srgbClr val="993C1D"/>
            </a:solidFill>
            <a:prstDash val="solid"/>
          </a:ln>
        </p:spPr>
      </p:sp>
      <p:sp>
        <p:nvSpPr>
          <p:cNvPr id="48" name="Text 46"/>
          <p:cNvSpPr/>
          <p:nvPr/>
        </p:nvSpPr>
        <p:spPr>
          <a:xfrm>
            <a:off x="546811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9" name="Text 47"/>
          <p:cNvSpPr/>
          <p:nvPr/>
        </p:nvSpPr>
        <p:spPr>
          <a:xfrm>
            <a:off x="470916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Jira write</a:t>
            </a:r>
            <a:endParaRPr lang="en-US" sz="1100" dirty="0"/>
          </a:p>
        </p:txBody>
      </p:sp>
      <p:sp>
        <p:nvSpPr>
          <p:cNvPr id="50" name="Text 48"/>
          <p:cNvSpPr/>
          <p:nvPr/>
        </p:nvSpPr>
        <p:spPr>
          <a:xfrm>
            <a:off x="4709160" y="3712464"/>
            <a:ext cx="2011680" cy="201168"/>
          </a:xfrm>
          <a:prstGeom prst="rect">
            <a:avLst/>
          </a:prstGeom>
          <a:noFill/>
          <a:ln/>
        </p:spPr>
        <p:txBody>
          <a:bodyPr wrap="square" rtlCol="0" anchor="ctr"/>
          <a:lstStyle/>
          <a:p>
            <a:pPr algn="ctr" indent="0" marL="0">
              <a:buNone/>
            </a:pPr>
            <a:r>
              <a:rPr lang="en-US" sz="850" b="1" dirty="0">
                <a:solidFill>
                  <a:srgbClr val="993C1D"/>
                </a:solidFill>
                <a:latin typeface="Arial" pitchFamily="34" charset="0"/>
                <a:ea typeface="Arial" pitchFamily="34" charset="-122"/>
                <a:cs typeface="Arial" pitchFamily="34" charset="-120"/>
              </a:rPr>
              <a:t>jira.ts</a:t>
            </a:r>
            <a:endParaRPr lang="en-US" sz="850" dirty="0"/>
          </a:p>
        </p:txBody>
      </p:sp>
      <p:sp>
        <p:nvSpPr>
          <p:cNvPr id="51" name="Text 49"/>
          <p:cNvSpPr/>
          <p:nvPr/>
        </p:nvSpPr>
        <p:spPr>
          <a:xfrm>
            <a:off x="470916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ADR ticket + assignee + comment</a:t>
            </a:r>
            <a:endParaRPr lang="en-US" sz="850" dirty="0"/>
          </a:p>
        </p:txBody>
      </p:sp>
      <p:sp>
        <p:nvSpPr>
          <p:cNvPr id="52" name="Text 50"/>
          <p:cNvSpPr/>
          <p:nvPr/>
        </p:nvSpPr>
        <p:spPr>
          <a:xfrm>
            <a:off x="672084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53" name="Shape 51"/>
          <p:cNvSpPr/>
          <p:nvPr/>
        </p:nvSpPr>
        <p:spPr>
          <a:xfrm>
            <a:off x="6858000" y="2834640"/>
            <a:ext cx="2011680" cy="1353312"/>
          </a:xfrm>
          <a:prstGeom prst="roundRect">
            <a:avLst>
              <a:gd name="adj" fmla="val 5405"/>
            </a:avLst>
          </a:prstGeom>
          <a:solidFill>
            <a:srgbClr val="EB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54" name="Shape 52"/>
          <p:cNvSpPr/>
          <p:nvPr/>
        </p:nvSpPr>
        <p:spPr>
          <a:xfrm>
            <a:off x="7616952" y="2926080"/>
            <a:ext cx="475488" cy="475488"/>
          </a:xfrm>
          <a:prstGeom prst="ellipse">
            <a:avLst/>
          </a:prstGeom>
          <a:solidFill>
            <a:srgbClr val="0F1E3C"/>
          </a:solidFill>
          <a:ln w="12700">
            <a:solidFill>
              <a:srgbClr val="0F1E3C"/>
            </a:solidFill>
            <a:prstDash val="solid"/>
          </a:ln>
        </p:spPr>
      </p:sp>
      <p:sp>
        <p:nvSpPr>
          <p:cNvPr id="55" name="Text 53"/>
          <p:cNvSpPr/>
          <p:nvPr/>
        </p:nvSpPr>
        <p:spPr>
          <a:xfrm>
            <a:off x="761695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6" name="Text 54"/>
          <p:cNvSpPr/>
          <p:nvPr/>
        </p:nvSpPr>
        <p:spPr>
          <a:xfrm>
            <a:off x="685800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Supabase log</a:t>
            </a:r>
            <a:endParaRPr lang="en-US" sz="1100" dirty="0"/>
          </a:p>
        </p:txBody>
      </p:sp>
      <p:sp>
        <p:nvSpPr>
          <p:cNvPr id="57" name="Text 55"/>
          <p:cNvSpPr/>
          <p:nvPr/>
        </p:nvSpPr>
        <p:spPr>
          <a:xfrm>
            <a:off x="6858000" y="3712464"/>
            <a:ext cx="2011680" cy="201168"/>
          </a:xfrm>
          <a:prstGeom prst="rect">
            <a:avLst/>
          </a:prstGeom>
          <a:noFill/>
          <a:ln/>
        </p:spPr>
        <p:txBody>
          <a:bodyPr wrap="square" rtlCol="0" anchor="ctr"/>
          <a:lstStyle/>
          <a:p>
            <a:pPr algn="ctr" indent="0" marL="0">
              <a:buNone/>
            </a:pPr>
            <a:r>
              <a:rPr lang="en-US" sz="850" b="1" dirty="0">
                <a:solidFill>
                  <a:srgbClr val="0F1E3C"/>
                </a:solidFill>
                <a:latin typeface="Arial" pitchFamily="34" charset="0"/>
                <a:ea typeface="Arial" pitchFamily="34" charset="-122"/>
                <a:cs typeface="Arial" pitchFamily="34" charset="-120"/>
              </a:rPr>
              <a:t>session.ts</a:t>
            </a:r>
            <a:endParaRPr lang="en-US" sz="850" dirty="0"/>
          </a:p>
        </p:txBody>
      </p:sp>
      <p:sp>
        <p:nvSpPr>
          <p:cNvPr id="58" name="Text 56"/>
          <p:cNvSpPr/>
          <p:nvPr/>
        </p:nvSpPr>
        <p:spPr>
          <a:xfrm>
            <a:off x="685800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Metadata + cost + audit trail</a:t>
            </a:r>
            <a:endParaRPr lang="en-US" sz="85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PROMPT ENGINEERING</a:t>
            </a:r>
            <a:endParaRPr lang="en-US" sz="900" dirty="0"/>
          </a:p>
        </p:txBody>
      </p:sp>
      <p:sp>
        <p:nvSpPr>
          <p:cNvPr id="3" name="Text 1"/>
          <p:cNvSpPr/>
          <p:nvPr/>
        </p:nvSpPr>
        <p:spPr>
          <a:xfrm>
            <a:off x="502920" y="594360"/>
            <a:ext cx="813816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What a final agent system prompt actually looks like</a:t>
            </a:r>
            <a:endParaRPr lang="en-US" sz="2200" dirty="0"/>
          </a:p>
        </p:txBody>
      </p:sp>
      <p:sp>
        <p:nvSpPr>
          <p:cNvPr id="4" name="Shape 2"/>
          <p:cNvSpPr/>
          <p:nvPr/>
        </p:nvSpPr>
        <p:spPr>
          <a:xfrm>
            <a:off x="502920" y="1115568"/>
            <a:ext cx="8138160" cy="0"/>
          </a:xfrm>
          <a:prstGeom prst="line">
            <a:avLst/>
          </a:prstGeom>
          <a:noFill/>
          <a:ln w="10160">
            <a:solidFill>
              <a:srgbClr val="3D3D5C"/>
            </a:solidFill>
            <a:prstDash val="solid"/>
          </a:ln>
        </p:spPr>
      </p:sp>
      <p:sp>
        <p:nvSpPr>
          <p:cNvPr id="5" name="Shape 3"/>
          <p:cNvSpPr/>
          <p:nvPr/>
        </p:nvSpPr>
        <p:spPr>
          <a:xfrm>
            <a:off x="411480" y="1207008"/>
            <a:ext cx="8321040" cy="822960"/>
          </a:xfrm>
          <a:prstGeom prst="roundRect">
            <a:avLst>
              <a:gd name="adj" fmla="val 6667"/>
            </a:avLst>
          </a:prstGeom>
          <a:solidFill>
            <a:srgbClr val="3A3A6A"/>
          </a:solidFill>
          <a:ln w="6350">
            <a:solidFill>
              <a:srgbClr val="3D3D5C"/>
            </a:solidFill>
            <a:prstDash val="solid"/>
          </a:ln>
        </p:spPr>
      </p:sp>
      <p:sp>
        <p:nvSpPr>
          <p:cNvPr id="6" name="Text 4"/>
          <p:cNvSpPr/>
          <p:nvPr/>
        </p:nvSpPr>
        <p:spPr>
          <a:xfrm>
            <a:off x="566928" y="1261872"/>
            <a:ext cx="4114800" cy="201168"/>
          </a:xfrm>
          <a:prstGeom prst="rect">
            <a:avLst/>
          </a:prstGeom>
          <a:noFill/>
          <a:ln/>
        </p:spPr>
        <p:txBody>
          <a:bodyPr wrap="square" rtlCol="0" anchor="ctr"/>
          <a:lstStyle/>
          <a:p>
            <a:pPr indent="0" marL="0">
              <a:buNone/>
            </a:pPr>
            <a:r>
              <a:rPr lang="en-US" sz="950" b="1" dirty="0">
                <a:solidFill>
                  <a:srgbClr val="A0A8D8"/>
                </a:solidFill>
                <a:latin typeface="Courier New" pitchFamily="34" charset="0"/>
                <a:ea typeface="Courier New" pitchFamily="34" charset="-122"/>
                <a:cs typeface="Courier New" pitchFamily="34" charset="-120"/>
              </a:rPr>
              <a:t>Layer 1 — Base agent prompt</a:t>
            </a:r>
            <a:endParaRPr lang="en-US" sz="950" dirty="0"/>
          </a:p>
        </p:txBody>
      </p:sp>
      <p:sp>
        <p:nvSpPr>
          <p:cNvPr id="7" name="Text 5"/>
          <p:cNvSpPr/>
          <p:nvPr/>
        </p:nvSpPr>
        <p:spPr>
          <a:xfrm>
            <a:off x="4709160" y="1261872"/>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src/lib/domains/salesforce/agents/apex.ts</a:t>
            </a:r>
            <a:endParaRPr lang="en-US" sz="800" dirty="0"/>
          </a:p>
        </p:txBody>
      </p:sp>
      <p:sp>
        <p:nvSpPr>
          <p:cNvPr id="8" name="Text 6"/>
          <p:cNvSpPr/>
          <p:nvPr/>
        </p:nvSpPr>
        <p:spPr>
          <a:xfrm>
            <a:off x="566928" y="1499616"/>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You are the Apex specialist agent on the ARBoard Architecture Review Board. Your role is to assess Salesforce Apex code quality, governor limit exposure, trigger design, async patterns, and bulk data handling...</a:t>
            </a:r>
            <a:endParaRPr lang="en-US" sz="800" dirty="0"/>
          </a:p>
        </p:txBody>
      </p:sp>
      <p:sp>
        <p:nvSpPr>
          <p:cNvPr id="9" name="Shape 7"/>
          <p:cNvSpPr/>
          <p:nvPr/>
        </p:nvSpPr>
        <p:spPr>
          <a:xfrm>
            <a:off x="411480" y="2103120"/>
            <a:ext cx="8321040" cy="822960"/>
          </a:xfrm>
          <a:prstGeom prst="roundRect">
            <a:avLst>
              <a:gd name="adj" fmla="val 6667"/>
            </a:avLst>
          </a:prstGeom>
          <a:solidFill>
            <a:srgbClr val="1E3A2F"/>
          </a:solidFill>
          <a:ln w="6350">
            <a:solidFill>
              <a:srgbClr val="3D3D5C"/>
            </a:solidFill>
            <a:prstDash val="solid"/>
          </a:ln>
        </p:spPr>
      </p:sp>
      <p:sp>
        <p:nvSpPr>
          <p:cNvPr id="10" name="Text 8"/>
          <p:cNvSpPr/>
          <p:nvPr/>
        </p:nvSpPr>
        <p:spPr>
          <a:xfrm>
            <a:off x="566928" y="2157984"/>
            <a:ext cx="4114800" cy="201168"/>
          </a:xfrm>
          <a:prstGeom prst="rect">
            <a:avLst/>
          </a:prstGeom>
          <a:noFill/>
          <a:ln/>
        </p:spPr>
        <p:txBody>
          <a:bodyPr wrap="square" rtlCol="0" anchor="ctr"/>
          <a:lstStyle/>
          <a:p>
            <a:pPr indent="0" marL="0">
              <a:buNone/>
            </a:pPr>
            <a:r>
              <a:rPr lang="en-US" sz="950" b="1" dirty="0">
                <a:solidFill>
                  <a:srgbClr val="5DCAA5"/>
                </a:solidFill>
                <a:latin typeface="Courier New" pitchFamily="34" charset="0"/>
                <a:ea typeface="Courier New" pitchFamily="34" charset="-122"/>
                <a:cs typeface="Courier New" pitchFamily="34" charset="-120"/>
              </a:rPr>
              <a:t>Layer 2 — Well-Architected principles</a:t>
            </a:r>
            <a:endParaRPr lang="en-US" sz="950" dirty="0"/>
          </a:p>
        </p:txBody>
      </p:sp>
      <p:sp>
        <p:nvSpPr>
          <p:cNvPr id="11" name="Text 9"/>
          <p:cNvSpPr/>
          <p:nvPr/>
        </p:nvSpPr>
        <p:spPr>
          <a:xfrm>
            <a:off x="4709160" y="2157984"/>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wellArchitectedPrinciples.ts → WELL_ARCHITECTED_BY_AGENT[apex]</a:t>
            </a:r>
            <a:endParaRPr lang="en-US" sz="800" dirty="0"/>
          </a:p>
        </p:txBody>
      </p:sp>
      <p:sp>
        <p:nvSpPr>
          <p:cNvPr id="12" name="Text 10"/>
          <p:cNvSpPr/>
          <p:nvPr/>
        </p:nvSpPr>
        <p:spPr>
          <a:xfrm>
            <a:off x="566928" y="2395728"/>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 Salesforce Well-Architected — Apex &amp; Automation</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Triggers must be bulkified: never SOQL/DML inside loops</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One trigger per object. Handler class pattern.</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Avoid synchronous callouts from triggers at volume...</a:t>
            </a:r>
            <a:endParaRPr lang="en-US" sz="800" dirty="0"/>
          </a:p>
        </p:txBody>
      </p:sp>
      <p:sp>
        <p:nvSpPr>
          <p:cNvPr id="13" name="Shape 11"/>
          <p:cNvSpPr/>
          <p:nvPr/>
        </p:nvSpPr>
        <p:spPr>
          <a:xfrm>
            <a:off x="411480" y="2999232"/>
            <a:ext cx="8321040" cy="822960"/>
          </a:xfrm>
          <a:prstGeom prst="roundRect">
            <a:avLst>
              <a:gd name="adj" fmla="val 6667"/>
            </a:avLst>
          </a:prstGeom>
          <a:solidFill>
            <a:srgbClr val="2A2A1A"/>
          </a:solidFill>
          <a:ln w="6350">
            <a:solidFill>
              <a:srgbClr val="3D3D5C"/>
            </a:solidFill>
            <a:prstDash val="solid"/>
          </a:ln>
        </p:spPr>
      </p:sp>
      <p:sp>
        <p:nvSpPr>
          <p:cNvPr id="14" name="Text 12"/>
          <p:cNvSpPr/>
          <p:nvPr/>
        </p:nvSpPr>
        <p:spPr>
          <a:xfrm>
            <a:off x="566928" y="3054096"/>
            <a:ext cx="4114800" cy="201168"/>
          </a:xfrm>
          <a:prstGeom prst="rect">
            <a:avLst/>
          </a:prstGeom>
          <a:noFill/>
          <a:ln/>
        </p:spPr>
        <p:txBody>
          <a:bodyPr wrap="square" rtlCol="0" anchor="ctr"/>
          <a:lstStyle/>
          <a:p>
            <a:pPr indent="0" marL="0">
              <a:buNone/>
            </a:pPr>
            <a:r>
              <a:rPr lang="en-US" sz="950" b="1" dirty="0">
                <a:solidFill>
                  <a:srgbClr val="EF9F27"/>
                </a:solidFill>
                <a:latin typeface="Courier New" pitchFamily="34" charset="0"/>
                <a:ea typeface="Courier New" pitchFamily="34" charset="-122"/>
                <a:cs typeface="Courier New" pitchFamily="34" charset="-120"/>
              </a:rPr>
              <a:t>Layer 3 — Cross-session memory</a:t>
            </a:r>
            <a:endParaRPr lang="en-US" sz="950" dirty="0"/>
          </a:p>
        </p:txBody>
      </p:sp>
      <p:sp>
        <p:nvSpPr>
          <p:cNvPr id="15" name="Text 13"/>
          <p:cNvSpPr/>
          <p:nvPr/>
        </p:nvSpPr>
        <p:spPr>
          <a:xfrm>
            <a:off x="4709160" y="3054096"/>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jiraMemoryRetriever.ts + contextInjector.ts</a:t>
            </a:r>
            <a:endParaRPr lang="en-US" sz="800" dirty="0"/>
          </a:p>
        </p:txBody>
      </p:sp>
      <p:sp>
        <p:nvSpPr>
          <p:cNvPr id="16" name="Text 14"/>
          <p:cNvSpPr/>
          <p:nvPr/>
        </p:nvSpPr>
        <p:spPr>
          <a:xfrm>
            <a:off x="566928" y="3291840"/>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PRIOR REVIEW CONTEXT — reconciliation required</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ARBOARD-009 [APPROVED] — Jun 2026</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xml:space="preserve">  Requirement: Bulk case update via API</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xml:space="preserve">  Decision: Use Platform Events not direct DML...</a:t>
            </a:r>
            <a:endParaRPr lang="en-US" sz="800" dirty="0"/>
          </a:p>
        </p:txBody>
      </p:sp>
      <p:sp>
        <p:nvSpPr>
          <p:cNvPr id="17" name="Shape 15"/>
          <p:cNvSpPr/>
          <p:nvPr/>
        </p:nvSpPr>
        <p:spPr>
          <a:xfrm>
            <a:off x="411480" y="3895344"/>
            <a:ext cx="8321040" cy="822960"/>
          </a:xfrm>
          <a:prstGeom prst="roundRect">
            <a:avLst>
              <a:gd name="adj" fmla="val 6667"/>
            </a:avLst>
          </a:prstGeom>
          <a:solidFill>
            <a:srgbClr val="1A2A3A"/>
          </a:solidFill>
          <a:ln w="6350">
            <a:solidFill>
              <a:srgbClr val="3D3D5C"/>
            </a:solidFill>
            <a:prstDash val="solid"/>
          </a:ln>
        </p:spPr>
      </p:sp>
      <p:sp>
        <p:nvSpPr>
          <p:cNvPr id="18" name="Text 16"/>
          <p:cNvSpPr/>
          <p:nvPr/>
        </p:nvSpPr>
        <p:spPr>
          <a:xfrm>
            <a:off x="566928" y="3950208"/>
            <a:ext cx="4114800" cy="201168"/>
          </a:xfrm>
          <a:prstGeom prst="rect">
            <a:avLst/>
          </a:prstGeom>
          <a:noFill/>
          <a:ln/>
        </p:spPr>
        <p:txBody>
          <a:bodyPr wrap="square" rtlCol="0" anchor="ctr"/>
          <a:lstStyle/>
          <a:p>
            <a:pPr indent="0" marL="0">
              <a:buNone/>
            </a:pPr>
            <a:r>
              <a:rPr lang="en-US" sz="950" b="1" dirty="0">
                <a:solidFill>
                  <a:srgbClr val="85B7EB"/>
                </a:solidFill>
                <a:latin typeface="Courier New" pitchFamily="34" charset="0"/>
                <a:ea typeface="Courier New" pitchFamily="34" charset="-122"/>
                <a:cs typeface="Courier New" pitchFamily="34" charset="-120"/>
              </a:rPr>
              <a:t>Layer 4 — Live org context (when connected)</a:t>
            </a:r>
            <a:endParaRPr lang="en-US" sz="950" dirty="0"/>
          </a:p>
        </p:txBody>
      </p:sp>
      <p:sp>
        <p:nvSpPr>
          <p:cNvPr id="19" name="Text 17"/>
          <p:cNvSpPr/>
          <p:nvPr/>
        </p:nvSpPr>
        <p:spPr>
          <a:xfrm>
            <a:off x="4709160" y="3950208"/>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OrgMetadataCollector.ts / mcpMetadataCollector.ts</a:t>
            </a:r>
            <a:endParaRPr lang="en-US" sz="800" dirty="0"/>
          </a:p>
        </p:txBody>
      </p:sp>
      <p:sp>
        <p:nvSpPr>
          <p:cNvPr id="20" name="Text 18"/>
          <p:cNvSpPr/>
          <p:nvPr/>
        </p:nvSpPr>
        <p:spPr>
          <a:xfrm>
            <a:off x="566928" y="4187952"/>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LIVE ORG CONTEXT</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Triggers deployed: CaseTrigger, AccountTrigger (2 triggers on Case — FP-007 risk flagged)</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Async jobs: PMSSyncBatch, SLAMonitorScheduler</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API version: 61.0...</a:t>
            </a:r>
            <a:endParaRPr lang="en-US" sz="800" dirty="0"/>
          </a:p>
        </p:txBody>
      </p:sp>
      <p:sp>
        <p:nvSpPr>
          <p:cNvPr id="21" name="Text 19"/>
          <p:cNvSpPr/>
          <p:nvPr/>
        </p:nvSpPr>
        <p:spPr>
          <a:xfrm>
            <a:off x="502920" y="4736592"/>
            <a:ext cx="8138160" cy="228600"/>
          </a:xfrm>
          <a:prstGeom prst="rect">
            <a:avLst/>
          </a:prstGeom>
          <a:noFill/>
          <a:ln/>
        </p:spPr>
        <p:txBody>
          <a:bodyPr wrap="square" rtlCol="0" anchor="ctr"/>
          <a:lstStyle/>
          <a:p>
            <a:pPr algn="ctr" indent="0" marL="0">
              <a:buNone/>
            </a:pPr>
            <a:r>
              <a:rPr lang="en-US" sz="950" i="1" dirty="0">
                <a:solidFill>
                  <a:srgbClr val="6A84A8"/>
                </a:solidFill>
                <a:latin typeface="Arial" pitchFamily="34" charset="0"/>
                <a:ea typeface="Arial" pitchFamily="34" charset="-122"/>
                <a:cs typeface="Arial" pitchFamily="34" charset="-120"/>
              </a:rPr>
              <a:t>AgentRunner.ts assembles these 4 layers in sequence before every Anthropic API call</a:t>
            </a:r>
            <a:endParaRPr lang="en-US" sz="950" dirty="0"/>
          </a:p>
        </p:txBody>
      </p:sp>
    </p:spTree>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PROMPT ENGINEERING</a:t>
            </a:r>
            <a:endParaRPr lang="en-US" sz="900" dirty="0"/>
          </a:p>
        </p:txBody>
      </p:sp>
      <p:sp>
        <p:nvSpPr>
          <p:cNvPr id="3" name="Text 1"/>
          <p:cNvSpPr/>
          <p:nvPr/>
        </p:nvSpPr>
        <p:spPr>
          <a:xfrm>
            <a:off x="502920" y="594360"/>
            <a:ext cx="813816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What a final agent system prompt actually looks like</a:t>
            </a:r>
            <a:endParaRPr lang="en-US" sz="2200" dirty="0"/>
          </a:p>
        </p:txBody>
      </p:sp>
      <p:sp>
        <p:nvSpPr>
          <p:cNvPr id="4" name="Shape 2"/>
          <p:cNvSpPr/>
          <p:nvPr/>
        </p:nvSpPr>
        <p:spPr>
          <a:xfrm>
            <a:off x="502920" y="1115568"/>
            <a:ext cx="8138160" cy="0"/>
          </a:xfrm>
          <a:prstGeom prst="line">
            <a:avLst/>
          </a:prstGeom>
          <a:noFill/>
          <a:ln w="10160">
            <a:solidFill>
              <a:srgbClr val="3D3D5C"/>
            </a:solidFill>
            <a:prstDash val="solid"/>
          </a:ln>
        </p:spPr>
      </p:sp>
      <p:sp>
        <p:nvSpPr>
          <p:cNvPr id="5" name="Shape 3"/>
          <p:cNvSpPr/>
          <p:nvPr/>
        </p:nvSpPr>
        <p:spPr>
          <a:xfrm>
            <a:off x="411480" y="1207008"/>
            <a:ext cx="8321040" cy="822960"/>
          </a:xfrm>
          <a:prstGeom prst="roundRect">
            <a:avLst>
              <a:gd name="adj" fmla="val 6667"/>
            </a:avLst>
          </a:prstGeom>
          <a:solidFill>
            <a:srgbClr val="3A3A6A"/>
          </a:solidFill>
          <a:ln w="6350">
            <a:solidFill>
              <a:srgbClr val="3D3D5C"/>
            </a:solidFill>
            <a:prstDash val="solid"/>
          </a:ln>
        </p:spPr>
      </p:sp>
      <p:sp>
        <p:nvSpPr>
          <p:cNvPr id="6" name="Text 4"/>
          <p:cNvSpPr/>
          <p:nvPr/>
        </p:nvSpPr>
        <p:spPr>
          <a:xfrm>
            <a:off x="566928" y="1261872"/>
            <a:ext cx="4114800" cy="201168"/>
          </a:xfrm>
          <a:prstGeom prst="rect">
            <a:avLst/>
          </a:prstGeom>
          <a:noFill/>
          <a:ln/>
        </p:spPr>
        <p:txBody>
          <a:bodyPr wrap="square" rtlCol="0" anchor="ctr"/>
          <a:lstStyle/>
          <a:p>
            <a:pPr indent="0" marL="0">
              <a:buNone/>
            </a:pPr>
            <a:r>
              <a:rPr lang="en-US" sz="950" b="1" dirty="0">
                <a:solidFill>
                  <a:srgbClr val="A0A8D8"/>
                </a:solidFill>
                <a:latin typeface="Courier New" pitchFamily="34" charset="0"/>
                <a:ea typeface="Courier New" pitchFamily="34" charset="-122"/>
                <a:cs typeface="Courier New" pitchFamily="34" charset="-120"/>
              </a:rPr>
              <a:t>Layer 1 — Base agent prompt</a:t>
            </a:r>
            <a:endParaRPr lang="en-US" sz="950" dirty="0"/>
          </a:p>
        </p:txBody>
      </p:sp>
      <p:sp>
        <p:nvSpPr>
          <p:cNvPr id="7" name="Text 5"/>
          <p:cNvSpPr/>
          <p:nvPr/>
        </p:nvSpPr>
        <p:spPr>
          <a:xfrm>
            <a:off x="4709160" y="1261872"/>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src/lib/domains/salesforce/agents/apex.ts</a:t>
            </a:r>
            <a:endParaRPr lang="en-US" sz="800" dirty="0"/>
          </a:p>
        </p:txBody>
      </p:sp>
      <p:sp>
        <p:nvSpPr>
          <p:cNvPr id="8" name="Text 6"/>
          <p:cNvSpPr/>
          <p:nvPr/>
        </p:nvSpPr>
        <p:spPr>
          <a:xfrm>
            <a:off x="566928" y="1499616"/>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You are the Apex specialist agent on the ARBoard Architecture Review Board. Your role is to assess Salesforce Apex code quality, governor limit exposure, trigger design, async patterns, and bulk data handling...</a:t>
            </a:r>
            <a:endParaRPr lang="en-US" sz="800" dirty="0"/>
          </a:p>
        </p:txBody>
      </p:sp>
      <p:sp>
        <p:nvSpPr>
          <p:cNvPr id="9" name="Shape 7"/>
          <p:cNvSpPr/>
          <p:nvPr/>
        </p:nvSpPr>
        <p:spPr>
          <a:xfrm>
            <a:off x="411480" y="2103120"/>
            <a:ext cx="8321040" cy="822960"/>
          </a:xfrm>
          <a:prstGeom prst="roundRect">
            <a:avLst>
              <a:gd name="adj" fmla="val 6667"/>
            </a:avLst>
          </a:prstGeom>
          <a:solidFill>
            <a:srgbClr val="1E3A2F"/>
          </a:solidFill>
          <a:ln w="6350">
            <a:solidFill>
              <a:srgbClr val="3D3D5C"/>
            </a:solidFill>
            <a:prstDash val="solid"/>
          </a:ln>
        </p:spPr>
      </p:sp>
      <p:sp>
        <p:nvSpPr>
          <p:cNvPr id="10" name="Text 8"/>
          <p:cNvSpPr/>
          <p:nvPr/>
        </p:nvSpPr>
        <p:spPr>
          <a:xfrm>
            <a:off x="566928" y="2157984"/>
            <a:ext cx="4114800" cy="201168"/>
          </a:xfrm>
          <a:prstGeom prst="rect">
            <a:avLst/>
          </a:prstGeom>
          <a:noFill/>
          <a:ln/>
        </p:spPr>
        <p:txBody>
          <a:bodyPr wrap="square" rtlCol="0" anchor="ctr"/>
          <a:lstStyle/>
          <a:p>
            <a:pPr indent="0" marL="0">
              <a:buNone/>
            </a:pPr>
            <a:r>
              <a:rPr lang="en-US" sz="950" b="1" dirty="0">
                <a:solidFill>
                  <a:srgbClr val="5DCAA5"/>
                </a:solidFill>
                <a:latin typeface="Courier New" pitchFamily="34" charset="0"/>
                <a:ea typeface="Courier New" pitchFamily="34" charset="-122"/>
                <a:cs typeface="Courier New" pitchFamily="34" charset="-120"/>
              </a:rPr>
              <a:t>Layer 2 — Well-Architected principles</a:t>
            </a:r>
            <a:endParaRPr lang="en-US" sz="950" dirty="0"/>
          </a:p>
        </p:txBody>
      </p:sp>
      <p:sp>
        <p:nvSpPr>
          <p:cNvPr id="11" name="Text 9"/>
          <p:cNvSpPr/>
          <p:nvPr/>
        </p:nvSpPr>
        <p:spPr>
          <a:xfrm>
            <a:off x="4709160" y="2157984"/>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wellArchitectedPrinciples.ts → WELL_ARCHITECTED_BY_AGENT[apex]</a:t>
            </a:r>
            <a:endParaRPr lang="en-US" sz="800" dirty="0"/>
          </a:p>
        </p:txBody>
      </p:sp>
      <p:sp>
        <p:nvSpPr>
          <p:cNvPr id="12" name="Text 10"/>
          <p:cNvSpPr/>
          <p:nvPr/>
        </p:nvSpPr>
        <p:spPr>
          <a:xfrm>
            <a:off x="566928" y="2395728"/>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 Salesforce Well-Architected — Apex &amp; Automation</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Triggers must be bulkified: never SOQL/DML inside loops</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One trigger per object. Handler class pattern.</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Avoid synchronous callouts from triggers at volume...</a:t>
            </a:r>
            <a:endParaRPr lang="en-US" sz="800" dirty="0"/>
          </a:p>
        </p:txBody>
      </p:sp>
      <p:sp>
        <p:nvSpPr>
          <p:cNvPr id="13" name="Shape 11"/>
          <p:cNvSpPr/>
          <p:nvPr/>
        </p:nvSpPr>
        <p:spPr>
          <a:xfrm>
            <a:off x="411480" y="2999232"/>
            <a:ext cx="8321040" cy="822960"/>
          </a:xfrm>
          <a:prstGeom prst="roundRect">
            <a:avLst>
              <a:gd name="adj" fmla="val 6667"/>
            </a:avLst>
          </a:prstGeom>
          <a:solidFill>
            <a:srgbClr val="2A2A1A"/>
          </a:solidFill>
          <a:ln w="6350">
            <a:solidFill>
              <a:srgbClr val="3D3D5C"/>
            </a:solidFill>
            <a:prstDash val="solid"/>
          </a:ln>
        </p:spPr>
      </p:sp>
      <p:sp>
        <p:nvSpPr>
          <p:cNvPr id="14" name="Text 12"/>
          <p:cNvSpPr/>
          <p:nvPr/>
        </p:nvSpPr>
        <p:spPr>
          <a:xfrm>
            <a:off x="566928" y="3054096"/>
            <a:ext cx="4114800" cy="201168"/>
          </a:xfrm>
          <a:prstGeom prst="rect">
            <a:avLst/>
          </a:prstGeom>
          <a:noFill/>
          <a:ln/>
        </p:spPr>
        <p:txBody>
          <a:bodyPr wrap="square" rtlCol="0" anchor="ctr"/>
          <a:lstStyle/>
          <a:p>
            <a:pPr indent="0" marL="0">
              <a:buNone/>
            </a:pPr>
            <a:r>
              <a:rPr lang="en-US" sz="950" b="1" dirty="0">
                <a:solidFill>
                  <a:srgbClr val="EF9F27"/>
                </a:solidFill>
                <a:latin typeface="Courier New" pitchFamily="34" charset="0"/>
                <a:ea typeface="Courier New" pitchFamily="34" charset="-122"/>
                <a:cs typeface="Courier New" pitchFamily="34" charset="-120"/>
              </a:rPr>
              <a:t>Layer 3 — Cross-session memory</a:t>
            </a:r>
            <a:endParaRPr lang="en-US" sz="950" dirty="0"/>
          </a:p>
        </p:txBody>
      </p:sp>
      <p:sp>
        <p:nvSpPr>
          <p:cNvPr id="15" name="Text 13"/>
          <p:cNvSpPr/>
          <p:nvPr/>
        </p:nvSpPr>
        <p:spPr>
          <a:xfrm>
            <a:off x="4709160" y="3054096"/>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jiraMemoryRetriever.ts + contextInjector.ts</a:t>
            </a:r>
            <a:endParaRPr lang="en-US" sz="800" dirty="0"/>
          </a:p>
        </p:txBody>
      </p:sp>
      <p:sp>
        <p:nvSpPr>
          <p:cNvPr id="16" name="Text 14"/>
          <p:cNvSpPr/>
          <p:nvPr/>
        </p:nvSpPr>
        <p:spPr>
          <a:xfrm>
            <a:off x="566928" y="3291840"/>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PRIOR REVIEW CONTEXT — reconciliation required</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ARBOARD-009 [APPROVED] — Jun 2026</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xml:space="preserve">  Requirement: Bulk case update via API</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xml:space="preserve">  Decision: Use Platform Events not direct DML...</a:t>
            </a:r>
            <a:endParaRPr lang="en-US" sz="800" dirty="0"/>
          </a:p>
        </p:txBody>
      </p:sp>
      <p:sp>
        <p:nvSpPr>
          <p:cNvPr id="17" name="Shape 15"/>
          <p:cNvSpPr/>
          <p:nvPr/>
        </p:nvSpPr>
        <p:spPr>
          <a:xfrm>
            <a:off x="411480" y="3895344"/>
            <a:ext cx="8321040" cy="822960"/>
          </a:xfrm>
          <a:prstGeom prst="roundRect">
            <a:avLst>
              <a:gd name="adj" fmla="val 6667"/>
            </a:avLst>
          </a:prstGeom>
          <a:solidFill>
            <a:srgbClr val="1A2A3A"/>
          </a:solidFill>
          <a:ln w="6350">
            <a:solidFill>
              <a:srgbClr val="3D3D5C"/>
            </a:solidFill>
            <a:prstDash val="solid"/>
          </a:ln>
        </p:spPr>
      </p:sp>
      <p:sp>
        <p:nvSpPr>
          <p:cNvPr id="18" name="Text 16"/>
          <p:cNvSpPr/>
          <p:nvPr/>
        </p:nvSpPr>
        <p:spPr>
          <a:xfrm>
            <a:off x="566928" y="3950208"/>
            <a:ext cx="4114800" cy="201168"/>
          </a:xfrm>
          <a:prstGeom prst="rect">
            <a:avLst/>
          </a:prstGeom>
          <a:noFill/>
          <a:ln/>
        </p:spPr>
        <p:txBody>
          <a:bodyPr wrap="square" rtlCol="0" anchor="ctr"/>
          <a:lstStyle/>
          <a:p>
            <a:pPr indent="0" marL="0">
              <a:buNone/>
            </a:pPr>
            <a:r>
              <a:rPr lang="en-US" sz="950" b="1" dirty="0">
                <a:solidFill>
                  <a:srgbClr val="85B7EB"/>
                </a:solidFill>
                <a:latin typeface="Courier New" pitchFamily="34" charset="0"/>
                <a:ea typeface="Courier New" pitchFamily="34" charset="-122"/>
                <a:cs typeface="Courier New" pitchFamily="34" charset="-120"/>
              </a:rPr>
              <a:t>Layer 4 — Live org context (when connected)</a:t>
            </a:r>
            <a:endParaRPr lang="en-US" sz="950" dirty="0"/>
          </a:p>
        </p:txBody>
      </p:sp>
      <p:sp>
        <p:nvSpPr>
          <p:cNvPr id="19" name="Text 17"/>
          <p:cNvSpPr/>
          <p:nvPr/>
        </p:nvSpPr>
        <p:spPr>
          <a:xfrm>
            <a:off x="4709160" y="3950208"/>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OrgMetadataCollector.ts / mcpMetadataCollector.ts</a:t>
            </a:r>
            <a:endParaRPr lang="en-US" sz="800" dirty="0"/>
          </a:p>
        </p:txBody>
      </p:sp>
      <p:sp>
        <p:nvSpPr>
          <p:cNvPr id="20" name="Text 18"/>
          <p:cNvSpPr/>
          <p:nvPr/>
        </p:nvSpPr>
        <p:spPr>
          <a:xfrm>
            <a:off x="566928" y="4187952"/>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LIVE ORG CONTEXT</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Triggers deployed: CaseTrigger, AccountTrigger (2 triggers on Case — FP-007 risk flagged)</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Async jobs: PMSSyncBatch, SLAMonitorScheduler</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API version: 61.0...</a:t>
            </a:r>
            <a:endParaRPr lang="en-US" sz="800" dirty="0"/>
          </a:p>
        </p:txBody>
      </p:sp>
      <p:sp>
        <p:nvSpPr>
          <p:cNvPr id="21" name="Text 19"/>
          <p:cNvSpPr/>
          <p:nvPr/>
        </p:nvSpPr>
        <p:spPr>
          <a:xfrm>
            <a:off x="502920" y="4736592"/>
            <a:ext cx="8138160" cy="228600"/>
          </a:xfrm>
          <a:prstGeom prst="rect">
            <a:avLst/>
          </a:prstGeom>
          <a:noFill/>
          <a:ln/>
        </p:spPr>
        <p:txBody>
          <a:bodyPr wrap="square" rtlCol="0" anchor="ctr"/>
          <a:lstStyle/>
          <a:p>
            <a:pPr algn="ctr" indent="0" marL="0">
              <a:buNone/>
            </a:pPr>
            <a:r>
              <a:rPr lang="en-US" sz="950" i="1" dirty="0">
                <a:solidFill>
                  <a:srgbClr val="6A84A8"/>
                </a:solidFill>
                <a:latin typeface="Arial" pitchFamily="34" charset="0"/>
                <a:ea typeface="Arial" pitchFamily="34" charset="-122"/>
                <a:cs typeface="Arial" pitchFamily="34" charset="-120"/>
              </a:rPr>
              <a:t>AgentRunner.ts assembles these 4 layers in sequence before every Anthropic API call</a:t>
            </a:r>
            <a:endParaRPr lang="en-US" sz="9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IP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Where the defensible IP sits across the stack</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3246120" y="1325880"/>
            <a:ext cx="2651760" cy="3474720"/>
          </a:xfrm>
          <a:prstGeom prst="roundRect">
            <a:avLst>
              <a:gd name="adj" fmla="val 2759"/>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3246120" y="1325880"/>
            <a:ext cx="2651760" cy="329184"/>
          </a:xfrm>
          <a:prstGeom prst="roundRect">
            <a:avLst>
              <a:gd name="adj" fmla="val 22222"/>
            </a:avLst>
          </a:prstGeom>
          <a:solidFill>
            <a:srgbClr val="1B4F9B"/>
          </a:solidFill>
          <a:ln w="12700">
            <a:solidFill>
              <a:srgbClr val="1B4F9B"/>
            </a:solidFill>
            <a:prstDash val="solid"/>
          </a:ln>
        </p:spPr>
      </p:sp>
      <p:sp>
        <p:nvSpPr>
          <p:cNvPr id="7" name="Text 5"/>
          <p:cNvSpPr/>
          <p:nvPr/>
        </p:nvSpPr>
        <p:spPr>
          <a:xfrm>
            <a:off x="3246120" y="1335024"/>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Agent system prompt</a:t>
            </a:r>
            <a:endParaRPr lang="en-US" sz="1100" dirty="0"/>
          </a:p>
        </p:txBody>
      </p:sp>
      <p:sp>
        <p:nvSpPr>
          <p:cNvPr id="8" name="Shape 6"/>
          <p:cNvSpPr/>
          <p:nvPr/>
        </p:nvSpPr>
        <p:spPr>
          <a:xfrm>
            <a:off x="3383280" y="1737360"/>
            <a:ext cx="2377440" cy="402336"/>
          </a:xfrm>
          <a:prstGeom prst="roundRect">
            <a:avLst>
              <a:gd name="adj" fmla="val 13636"/>
            </a:avLst>
          </a:prstGeom>
          <a:solidFill>
            <a:srgbClr val="FFFFFF"/>
          </a:solidFill>
          <a:ln w="12700">
            <a:solidFill>
              <a:srgbClr val="1B4F9B"/>
            </a:solidFill>
            <a:prstDash val="solid"/>
          </a:ln>
        </p:spPr>
      </p:sp>
      <p:sp>
        <p:nvSpPr>
          <p:cNvPr id="9" name="Shape 7"/>
          <p:cNvSpPr/>
          <p:nvPr/>
        </p:nvSpPr>
        <p:spPr>
          <a:xfrm>
            <a:off x="3447288" y="1828800"/>
            <a:ext cx="219456" cy="219456"/>
          </a:xfrm>
          <a:prstGeom prst="ellipse">
            <a:avLst/>
          </a:prstGeom>
          <a:solidFill>
            <a:srgbClr val="1B4F9B"/>
          </a:solidFill>
          <a:ln w="12700">
            <a:solidFill>
              <a:srgbClr val="1B4F9B"/>
            </a:solidFill>
            <a:prstDash val="solid"/>
          </a:ln>
        </p:spPr>
      </p:sp>
      <p:sp>
        <p:nvSpPr>
          <p:cNvPr id="10" name="Text 8"/>
          <p:cNvSpPr/>
          <p:nvPr/>
        </p:nvSpPr>
        <p:spPr>
          <a:xfrm>
            <a:off x="3749040" y="1810512"/>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Base domain expertise</a:t>
            </a:r>
            <a:endParaRPr lang="en-US" sz="950" dirty="0"/>
          </a:p>
        </p:txBody>
      </p:sp>
      <p:sp>
        <p:nvSpPr>
          <p:cNvPr id="11" name="Shape 9"/>
          <p:cNvSpPr/>
          <p:nvPr/>
        </p:nvSpPr>
        <p:spPr>
          <a:xfrm>
            <a:off x="3383280" y="2249424"/>
            <a:ext cx="2377440" cy="402336"/>
          </a:xfrm>
          <a:prstGeom prst="roundRect">
            <a:avLst>
              <a:gd name="adj" fmla="val 13636"/>
            </a:avLst>
          </a:prstGeom>
          <a:solidFill>
            <a:srgbClr val="FFFFFF"/>
          </a:solidFill>
          <a:ln w="12700">
            <a:solidFill>
              <a:srgbClr val="534AB7"/>
            </a:solidFill>
            <a:prstDash val="solid"/>
          </a:ln>
        </p:spPr>
      </p:sp>
      <p:sp>
        <p:nvSpPr>
          <p:cNvPr id="12" name="Shape 10"/>
          <p:cNvSpPr/>
          <p:nvPr/>
        </p:nvSpPr>
        <p:spPr>
          <a:xfrm>
            <a:off x="3447288" y="2340864"/>
            <a:ext cx="219456" cy="219456"/>
          </a:xfrm>
          <a:prstGeom prst="ellipse">
            <a:avLst/>
          </a:prstGeom>
          <a:solidFill>
            <a:srgbClr val="534AB7"/>
          </a:solidFill>
          <a:ln w="12700">
            <a:solidFill>
              <a:srgbClr val="534AB7"/>
            </a:solidFill>
            <a:prstDash val="solid"/>
          </a:ln>
        </p:spPr>
      </p:sp>
      <p:sp>
        <p:nvSpPr>
          <p:cNvPr id="13" name="Text 11"/>
          <p:cNvSpPr/>
          <p:nvPr/>
        </p:nvSpPr>
        <p:spPr>
          <a:xfrm>
            <a:off x="3749040" y="2322576"/>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Well-Architected principles</a:t>
            </a:r>
            <a:endParaRPr lang="en-US" sz="950" dirty="0"/>
          </a:p>
        </p:txBody>
      </p:sp>
      <p:sp>
        <p:nvSpPr>
          <p:cNvPr id="14" name="Shape 12"/>
          <p:cNvSpPr/>
          <p:nvPr/>
        </p:nvSpPr>
        <p:spPr>
          <a:xfrm>
            <a:off x="3383280" y="2761488"/>
            <a:ext cx="2377440" cy="402336"/>
          </a:xfrm>
          <a:prstGeom prst="roundRect">
            <a:avLst>
              <a:gd name="adj" fmla="val 13636"/>
            </a:avLst>
          </a:prstGeom>
          <a:solidFill>
            <a:srgbClr val="FFFFFF"/>
          </a:solidFill>
          <a:ln w="12700">
            <a:solidFill>
              <a:srgbClr val="0F6E56"/>
            </a:solidFill>
            <a:prstDash val="solid"/>
          </a:ln>
        </p:spPr>
      </p:sp>
      <p:sp>
        <p:nvSpPr>
          <p:cNvPr id="15" name="Shape 13"/>
          <p:cNvSpPr/>
          <p:nvPr/>
        </p:nvSpPr>
        <p:spPr>
          <a:xfrm>
            <a:off x="3447288" y="2852928"/>
            <a:ext cx="219456" cy="219456"/>
          </a:xfrm>
          <a:prstGeom prst="ellipse">
            <a:avLst/>
          </a:prstGeom>
          <a:solidFill>
            <a:srgbClr val="0F6E56"/>
          </a:solidFill>
          <a:ln w="12700">
            <a:solidFill>
              <a:srgbClr val="0F6E56"/>
            </a:solidFill>
            <a:prstDash val="solid"/>
          </a:ln>
        </p:spPr>
      </p:sp>
      <p:sp>
        <p:nvSpPr>
          <p:cNvPr id="16" name="Text 14"/>
          <p:cNvSpPr/>
          <p:nvPr/>
        </p:nvSpPr>
        <p:spPr>
          <a:xfrm>
            <a:off x="3749040" y="2834640"/>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SI failure pattern library</a:t>
            </a:r>
            <a:endParaRPr lang="en-US" sz="950" dirty="0"/>
          </a:p>
        </p:txBody>
      </p:sp>
      <p:sp>
        <p:nvSpPr>
          <p:cNvPr id="17" name="Shape 15"/>
          <p:cNvSpPr/>
          <p:nvPr/>
        </p:nvSpPr>
        <p:spPr>
          <a:xfrm>
            <a:off x="3383280" y="3273552"/>
            <a:ext cx="2377440" cy="402336"/>
          </a:xfrm>
          <a:prstGeom prst="roundRect">
            <a:avLst>
              <a:gd name="adj" fmla="val 13636"/>
            </a:avLst>
          </a:prstGeom>
          <a:solidFill>
            <a:srgbClr val="FFFFFF"/>
          </a:solidFill>
          <a:ln w="12700">
            <a:solidFill>
              <a:srgbClr val="BA7517"/>
            </a:solidFill>
            <a:prstDash val="solid"/>
          </a:ln>
        </p:spPr>
      </p:sp>
      <p:sp>
        <p:nvSpPr>
          <p:cNvPr id="18" name="Shape 16"/>
          <p:cNvSpPr/>
          <p:nvPr/>
        </p:nvSpPr>
        <p:spPr>
          <a:xfrm>
            <a:off x="3447288" y="3364992"/>
            <a:ext cx="219456" cy="219456"/>
          </a:xfrm>
          <a:prstGeom prst="ellipse">
            <a:avLst/>
          </a:prstGeom>
          <a:solidFill>
            <a:srgbClr val="BA7517"/>
          </a:solidFill>
          <a:ln w="12700">
            <a:solidFill>
              <a:srgbClr val="BA7517"/>
            </a:solidFill>
            <a:prstDash val="solid"/>
          </a:ln>
        </p:spPr>
      </p:sp>
      <p:sp>
        <p:nvSpPr>
          <p:cNvPr id="19" name="Text 17"/>
          <p:cNvSpPr/>
          <p:nvPr/>
        </p:nvSpPr>
        <p:spPr>
          <a:xfrm>
            <a:off x="3749040" y="3346704"/>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Cross-session Jira memory</a:t>
            </a:r>
            <a:endParaRPr lang="en-US" sz="950" dirty="0"/>
          </a:p>
        </p:txBody>
      </p:sp>
      <p:sp>
        <p:nvSpPr>
          <p:cNvPr id="20" name="Shape 18"/>
          <p:cNvSpPr/>
          <p:nvPr/>
        </p:nvSpPr>
        <p:spPr>
          <a:xfrm>
            <a:off x="3383280" y="3785616"/>
            <a:ext cx="2377440" cy="402336"/>
          </a:xfrm>
          <a:prstGeom prst="roundRect">
            <a:avLst>
              <a:gd name="adj" fmla="val 13636"/>
            </a:avLst>
          </a:prstGeom>
          <a:solidFill>
            <a:srgbClr val="FFFFFF"/>
          </a:solidFill>
          <a:ln w="12700">
            <a:solidFill>
              <a:srgbClr val="993C1D"/>
            </a:solidFill>
            <a:prstDash val="solid"/>
          </a:ln>
        </p:spPr>
      </p:sp>
      <p:sp>
        <p:nvSpPr>
          <p:cNvPr id="21" name="Shape 19"/>
          <p:cNvSpPr/>
          <p:nvPr/>
        </p:nvSpPr>
        <p:spPr>
          <a:xfrm>
            <a:off x="3447288" y="3877056"/>
            <a:ext cx="219456" cy="219456"/>
          </a:xfrm>
          <a:prstGeom prst="ellipse">
            <a:avLst/>
          </a:prstGeom>
          <a:solidFill>
            <a:srgbClr val="993C1D"/>
          </a:solidFill>
          <a:ln w="12700">
            <a:solidFill>
              <a:srgbClr val="993C1D"/>
            </a:solidFill>
            <a:prstDash val="solid"/>
          </a:ln>
        </p:spPr>
      </p:sp>
      <p:sp>
        <p:nvSpPr>
          <p:cNvPr id="22" name="Text 20"/>
          <p:cNvSpPr/>
          <p:nvPr/>
        </p:nvSpPr>
        <p:spPr>
          <a:xfrm>
            <a:off x="3749040" y="3858768"/>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Live org context (MCP)</a:t>
            </a:r>
            <a:endParaRPr lang="en-US" sz="950" dirty="0"/>
          </a:p>
        </p:txBody>
      </p:sp>
      <p:sp>
        <p:nvSpPr>
          <p:cNvPr id="23" name="Shape 21"/>
          <p:cNvSpPr/>
          <p:nvPr/>
        </p:nvSpPr>
        <p:spPr>
          <a:xfrm>
            <a:off x="320040" y="150876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4" name="Text 22"/>
          <p:cNvSpPr/>
          <p:nvPr/>
        </p:nvSpPr>
        <p:spPr>
          <a:xfrm>
            <a:off x="457200" y="158191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Agent domain files</a:t>
            </a:r>
            <a:endParaRPr lang="en-US" sz="950" dirty="0"/>
          </a:p>
        </p:txBody>
      </p:sp>
      <p:sp>
        <p:nvSpPr>
          <p:cNvPr id="25" name="Text 23"/>
          <p:cNvSpPr/>
          <p:nvPr/>
        </p:nvSpPr>
        <p:spPr>
          <a:xfrm>
            <a:off x="457200" y="1837944"/>
            <a:ext cx="2331720" cy="201168"/>
          </a:xfrm>
          <a:prstGeom prst="rect">
            <a:avLst/>
          </a:prstGeom>
          <a:noFill/>
          <a:ln/>
        </p:spPr>
        <p:txBody>
          <a:bodyPr wrap="square" rtlCol="0" anchor="ctr"/>
          <a:lstStyle/>
          <a:p>
            <a:pPr indent="0" marL="0">
              <a:buNone/>
            </a:pPr>
            <a:r>
              <a:rPr lang="en-US" sz="800" dirty="0">
                <a:solidFill>
                  <a:srgbClr val="1B4F9B"/>
                </a:solidFill>
                <a:latin typeface="Courier New" pitchFamily="34" charset="0"/>
                <a:ea typeface="Courier New" pitchFamily="34" charset="-122"/>
                <a:cs typeface="Courier New" pitchFamily="34" charset="-120"/>
              </a:rPr>
              <a:t>src/lib/domains/salesforce/agents/</a:t>
            </a:r>
            <a:endParaRPr lang="en-US" sz="800" dirty="0"/>
          </a:p>
        </p:txBody>
      </p:sp>
      <p:sp>
        <p:nvSpPr>
          <p:cNvPr id="26" name="Shape 24"/>
          <p:cNvSpPr/>
          <p:nvPr/>
        </p:nvSpPr>
        <p:spPr>
          <a:xfrm>
            <a:off x="2926080" y="1837944"/>
            <a:ext cx="320040" cy="0"/>
          </a:xfrm>
          <a:prstGeom prst="line">
            <a:avLst/>
          </a:prstGeom>
          <a:noFill/>
          <a:ln w="12700">
            <a:solidFill>
              <a:srgbClr val="1B4F9B"/>
            </a:solidFill>
            <a:prstDash val="solid"/>
          </a:ln>
        </p:spPr>
      </p:sp>
      <p:sp>
        <p:nvSpPr>
          <p:cNvPr id="27" name="Text 25"/>
          <p:cNvSpPr/>
          <p:nvPr/>
        </p:nvSpPr>
        <p:spPr>
          <a:xfrm>
            <a:off x="3127248" y="1728216"/>
            <a:ext cx="164592" cy="228600"/>
          </a:xfrm>
          <a:prstGeom prst="rect">
            <a:avLst/>
          </a:prstGeom>
          <a:noFill/>
          <a:ln/>
        </p:spPr>
        <p:txBody>
          <a:bodyPr wrap="square" rtlCol="0" anchor="ctr"/>
          <a:lstStyle/>
          <a:p>
            <a:pPr algn="ctr" indent="0" marL="0">
              <a:buNone/>
            </a:pPr>
            <a:r>
              <a:rPr lang="en-US" sz="1300" b="1" dirty="0">
                <a:solidFill>
                  <a:srgbClr val="1B4F9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320040" y="2532888"/>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9" name="Text 27"/>
          <p:cNvSpPr/>
          <p:nvPr/>
        </p:nvSpPr>
        <p:spPr>
          <a:xfrm>
            <a:off x="457200" y="2606040"/>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wellArchitectedPrinciples.ts</a:t>
            </a:r>
            <a:endParaRPr lang="en-US" sz="950" dirty="0"/>
          </a:p>
        </p:txBody>
      </p:sp>
      <p:sp>
        <p:nvSpPr>
          <p:cNvPr id="30" name="Text 28"/>
          <p:cNvSpPr/>
          <p:nvPr/>
        </p:nvSpPr>
        <p:spPr>
          <a:xfrm>
            <a:off x="457200" y="2862072"/>
            <a:ext cx="2331720" cy="201168"/>
          </a:xfrm>
          <a:prstGeom prst="rect">
            <a:avLst/>
          </a:prstGeom>
          <a:noFill/>
          <a:ln/>
        </p:spPr>
        <p:txBody>
          <a:bodyPr wrap="square" rtlCol="0" anchor="ctr"/>
          <a:lstStyle/>
          <a:p>
            <a:pPr indent="0" marL="0">
              <a:buNone/>
            </a:pPr>
            <a:r>
              <a:rPr lang="en-US" sz="800" dirty="0">
                <a:solidFill>
                  <a:srgbClr val="534AB7"/>
                </a:solidFill>
                <a:latin typeface="Courier New" pitchFamily="34" charset="0"/>
                <a:ea typeface="Courier New" pitchFamily="34" charset="-122"/>
                <a:cs typeface="Courier New" pitchFamily="34" charset="-120"/>
              </a:rPr>
              <a:t>src/lib/prompt/</a:t>
            </a:r>
            <a:endParaRPr lang="en-US" sz="800" dirty="0"/>
          </a:p>
        </p:txBody>
      </p:sp>
      <p:sp>
        <p:nvSpPr>
          <p:cNvPr id="31" name="Shape 29"/>
          <p:cNvSpPr/>
          <p:nvPr/>
        </p:nvSpPr>
        <p:spPr>
          <a:xfrm>
            <a:off x="2926080" y="2862072"/>
            <a:ext cx="320040" cy="0"/>
          </a:xfrm>
          <a:prstGeom prst="line">
            <a:avLst/>
          </a:prstGeom>
          <a:noFill/>
          <a:ln w="12700">
            <a:solidFill>
              <a:srgbClr val="534AB7"/>
            </a:solidFill>
            <a:prstDash val="solid"/>
          </a:ln>
        </p:spPr>
      </p:sp>
      <p:sp>
        <p:nvSpPr>
          <p:cNvPr id="32" name="Text 30"/>
          <p:cNvSpPr/>
          <p:nvPr/>
        </p:nvSpPr>
        <p:spPr>
          <a:xfrm>
            <a:off x="3127248" y="2752344"/>
            <a:ext cx="164592" cy="228600"/>
          </a:xfrm>
          <a:prstGeom prst="rect">
            <a:avLst/>
          </a:prstGeom>
          <a:noFill/>
          <a:ln/>
        </p:spPr>
        <p:txBody>
          <a:bodyPr wrap="square" rtlCol="0" anchor="ctr"/>
          <a:lstStyle/>
          <a:p>
            <a:pPr algn="ctr" indent="0" marL="0">
              <a:buNone/>
            </a:pPr>
            <a:r>
              <a:rPr lang="en-US" sz="1300" b="1" dirty="0">
                <a:solidFill>
                  <a:srgbClr val="534AB7"/>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320040" y="3557016"/>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4" name="Text 32"/>
          <p:cNvSpPr/>
          <p:nvPr/>
        </p:nvSpPr>
        <p:spPr>
          <a:xfrm>
            <a:off x="457200" y="3630168"/>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Supabase — failure_patterns</a:t>
            </a:r>
            <a:endParaRPr lang="en-US" sz="950" dirty="0"/>
          </a:p>
        </p:txBody>
      </p:sp>
      <p:sp>
        <p:nvSpPr>
          <p:cNvPr id="35" name="Text 33"/>
          <p:cNvSpPr/>
          <p:nvPr/>
        </p:nvSpPr>
        <p:spPr>
          <a:xfrm>
            <a:off x="457200" y="3886200"/>
            <a:ext cx="2331720" cy="201168"/>
          </a:xfrm>
          <a:prstGeom prst="rect">
            <a:avLst/>
          </a:prstGeom>
          <a:noFill/>
          <a:ln/>
        </p:spPr>
        <p:txBody>
          <a:bodyPr wrap="square" rtlCol="0" anchor="ctr"/>
          <a:lstStyle/>
          <a:p>
            <a:pPr indent="0" marL="0">
              <a:buNone/>
            </a:pPr>
            <a:r>
              <a:rPr lang="en-US" sz="800" dirty="0">
                <a:solidFill>
                  <a:srgbClr val="0F6E56"/>
                </a:solidFill>
                <a:latin typeface="Courier New" pitchFamily="34" charset="0"/>
                <a:ea typeface="Courier New" pitchFamily="34" charset="-122"/>
                <a:cs typeface="Courier New" pitchFamily="34" charset="-120"/>
              </a:rPr>
              <a:t>patternRetrieval.ts</a:t>
            </a:r>
            <a:endParaRPr lang="en-US" sz="800" dirty="0"/>
          </a:p>
        </p:txBody>
      </p:sp>
      <p:sp>
        <p:nvSpPr>
          <p:cNvPr id="36" name="Shape 34"/>
          <p:cNvSpPr/>
          <p:nvPr/>
        </p:nvSpPr>
        <p:spPr>
          <a:xfrm>
            <a:off x="2926080" y="3886200"/>
            <a:ext cx="320040" cy="0"/>
          </a:xfrm>
          <a:prstGeom prst="line">
            <a:avLst/>
          </a:prstGeom>
          <a:noFill/>
          <a:ln w="12700">
            <a:solidFill>
              <a:srgbClr val="0F6E56"/>
            </a:solidFill>
            <a:prstDash val="solid"/>
          </a:ln>
        </p:spPr>
      </p:sp>
      <p:sp>
        <p:nvSpPr>
          <p:cNvPr id="37" name="Text 35"/>
          <p:cNvSpPr/>
          <p:nvPr/>
        </p:nvSpPr>
        <p:spPr>
          <a:xfrm>
            <a:off x="3127248" y="3776472"/>
            <a:ext cx="164592" cy="228600"/>
          </a:xfrm>
          <a:prstGeom prst="rect">
            <a:avLst/>
          </a:prstGeom>
          <a:noFill/>
          <a:ln/>
        </p:spPr>
        <p:txBody>
          <a:bodyPr wrap="square" rtlCol="0" anchor="ctr"/>
          <a:lstStyle/>
          <a:p>
            <a:pPr algn="ctr" indent="0" marL="0">
              <a:buNone/>
            </a:pPr>
            <a:r>
              <a:rPr lang="en-US" sz="1300" b="1" dirty="0">
                <a:solidFill>
                  <a:srgbClr val="0F6E56"/>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217920" y="192024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9" name="Text 37"/>
          <p:cNvSpPr/>
          <p:nvPr/>
        </p:nvSpPr>
        <p:spPr>
          <a:xfrm>
            <a:off x="6355080" y="199339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Jira ARBOARD project</a:t>
            </a:r>
            <a:endParaRPr lang="en-US" sz="950" dirty="0"/>
          </a:p>
        </p:txBody>
      </p:sp>
      <p:sp>
        <p:nvSpPr>
          <p:cNvPr id="40" name="Text 38"/>
          <p:cNvSpPr/>
          <p:nvPr/>
        </p:nvSpPr>
        <p:spPr>
          <a:xfrm>
            <a:off x="6355080" y="2249424"/>
            <a:ext cx="2331720" cy="201168"/>
          </a:xfrm>
          <a:prstGeom prst="rect">
            <a:avLst/>
          </a:prstGeom>
          <a:noFill/>
          <a:ln/>
        </p:spPr>
        <p:txBody>
          <a:bodyPr wrap="square" rtlCol="0" anchor="ctr"/>
          <a:lstStyle/>
          <a:p>
            <a:pPr indent="0" marL="0">
              <a:buNone/>
            </a:pPr>
            <a:r>
              <a:rPr lang="en-US" sz="800" dirty="0">
                <a:solidFill>
                  <a:srgbClr val="BA7517"/>
                </a:solidFill>
                <a:latin typeface="Courier New" pitchFamily="34" charset="0"/>
                <a:ea typeface="Courier New" pitchFamily="34" charset="-122"/>
                <a:cs typeface="Courier New" pitchFamily="34" charset="-120"/>
              </a:rPr>
              <a:t>jiraMemoryRetriever.ts</a:t>
            </a:r>
            <a:endParaRPr lang="en-US" sz="800" dirty="0"/>
          </a:p>
        </p:txBody>
      </p:sp>
      <p:sp>
        <p:nvSpPr>
          <p:cNvPr id="41" name="Shape 39"/>
          <p:cNvSpPr/>
          <p:nvPr/>
        </p:nvSpPr>
        <p:spPr>
          <a:xfrm>
            <a:off x="5897880" y="2249424"/>
            <a:ext cx="320040" cy="0"/>
          </a:xfrm>
          <a:prstGeom prst="line">
            <a:avLst/>
          </a:prstGeom>
          <a:noFill/>
          <a:ln w="12700">
            <a:solidFill>
              <a:srgbClr val="BA7517"/>
            </a:solidFill>
            <a:prstDash val="solid"/>
          </a:ln>
        </p:spPr>
      </p:sp>
      <p:sp>
        <p:nvSpPr>
          <p:cNvPr id="42" name="Text 40"/>
          <p:cNvSpPr/>
          <p:nvPr/>
        </p:nvSpPr>
        <p:spPr>
          <a:xfrm>
            <a:off x="5733288" y="2139696"/>
            <a:ext cx="182880" cy="228600"/>
          </a:xfrm>
          <a:prstGeom prst="rect">
            <a:avLst/>
          </a:prstGeom>
          <a:noFill/>
          <a:ln/>
        </p:spPr>
        <p:txBody>
          <a:bodyPr wrap="square" rtlCol="0" anchor="ctr"/>
          <a:lstStyle/>
          <a:p>
            <a:pPr algn="ctr" indent="0" marL="0">
              <a:buNone/>
            </a:pPr>
            <a:r>
              <a:rPr lang="en-US" sz="1300" b="1" dirty="0">
                <a:solidFill>
                  <a:srgbClr val="BA7517"/>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217920" y="310896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4" name="Text 42"/>
          <p:cNvSpPr/>
          <p:nvPr/>
        </p:nvSpPr>
        <p:spPr>
          <a:xfrm>
            <a:off x="6355080" y="318211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Salesforce org metadata</a:t>
            </a:r>
            <a:endParaRPr lang="en-US" sz="950" dirty="0"/>
          </a:p>
        </p:txBody>
      </p:sp>
      <p:sp>
        <p:nvSpPr>
          <p:cNvPr id="45" name="Text 43"/>
          <p:cNvSpPr/>
          <p:nvPr/>
        </p:nvSpPr>
        <p:spPr>
          <a:xfrm>
            <a:off x="6355080" y="3438144"/>
            <a:ext cx="2331720" cy="201168"/>
          </a:xfrm>
          <a:prstGeom prst="rect">
            <a:avLst/>
          </a:prstGeom>
          <a:noFill/>
          <a:ln/>
        </p:spPr>
        <p:txBody>
          <a:bodyPr wrap="square" rtlCol="0" anchor="ctr"/>
          <a:lstStyle/>
          <a:p>
            <a:pPr indent="0" marL="0">
              <a:buNone/>
            </a:pPr>
            <a:r>
              <a:rPr lang="en-US" sz="800" dirty="0">
                <a:solidFill>
                  <a:srgbClr val="993C1D"/>
                </a:solidFill>
                <a:latin typeface="Courier New" pitchFamily="34" charset="0"/>
                <a:ea typeface="Courier New" pitchFamily="34" charset="-122"/>
                <a:cs typeface="Courier New" pitchFamily="34" charset="-120"/>
              </a:rPr>
              <a:t>OrgMetadataCollector.ts</a:t>
            </a:r>
            <a:endParaRPr lang="en-US" sz="800" dirty="0"/>
          </a:p>
        </p:txBody>
      </p:sp>
      <p:sp>
        <p:nvSpPr>
          <p:cNvPr id="46" name="Shape 44"/>
          <p:cNvSpPr/>
          <p:nvPr/>
        </p:nvSpPr>
        <p:spPr>
          <a:xfrm>
            <a:off x="5897880" y="3438144"/>
            <a:ext cx="320040" cy="0"/>
          </a:xfrm>
          <a:prstGeom prst="line">
            <a:avLst/>
          </a:prstGeom>
          <a:noFill/>
          <a:ln w="12700">
            <a:solidFill>
              <a:srgbClr val="993C1D"/>
            </a:solidFill>
            <a:prstDash val="solid"/>
          </a:ln>
        </p:spPr>
      </p:sp>
      <p:sp>
        <p:nvSpPr>
          <p:cNvPr id="47" name="Text 45"/>
          <p:cNvSpPr/>
          <p:nvPr/>
        </p:nvSpPr>
        <p:spPr>
          <a:xfrm>
            <a:off x="5733288" y="3328416"/>
            <a:ext cx="182880" cy="228600"/>
          </a:xfrm>
          <a:prstGeom prst="rect">
            <a:avLst/>
          </a:prstGeom>
          <a:noFill/>
          <a:ln/>
        </p:spPr>
        <p:txBody>
          <a:bodyPr wrap="square" rtlCol="0" anchor="ctr"/>
          <a:lstStyle/>
          <a:p>
            <a:pPr algn="ctr" indent="0" marL="0">
              <a:buNone/>
            </a:pPr>
            <a:r>
              <a:rPr lang="en-US" sz="1300" b="1" dirty="0">
                <a:solidFill>
                  <a:srgbClr val="993C1D"/>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411480" y="4617720"/>
            <a:ext cx="8321040" cy="256032"/>
          </a:xfrm>
          <a:prstGeom prst="rect">
            <a:avLst/>
          </a:prstGeom>
          <a:noFill/>
          <a:ln/>
        </p:spPr>
        <p:txBody>
          <a:bodyPr wrap="square" rtlCol="0" anchor="ctr"/>
          <a:lstStyle/>
          <a:p>
            <a:pPr algn="ctr" indent="0" marL="0">
              <a:buNone/>
            </a:pPr>
            <a:r>
              <a:rPr lang="en-US" sz="1000" i="1" dirty="0">
                <a:solidFill>
                  <a:srgbClr val="64635E"/>
                </a:solidFill>
                <a:latin typeface="Arial" pitchFamily="34" charset="0"/>
                <a:ea typeface="Arial" pitchFamily="34" charset="-122"/>
                <a:cs typeface="Arial" pitchFamily="34" charset="-120"/>
              </a:rPr>
              <a:t>Static knowledge (left) + Live retrieval (right) = full grounding for every agent on every session</a:t>
            </a:r>
            <a:endParaRPr lang="en-US" sz="100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IP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Where the defensible IP sits across the stack</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3246120" y="1325880"/>
            <a:ext cx="2651760" cy="3474720"/>
          </a:xfrm>
          <a:prstGeom prst="roundRect">
            <a:avLst>
              <a:gd name="adj" fmla="val 2759"/>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3246120" y="1325880"/>
            <a:ext cx="2651760" cy="329184"/>
          </a:xfrm>
          <a:prstGeom prst="roundRect">
            <a:avLst>
              <a:gd name="adj" fmla="val 22222"/>
            </a:avLst>
          </a:prstGeom>
          <a:solidFill>
            <a:srgbClr val="1B4F9B"/>
          </a:solidFill>
          <a:ln w="12700">
            <a:solidFill>
              <a:srgbClr val="1B4F9B"/>
            </a:solidFill>
            <a:prstDash val="solid"/>
          </a:ln>
        </p:spPr>
      </p:sp>
      <p:sp>
        <p:nvSpPr>
          <p:cNvPr id="7" name="Text 5"/>
          <p:cNvSpPr/>
          <p:nvPr/>
        </p:nvSpPr>
        <p:spPr>
          <a:xfrm>
            <a:off x="3246120" y="1335024"/>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Agent system prompt</a:t>
            </a:r>
            <a:endParaRPr lang="en-US" sz="1100" dirty="0"/>
          </a:p>
        </p:txBody>
      </p:sp>
      <p:sp>
        <p:nvSpPr>
          <p:cNvPr id="8" name="Shape 6"/>
          <p:cNvSpPr/>
          <p:nvPr/>
        </p:nvSpPr>
        <p:spPr>
          <a:xfrm>
            <a:off x="3383280" y="1737360"/>
            <a:ext cx="2377440" cy="402336"/>
          </a:xfrm>
          <a:prstGeom prst="roundRect">
            <a:avLst>
              <a:gd name="adj" fmla="val 13636"/>
            </a:avLst>
          </a:prstGeom>
          <a:solidFill>
            <a:srgbClr val="FFFFFF"/>
          </a:solidFill>
          <a:ln w="12700">
            <a:solidFill>
              <a:srgbClr val="1B4F9B"/>
            </a:solidFill>
            <a:prstDash val="solid"/>
          </a:ln>
        </p:spPr>
      </p:sp>
      <p:sp>
        <p:nvSpPr>
          <p:cNvPr id="9" name="Shape 7"/>
          <p:cNvSpPr/>
          <p:nvPr/>
        </p:nvSpPr>
        <p:spPr>
          <a:xfrm>
            <a:off x="3447288" y="1828800"/>
            <a:ext cx="219456" cy="219456"/>
          </a:xfrm>
          <a:prstGeom prst="ellipse">
            <a:avLst/>
          </a:prstGeom>
          <a:solidFill>
            <a:srgbClr val="1B4F9B"/>
          </a:solidFill>
          <a:ln w="12700">
            <a:solidFill>
              <a:srgbClr val="1B4F9B"/>
            </a:solidFill>
            <a:prstDash val="solid"/>
          </a:ln>
        </p:spPr>
      </p:sp>
      <p:sp>
        <p:nvSpPr>
          <p:cNvPr id="10" name="Text 8"/>
          <p:cNvSpPr/>
          <p:nvPr/>
        </p:nvSpPr>
        <p:spPr>
          <a:xfrm>
            <a:off x="3749040" y="1810512"/>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Base domain expertise</a:t>
            </a:r>
            <a:endParaRPr lang="en-US" sz="950" dirty="0"/>
          </a:p>
        </p:txBody>
      </p:sp>
      <p:sp>
        <p:nvSpPr>
          <p:cNvPr id="11" name="Shape 9"/>
          <p:cNvSpPr/>
          <p:nvPr/>
        </p:nvSpPr>
        <p:spPr>
          <a:xfrm>
            <a:off x="3383280" y="2249424"/>
            <a:ext cx="2377440" cy="402336"/>
          </a:xfrm>
          <a:prstGeom prst="roundRect">
            <a:avLst>
              <a:gd name="adj" fmla="val 13636"/>
            </a:avLst>
          </a:prstGeom>
          <a:solidFill>
            <a:srgbClr val="FFFFFF"/>
          </a:solidFill>
          <a:ln w="12700">
            <a:solidFill>
              <a:srgbClr val="534AB7"/>
            </a:solidFill>
            <a:prstDash val="solid"/>
          </a:ln>
        </p:spPr>
      </p:sp>
      <p:sp>
        <p:nvSpPr>
          <p:cNvPr id="12" name="Shape 10"/>
          <p:cNvSpPr/>
          <p:nvPr/>
        </p:nvSpPr>
        <p:spPr>
          <a:xfrm>
            <a:off x="3447288" y="2340864"/>
            <a:ext cx="219456" cy="219456"/>
          </a:xfrm>
          <a:prstGeom prst="ellipse">
            <a:avLst/>
          </a:prstGeom>
          <a:solidFill>
            <a:srgbClr val="534AB7"/>
          </a:solidFill>
          <a:ln w="12700">
            <a:solidFill>
              <a:srgbClr val="534AB7"/>
            </a:solidFill>
            <a:prstDash val="solid"/>
          </a:ln>
        </p:spPr>
      </p:sp>
      <p:sp>
        <p:nvSpPr>
          <p:cNvPr id="13" name="Text 11"/>
          <p:cNvSpPr/>
          <p:nvPr/>
        </p:nvSpPr>
        <p:spPr>
          <a:xfrm>
            <a:off x="3749040" y="2322576"/>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Well-Architected principles</a:t>
            </a:r>
            <a:endParaRPr lang="en-US" sz="950" dirty="0"/>
          </a:p>
        </p:txBody>
      </p:sp>
      <p:sp>
        <p:nvSpPr>
          <p:cNvPr id="14" name="Shape 12"/>
          <p:cNvSpPr/>
          <p:nvPr/>
        </p:nvSpPr>
        <p:spPr>
          <a:xfrm>
            <a:off x="3383280" y="2761488"/>
            <a:ext cx="2377440" cy="402336"/>
          </a:xfrm>
          <a:prstGeom prst="roundRect">
            <a:avLst>
              <a:gd name="adj" fmla="val 13636"/>
            </a:avLst>
          </a:prstGeom>
          <a:solidFill>
            <a:srgbClr val="FFFFFF"/>
          </a:solidFill>
          <a:ln w="12700">
            <a:solidFill>
              <a:srgbClr val="0F6E56"/>
            </a:solidFill>
            <a:prstDash val="solid"/>
          </a:ln>
        </p:spPr>
      </p:sp>
      <p:sp>
        <p:nvSpPr>
          <p:cNvPr id="15" name="Shape 13"/>
          <p:cNvSpPr/>
          <p:nvPr/>
        </p:nvSpPr>
        <p:spPr>
          <a:xfrm>
            <a:off x="3447288" y="2852928"/>
            <a:ext cx="219456" cy="219456"/>
          </a:xfrm>
          <a:prstGeom prst="ellipse">
            <a:avLst/>
          </a:prstGeom>
          <a:solidFill>
            <a:srgbClr val="0F6E56"/>
          </a:solidFill>
          <a:ln w="12700">
            <a:solidFill>
              <a:srgbClr val="0F6E56"/>
            </a:solidFill>
            <a:prstDash val="solid"/>
          </a:ln>
        </p:spPr>
      </p:sp>
      <p:sp>
        <p:nvSpPr>
          <p:cNvPr id="16" name="Text 14"/>
          <p:cNvSpPr/>
          <p:nvPr/>
        </p:nvSpPr>
        <p:spPr>
          <a:xfrm>
            <a:off x="3749040" y="2834640"/>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SI failure pattern library</a:t>
            </a:r>
            <a:endParaRPr lang="en-US" sz="950" dirty="0"/>
          </a:p>
        </p:txBody>
      </p:sp>
      <p:sp>
        <p:nvSpPr>
          <p:cNvPr id="17" name="Shape 15"/>
          <p:cNvSpPr/>
          <p:nvPr/>
        </p:nvSpPr>
        <p:spPr>
          <a:xfrm>
            <a:off x="3383280" y="3273552"/>
            <a:ext cx="2377440" cy="402336"/>
          </a:xfrm>
          <a:prstGeom prst="roundRect">
            <a:avLst>
              <a:gd name="adj" fmla="val 13636"/>
            </a:avLst>
          </a:prstGeom>
          <a:solidFill>
            <a:srgbClr val="FFFFFF"/>
          </a:solidFill>
          <a:ln w="12700">
            <a:solidFill>
              <a:srgbClr val="BA7517"/>
            </a:solidFill>
            <a:prstDash val="solid"/>
          </a:ln>
        </p:spPr>
      </p:sp>
      <p:sp>
        <p:nvSpPr>
          <p:cNvPr id="18" name="Shape 16"/>
          <p:cNvSpPr/>
          <p:nvPr/>
        </p:nvSpPr>
        <p:spPr>
          <a:xfrm>
            <a:off x="3447288" y="3364992"/>
            <a:ext cx="219456" cy="219456"/>
          </a:xfrm>
          <a:prstGeom prst="ellipse">
            <a:avLst/>
          </a:prstGeom>
          <a:solidFill>
            <a:srgbClr val="BA7517"/>
          </a:solidFill>
          <a:ln w="12700">
            <a:solidFill>
              <a:srgbClr val="BA7517"/>
            </a:solidFill>
            <a:prstDash val="solid"/>
          </a:ln>
        </p:spPr>
      </p:sp>
      <p:sp>
        <p:nvSpPr>
          <p:cNvPr id="19" name="Text 17"/>
          <p:cNvSpPr/>
          <p:nvPr/>
        </p:nvSpPr>
        <p:spPr>
          <a:xfrm>
            <a:off x="3749040" y="3346704"/>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Cross-session Jira memory</a:t>
            </a:r>
            <a:endParaRPr lang="en-US" sz="950" dirty="0"/>
          </a:p>
        </p:txBody>
      </p:sp>
      <p:sp>
        <p:nvSpPr>
          <p:cNvPr id="20" name="Shape 18"/>
          <p:cNvSpPr/>
          <p:nvPr/>
        </p:nvSpPr>
        <p:spPr>
          <a:xfrm>
            <a:off x="3383280" y="3785616"/>
            <a:ext cx="2377440" cy="402336"/>
          </a:xfrm>
          <a:prstGeom prst="roundRect">
            <a:avLst>
              <a:gd name="adj" fmla="val 13636"/>
            </a:avLst>
          </a:prstGeom>
          <a:solidFill>
            <a:srgbClr val="FFFFFF"/>
          </a:solidFill>
          <a:ln w="12700">
            <a:solidFill>
              <a:srgbClr val="993C1D"/>
            </a:solidFill>
            <a:prstDash val="solid"/>
          </a:ln>
        </p:spPr>
      </p:sp>
      <p:sp>
        <p:nvSpPr>
          <p:cNvPr id="21" name="Shape 19"/>
          <p:cNvSpPr/>
          <p:nvPr/>
        </p:nvSpPr>
        <p:spPr>
          <a:xfrm>
            <a:off x="3447288" y="3877056"/>
            <a:ext cx="219456" cy="219456"/>
          </a:xfrm>
          <a:prstGeom prst="ellipse">
            <a:avLst/>
          </a:prstGeom>
          <a:solidFill>
            <a:srgbClr val="993C1D"/>
          </a:solidFill>
          <a:ln w="12700">
            <a:solidFill>
              <a:srgbClr val="993C1D"/>
            </a:solidFill>
            <a:prstDash val="solid"/>
          </a:ln>
        </p:spPr>
      </p:sp>
      <p:sp>
        <p:nvSpPr>
          <p:cNvPr id="22" name="Text 20"/>
          <p:cNvSpPr/>
          <p:nvPr/>
        </p:nvSpPr>
        <p:spPr>
          <a:xfrm>
            <a:off x="3749040" y="3858768"/>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Live org context (MCP)</a:t>
            </a:r>
            <a:endParaRPr lang="en-US" sz="950" dirty="0"/>
          </a:p>
        </p:txBody>
      </p:sp>
      <p:sp>
        <p:nvSpPr>
          <p:cNvPr id="23" name="Shape 21"/>
          <p:cNvSpPr/>
          <p:nvPr/>
        </p:nvSpPr>
        <p:spPr>
          <a:xfrm>
            <a:off x="320040" y="150876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4" name="Text 22"/>
          <p:cNvSpPr/>
          <p:nvPr/>
        </p:nvSpPr>
        <p:spPr>
          <a:xfrm>
            <a:off x="457200" y="158191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Agent domain files</a:t>
            </a:r>
            <a:endParaRPr lang="en-US" sz="950" dirty="0"/>
          </a:p>
        </p:txBody>
      </p:sp>
      <p:sp>
        <p:nvSpPr>
          <p:cNvPr id="25" name="Text 23"/>
          <p:cNvSpPr/>
          <p:nvPr/>
        </p:nvSpPr>
        <p:spPr>
          <a:xfrm>
            <a:off x="457200" y="1837944"/>
            <a:ext cx="2331720" cy="201168"/>
          </a:xfrm>
          <a:prstGeom prst="rect">
            <a:avLst/>
          </a:prstGeom>
          <a:noFill/>
          <a:ln/>
        </p:spPr>
        <p:txBody>
          <a:bodyPr wrap="square" rtlCol="0" anchor="ctr"/>
          <a:lstStyle/>
          <a:p>
            <a:pPr indent="0" marL="0">
              <a:buNone/>
            </a:pPr>
            <a:r>
              <a:rPr lang="en-US" sz="800" dirty="0">
                <a:solidFill>
                  <a:srgbClr val="1B4F9B"/>
                </a:solidFill>
                <a:latin typeface="Courier New" pitchFamily="34" charset="0"/>
                <a:ea typeface="Courier New" pitchFamily="34" charset="-122"/>
                <a:cs typeface="Courier New" pitchFamily="34" charset="-120"/>
              </a:rPr>
              <a:t>src/lib/domains/salesforce/agents/</a:t>
            </a:r>
            <a:endParaRPr lang="en-US" sz="800" dirty="0"/>
          </a:p>
        </p:txBody>
      </p:sp>
      <p:sp>
        <p:nvSpPr>
          <p:cNvPr id="26" name="Shape 24"/>
          <p:cNvSpPr/>
          <p:nvPr/>
        </p:nvSpPr>
        <p:spPr>
          <a:xfrm>
            <a:off x="2926080" y="1837944"/>
            <a:ext cx="320040" cy="0"/>
          </a:xfrm>
          <a:prstGeom prst="line">
            <a:avLst/>
          </a:prstGeom>
          <a:noFill/>
          <a:ln w="12700">
            <a:solidFill>
              <a:srgbClr val="1B4F9B"/>
            </a:solidFill>
            <a:prstDash val="solid"/>
          </a:ln>
        </p:spPr>
      </p:sp>
      <p:sp>
        <p:nvSpPr>
          <p:cNvPr id="27" name="Text 25"/>
          <p:cNvSpPr/>
          <p:nvPr/>
        </p:nvSpPr>
        <p:spPr>
          <a:xfrm>
            <a:off x="3127248" y="1728216"/>
            <a:ext cx="164592" cy="228600"/>
          </a:xfrm>
          <a:prstGeom prst="rect">
            <a:avLst/>
          </a:prstGeom>
          <a:noFill/>
          <a:ln/>
        </p:spPr>
        <p:txBody>
          <a:bodyPr wrap="square" rtlCol="0" anchor="ctr"/>
          <a:lstStyle/>
          <a:p>
            <a:pPr algn="ctr" indent="0" marL="0">
              <a:buNone/>
            </a:pPr>
            <a:r>
              <a:rPr lang="en-US" sz="1300" b="1" dirty="0">
                <a:solidFill>
                  <a:srgbClr val="1B4F9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320040" y="2532888"/>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9" name="Text 27"/>
          <p:cNvSpPr/>
          <p:nvPr/>
        </p:nvSpPr>
        <p:spPr>
          <a:xfrm>
            <a:off x="457200" y="2606040"/>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wellArchitectedPrinciples.ts</a:t>
            </a:r>
            <a:endParaRPr lang="en-US" sz="950" dirty="0"/>
          </a:p>
        </p:txBody>
      </p:sp>
      <p:sp>
        <p:nvSpPr>
          <p:cNvPr id="30" name="Text 28"/>
          <p:cNvSpPr/>
          <p:nvPr/>
        </p:nvSpPr>
        <p:spPr>
          <a:xfrm>
            <a:off x="457200" y="2862072"/>
            <a:ext cx="2331720" cy="201168"/>
          </a:xfrm>
          <a:prstGeom prst="rect">
            <a:avLst/>
          </a:prstGeom>
          <a:noFill/>
          <a:ln/>
        </p:spPr>
        <p:txBody>
          <a:bodyPr wrap="square" rtlCol="0" anchor="ctr"/>
          <a:lstStyle/>
          <a:p>
            <a:pPr indent="0" marL="0">
              <a:buNone/>
            </a:pPr>
            <a:r>
              <a:rPr lang="en-US" sz="800" dirty="0">
                <a:solidFill>
                  <a:srgbClr val="534AB7"/>
                </a:solidFill>
                <a:latin typeface="Courier New" pitchFamily="34" charset="0"/>
                <a:ea typeface="Courier New" pitchFamily="34" charset="-122"/>
                <a:cs typeface="Courier New" pitchFamily="34" charset="-120"/>
              </a:rPr>
              <a:t>src/lib/prompt/</a:t>
            </a:r>
            <a:endParaRPr lang="en-US" sz="800" dirty="0"/>
          </a:p>
        </p:txBody>
      </p:sp>
      <p:sp>
        <p:nvSpPr>
          <p:cNvPr id="31" name="Shape 29"/>
          <p:cNvSpPr/>
          <p:nvPr/>
        </p:nvSpPr>
        <p:spPr>
          <a:xfrm>
            <a:off x="2926080" y="2862072"/>
            <a:ext cx="320040" cy="0"/>
          </a:xfrm>
          <a:prstGeom prst="line">
            <a:avLst/>
          </a:prstGeom>
          <a:noFill/>
          <a:ln w="12700">
            <a:solidFill>
              <a:srgbClr val="534AB7"/>
            </a:solidFill>
            <a:prstDash val="solid"/>
          </a:ln>
        </p:spPr>
      </p:sp>
      <p:sp>
        <p:nvSpPr>
          <p:cNvPr id="32" name="Text 30"/>
          <p:cNvSpPr/>
          <p:nvPr/>
        </p:nvSpPr>
        <p:spPr>
          <a:xfrm>
            <a:off x="3127248" y="2752344"/>
            <a:ext cx="164592" cy="228600"/>
          </a:xfrm>
          <a:prstGeom prst="rect">
            <a:avLst/>
          </a:prstGeom>
          <a:noFill/>
          <a:ln/>
        </p:spPr>
        <p:txBody>
          <a:bodyPr wrap="square" rtlCol="0" anchor="ctr"/>
          <a:lstStyle/>
          <a:p>
            <a:pPr algn="ctr" indent="0" marL="0">
              <a:buNone/>
            </a:pPr>
            <a:r>
              <a:rPr lang="en-US" sz="1300" b="1" dirty="0">
                <a:solidFill>
                  <a:srgbClr val="534AB7"/>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320040" y="3557016"/>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4" name="Text 32"/>
          <p:cNvSpPr/>
          <p:nvPr/>
        </p:nvSpPr>
        <p:spPr>
          <a:xfrm>
            <a:off x="457200" y="3630168"/>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Supabase — failure_patterns</a:t>
            </a:r>
            <a:endParaRPr lang="en-US" sz="950" dirty="0"/>
          </a:p>
        </p:txBody>
      </p:sp>
      <p:sp>
        <p:nvSpPr>
          <p:cNvPr id="35" name="Text 33"/>
          <p:cNvSpPr/>
          <p:nvPr/>
        </p:nvSpPr>
        <p:spPr>
          <a:xfrm>
            <a:off x="457200" y="3886200"/>
            <a:ext cx="2331720" cy="201168"/>
          </a:xfrm>
          <a:prstGeom prst="rect">
            <a:avLst/>
          </a:prstGeom>
          <a:noFill/>
          <a:ln/>
        </p:spPr>
        <p:txBody>
          <a:bodyPr wrap="square" rtlCol="0" anchor="ctr"/>
          <a:lstStyle/>
          <a:p>
            <a:pPr indent="0" marL="0">
              <a:buNone/>
            </a:pPr>
            <a:r>
              <a:rPr lang="en-US" sz="800" dirty="0">
                <a:solidFill>
                  <a:srgbClr val="0F6E56"/>
                </a:solidFill>
                <a:latin typeface="Courier New" pitchFamily="34" charset="0"/>
                <a:ea typeface="Courier New" pitchFamily="34" charset="-122"/>
                <a:cs typeface="Courier New" pitchFamily="34" charset="-120"/>
              </a:rPr>
              <a:t>patternRetrieval.ts</a:t>
            </a:r>
            <a:endParaRPr lang="en-US" sz="800" dirty="0"/>
          </a:p>
        </p:txBody>
      </p:sp>
      <p:sp>
        <p:nvSpPr>
          <p:cNvPr id="36" name="Shape 34"/>
          <p:cNvSpPr/>
          <p:nvPr/>
        </p:nvSpPr>
        <p:spPr>
          <a:xfrm>
            <a:off x="2926080" y="3886200"/>
            <a:ext cx="320040" cy="0"/>
          </a:xfrm>
          <a:prstGeom prst="line">
            <a:avLst/>
          </a:prstGeom>
          <a:noFill/>
          <a:ln w="12700">
            <a:solidFill>
              <a:srgbClr val="0F6E56"/>
            </a:solidFill>
            <a:prstDash val="solid"/>
          </a:ln>
        </p:spPr>
      </p:sp>
      <p:sp>
        <p:nvSpPr>
          <p:cNvPr id="37" name="Text 35"/>
          <p:cNvSpPr/>
          <p:nvPr/>
        </p:nvSpPr>
        <p:spPr>
          <a:xfrm>
            <a:off x="3127248" y="3776472"/>
            <a:ext cx="164592" cy="228600"/>
          </a:xfrm>
          <a:prstGeom prst="rect">
            <a:avLst/>
          </a:prstGeom>
          <a:noFill/>
          <a:ln/>
        </p:spPr>
        <p:txBody>
          <a:bodyPr wrap="square" rtlCol="0" anchor="ctr"/>
          <a:lstStyle/>
          <a:p>
            <a:pPr algn="ctr" indent="0" marL="0">
              <a:buNone/>
            </a:pPr>
            <a:r>
              <a:rPr lang="en-US" sz="1300" b="1" dirty="0">
                <a:solidFill>
                  <a:srgbClr val="0F6E56"/>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217920" y="192024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9" name="Text 37"/>
          <p:cNvSpPr/>
          <p:nvPr/>
        </p:nvSpPr>
        <p:spPr>
          <a:xfrm>
            <a:off x="6355080" y="199339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Jira ARBOARD project</a:t>
            </a:r>
            <a:endParaRPr lang="en-US" sz="950" dirty="0"/>
          </a:p>
        </p:txBody>
      </p:sp>
      <p:sp>
        <p:nvSpPr>
          <p:cNvPr id="40" name="Text 38"/>
          <p:cNvSpPr/>
          <p:nvPr/>
        </p:nvSpPr>
        <p:spPr>
          <a:xfrm>
            <a:off x="6355080" y="2249424"/>
            <a:ext cx="2331720" cy="201168"/>
          </a:xfrm>
          <a:prstGeom prst="rect">
            <a:avLst/>
          </a:prstGeom>
          <a:noFill/>
          <a:ln/>
        </p:spPr>
        <p:txBody>
          <a:bodyPr wrap="square" rtlCol="0" anchor="ctr"/>
          <a:lstStyle/>
          <a:p>
            <a:pPr indent="0" marL="0">
              <a:buNone/>
            </a:pPr>
            <a:r>
              <a:rPr lang="en-US" sz="800" dirty="0">
                <a:solidFill>
                  <a:srgbClr val="BA7517"/>
                </a:solidFill>
                <a:latin typeface="Courier New" pitchFamily="34" charset="0"/>
                <a:ea typeface="Courier New" pitchFamily="34" charset="-122"/>
                <a:cs typeface="Courier New" pitchFamily="34" charset="-120"/>
              </a:rPr>
              <a:t>jiraMemoryRetriever.ts</a:t>
            </a:r>
            <a:endParaRPr lang="en-US" sz="800" dirty="0"/>
          </a:p>
        </p:txBody>
      </p:sp>
      <p:sp>
        <p:nvSpPr>
          <p:cNvPr id="41" name="Shape 39"/>
          <p:cNvSpPr/>
          <p:nvPr/>
        </p:nvSpPr>
        <p:spPr>
          <a:xfrm>
            <a:off x="5897880" y="2249424"/>
            <a:ext cx="320040" cy="0"/>
          </a:xfrm>
          <a:prstGeom prst="line">
            <a:avLst/>
          </a:prstGeom>
          <a:noFill/>
          <a:ln w="12700">
            <a:solidFill>
              <a:srgbClr val="BA7517"/>
            </a:solidFill>
            <a:prstDash val="solid"/>
          </a:ln>
        </p:spPr>
      </p:sp>
      <p:sp>
        <p:nvSpPr>
          <p:cNvPr id="42" name="Text 40"/>
          <p:cNvSpPr/>
          <p:nvPr/>
        </p:nvSpPr>
        <p:spPr>
          <a:xfrm>
            <a:off x="5733288" y="2139696"/>
            <a:ext cx="182880" cy="228600"/>
          </a:xfrm>
          <a:prstGeom prst="rect">
            <a:avLst/>
          </a:prstGeom>
          <a:noFill/>
          <a:ln/>
        </p:spPr>
        <p:txBody>
          <a:bodyPr wrap="square" rtlCol="0" anchor="ctr"/>
          <a:lstStyle/>
          <a:p>
            <a:pPr algn="ctr" indent="0" marL="0">
              <a:buNone/>
            </a:pPr>
            <a:r>
              <a:rPr lang="en-US" sz="1300" b="1" dirty="0">
                <a:solidFill>
                  <a:srgbClr val="BA7517"/>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217920" y="310896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4" name="Text 42"/>
          <p:cNvSpPr/>
          <p:nvPr/>
        </p:nvSpPr>
        <p:spPr>
          <a:xfrm>
            <a:off x="6355080" y="318211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Salesforce org metadata</a:t>
            </a:r>
            <a:endParaRPr lang="en-US" sz="950" dirty="0"/>
          </a:p>
        </p:txBody>
      </p:sp>
      <p:sp>
        <p:nvSpPr>
          <p:cNvPr id="45" name="Text 43"/>
          <p:cNvSpPr/>
          <p:nvPr/>
        </p:nvSpPr>
        <p:spPr>
          <a:xfrm>
            <a:off x="6355080" y="3438144"/>
            <a:ext cx="2331720" cy="201168"/>
          </a:xfrm>
          <a:prstGeom prst="rect">
            <a:avLst/>
          </a:prstGeom>
          <a:noFill/>
          <a:ln/>
        </p:spPr>
        <p:txBody>
          <a:bodyPr wrap="square" rtlCol="0" anchor="ctr"/>
          <a:lstStyle/>
          <a:p>
            <a:pPr indent="0" marL="0">
              <a:buNone/>
            </a:pPr>
            <a:r>
              <a:rPr lang="en-US" sz="800" dirty="0">
                <a:solidFill>
                  <a:srgbClr val="993C1D"/>
                </a:solidFill>
                <a:latin typeface="Courier New" pitchFamily="34" charset="0"/>
                <a:ea typeface="Courier New" pitchFamily="34" charset="-122"/>
                <a:cs typeface="Courier New" pitchFamily="34" charset="-120"/>
              </a:rPr>
              <a:t>OrgMetadataCollector.ts</a:t>
            </a:r>
            <a:endParaRPr lang="en-US" sz="800" dirty="0"/>
          </a:p>
        </p:txBody>
      </p:sp>
      <p:sp>
        <p:nvSpPr>
          <p:cNvPr id="46" name="Shape 44"/>
          <p:cNvSpPr/>
          <p:nvPr/>
        </p:nvSpPr>
        <p:spPr>
          <a:xfrm>
            <a:off x="5897880" y="3438144"/>
            <a:ext cx="320040" cy="0"/>
          </a:xfrm>
          <a:prstGeom prst="line">
            <a:avLst/>
          </a:prstGeom>
          <a:noFill/>
          <a:ln w="12700">
            <a:solidFill>
              <a:srgbClr val="993C1D"/>
            </a:solidFill>
            <a:prstDash val="solid"/>
          </a:ln>
        </p:spPr>
      </p:sp>
      <p:sp>
        <p:nvSpPr>
          <p:cNvPr id="47" name="Text 45"/>
          <p:cNvSpPr/>
          <p:nvPr/>
        </p:nvSpPr>
        <p:spPr>
          <a:xfrm>
            <a:off x="5733288" y="3328416"/>
            <a:ext cx="182880" cy="228600"/>
          </a:xfrm>
          <a:prstGeom prst="rect">
            <a:avLst/>
          </a:prstGeom>
          <a:noFill/>
          <a:ln/>
        </p:spPr>
        <p:txBody>
          <a:bodyPr wrap="square" rtlCol="0" anchor="ctr"/>
          <a:lstStyle/>
          <a:p>
            <a:pPr algn="ctr" indent="0" marL="0">
              <a:buNone/>
            </a:pPr>
            <a:r>
              <a:rPr lang="en-US" sz="1300" b="1" dirty="0">
                <a:solidFill>
                  <a:srgbClr val="993C1D"/>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411480" y="4617720"/>
            <a:ext cx="8321040" cy="256032"/>
          </a:xfrm>
          <a:prstGeom prst="rect">
            <a:avLst/>
          </a:prstGeom>
          <a:noFill/>
          <a:ln/>
        </p:spPr>
        <p:txBody>
          <a:bodyPr wrap="square" rtlCol="0" anchor="ctr"/>
          <a:lstStyle/>
          <a:p>
            <a:pPr algn="ctr" indent="0" marL="0">
              <a:buNone/>
            </a:pPr>
            <a:r>
              <a:rPr lang="en-US" sz="1000" i="1" dirty="0">
                <a:solidFill>
                  <a:srgbClr val="64635E"/>
                </a:solidFill>
                <a:latin typeface="Arial" pitchFamily="34" charset="0"/>
                <a:ea typeface="Arial" pitchFamily="34" charset="-122"/>
                <a:cs typeface="Arial" pitchFamily="34" charset="-120"/>
              </a:rPr>
              <a:t>Static knowledge (left) + Live retrieval (right) = full grounding for every agent on every session</a:t>
            </a:r>
            <a:endParaRPr lang="en-US" sz="10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EXTENSIBILITY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How to extend ARBoard for a new engagement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411480" y="1298448"/>
            <a:ext cx="4160520" cy="329184"/>
          </a:xfrm>
          <a:prstGeom prst="roundRect">
            <a:avLst>
              <a:gd name="adj" fmla="val 22222"/>
            </a:avLst>
          </a:prstGeom>
          <a:solidFill>
            <a:srgbClr val="E1F5EE"/>
          </a:solidFill>
          <a:ln w="12700">
            <a:solidFill>
              <a:srgbClr val="E1F5EE"/>
            </a:solidFill>
            <a:prstDash val="solid"/>
          </a:ln>
        </p:spPr>
      </p:sp>
      <p:sp>
        <p:nvSpPr>
          <p:cNvPr id="7" name="Text 5"/>
          <p:cNvSpPr/>
          <p:nvPr/>
        </p:nvSpPr>
        <p:spPr>
          <a:xfrm>
            <a:off x="548640" y="1335024"/>
            <a:ext cx="3886200" cy="256032"/>
          </a:xfrm>
          <a:prstGeom prst="rect">
            <a:avLst/>
          </a:prstGeom>
          <a:noFill/>
          <a:ln/>
        </p:spPr>
        <p:txBody>
          <a:bodyPr wrap="square" rtlCol="0" anchor="ctr"/>
          <a:lstStyle/>
          <a:p>
            <a:pPr indent="0" marL="0">
              <a:buNone/>
            </a:pPr>
            <a:r>
              <a:rPr lang="en-US" sz="1100" b="1" dirty="0">
                <a:solidFill>
                  <a:srgbClr val="0F6E56"/>
                </a:solidFill>
                <a:latin typeface="Arial" pitchFamily="34" charset="0"/>
                <a:ea typeface="Arial" pitchFamily="34" charset="-122"/>
                <a:cs typeface="Arial" pitchFamily="34" charset="-120"/>
              </a:rPr>
              <a:t>Add a new SI failure pattern</a:t>
            </a:r>
            <a:endParaRPr lang="en-US" sz="1100" dirty="0"/>
          </a:p>
        </p:txBody>
      </p:sp>
      <p:sp>
        <p:nvSpPr>
          <p:cNvPr id="8" name="Text 6"/>
          <p:cNvSpPr/>
          <p:nvPr/>
        </p:nvSpPr>
        <p:spPr>
          <a:xfrm>
            <a:off x="548640" y="1700784"/>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 xml:space="preserve">1.  </a:t>
            </a:r>
            <a:pPr indent="0" marL="0">
              <a:buNone/>
            </a:pPr>
            <a:r>
              <a:rPr lang="en-US" sz="950" dirty="0">
                <a:solidFill>
                  <a:srgbClr val="1A1A1A"/>
                </a:solidFill>
                <a:latin typeface="Arial" pitchFamily="34" charset="0"/>
                <a:ea typeface="Arial" pitchFamily="34" charset="-122"/>
                <a:cs typeface="Arial" pitchFamily="34" charset="-120"/>
              </a:rPr>
              <a:t>Insert row into Supabase failure_patterns table</a:t>
            </a:r>
            <a:endParaRPr lang="en-US" sz="950" dirty="0"/>
          </a:p>
        </p:txBody>
      </p:sp>
      <p:sp>
        <p:nvSpPr>
          <p:cNvPr id="9" name="Text 7"/>
          <p:cNvSpPr/>
          <p:nvPr/>
        </p:nvSpPr>
        <p:spPr>
          <a:xfrm>
            <a:off x="548640" y="2029968"/>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 xml:space="preserve">2.  </a:t>
            </a:r>
            <a:pPr indent="0" marL="0">
              <a:buNone/>
            </a:pPr>
            <a:r>
              <a:rPr lang="en-US" sz="950" dirty="0">
                <a:solidFill>
                  <a:srgbClr val="1A1A1A"/>
                </a:solidFill>
                <a:latin typeface="Arial" pitchFamily="34" charset="0"/>
                <a:ea typeface="Arial" pitchFamily="34" charset="-122"/>
                <a:cs typeface="Arial" pitchFamily="34" charset="-120"/>
              </a:rPr>
              <a:t>Set component_tags to match relevant agents</a:t>
            </a:r>
            <a:endParaRPr lang="en-US" sz="950" dirty="0"/>
          </a:p>
        </p:txBody>
      </p:sp>
      <p:sp>
        <p:nvSpPr>
          <p:cNvPr id="10" name="Text 8"/>
          <p:cNvSpPr/>
          <p:nvPr/>
        </p:nvSpPr>
        <p:spPr>
          <a:xfrm>
            <a:off x="548640" y="2359152"/>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 xml:space="preserve">3.  </a:t>
            </a:r>
            <a:pPr indent="0" marL="0">
              <a:buNone/>
            </a:pPr>
            <a:r>
              <a:rPr lang="en-US" sz="950" dirty="0">
                <a:solidFill>
                  <a:srgbClr val="1A1A1A"/>
                </a:solidFill>
                <a:latin typeface="Arial" pitchFamily="34" charset="0"/>
                <a:ea typeface="Arial" pitchFamily="34" charset="-122"/>
                <a:cs typeface="Arial" pitchFamily="34" charset="-120"/>
              </a:rPr>
              <a:t>Pattern auto-injects on next session — no code change</a:t>
            </a:r>
            <a:endParaRPr lang="en-US" sz="950" dirty="0"/>
          </a:p>
        </p:txBody>
      </p:sp>
      <p:sp>
        <p:nvSpPr>
          <p:cNvPr id="11" name="Text 9"/>
          <p:cNvSpPr/>
          <p:nvPr/>
        </p:nvSpPr>
        <p:spPr>
          <a:xfrm>
            <a:off x="548640" y="2779776"/>
            <a:ext cx="3886200" cy="182880"/>
          </a:xfrm>
          <a:prstGeom prst="rect">
            <a:avLst/>
          </a:prstGeom>
          <a:noFill/>
          <a:ln/>
        </p:spPr>
        <p:txBody>
          <a:bodyPr wrap="square" rtlCol="0" anchor="ctr"/>
          <a:lstStyle/>
          <a:p>
            <a:pPr indent="0" marL="0">
              <a:buNone/>
            </a:pPr>
            <a:r>
              <a:rPr lang="en-US" sz="800" b="1" dirty="0">
                <a:solidFill>
                  <a:srgbClr val="0F6E56"/>
                </a:solidFill>
                <a:latin typeface="Courier New" pitchFamily="34" charset="0"/>
                <a:ea typeface="Courier New" pitchFamily="34" charset="-122"/>
                <a:cs typeface="Courier New" pitchFamily="34" charset="-120"/>
              </a:rPr>
              <a:t>Supabase: failure_patterns table</a:t>
            </a:r>
            <a:endParaRPr lang="en-US" sz="800" dirty="0"/>
          </a:p>
        </p:txBody>
      </p:sp>
      <p:sp>
        <p:nvSpPr>
          <p:cNvPr id="12" name="Shape 10"/>
          <p:cNvSpPr/>
          <p:nvPr/>
        </p:nvSpPr>
        <p:spPr>
          <a:xfrm>
            <a:off x="4663440" y="1298448"/>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3" name="Shape 11"/>
          <p:cNvSpPr/>
          <p:nvPr/>
        </p:nvSpPr>
        <p:spPr>
          <a:xfrm>
            <a:off x="4663440" y="1298448"/>
            <a:ext cx="4160520" cy="329184"/>
          </a:xfrm>
          <a:prstGeom prst="roundRect">
            <a:avLst>
              <a:gd name="adj" fmla="val 22222"/>
            </a:avLst>
          </a:prstGeom>
          <a:solidFill>
            <a:srgbClr val="EBF2FA"/>
          </a:solidFill>
          <a:ln w="12700">
            <a:solidFill>
              <a:srgbClr val="EBF2FA"/>
            </a:solidFill>
            <a:prstDash val="solid"/>
          </a:ln>
        </p:spPr>
      </p:sp>
      <p:sp>
        <p:nvSpPr>
          <p:cNvPr id="14" name="Text 12"/>
          <p:cNvSpPr/>
          <p:nvPr/>
        </p:nvSpPr>
        <p:spPr>
          <a:xfrm>
            <a:off x="4800600" y="1335024"/>
            <a:ext cx="3886200" cy="256032"/>
          </a:xfrm>
          <a:prstGeom prst="rect">
            <a:avLst/>
          </a:prstGeom>
          <a:noFill/>
          <a:ln/>
        </p:spPr>
        <p:txBody>
          <a:bodyPr wrap="square" rtlCol="0" anchor="ctr"/>
          <a:lstStyle/>
          <a:p>
            <a:pPr indent="0" marL="0">
              <a:buNone/>
            </a:pPr>
            <a:r>
              <a:rPr lang="en-US" sz="1100" b="1" dirty="0">
                <a:solidFill>
                  <a:srgbClr val="1B4F9B"/>
                </a:solidFill>
                <a:latin typeface="Arial" pitchFamily="34" charset="0"/>
                <a:ea typeface="Arial" pitchFamily="34" charset="-122"/>
                <a:cs typeface="Arial" pitchFamily="34" charset="-120"/>
              </a:rPr>
              <a:t>Add a new specialist agent</a:t>
            </a:r>
            <a:endParaRPr lang="en-US" sz="1100" dirty="0"/>
          </a:p>
        </p:txBody>
      </p:sp>
      <p:sp>
        <p:nvSpPr>
          <p:cNvPr id="15" name="Text 13"/>
          <p:cNvSpPr/>
          <p:nvPr/>
        </p:nvSpPr>
        <p:spPr>
          <a:xfrm>
            <a:off x="4800600" y="1700784"/>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 xml:space="preserve">1.  </a:t>
            </a:r>
            <a:pPr indent="0" marL="0">
              <a:buNone/>
            </a:pPr>
            <a:r>
              <a:rPr lang="en-US" sz="950" dirty="0">
                <a:solidFill>
                  <a:srgbClr val="1A1A1A"/>
                </a:solidFill>
                <a:latin typeface="Arial" pitchFamily="34" charset="0"/>
                <a:ea typeface="Arial" pitchFamily="34" charset="-122"/>
                <a:cs typeface="Arial" pitchFamily="34" charset="-120"/>
              </a:rPr>
              <a:t>Create src/lib/domains/salesforce/agents/newagent.ts</a:t>
            </a:r>
            <a:endParaRPr lang="en-US" sz="950" dirty="0"/>
          </a:p>
        </p:txBody>
      </p:sp>
      <p:sp>
        <p:nvSpPr>
          <p:cNvPr id="16" name="Text 14"/>
          <p:cNvSpPr/>
          <p:nvPr/>
        </p:nvSpPr>
        <p:spPr>
          <a:xfrm>
            <a:off x="4800600" y="2029968"/>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 xml:space="preserve">2.  </a:t>
            </a:r>
            <a:pPr indent="0" marL="0">
              <a:buNone/>
            </a:pPr>
            <a:r>
              <a:rPr lang="en-US" sz="950" dirty="0">
                <a:solidFill>
                  <a:srgbClr val="1A1A1A"/>
                </a:solidFill>
                <a:latin typeface="Arial" pitchFamily="34" charset="0"/>
                <a:ea typeface="Arial" pitchFamily="34" charset="-122"/>
                <a:cs typeface="Arial" pitchFamily="34" charset="-120"/>
              </a:rPr>
              <a:t>Add agent key to wellArchitectedPrinciples.ts</a:t>
            </a:r>
            <a:endParaRPr lang="en-US" sz="950" dirty="0"/>
          </a:p>
        </p:txBody>
      </p:sp>
      <p:sp>
        <p:nvSpPr>
          <p:cNvPr id="17" name="Text 15"/>
          <p:cNvSpPr/>
          <p:nvPr/>
        </p:nvSpPr>
        <p:spPr>
          <a:xfrm>
            <a:off x="4800600" y="2359152"/>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 xml:space="preserve">3.  </a:t>
            </a:r>
            <a:pPr indent="0" marL="0">
              <a:buNone/>
            </a:pPr>
            <a:r>
              <a:rPr lang="en-US" sz="950" dirty="0">
                <a:solidFill>
                  <a:srgbClr val="1A1A1A"/>
                </a:solidFill>
                <a:latin typeface="Arial" pitchFamily="34" charset="0"/>
                <a:ea typeface="Arial" pitchFamily="34" charset="-122"/>
                <a:cs typeface="Arial" pitchFamily="34" charset="-120"/>
              </a:rPr>
              <a:t>Register in ForumOrchestrator phase config</a:t>
            </a:r>
            <a:endParaRPr lang="en-US" sz="950" dirty="0"/>
          </a:p>
        </p:txBody>
      </p:sp>
      <p:sp>
        <p:nvSpPr>
          <p:cNvPr id="18" name="Text 16"/>
          <p:cNvSpPr/>
          <p:nvPr/>
        </p:nvSpPr>
        <p:spPr>
          <a:xfrm>
            <a:off x="4800600" y="2779776"/>
            <a:ext cx="3886200" cy="182880"/>
          </a:xfrm>
          <a:prstGeom prst="rect">
            <a:avLst/>
          </a:prstGeom>
          <a:noFill/>
          <a:ln/>
        </p:spPr>
        <p:txBody>
          <a:bodyPr wrap="square" rtlCol="0" anchor="ctr"/>
          <a:lstStyle/>
          <a:p>
            <a:pPr indent="0" marL="0">
              <a:buNone/>
            </a:pPr>
            <a:r>
              <a:rPr lang="en-US" sz="800" b="1" dirty="0">
                <a:solidFill>
                  <a:srgbClr val="1B4F9B"/>
                </a:solidFill>
                <a:latin typeface="Courier New" pitchFamily="34" charset="0"/>
                <a:ea typeface="Courier New" pitchFamily="34" charset="-122"/>
                <a:cs typeface="Courier New" pitchFamily="34" charset="-120"/>
              </a:rPr>
              <a:t>domains/salesforce/agents/ + ForumOrchestrator.ts</a:t>
            </a:r>
            <a:endParaRPr lang="en-US" sz="800" dirty="0"/>
          </a:p>
        </p:txBody>
      </p:sp>
      <p:sp>
        <p:nvSpPr>
          <p:cNvPr id="19" name="Shape 17"/>
          <p:cNvSpPr/>
          <p:nvPr/>
        </p:nvSpPr>
        <p:spPr>
          <a:xfrm>
            <a:off x="411480" y="3108960"/>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0" name="Shape 18"/>
          <p:cNvSpPr/>
          <p:nvPr/>
        </p:nvSpPr>
        <p:spPr>
          <a:xfrm>
            <a:off x="411480" y="3108960"/>
            <a:ext cx="4160520" cy="329184"/>
          </a:xfrm>
          <a:prstGeom prst="roundRect">
            <a:avLst>
              <a:gd name="adj" fmla="val 22222"/>
            </a:avLst>
          </a:prstGeom>
          <a:solidFill>
            <a:srgbClr val="EEEDFE"/>
          </a:solidFill>
          <a:ln w="12700">
            <a:solidFill>
              <a:srgbClr val="EEEDFE"/>
            </a:solidFill>
            <a:prstDash val="solid"/>
          </a:ln>
        </p:spPr>
      </p:sp>
      <p:sp>
        <p:nvSpPr>
          <p:cNvPr id="21" name="Text 19"/>
          <p:cNvSpPr/>
          <p:nvPr/>
        </p:nvSpPr>
        <p:spPr>
          <a:xfrm>
            <a:off x="548640" y="3145536"/>
            <a:ext cx="3886200" cy="256032"/>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Add client-specific guardrails</a:t>
            </a:r>
            <a:endParaRPr lang="en-US" sz="1100" dirty="0"/>
          </a:p>
        </p:txBody>
      </p:sp>
      <p:sp>
        <p:nvSpPr>
          <p:cNvPr id="22" name="Text 20"/>
          <p:cNvSpPr/>
          <p:nvPr/>
        </p:nvSpPr>
        <p:spPr>
          <a:xfrm>
            <a:off x="548640" y="3511296"/>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 xml:space="preserve">1.  </a:t>
            </a:r>
            <a:pPr indent="0" marL="0">
              <a:buNone/>
            </a:pPr>
            <a:r>
              <a:rPr lang="en-US" sz="950" dirty="0">
                <a:solidFill>
                  <a:srgbClr val="1A1A1A"/>
                </a:solidFill>
                <a:latin typeface="Arial" pitchFamily="34" charset="0"/>
                <a:ea typeface="Arial" pitchFamily="34" charset="-122"/>
                <a:cs typeface="Arial" pitchFamily="34" charset="-120"/>
              </a:rPr>
              <a:t>Create src/lib/clients/{client}/config.ts</a:t>
            </a:r>
            <a:endParaRPr lang="en-US" sz="950" dirty="0"/>
          </a:p>
        </p:txBody>
      </p:sp>
      <p:sp>
        <p:nvSpPr>
          <p:cNvPr id="23" name="Text 21"/>
          <p:cNvSpPr/>
          <p:nvPr/>
        </p:nvSpPr>
        <p:spPr>
          <a:xfrm>
            <a:off x="548640" y="3840480"/>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 xml:space="preserve">2.  </a:t>
            </a:r>
            <a:pPr indent="0" marL="0">
              <a:buNone/>
            </a:pPr>
            <a:r>
              <a:rPr lang="en-US" sz="950" dirty="0">
                <a:solidFill>
                  <a:srgbClr val="1A1A1A"/>
                </a:solidFill>
                <a:latin typeface="Arial" pitchFamily="34" charset="0"/>
                <a:ea typeface="Arial" pitchFamily="34" charset="-122"/>
                <a:cs typeface="Arial" pitchFamily="34" charset="-120"/>
              </a:rPr>
              <a:t>Define object restrictions, compliance rules, data region</a:t>
            </a:r>
            <a:endParaRPr lang="en-US" sz="950" dirty="0"/>
          </a:p>
        </p:txBody>
      </p:sp>
      <p:sp>
        <p:nvSpPr>
          <p:cNvPr id="24" name="Text 22"/>
          <p:cNvSpPr/>
          <p:nvPr/>
        </p:nvSpPr>
        <p:spPr>
          <a:xfrm>
            <a:off x="548640" y="4169664"/>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 xml:space="preserve">3.  </a:t>
            </a:r>
            <a:pPr indent="0" marL="0">
              <a:buNone/>
            </a:pPr>
            <a:r>
              <a:rPr lang="en-US" sz="950" dirty="0">
                <a:solidFill>
                  <a:srgbClr val="1A1A1A"/>
                </a:solidFill>
                <a:latin typeface="Arial" pitchFamily="34" charset="0"/>
                <a:ea typeface="Arial" pitchFamily="34" charset="-122"/>
                <a:cs typeface="Arial" pitchFamily="34" charset="-120"/>
              </a:rPr>
              <a:t>Inject via ContextStore at session start</a:t>
            </a:r>
            <a:endParaRPr lang="en-US" sz="950" dirty="0"/>
          </a:p>
        </p:txBody>
      </p:sp>
      <p:sp>
        <p:nvSpPr>
          <p:cNvPr id="25" name="Text 23"/>
          <p:cNvSpPr/>
          <p:nvPr/>
        </p:nvSpPr>
        <p:spPr>
          <a:xfrm>
            <a:off x="548640" y="4590288"/>
            <a:ext cx="3886200" cy="182880"/>
          </a:xfrm>
          <a:prstGeom prst="rect">
            <a:avLst/>
          </a:prstGeom>
          <a:noFill/>
          <a:ln/>
        </p:spPr>
        <p:txBody>
          <a:bodyPr wrap="square" rtlCol="0" anchor="ctr"/>
          <a:lstStyle/>
          <a:p>
            <a:pPr indent="0" marL="0">
              <a:buNone/>
            </a:pPr>
            <a:r>
              <a:rPr lang="en-US" sz="800" b="1" dirty="0">
                <a:solidFill>
                  <a:srgbClr val="534AB7"/>
                </a:solidFill>
                <a:latin typeface="Courier New" pitchFamily="34" charset="0"/>
                <a:ea typeface="Courier New" pitchFamily="34" charset="-122"/>
                <a:cs typeface="Courier New" pitchFamily="34" charset="-120"/>
              </a:rPr>
              <a:t>src/lib/clients/{client}/config.ts</a:t>
            </a:r>
            <a:endParaRPr lang="en-US" sz="800" dirty="0"/>
          </a:p>
        </p:txBody>
      </p:sp>
      <p:sp>
        <p:nvSpPr>
          <p:cNvPr id="26" name="Shape 24"/>
          <p:cNvSpPr/>
          <p:nvPr/>
        </p:nvSpPr>
        <p:spPr>
          <a:xfrm>
            <a:off x="4663440" y="3108960"/>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Shape 25"/>
          <p:cNvSpPr/>
          <p:nvPr/>
        </p:nvSpPr>
        <p:spPr>
          <a:xfrm>
            <a:off x="4663440" y="3108960"/>
            <a:ext cx="4160520" cy="329184"/>
          </a:xfrm>
          <a:prstGeom prst="roundRect">
            <a:avLst>
              <a:gd name="adj" fmla="val 22222"/>
            </a:avLst>
          </a:prstGeom>
          <a:solidFill>
            <a:srgbClr val="FAEEDA"/>
          </a:solidFill>
          <a:ln w="12700">
            <a:solidFill>
              <a:srgbClr val="FAEEDA"/>
            </a:solidFill>
            <a:prstDash val="solid"/>
          </a:ln>
        </p:spPr>
      </p:sp>
      <p:sp>
        <p:nvSpPr>
          <p:cNvPr id="28" name="Text 26"/>
          <p:cNvSpPr/>
          <p:nvPr/>
        </p:nvSpPr>
        <p:spPr>
          <a:xfrm>
            <a:off x="4800600" y="3145536"/>
            <a:ext cx="3886200" cy="256032"/>
          </a:xfrm>
          <a:prstGeom prst="rect">
            <a:avLst/>
          </a:prstGeom>
          <a:noFill/>
          <a:ln/>
        </p:spPr>
        <p:txBody>
          <a:bodyPr wrap="square" rtlCol="0" anchor="ctr"/>
          <a:lstStyle/>
          <a:p>
            <a:pPr indent="0" marL="0">
              <a:buNone/>
            </a:pPr>
            <a:r>
              <a:rPr lang="en-US" sz="1100" b="1" dirty="0">
                <a:solidFill>
                  <a:srgbClr val="BA7517"/>
                </a:solidFill>
                <a:latin typeface="Arial" pitchFamily="34" charset="0"/>
                <a:ea typeface="Arial" pitchFamily="34" charset="-122"/>
                <a:cs typeface="Arial" pitchFamily="34" charset="-120"/>
              </a:rPr>
              <a:t>Add a new reference corpus (RAG)</a:t>
            </a:r>
            <a:endParaRPr lang="en-US" sz="1100" dirty="0"/>
          </a:p>
        </p:txBody>
      </p:sp>
      <p:sp>
        <p:nvSpPr>
          <p:cNvPr id="29" name="Text 27"/>
          <p:cNvSpPr/>
          <p:nvPr/>
        </p:nvSpPr>
        <p:spPr>
          <a:xfrm>
            <a:off x="4800600" y="3511296"/>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 xml:space="preserve">1.  </a:t>
            </a:r>
            <a:pPr indent="0" marL="0">
              <a:buNone/>
            </a:pPr>
            <a:r>
              <a:rPr lang="en-US" sz="950" dirty="0">
                <a:solidFill>
                  <a:srgbClr val="1A1A1A"/>
                </a:solidFill>
                <a:latin typeface="Arial" pitchFamily="34" charset="0"/>
                <a:ea typeface="Arial" pitchFamily="34" charset="-122"/>
                <a:cs typeface="Arial" pitchFamily="34" charset="-120"/>
              </a:rPr>
              <a:t>Enable pgvector extension in Supabase</a:t>
            </a:r>
            <a:endParaRPr lang="en-US" sz="950" dirty="0"/>
          </a:p>
        </p:txBody>
      </p:sp>
      <p:sp>
        <p:nvSpPr>
          <p:cNvPr id="30" name="Text 28"/>
          <p:cNvSpPr/>
          <p:nvPr/>
        </p:nvSpPr>
        <p:spPr>
          <a:xfrm>
            <a:off x="4800600" y="3840480"/>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 xml:space="preserve">2.  </a:t>
            </a:r>
            <a:pPr indent="0" marL="0">
              <a:buNone/>
            </a:pPr>
            <a:r>
              <a:rPr lang="en-US" sz="950" dirty="0">
                <a:solidFill>
                  <a:srgbClr val="1A1A1A"/>
                </a:solidFill>
                <a:latin typeface="Arial" pitchFamily="34" charset="0"/>
                <a:ea typeface="Arial" pitchFamily="34" charset="-122"/>
                <a:cs typeface="Arial" pitchFamily="34" charset="-120"/>
              </a:rPr>
              <a:t>Chunk + embed documents into vectors table</a:t>
            </a:r>
            <a:endParaRPr lang="en-US" sz="950" dirty="0"/>
          </a:p>
        </p:txBody>
      </p:sp>
      <p:sp>
        <p:nvSpPr>
          <p:cNvPr id="31" name="Text 29"/>
          <p:cNvSpPr/>
          <p:nvPr/>
        </p:nvSpPr>
        <p:spPr>
          <a:xfrm>
            <a:off x="4800600" y="4169664"/>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 xml:space="preserve">3.  </a:t>
            </a:r>
            <a:pPr indent="0" marL="0">
              <a:buNone/>
            </a:pPr>
            <a:r>
              <a:rPr lang="en-US" sz="950" dirty="0">
                <a:solidFill>
                  <a:srgbClr val="1A1A1A"/>
                </a:solidFill>
                <a:latin typeface="Arial" pitchFamily="34" charset="0"/>
                <a:ea typeface="Arial" pitchFamily="34" charset="-122"/>
                <a:cs typeface="Arial" pitchFamily="34" charset="-120"/>
              </a:rPr>
              <a:t>Retriever queries by similarity at session time</a:t>
            </a:r>
            <a:endParaRPr lang="en-US" sz="950" dirty="0"/>
          </a:p>
        </p:txBody>
      </p:sp>
      <p:sp>
        <p:nvSpPr>
          <p:cNvPr id="32" name="Text 30"/>
          <p:cNvSpPr/>
          <p:nvPr/>
        </p:nvSpPr>
        <p:spPr>
          <a:xfrm>
            <a:off x="4800600" y="4590288"/>
            <a:ext cx="3886200" cy="182880"/>
          </a:xfrm>
          <a:prstGeom prst="rect">
            <a:avLst/>
          </a:prstGeom>
          <a:noFill/>
          <a:ln/>
        </p:spPr>
        <p:txBody>
          <a:bodyPr wrap="square" rtlCol="0" anchor="ctr"/>
          <a:lstStyle/>
          <a:p>
            <a:pPr indent="0" marL="0">
              <a:buNone/>
            </a:pPr>
            <a:r>
              <a:rPr lang="en-US" sz="800" b="1" dirty="0">
                <a:solidFill>
                  <a:srgbClr val="BA7517"/>
                </a:solidFill>
                <a:latin typeface="Courier New" pitchFamily="34" charset="0"/>
                <a:ea typeface="Courier New" pitchFamily="34" charset="-122"/>
                <a:cs typeface="Courier New" pitchFamily="34" charset="-120"/>
              </a:rPr>
              <a:t>Supabase pgvector + new retriever in src/lib/memory/</a:t>
            </a:r>
            <a:endParaRPr lang="en-US" sz="80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EXTENSIBILITY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How to extend ARBoard for a new engagement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411480" y="1298448"/>
            <a:ext cx="4160520" cy="329184"/>
          </a:xfrm>
          <a:prstGeom prst="roundRect">
            <a:avLst>
              <a:gd name="adj" fmla="val 22222"/>
            </a:avLst>
          </a:prstGeom>
          <a:solidFill>
            <a:srgbClr val="E1F5EE"/>
          </a:solidFill>
          <a:ln w="12700">
            <a:solidFill>
              <a:srgbClr val="E1F5EE"/>
            </a:solidFill>
            <a:prstDash val="solid"/>
          </a:ln>
        </p:spPr>
      </p:sp>
      <p:sp>
        <p:nvSpPr>
          <p:cNvPr id="7" name="Text 5"/>
          <p:cNvSpPr/>
          <p:nvPr/>
        </p:nvSpPr>
        <p:spPr>
          <a:xfrm>
            <a:off x="548640" y="1335024"/>
            <a:ext cx="3886200" cy="256032"/>
          </a:xfrm>
          <a:prstGeom prst="rect">
            <a:avLst/>
          </a:prstGeom>
          <a:noFill/>
          <a:ln/>
        </p:spPr>
        <p:txBody>
          <a:bodyPr wrap="square" rtlCol="0" anchor="ctr"/>
          <a:lstStyle/>
          <a:p>
            <a:pPr indent="0" marL="0">
              <a:buNone/>
            </a:pPr>
            <a:r>
              <a:rPr lang="en-US" sz="1100" b="1" dirty="0">
                <a:solidFill>
                  <a:srgbClr val="0F6E56"/>
                </a:solidFill>
                <a:latin typeface="Arial" pitchFamily="34" charset="0"/>
                <a:ea typeface="Arial" pitchFamily="34" charset="-122"/>
                <a:cs typeface="Arial" pitchFamily="34" charset="-120"/>
              </a:rPr>
              <a:t>Add a new SI failure pattern</a:t>
            </a:r>
            <a:endParaRPr lang="en-US" sz="1100" dirty="0"/>
          </a:p>
        </p:txBody>
      </p:sp>
      <p:sp>
        <p:nvSpPr>
          <p:cNvPr id="8" name="Text 6"/>
          <p:cNvSpPr/>
          <p:nvPr/>
        </p:nvSpPr>
        <p:spPr>
          <a:xfrm>
            <a:off x="548640" y="1700784"/>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 xml:space="preserve">1.  </a:t>
            </a:r>
            <a:pPr indent="0" marL="0">
              <a:buNone/>
            </a:pPr>
            <a:r>
              <a:rPr lang="en-US" sz="950" dirty="0">
                <a:solidFill>
                  <a:srgbClr val="1A1A1A"/>
                </a:solidFill>
                <a:latin typeface="Arial" pitchFamily="34" charset="0"/>
                <a:ea typeface="Arial" pitchFamily="34" charset="-122"/>
                <a:cs typeface="Arial" pitchFamily="34" charset="-120"/>
              </a:rPr>
              <a:t>Insert row into Supabase failure_patterns table</a:t>
            </a:r>
            <a:endParaRPr lang="en-US" sz="950" dirty="0"/>
          </a:p>
        </p:txBody>
      </p:sp>
      <p:sp>
        <p:nvSpPr>
          <p:cNvPr id="9" name="Text 7"/>
          <p:cNvSpPr/>
          <p:nvPr/>
        </p:nvSpPr>
        <p:spPr>
          <a:xfrm>
            <a:off x="548640" y="2029968"/>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 xml:space="preserve">2.  </a:t>
            </a:r>
            <a:pPr indent="0" marL="0">
              <a:buNone/>
            </a:pPr>
            <a:r>
              <a:rPr lang="en-US" sz="950" dirty="0">
                <a:solidFill>
                  <a:srgbClr val="1A1A1A"/>
                </a:solidFill>
                <a:latin typeface="Arial" pitchFamily="34" charset="0"/>
                <a:ea typeface="Arial" pitchFamily="34" charset="-122"/>
                <a:cs typeface="Arial" pitchFamily="34" charset="-120"/>
              </a:rPr>
              <a:t>Set component_tags to match relevant agents</a:t>
            </a:r>
            <a:endParaRPr lang="en-US" sz="950" dirty="0"/>
          </a:p>
        </p:txBody>
      </p:sp>
      <p:sp>
        <p:nvSpPr>
          <p:cNvPr id="10" name="Text 8"/>
          <p:cNvSpPr/>
          <p:nvPr/>
        </p:nvSpPr>
        <p:spPr>
          <a:xfrm>
            <a:off x="548640" y="2359152"/>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 xml:space="preserve">3.  </a:t>
            </a:r>
            <a:pPr indent="0" marL="0">
              <a:buNone/>
            </a:pPr>
            <a:r>
              <a:rPr lang="en-US" sz="950" dirty="0">
                <a:solidFill>
                  <a:srgbClr val="1A1A1A"/>
                </a:solidFill>
                <a:latin typeface="Arial" pitchFamily="34" charset="0"/>
                <a:ea typeface="Arial" pitchFamily="34" charset="-122"/>
                <a:cs typeface="Arial" pitchFamily="34" charset="-120"/>
              </a:rPr>
              <a:t>Pattern auto-injects on next session — no code change</a:t>
            </a:r>
            <a:endParaRPr lang="en-US" sz="950" dirty="0"/>
          </a:p>
        </p:txBody>
      </p:sp>
      <p:sp>
        <p:nvSpPr>
          <p:cNvPr id="11" name="Text 9"/>
          <p:cNvSpPr/>
          <p:nvPr/>
        </p:nvSpPr>
        <p:spPr>
          <a:xfrm>
            <a:off x="548640" y="2779776"/>
            <a:ext cx="3886200" cy="182880"/>
          </a:xfrm>
          <a:prstGeom prst="rect">
            <a:avLst/>
          </a:prstGeom>
          <a:noFill/>
          <a:ln/>
        </p:spPr>
        <p:txBody>
          <a:bodyPr wrap="square" rtlCol="0" anchor="ctr"/>
          <a:lstStyle/>
          <a:p>
            <a:pPr indent="0" marL="0">
              <a:buNone/>
            </a:pPr>
            <a:r>
              <a:rPr lang="en-US" sz="800" b="1" dirty="0">
                <a:solidFill>
                  <a:srgbClr val="0F6E56"/>
                </a:solidFill>
                <a:latin typeface="Courier New" pitchFamily="34" charset="0"/>
                <a:ea typeface="Courier New" pitchFamily="34" charset="-122"/>
                <a:cs typeface="Courier New" pitchFamily="34" charset="-120"/>
              </a:rPr>
              <a:t>Supabase: failure_patterns table</a:t>
            </a:r>
            <a:endParaRPr lang="en-US" sz="800" dirty="0"/>
          </a:p>
        </p:txBody>
      </p:sp>
      <p:sp>
        <p:nvSpPr>
          <p:cNvPr id="12" name="Shape 10"/>
          <p:cNvSpPr/>
          <p:nvPr/>
        </p:nvSpPr>
        <p:spPr>
          <a:xfrm>
            <a:off x="4663440" y="1298448"/>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3" name="Shape 11"/>
          <p:cNvSpPr/>
          <p:nvPr/>
        </p:nvSpPr>
        <p:spPr>
          <a:xfrm>
            <a:off x="4663440" y="1298448"/>
            <a:ext cx="4160520" cy="329184"/>
          </a:xfrm>
          <a:prstGeom prst="roundRect">
            <a:avLst>
              <a:gd name="adj" fmla="val 22222"/>
            </a:avLst>
          </a:prstGeom>
          <a:solidFill>
            <a:srgbClr val="EBF2FA"/>
          </a:solidFill>
          <a:ln w="12700">
            <a:solidFill>
              <a:srgbClr val="EBF2FA"/>
            </a:solidFill>
            <a:prstDash val="solid"/>
          </a:ln>
        </p:spPr>
      </p:sp>
      <p:sp>
        <p:nvSpPr>
          <p:cNvPr id="14" name="Text 12"/>
          <p:cNvSpPr/>
          <p:nvPr/>
        </p:nvSpPr>
        <p:spPr>
          <a:xfrm>
            <a:off x="4800600" y="1335024"/>
            <a:ext cx="3886200" cy="256032"/>
          </a:xfrm>
          <a:prstGeom prst="rect">
            <a:avLst/>
          </a:prstGeom>
          <a:noFill/>
          <a:ln/>
        </p:spPr>
        <p:txBody>
          <a:bodyPr wrap="square" rtlCol="0" anchor="ctr"/>
          <a:lstStyle/>
          <a:p>
            <a:pPr indent="0" marL="0">
              <a:buNone/>
            </a:pPr>
            <a:r>
              <a:rPr lang="en-US" sz="1100" b="1" dirty="0">
                <a:solidFill>
                  <a:srgbClr val="1B4F9B"/>
                </a:solidFill>
                <a:latin typeface="Arial" pitchFamily="34" charset="0"/>
                <a:ea typeface="Arial" pitchFamily="34" charset="-122"/>
                <a:cs typeface="Arial" pitchFamily="34" charset="-120"/>
              </a:rPr>
              <a:t>Add a new specialist agent</a:t>
            </a:r>
            <a:endParaRPr lang="en-US" sz="1100" dirty="0"/>
          </a:p>
        </p:txBody>
      </p:sp>
      <p:sp>
        <p:nvSpPr>
          <p:cNvPr id="15" name="Text 13"/>
          <p:cNvSpPr/>
          <p:nvPr/>
        </p:nvSpPr>
        <p:spPr>
          <a:xfrm>
            <a:off x="4800600" y="1700784"/>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 xml:space="preserve">1.  </a:t>
            </a:r>
            <a:pPr indent="0" marL="0">
              <a:buNone/>
            </a:pPr>
            <a:r>
              <a:rPr lang="en-US" sz="950" dirty="0">
                <a:solidFill>
                  <a:srgbClr val="1A1A1A"/>
                </a:solidFill>
                <a:latin typeface="Arial" pitchFamily="34" charset="0"/>
                <a:ea typeface="Arial" pitchFamily="34" charset="-122"/>
                <a:cs typeface="Arial" pitchFamily="34" charset="-120"/>
              </a:rPr>
              <a:t>Create src/lib/domains/salesforce/agents/newagent.ts</a:t>
            </a:r>
            <a:endParaRPr lang="en-US" sz="950" dirty="0"/>
          </a:p>
        </p:txBody>
      </p:sp>
      <p:sp>
        <p:nvSpPr>
          <p:cNvPr id="16" name="Text 14"/>
          <p:cNvSpPr/>
          <p:nvPr/>
        </p:nvSpPr>
        <p:spPr>
          <a:xfrm>
            <a:off x="4800600" y="2029968"/>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 xml:space="preserve">2.  </a:t>
            </a:r>
            <a:pPr indent="0" marL="0">
              <a:buNone/>
            </a:pPr>
            <a:r>
              <a:rPr lang="en-US" sz="950" dirty="0">
                <a:solidFill>
                  <a:srgbClr val="1A1A1A"/>
                </a:solidFill>
                <a:latin typeface="Arial" pitchFamily="34" charset="0"/>
                <a:ea typeface="Arial" pitchFamily="34" charset="-122"/>
                <a:cs typeface="Arial" pitchFamily="34" charset="-120"/>
              </a:rPr>
              <a:t>Add agent key to wellArchitectedPrinciples.ts</a:t>
            </a:r>
            <a:endParaRPr lang="en-US" sz="950" dirty="0"/>
          </a:p>
        </p:txBody>
      </p:sp>
      <p:sp>
        <p:nvSpPr>
          <p:cNvPr id="17" name="Text 15"/>
          <p:cNvSpPr/>
          <p:nvPr/>
        </p:nvSpPr>
        <p:spPr>
          <a:xfrm>
            <a:off x="4800600" y="2359152"/>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 xml:space="preserve">3.  </a:t>
            </a:r>
            <a:pPr indent="0" marL="0">
              <a:buNone/>
            </a:pPr>
            <a:r>
              <a:rPr lang="en-US" sz="950" dirty="0">
                <a:solidFill>
                  <a:srgbClr val="1A1A1A"/>
                </a:solidFill>
                <a:latin typeface="Arial" pitchFamily="34" charset="0"/>
                <a:ea typeface="Arial" pitchFamily="34" charset="-122"/>
                <a:cs typeface="Arial" pitchFamily="34" charset="-120"/>
              </a:rPr>
              <a:t>Register in ForumOrchestrator phase config</a:t>
            </a:r>
            <a:endParaRPr lang="en-US" sz="950" dirty="0"/>
          </a:p>
        </p:txBody>
      </p:sp>
      <p:sp>
        <p:nvSpPr>
          <p:cNvPr id="18" name="Text 16"/>
          <p:cNvSpPr/>
          <p:nvPr/>
        </p:nvSpPr>
        <p:spPr>
          <a:xfrm>
            <a:off x="4800600" y="2779776"/>
            <a:ext cx="3886200" cy="182880"/>
          </a:xfrm>
          <a:prstGeom prst="rect">
            <a:avLst/>
          </a:prstGeom>
          <a:noFill/>
          <a:ln/>
        </p:spPr>
        <p:txBody>
          <a:bodyPr wrap="square" rtlCol="0" anchor="ctr"/>
          <a:lstStyle/>
          <a:p>
            <a:pPr indent="0" marL="0">
              <a:buNone/>
            </a:pPr>
            <a:r>
              <a:rPr lang="en-US" sz="800" b="1" dirty="0">
                <a:solidFill>
                  <a:srgbClr val="1B4F9B"/>
                </a:solidFill>
                <a:latin typeface="Courier New" pitchFamily="34" charset="0"/>
                <a:ea typeface="Courier New" pitchFamily="34" charset="-122"/>
                <a:cs typeface="Courier New" pitchFamily="34" charset="-120"/>
              </a:rPr>
              <a:t>domains/salesforce/agents/ + ForumOrchestrator.ts</a:t>
            </a:r>
            <a:endParaRPr lang="en-US" sz="800" dirty="0"/>
          </a:p>
        </p:txBody>
      </p:sp>
      <p:sp>
        <p:nvSpPr>
          <p:cNvPr id="19" name="Shape 17"/>
          <p:cNvSpPr/>
          <p:nvPr/>
        </p:nvSpPr>
        <p:spPr>
          <a:xfrm>
            <a:off x="411480" y="3108960"/>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0" name="Shape 18"/>
          <p:cNvSpPr/>
          <p:nvPr/>
        </p:nvSpPr>
        <p:spPr>
          <a:xfrm>
            <a:off x="411480" y="3108960"/>
            <a:ext cx="4160520" cy="329184"/>
          </a:xfrm>
          <a:prstGeom prst="roundRect">
            <a:avLst>
              <a:gd name="adj" fmla="val 22222"/>
            </a:avLst>
          </a:prstGeom>
          <a:solidFill>
            <a:srgbClr val="EEEDFE"/>
          </a:solidFill>
          <a:ln w="12700">
            <a:solidFill>
              <a:srgbClr val="EEEDFE"/>
            </a:solidFill>
            <a:prstDash val="solid"/>
          </a:ln>
        </p:spPr>
      </p:sp>
      <p:sp>
        <p:nvSpPr>
          <p:cNvPr id="21" name="Text 19"/>
          <p:cNvSpPr/>
          <p:nvPr/>
        </p:nvSpPr>
        <p:spPr>
          <a:xfrm>
            <a:off x="548640" y="3145536"/>
            <a:ext cx="3886200" cy="256032"/>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Add client-specific guardrails</a:t>
            </a:r>
            <a:endParaRPr lang="en-US" sz="1100" dirty="0"/>
          </a:p>
        </p:txBody>
      </p:sp>
      <p:sp>
        <p:nvSpPr>
          <p:cNvPr id="22" name="Text 20"/>
          <p:cNvSpPr/>
          <p:nvPr/>
        </p:nvSpPr>
        <p:spPr>
          <a:xfrm>
            <a:off x="548640" y="3511296"/>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 xml:space="preserve">1.  </a:t>
            </a:r>
            <a:pPr indent="0" marL="0">
              <a:buNone/>
            </a:pPr>
            <a:r>
              <a:rPr lang="en-US" sz="950" dirty="0">
                <a:solidFill>
                  <a:srgbClr val="1A1A1A"/>
                </a:solidFill>
                <a:latin typeface="Arial" pitchFamily="34" charset="0"/>
                <a:ea typeface="Arial" pitchFamily="34" charset="-122"/>
                <a:cs typeface="Arial" pitchFamily="34" charset="-120"/>
              </a:rPr>
              <a:t>Create src/lib/clients/{client}/config.ts</a:t>
            </a:r>
            <a:endParaRPr lang="en-US" sz="950" dirty="0"/>
          </a:p>
        </p:txBody>
      </p:sp>
      <p:sp>
        <p:nvSpPr>
          <p:cNvPr id="23" name="Text 21"/>
          <p:cNvSpPr/>
          <p:nvPr/>
        </p:nvSpPr>
        <p:spPr>
          <a:xfrm>
            <a:off x="548640" y="3840480"/>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 xml:space="preserve">2.  </a:t>
            </a:r>
            <a:pPr indent="0" marL="0">
              <a:buNone/>
            </a:pPr>
            <a:r>
              <a:rPr lang="en-US" sz="950" dirty="0">
                <a:solidFill>
                  <a:srgbClr val="1A1A1A"/>
                </a:solidFill>
                <a:latin typeface="Arial" pitchFamily="34" charset="0"/>
                <a:ea typeface="Arial" pitchFamily="34" charset="-122"/>
                <a:cs typeface="Arial" pitchFamily="34" charset="-120"/>
              </a:rPr>
              <a:t>Define object restrictions, compliance rules, data region</a:t>
            </a:r>
            <a:endParaRPr lang="en-US" sz="950" dirty="0"/>
          </a:p>
        </p:txBody>
      </p:sp>
      <p:sp>
        <p:nvSpPr>
          <p:cNvPr id="24" name="Text 22"/>
          <p:cNvSpPr/>
          <p:nvPr/>
        </p:nvSpPr>
        <p:spPr>
          <a:xfrm>
            <a:off x="548640" y="4169664"/>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 xml:space="preserve">3.  </a:t>
            </a:r>
            <a:pPr indent="0" marL="0">
              <a:buNone/>
            </a:pPr>
            <a:r>
              <a:rPr lang="en-US" sz="950" dirty="0">
                <a:solidFill>
                  <a:srgbClr val="1A1A1A"/>
                </a:solidFill>
                <a:latin typeface="Arial" pitchFamily="34" charset="0"/>
                <a:ea typeface="Arial" pitchFamily="34" charset="-122"/>
                <a:cs typeface="Arial" pitchFamily="34" charset="-120"/>
              </a:rPr>
              <a:t>Inject via ContextStore at session start</a:t>
            </a:r>
            <a:endParaRPr lang="en-US" sz="950" dirty="0"/>
          </a:p>
        </p:txBody>
      </p:sp>
      <p:sp>
        <p:nvSpPr>
          <p:cNvPr id="25" name="Text 23"/>
          <p:cNvSpPr/>
          <p:nvPr/>
        </p:nvSpPr>
        <p:spPr>
          <a:xfrm>
            <a:off x="548640" y="4590288"/>
            <a:ext cx="3886200" cy="182880"/>
          </a:xfrm>
          <a:prstGeom prst="rect">
            <a:avLst/>
          </a:prstGeom>
          <a:noFill/>
          <a:ln/>
        </p:spPr>
        <p:txBody>
          <a:bodyPr wrap="square" rtlCol="0" anchor="ctr"/>
          <a:lstStyle/>
          <a:p>
            <a:pPr indent="0" marL="0">
              <a:buNone/>
            </a:pPr>
            <a:r>
              <a:rPr lang="en-US" sz="800" b="1" dirty="0">
                <a:solidFill>
                  <a:srgbClr val="534AB7"/>
                </a:solidFill>
                <a:latin typeface="Courier New" pitchFamily="34" charset="0"/>
                <a:ea typeface="Courier New" pitchFamily="34" charset="-122"/>
                <a:cs typeface="Courier New" pitchFamily="34" charset="-120"/>
              </a:rPr>
              <a:t>src/lib/clients/{client}/config.ts</a:t>
            </a:r>
            <a:endParaRPr lang="en-US" sz="800" dirty="0"/>
          </a:p>
        </p:txBody>
      </p:sp>
      <p:sp>
        <p:nvSpPr>
          <p:cNvPr id="26" name="Shape 24"/>
          <p:cNvSpPr/>
          <p:nvPr/>
        </p:nvSpPr>
        <p:spPr>
          <a:xfrm>
            <a:off x="4663440" y="3108960"/>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Shape 25"/>
          <p:cNvSpPr/>
          <p:nvPr/>
        </p:nvSpPr>
        <p:spPr>
          <a:xfrm>
            <a:off x="4663440" y="3108960"/>
            <a:ext cx="4160520" cy="329184"/>
          </a:xfrm>
          <a:prstGeom prst="roundRect">
            <a:avLst>
              <a:gd name="adj" fmla="val 22222"/>
            </a:avLst>
          </a:prstGeom>
          <a:solidFill>
            <a:srgbClr val="FAEEDA"/>
          </a:solidFill>
          <a:ln w="12700">
            <a:solidFill>
              <a:srgbClr val="FAEEDA"/>
            </a:solidFill>
            <a:prstDash val="solid"/>
          </a:ln>
        </p:spPr>
      </p:sp>
      <p:sp>
        <p:nvSpPr>
          <p:cNvPr id="28" name="Text 26"/>
          <p:cNvSpPr/>
          <p:nvPr/>
        </p:nvSpPr>
        <p:spPr>
          <a:xfrm>
            <a:off x="4800600" y="3145536"/>
            <a:ext cx="3886200" cy="256032"/>
          </a:xfrm>
          <a:prstGeom prst="rect">
            <a:avLst/>
          </a:prstGeom>
          <a:noFill/>
          <a:ln/>
        </p:spPr>
        <p:txBody>
          <a:bodyPr wrap="square" rtlCol="0" anchor="ctr"/>
          <a:lstStyle/>
          <a:p>
            <a:pPr indent="0" marL="0">
              <a:buNone/>
            </a:pPr>
            <a:r>
              <a:rPr lang="en-US" sz="1100" b="1" dirty="0">
                <a:solidFill>
                  <a:srgbClr val="BA7517"/>
                </a:solidFill>
                <a:latin typeface="Arial" pitchFamily="34" charset="0"/>
                <a:ea typeface="Arial" pitchFamily="34" charset="-122"/>
                <a:cs typeface="Arial" pitchFamily="34" charset="-120"/>
              </a:rPr>
              <a:t>Add a new reference corpus (RAG)</a:t>
            </a:r>
            <a:endParaRPr lang="en-US" sz="1100" dirty="0"/>
          </a:p>
        </p:txBody>
      </p:sp>
      <p:sp>
        <p:nvSpPr>
          <p:cNvPr id="29" name="Text 27"/>
          <p:cNvSpPr/>
          <p:nvPr/>
        </p:nvSpPr>
        <p:spPr>
          <a:xfrm>
            <a:off x="4800600" y="3511296"/>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 xml:space="preserve">1.  </a:t>
            </a:r>
            <a:pPr indent="0" marL="0">
              <a:buNone/>
            </a:pPr>
            <a:r>
              <a:rPr lang="en-US" sz="950" dirty="0">
                <a:solidFill>
                  <a:srgbClr val="1A1A1A"/>
                </a:solidFill>
                <a:latin typeface="Arial" pitchFamily="34" charset="0"/>
                <a:ea typeface="Arial" pitchFamily="34" charset="-122"/>
                <a:cs typeface="Arial" pitchFamily="34" charset="-120"/>
              </a:rPr>
              <a:t>Enable pgvector extension in Supabase</a:t>
            </a:r>
            <a:endParaRPr lang="en-US" sz="950" dirty="0"/>
          </a:p>
        </p:txBody>
      </p:sp>
      <p:sp>
        <p:nvSpPr>
          <p:cNvPr id="30" name="Text 28"/>
          <p:cNvSpPr/>
          <p:nvPr/>
        </p:nvSpPr>
        <p:spPr>
          <a:xfrm>
            <a:off x="4800600" y="3840480"/>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 xml:space="preserve">2.  </a:t>
            </a:r>
            <a:pPr indent="0" marL="0">
              <a:buNone/>
            </a:pPr>
            <a:r>
              <a:rPr lang="en-US" sz="950" dirty="0">
                <a:solidFill>
                  <a:srgbClr val="1A1A1A"/>
                </a:solidFill>
                <a:latin typeface="Arial" pitchFamily="34" charset="0"/>
                <a:ea typeface="Arial" pitchFamily="34" charset="-122"/>
                <a:cs typeface="Arial" pitchFamily="34" charset="-120"/>
              </a:rPr>
              <a:t>Chunk + embed documents into vectors table</a:t>
            </a:r>
            <a:endParaRPr lang="en-US" sz="950" dirty="0"/>
          </a:p>
        </p:txBody>
      </p:sp>
      <p:sp>
        <p:nvSpPr>
          <p:cNvPr id="31" name="Text 29"/>
          <p:cNvSpPr/>
          <p:nvPr/>
        </p:nvSpPr>
        <p:spPr>
          <a:xfrm>
            <a:off x="4800600" y="4169664"/>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 xml:space="preserve">3.  </a:t>
            </a:r>
            <a:pPr indent="0" marL="0">
              <a:buNone/>
            </a:pPr>
            <a:r>
              <a:rPr lang="en-US" sz="950" dirty="0">
                <a:solidFill>
                  <a:srgbClr val="1A1A1A"/>
                </a:solidFill>
                <a:latin typeface="Arial" pitchFamily="34" charset="0"/>
                <a:ea typeface="Arial" pitchFamily="34" charset="-122"/>
                <a:cs typeface="Arial" pitchFamily="34" charset="-120"/>
              </a:rPr>
              <a:t>Retriever queries by similarity at session time</a:t>
            </a:r>
            <a:endParaRPr lang="en-US" sz="950" dirty="0"/>
          </a:p>
        </p:txBody>
      </p:sp>
      <p:sp>
        <p:nvSpPr>
          <p:cNvPr id="32" name="Text 30"/>
          <p:cNvSpPr/>
          <p:nvPr/>
        </p:nvSpPr>
        <p:spPr>
          <a:xfrm>
            <a:off x="4800600" y="4590288"/>
            <a:ext cx="3886200" cy="182880"/>
          </a:xfrm>
          <a:prstGeom prst="rect">
            <a:avLst/>
          </a:prstGeom>
          <a:noFill/>
          <a:ln/>
        </p:spPr>
        <p:txBody>
          <a:bodyPr wrap="square" rtlCol="0" anchor="ctr"/>
          <a:lstStyle/>
          <a:p>
            <a:pPr indent="0" marL="0">
              <a:buNone/>
            </a:pPr>
            <a:r>
              <a:rPr lang="en-US" sz="800" b="1" dirty="0">
                <a:solidFill>
                  <a:srgbClr val="BA7517"/>
                </a:solidFill>
                <a:latin typeface="Courier New" pitchFamily="34" charset="0"/>
                <a:ea typeface="Courier New" pitchFamily="34" charset="-122"/>
                <a:cs typeface="Courier New" pitchFamily="34" charset="-120"/>
              </a:rPr>
              <a:t>Supabase pgvector + new retriever in src/lib/memory/</a:t>
            </a:r>
            <a:endParaRPr lang="en-US" sz="8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292608"/>
            <a:ext cx="8138160" cy="201168"/>
          </a:xfrm>
          <a:prstGeom prst="rect">
            <a:avLst/>
          </a:prstGeom>
          <a:noFill/>
          <a:ln/>
        </p:spPr>
        <p:txBody>
          <a:bodyPr wrap="square" rtlCol="0" anchor="ctr"/>
          <a:lstStyle/>
          <a:p>
            <a:pPr indent="0" marL="0">
              <a:buNone/>
            </a:pPr>
            <a:r>
              <a:rPr lang="en-US" sz="900" b="1" spc="300" kern="0" dirty="0">
                <a:solidFill>
                  <a:srgbClr val="2E6DA4"/>
                </a:solidFill>
                <a:latin typeface="Arial" pitchFamily="34" charset="0"/>
                <a:ea typeface="Arial" pitchFamily="34" charset="-122"/>
                <a:cs typeface="Arial" pitchFamily="34" charset="-120"/>
              </a:rPr>
              <a:t>TECHNICAL APPENDIX — COLLABORATION RETROSPECTIVE</a:t>
            </a:r>
            <a:endParaRPr lang="en-US" sz="900" dirty="0"/>
          </a:p>
        </p:txBody>
      </p:sp>
      <p:sp>
        <p:nvSpPr>
          <p:cNvPr id="3" name="Text 1"/>
          <p:cNvSpPr/>
          <p:nvPr/>
        </p:nvSpPr>
        <p:spPr>
          <a:xfrm>
            <a:off x="502920" y="530352"/>
            <a:ext cx="8138160" cy="502920"/>
          </a:xfrm>
          <a:prstGeom prst="rect">
            <a:avLst/>
          </a:prstGeom>
          <a:noFill/>
          <a:ln/>
        </p:spPr>
        <p:txBody>
          <a:bodyPr wrap="square" rtlCol="0" anchor="ctr"/>
          <a:lstStyle/>
          <a:p>
            <a:pPr indent="0" marL="0">
              <a:buNone/>
            </a:pPr>
            <a:r>
              <a:rPr lang="en-US" sz="2400" b="1" dirty="0">
                <a:solidFill>
                  <a:srgbClr val="1A1A1A"/>
                </a:solidFill>
                <a:latin typeface="Arial" pitchFamily="34" charset="0"/>
                <a:ea typeface="Arial" pitchFamily="34" charset="-122"/>
                <a:cs typeface="Arial" pitchFamily="34" charset="-120"/>
              </a:rPr>
              <a:t>Where human and AI challenged each other — and who was right</a:t>
            </a:r>
            <a:endParaRPr lang="en-US" sz="2400" dirty="0"/>
          </a:p>
        </p:txBody>
      </p:sp>
      <p:sp>
        <p:nvSpPr>
          <p:cNvPr id="4" name="Shape 2"/>
          <p:cNvSpPr/>
          <p:nvPr/>
        </p:nvSpPr>
        <p:spPr>
          <a:xfrm>
            <a:off x="502920" y="1078992"/>
            <a:ext cx="8138160" cy="0"/>
          </a:xfrm>
          <a:prstGeom prst="line">
            <a:avLst/>
          </a:prstGeom>
          <a:noFill/>
          <a:ln w="10160">
            <a:solidFill>
              <a:srgbClr val="EBEBEB"/>
            </a:solidFill>
            <a:prstDash val="solid"/>
          </a:ln>
        </p:spPr>
      </p:sp>
      <p:sp>
        <p:nvSpPr>
          <p:cNvPr id="5" name="Shape 3"/>
          <p:cNvSpPr/>
          <p:nvPr/>
        </p:nvSpPr>
        <p:spPr>
          <a:xfrm>
            <a:off x="411480" y="1170432"/>
            <a:ext cx="2578608" cy="292608"/>
          </a:xfrm>
          <a:prstGeom prst="roundRect">
            <a:avLst>
              <a:gd name="adj" fmla="val 18750"/>
            </a:avLst>
          </a:prstGeom>
          <a:solidFill>
            <a:srgbClr val="0F6E56"/>
          </a:solidFill>
          <a:ln w="12700">
            <a:solidFill>
              <a:srgbClr val="0F6E56"/>
            </a:solidFill>
            <a:prstDash val="solid"/>
          </a:ln>
        </p:spPr>
      </p:sp>
      <p:sp>
        <p:nvSpPr>
          <p:cNvPr id="6" name="Text 4"/>
          <p:cNvSpPr/>
          <p:nvPr/>
        </p:nvSpPr>
        <p:spPr>
          <a:xfrm>
            <a:off x="411480" y="1179576"/>
            <a:ext cx="257860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Human challenged AI — and was right</a:t>
            </a:r>
            <a:endParaRPr lang="en-US" sz="850" dirty="0"/>
          </a:p>
        </p:txBody>
      </p:sp>
      <p:sp>
        <p:nvSpPr>
          <p:cNvPr id="7" name="Shape 5"/>
          <p:cNvSpPr/>
          <p:nvPr/>
        </p:nvSpPr>
        <p:spPr>
          <a:xfrm>
            <a:off x="3090672" y="1170432"/>
            <a:ext cx="2578608" cy="292608"/>
          </a:xfrm>
          <a:prstGeom prst="roundRect">
            <a:avLst>
              <a:gd name="adj" fmla="val 18750"/>
            </a:avLst>
          </a:prstGeom>
          <a:solidFill>
            <a:srgbClr val="1B4F9B"/>
          </a:solidFill>
          <a:ln w="12700">
            <a:solidFill>
              <a:srgbClr val="1B4F9B"/>
            </a:solidFill>
            <a:prstDash val="solid"/>
          </a:ln>
        </p:spPr>
      </p:sp>
      <p:sp>
        <p:nvSpPr>
          <p:cNvPr id="8" name="Text 6"/>
          <p:cNvSpPr/>
          <p:nvPr/>
        </p:nvSpPr>
        <p:spPr>
          <a:xfrm>
            <a:off x="3090672" y="1179576"/>
            <a:ext cx="257860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AI challenged human — and was right</a:t>
            </a:r>
            <a:endParaRPr lang="en-US" sz="850" dirty="0"/>
          </a:p>
        </p:txBody>
      </p:sp>
      <p:sp>
        <p:nvSpPr>
          <p:cNvPr id="9" name="Shape 7"/>
          <p:cNvSpPr/>
          <p:nvPr/>
        </p:nvSpPr>
        <p:spPr>
          <a:xfrm>
            <a:off x="5760720" y="1170432"/>
            <a:ext cx="2578608" cy="292608"/>
          </a:xfrm>
          <a:prstGeom prst="roundRect">
            <a:avLst>
              <a:gd name="adj" fmla="val 18750"/>
            </a:avLst>
          </a:prstGeom>
          <a:solidFill>
            <a:srgbClr val="A32D2D"/>
          </a:solidFill>
          <a:ln w="12700">
            <a:solidFill>
              <a:srgbClr val="A32D2D"/>
            </a:solidFill>
            <a:prstDash val="solid"/>
          </a:ln>
        </p:spPr>
      </p:sp>
      <p:sp>
        <p:nvSpPr>
          <p:cNvPr id="10" name="Text 8"/>
          <p:cNvSpPr/>
          <p:nvPr/>
        </p:nvSpPr>
        <p:spPr>
          <a:xfrm>
            <a:off x="5760720" y="1179576"/>
            <a:ext cx="257860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AI was wrong</a:t>
            </a:r>
            <a:endParaRPr lang="en-US" sz="850" dirty="0"/>
          </a:p>
        </p:txBody>
      </p:sp>
      <p:sp>
        <p:nvSpPr>
          <p:cNvPr id="11" name="Shape 9"/>
          <p:cNvSpPr/>
          <p:nvPr/>
        </p:nvSpPr>
        <p:spPr>
          <a:xfrm>
            <a:off x="411480" y="1536192"/>
            <a:ext cx="2578608" cy="1005840"/>
          </a:xfrm>
          <a:prstGeom prst="roundRect">
            <a:avLst>
              <a:gd name="adj" fmla="val 7273"/>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2" name="Text 10"/>
          <p:cNvSpPr/>
          <p:nvPr/>
        </p:nvSpPr>
        <p:spPr>
          <a:xfrm>
            <a:off x="548640" y="1627632"/>
            <a:ext cx="2304288"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Jira as memory source of truth</a:t>
            </a:r>
            <a:endParaRPr lang="en-US" sz="1000" dirty="0"/>
          </a:p>
        </p:txBody>
      </p:sp>
      <p:sp>
        <p:nvSpPr>
          <p:cNvPr id="13" name="Text 11"/>
          <p:cNvSpPr/>
          <p:nvPr/>
        </p:nvSpPr>
        <p:spPr>
          <a:xfrm>
            <a:off x="548640" y="1883664"/>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built a Supabase adrs table. You pointed out Jira already has everything. Simpler, no duplication, architects own it.</a:t>
            </a:r>
            <a:endParaRPr lang="en-US" sz="900" dirty="0"/>
          </a:p>
        </p:txBody>
      </p:sp>
      <p:sp>
        <p:nvSpPr>
          <p:cNvPr id="14" name="Shape 12"/>
          <p:cNvSpPr/>
          <p:nvPr/>
        </p:nvSpPr>
        <p:spPr>
          <a:xfrm>
            <a:off x="411480" y="2651760"/>
            <a:ext cx="2578608" cy="1005840"/>
          </a:xfrm>
          <a:prstGeom prst="roundRect">
            <a:avLst>
              <a:gd name="adj" fmla="val 7273"/>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5" name="Text 13"/>
          <p:cNvSpPr/>
          <p:nvPr/>
        </p:nvSpPr>
        <p:spPr>
          <a:xfrm>
            <a:off x="548640" y="2743200"/>
            <a:ext cx="2304288"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Countersign logic was too blunt</a:t>
            </a:r>
            <a:endParaRPr lang="en-US" sz="1000" dirty="0"/>
          </a:p>
        </p:txBody>
      </p:sp>
      <p:sp>
        <p:nvSpPr>
          <p:cNvPr id="16" name="Text 14"/>
          <p:cNvSpPr/>
          <p:nvPr/>
        </p:nvSpPr>
        <p:spPr>
          <a:xfrm>
            <a:off x="548640" y="2999232"/>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made countersign available on every session. You said low-confidence decisions need forced assignment, not a one-click stamp.</a:t>
            </a:r>
            <a:endParaRPr lang="en-US" sz="900" dirty="0"/>
          </a:p>
        </p:txBody>
      </p:sp>
      <p:sp>
        <p:nvSpPr>
          <p:cNvPr id="17" name="Shape 15"/>
          <p:cNvSpPr/>
          <p:nvPr/>
        </p:nvSpPr>
        <p:spPr>
          <a:xfrm>
            <a:off x="411480" y="3767328"/>
            <a:ext cx="2578608" cy="1005840"/>
          </a:xfrm>
          <a:prstGeom prst="roundRect">
            <a:avLst>
              <a:gd name="adj" fmla="val 7273"/>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8" name="Text 16"/>
          <p:cNvSpPr/>
          <p:nvPr/>
        </p:nvSpPr>
        <p:spPr>
          <a:xfrm>
            <a:off x="548640" y="3858768"/>
            <a:ext cx="2304288"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Stopping to define personas</a:t>
            </a:r>
            <a:endParaRPr lang="en-US" sz="1000" dirty="0"/>
          </a:p>
        </p:txBody>
      </p:sp>
      <p:sp>
        <p:nvSpPr>
          <p:cNvPr id="19" name="Text 17"/>
          <p:cNvSpPr/>
          <p:nvPr/>
        </p:nvSpPr>
        <p:spPr>
          <a:xfrm>
            <a:off x="548640" y="4114800"/>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Midway through building the endorsement UI, you asked who actually runs this. Claude hadn't raised it. The answer shaped the whole flow.</a:t>
            </a:r>
            <a:endParaRPr lang="en-US" sz="900" dirty="0"/>
          </a:p>
        </p:txBody>
      </p:sp>
      <p:sp>
        <p:nvSpPr>
          <p:cNvPr id="20" name="Shape 18"/>
          <p:cNvSpPr/>
          <p:nvPr/>
        </p:nvSpPr>
        <p:spPr>
          <a:xfrm>
            <a:off x="3090672" y="1536192"/>
            <a:ext cx="2578608" cy="1005840"/>
          </a:xfrm>
          <a:prstGeom prst="roundRect">
            <a:avLst>
              <a:gd name="adj" fmla="val 7273"/>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1" name="Text 19"/>
          <p:cNvSpPr/>
          <p:nvPr/>
        </p:nvSpPr>
        <p:spPr>
          <a:xfrm>
            <a:off x="3227832" y="1627632"/>
            <a:ext cx="2304288" cy="256032"/>
          </a:xfrm>
          <a:prstGeom prst="rect">
            <a:avLst/>
          </a:prstGeom>
          <a:noFill/>
          <a:ln/>
        </p:spPr>
        <p:txBody>
          <a:bodyPr wrap="square" rtlCol="0" anchor="ctr"/>
          <a:lstStyle/>
          <a:p>
            <a:pPr indent="0" marL="0">
              <a:buNone/>
            </a:pPr>
            <a:r>
              <a:rPr lang="en-US" sz="1000" b="1" dirty="0">
                <a:solidFill>
                  <a:srgbClr val="1B4F9B"/>
                </a:solidFill>
                <a:latin typeface="Arial" pitchFamily="34" charset="0"/>
                <a:ea typeface="Arial" pitchFamily="34" charset="-122"/>
                <a:cs typeface="Arial" pitchFamily="34" charset="-120"/>
              </a:rPr>
              <a:t>pgvector RAG before Friday</a:t>
            </a:r>
            <a:endParaRPr lang="en-US" sz="1000" dirty="0"/>
          </a:p>
        </p:txBody>
      </p:sp>
      <p:sp>
        <p:nvSpPr>
          <p:cNvPr id="22" name="Text 20"/>
          <p:cNvSpPr/>
          <p:nvPr/>
        </p:nvSpPr>
        <p:spPr>
          <a:xfrm>
            <a:off x="3227832" y="1883664"/>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You wanted full WA Framework ingestion. Claude said too risky two days before demo. Static principles in 30 minutes instead.</a:t>
            </a:r>
            <a:endParaRPr lang="en-US" sz="900" dirty="0"/>
          </a:p>
        </p:txBody>
      </p:sp>
      <p:sp>
        <p:nvSpPr>
          <p:cNvPr id="23" name="Shape 21"/>
          <p:cNvSpPr/>
          <p:nvPr/>
        </p:nvSpPr>
        <p:spPr>
          <a:xfrm>
            <a:off x="3090672" y="2651760"/>
            <a:ext cx="2578608" cy="1005840"/>
          </a:xfrm>
          <a:prstGeom prst="roundRect">
            <a:avLst>
              <a:gd name="adj" fmla="val 7273"/>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4" name="Text 22"/>
          <p:cNvSpPr/>
          <p:nvPr/>
        </p:nvSpPr>
        <p:spPr>
          <a:xfrm>
            <a:off x="3227832" y="2743200"/>
            <a:ext cx="2304288" cy="256032"/>
          </a:xfrm>
          <a:prstGeom prst="rect">
            <a:avLst/>
          </a:prstGeom>
          <a:noFill/>
          <a:ln/>
        </p:spPr>
        <p:txBody>
          <a:bodyPr wrap="square" rtlCol="0" anchor="ctr"/>
          <a:lstStyle/>
          <a:p>
            <a:pPr indent="0" marL="0">
              <a:buNone/>
            </a:pPr>
            <a:r>
              <a:rPr lang="en-US" sz="1000" b="1" dirty="0">
                <a:solidFill>
                  <a:srgbClr val="1B4F9B"/>
                </a:solidFill>
                <a:latin typeface="Arial" pitchFamily="34" charset="0"/>
                <a:ea typeface="Arial" pitchFamily="34" charset="-122"/>
                <a:cs typeface="Arial" pitchFamily="34" charset="-120"/>
              </a:rPr>
              <a:t>MCP before functional build</a:t>
            </a:r>
            <a:endParaRPr lang="en-US" sz="1000" dirty="0"/>
          </a:p>
        </p:txBody>
      </p:sp>
      <p:sp>
        <p:nvSpPr>
          <p:cNvPr id="25" name="Text 23"/>
          <p:cNvSpPr/>
          <p:nvPr/>
        </p:nvSpPr>
        <p:spPr>
          <a:xfrm>
            <a:off x="3227832" y="2999232"/>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MCP was a priority early. Claude kept pushing it back — jsforce works, licensing blocks it. Right call. Everything else shipped.</a:t>
            </a:r>
            <a:endParaRPr lang="en-US" sz="900" dirty="0"/>
          </a:p>
        </p:txBody>
      </p:sp>
      <p:sp>
        <p:nvSpPr>
          <p:cNvPr id="26" name="Shape 24"/>
          <p:cNvSpPr/>
          <p:nvPr/>
        </p:nvSpPr>
        <p:spPr>
          <a:xfrm>
            <a:off x="3090672" y="3767328"/>
            <a:ext cx="2578608" cy="1005840"/>
          </a:xfrm>
          <a:prstGeom prst="roundRect">
            <a:avLst>
              <a:gd name="adj" fmla="val 7273"/>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Text 25"/>
          <p:cNvSpPr/>
          <p:nvPr/>
        </p:nvSpPr>
        <p:spPr>
          <a:xfrm>
            <a:off x="3227832" y="3858768"/>
            <a:ext cx="2304288" cy="256032"/>
          </a:xfrm>
          <a:prstGeom prst="rect">
            <a:avLst/>
          </a:prstGeom>
          <a:noFill/>
          <a:ln/>
        </p:spPr>
        <p:txBody>
          <a:bodyPr wrap="square" rtlCol="0" anchor="ctr"/>
          <a:lstStyle/>
          <a:p>
            <a:pPr indent="0" marL="0">
              <a:buNone/>
            </a:pPr>
            <a:r>
              <a:rPr lang="en-US" sz="1000" b="1" dirty="0">
                <a:solidFill>
                  <a:srgbClr val="1B4F9B"/>
                </a:solidFill>
                <a:latin typeface="Arial" pitchFamily="34" charset="0"/>
                <a:ea typeface="Arial" pitchFamily="34" charset="-122"/>
                <a:cs typeface="Arial" pitchFamily="34" charset="-120"/>
              </a:rPr>
              <a:t>Opus vs Sonnet</a:t>
            </a:r>
            <a:endParaRPr lang="en-US" sz="1000" dirty="0"/>
          </a:p>
        </p:txBody>
      </p:sp>
      <p:sp>
        <p:nvSpPr>
          <p:cNvPr id="28" name="Text 26"/>
          <p:cNvSpPr/>
          <p:nvPr/>
        </p:nvSpPr>
        <p:spPr>
          <a:xfrm>
            <a:off x="3227832" y="4114800"/>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You asked about Opus quality. Claude said the grounding architecture does the lifting — 10x cost for marginal gain is not worth it.</a:t>
            </a:r>
            <a:endParaRPr lang="en-US" sz="900" dirty="0"/>
          </a:p>
        </p:txBody>
      </p:sp>
      <p:sp>
        <p:nvSpPr>
          <p:cNvPr id="29" name="Shape 27"/>
          <p:cNvSpPr/>
          <p:nvPr/>
        </p:nvSpPr>
        <p:spPr>
          <a:xfrm>
            <a:off x="5760720" y="1536192"/>
            <a:ext cx="2578608" cy="1005840"/>
          </a:xfrm>
          <a:prstGeom prst="roundRect">
            <a:avLst>
              <a:gd name="adj" fmla="val 7273"/>
            </a:avLst>
          </a:prstGeom>
          <a:solidFill>
            <a:srgbClr val="FC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0" name="Text 28"/>
          <p:cNvSpPr/>
          <p:nvPr/>
        </p:nvSpPr>
        <p:spPr>
          <a:xfrm>
            <a:off x="5897880" y="1627632"/>
            <a:ext cx="2304288" cy="256032"/>
          </a:xfrm>
          <a:prstGeom prst="rect">
            <a:avLst/>
          </a:prstGeom>
          <a:noFill/>
          <a:ln/>
        </p:spPr>
        <p:txBody>
          <a:bodyPr wrap="square" rtlCol="0" anchor="ctr"/>
          <a:lstStyle/>
          <a:p>
            <a:pPr indent="0" marL="0">
              <a:buNone/>
            </a:pPr>
            <a:r>
              <a:rPr lang="en-US" sz="1000" b="1" dirty="0">
                <a:solidFill>
                  <a:srgbClr val="A32D2D"/>
                </a:solidFill>
                <a:latin typeface="Arial" pitchFamily="34" charset="0"/>
                <a:ea typeface="Arial" pitchFamily="34" charset="-122"/>
                <a:cs typeface="Arial" pitchFamily="34" charset="-120"/>
              </a:rPr>
              <a:t>Cost estimate off by 10x</a:t>
            </a:r>
            <a:endParaRPr lang="en-US" sz="1000" dirty="0"/>
          </a:p>
        </p:txBody>
      </p:sp>
      <p:sp>
        <p:nvSpPr>
          <p:cNvPr id="31" name="Text 29"/>
          <p:cNvSpPr/>
          <p:nvPr/>
        </p:nvSpPr>
        <p:spPr>
          <a:xfrm>
            <a:off x="5897880" y="1883664"/>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said $2-3 per session. Real number after calculation: $0.29, and $0.08 after optimisation. Overestimate nearly changed the API key decision.</a:t>
            </a:r>
            <a:endParaRPr lang="en-US" sz="900" dirty="0"/>
          </a:p>
        </p:txBody>
      </p:sp>
      <p:sp>
        <p:nvSpPr>
          <p:cNvPr id="32" name="Shape 30"/>
          <p:cNvSpPr/>
          <p:nvPr/>
        </p:nvSpPr>
        <p:spPr>
          <a:xfrm>
            <a:off x="5760720" y="2651760"/>
            <a:ext cx="2578608" cy="1005840"/>
          </a:xfrm>
          <a:prstGeom prst="roundRect">
            <a:avLst>
              <a:gd name="adj" fmla="val 7273"/>
            </a:avLst>
          </a:prstGeom>
          <a:solidFill>
            <a:srgbClr val="FC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3" name="Text 31"/>
          <p:cNvSpPr/>
          <p:nvPr/>
        </p:nvSpPr>
        <p:spPr>
          <a:xfrm>
            <a:off x="5897880" y="2743200"/>
            <a:ext cx="2304288" cy="256032"/>
          </a:xfrm>
          <a:prstGeom prst="rect">
            <a:avLst/>
          </a:prstGeom>
          <a:noFill/>
          <a:ln/>
        </p:spPr>
        <p:txBody>
          <a:bodyPr wrap="square" rtlCol="0" anchor="ctr"/>
          <a:lstStyle/>
          <a:p>
            <a:pPr indent="0" marL="0">
              <a:buNone/>
            </a:pPr>
            <a:r>
              <a:rPr lang="en-US" sz="1000" b="1" dirty="0">
                <a:solidFill>
                  <a:srgbClr val="A32D2D"/>
                </a:solidFill>
                <a:latin typeface="Arial" pitchFamily="34" charset="0"/>
                <a:ea typeface="Arial" pitchFamily="34" charset="-122"/>
                <a:cs typeface="Arial" pitchFamily="34" charset="-120"/>
              </a:rPr>
              <a:t>Built infra that should not exist</a:t>
            </a:r>
            <a:endParaRPr lang="en-US" sz="1000" dirty="0"/>
          </a:p>
        </p:txBody>
      </p:sp>
      <p:sp>
        <p:nvSpPr>
          <p:cNvPr id="34" name="Text 32"/>
          <p:cNvSpPr/>
          <p:nvPr/>
        </p:nvSpPr>
        <p:spPr>
          <a:xfrm>
            <a:off x="5897880" y="2999232"/>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The Supabase adrs table was designed, migrated, and built before the simpler answer was found. Cost real build time.</a:t>
            </a:r>
            <a:endParaRPr lang="en-US" sz="900" dirty="0"/>
          </a:p>
        </p:txBody>
      </p:sp>
      <p:sp>
        <p:nvSpPr>
          <p:cNvPr id="35" name="Shape 33"/>
          <p:cNvSpPr/>
          <p:nvPr/>
        </p:nvSpPr>
        <p:spPr>
          <a:xfrm>
            <a:off x="5760720" y="3767328"/>
            <a:ext cx="2578608" cy="1005840"/>
          </a:xfrm>
          <a:prstGeom prst="roundRect">
            <a:avLst>
              <a:gd name="adj" fmla="val 7273"/>
            </a:avLst>
          </a:prstGeom>
          <a:solidFill>
            <a:srgbClr val="FC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6" name="Text 34"/>
          <p:cNvSpPr/>
          <p:nvPr/>
        </p:nvSpPr>
        <p:spPr>
          <a:xfrm>
            <a:off x="5897880" y="3858768"/>
            <a:ext cx="2304288" cy="256032"/>
          </a:xfrm>
          <a:prstGeom prst="rect">
            <a:avLst/>
          </a:prstGeom>
          <a:noFill/>
          <a:ln/>
        </p:spPr>
        <p:txBody>
          <a:bodyPr wrap="square" rtlCol="0" anchor="ctr"/>
          <a:lstStyle/>
          <a:p>
            <a:pPr indent="0" marL="0">
              <a:buNone/>
            </a:pPr>
            <a:r>
              <a:rPr lang="en-US" sz="1000" b="1" dirty="0">
                <a:solidFill>
                  <a:srgbClr val="A32D2D"/>
                </a:solidFill>
                <a:latin typeface="Arial" pitchFamily="34" charset="0"/>
                <a:ea typeface="Arial" pitchFamily="34" charset="-122"/>
                <a:cs typeface="Arial" pitchFamily="34" charset="-120"/>
              </a:rPr>
              <a:t>Misdiagnosed upload bug</a:t>
            </a:r>
            <a:endParaRPr lang="en-US" sz="1000" dirty="0"/>
          </a:p>
        </p:txBody>
      </p:sp>
      <p:sp>
        <p:nvSpPr>
          <p:cNvPr id="37" name="Text 35"/>
          <p:cNvSpPr/>
          <p:nvPr/>
        </p:nvSpPr>
        <p:spPr>
          <a:xfrm>
            <a:off x="5897880" y="4114800"/>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said Impact Analysis showing wrong content was mock mode behaviour. It was a real bug — extracted text not flowing to analyzeImpact.</a:t>
            </a:r>
            <a:endParaRPr lang="en-US" sz="900" dirty="0"/>
          </a:p>
        </p:txBody>
      </p:sp>
      <p:sp>
        <p:nvSpPr>
          <p:cNvPr id="38" name="Shape 36"/>
          <p:cNvSpPr/>
          <p:nvPr/>
        </p:nvSpPr>
        <p:spPr>
          <a:xfrm>
            <a:off x="411480" y="4553712"/>
            <a:ext cx="8321040" cy="347472"/>
          </a:xfrm>
          <a:prstGeom prst="roundRect">
            <a:avLst>
              <a:gd name="adj" fmla="val 15789"/>
            </a:avLst>
          </a:prstGeom>
          <a:solidFill>
            <a:srgbClr val="0F1E3C"/>
          </a:solidFill>
          <a:ln w="12700">
            <a:solidFill>
              <a:srgbClr val="0F1E3C"/>
            </a:solidFill>
            <a:prstDash val="solid"/>
          </a:ln>
        </p:spPr>
      </p:sp>
      <p:sp>
        <p:nvSpPr>
          <p:cNvPr id="39" name="Text 37"/>
          <p:cNvSpPr/>
          <p:nvPr/>
        </p:nvSpPr>
        <p:spPr>
          <a:xfrm>
            <a:off x="548640" y="4562856"/>
            <a:ext cx="8046720" cy="329184"/>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The pattern: human brought domain judgment + architectural instinct. AI brought systems thinking + timing discipline. Neither alone gets here.</a:t>
            </a:r>
            <a:endParaRPr lang="en-US" sz="100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292608"/>
            <a:ext cx="8138160" cy="201168"/>
          </a:xfrm>
          <a:prstGeom prst="rect">
            <a:avLst/>
          </a:prstGeom>
          <a:noFill/>
          <a:ln/>
        </p:spPr>
        <p:txBody>
          <a:bodyPr wrap="square" rtlCol="0" anchor="ctr"/>
          <a:lstStyle/>
          <a:p>
            <a:pPr indent="0" marL="0">
              <a:buNone/>
            </a:pPr>
            <a:r>
              <a:rPr lang="en-US" sz="900" b="1" spc="300" kern="0" dirty="0">
                <a:solidFill>
                  <a:srgbClr val="2E6DA4"/>
                </a:solidFill>
                <a:latin typeface="Arial" pitchFamily="34" charset="0"/>
                <a:ea typeface="Arial" pitchFamily="34" charset="-122"/>
                <a:cs typeface="Arial" pitchFamily="34" charset="-120"/>
              </a:rPr>
              <a:t>TECHNICAL APPENDIX — COLLABORATION RETROSPECTIVE</a:t>
            </a:r>
            <a:endParaRPr lang="en-US" sz="900" dirty="0"/>
          </a:p>
        </p:txBody>
      </p:sp>
      <p:sp>
        <p:nvSpPr>
          <p:cNvPr id="3" name="Text 1"/>
          <p:cNvSpPr/>
          <p:nvPr/>
        </p:nvSpPr>
        <p:spPr>
          <a:xfrm>
            <a:off x="502920" y="530352"/>
            <a:ext cx="8138160" cy="502920"/>
          </a:xfrm>
          <a:prstGeom prst="rect">
            <a:avLst/>
          </a:prstGeom>
          <a:noFill/>
          <a:ln/>
        </p:spPr>
        <p:txBody>
          <a:bodyPr wrap="square" rtlCol="0" anchor="ctr"/>
          <a:lstStyle/>
          <a:p>
            <a:pPr indent="0" marL="0">
              <a:buNone/>
            </a:pPr>
            <a:r>
              <a:rPr lang="en-US" sz="2400" b="1" dirty="0">
                <a:solidFill>
                  <a:srgbClr val="1A1A1A"/>
                </a:solidFill>
                <a:latin typeface="Arial" pitchFamily="34" charset="0"/>
                <a:ea typeface="Arial" pitchFamily="34" charset="-122"/>
                <a:cs typeface="Arial" pitchFamily="34" charset="-120"/>
              </a:rPr>
              <a:t>Where human and AI challenged each other — and who was right</a:t>
            </a:r>
            <a:endParaRPr lang="en-US" sz="2400" dirty="0"/>
          </a:p>
        </p:txBody>
      </p:sp>
      <p:sp>
        <p:nvSpPr>
          <p:cNvPr id="4" name="Shape 2"/>
          <p:cNvSpPr/>
          <p:nvPr/>
        </p:nvSpPr>
        <p:spPr>
          <a:xfrm>
            <a:off x="502920" y="1078992"/>
            <a:ext cx="8138160" cy="0"/>
          </a:xfrm>
          <a:prstGeom prst="line">
            <a:avLst/>
          </a:prstGeom>
          <a:noFill/>
          <a:ln w="10160">
            <a:solidFill>
              <a:srgbClr val="EBEBEB"/>
            </a:solidFill>
            <a:prstDash val="solid"/>
          </a:ln>
        </p:spPr>
      </p:sp>
      <p:sp>
        <p:nvSpPr>
          <p:cNvPr id="5" name="Shape 3"/>
          <p:cNvSpPr/>
          <p:nvPr/>
        </p:nvSpPr>
        <p:spPr>
          <a:xfrm>
            <a:off x="411480" y="1170432"/>
            <a:ext cx="2578608" cy="292608"/>
          </a:xfrm>
          <a:prstGeom prst="roundRect">
            <a:avLst>
              <a:gd name="adj" fmla="val 18750"/>
            </a:avLst>
          </a:prstGeom>
          <a:solidFill>
            <a:srgbClr val="0F6E56"/>
          </a:solidFill>
          <a:ln w="12700">
            <a:solidFill>
              <a:srgbClr val="0F6E56"/>
            </a:solidFill>
            <a:prstDash val="solid"/>
          </a:ln>
        </p:spPr>
      </p:sp>
      <p:sp>
        <p:nvSpPr>
          <p:cNvPr id="6" name="Text 4"/>
          <p:cNvSpPr/>
          <p:nvPr/>
        </p:nvSpPr>
        <p:spPr>
          <a:xfrm>
            <a:off x="411480" y="1179576"/>
            <a:ext cx="257860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Human challenged AI — and was right</a:t>
            </a:r>
            <a:endParaRPr lang="en-US" sz="850" dirty="0"/>
          </a:p>
        </p:txBody>
      </p:sp>
      <p:sp>
        <p:nvSpPr>
          <p:cNvPr id="7" name="Shape 5"/>
          <p:cNvSpPr/>
          <p:nvPr/>
        </p:nvSpPr>
        <p:spPr>
          <a:xfrm>
            <a:off x="3090672" y="1170432"/>
            <a:ext cx="2578608" cy="292608"/>
          </a:xfrm>
          <a:prstGeom prst="roundRect">
            <a:avLst>
              <a:gd name="adj" fmla="val 18750"/>
            </a:avLst>
          </a:prstGeom>
          <a:solidFill>
            <a:srgbClr val="1B4F9B"/>
          </a:solidFill>
          <a:ln w="12700">
            <a:solidFill>
              <a:srgbClr val="1B4F9B"/>
            </a:solidFill>
            <a:prstDash val="solid"/>
          </a:ln>
        </p:spPr>
      </p:sp>
      <p:sp>
        <p:nvSpPr>
          <p:cNvPr id="8" name="Text 6"/>
          <p:cNvSpPr/>
          <p:nvPr/>
        </p:nvSpPr>
        <p:spPr>
          <a:xfrm>
            <a:off x="3090672" y="1179576"/>
            <a:ext cx="257860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AI challenged human — and was right</a:t>
            </a:r>
            <a:endParaRPr lang="en-US" sz="850" dirty="0"/>
          </a:p>
        </p:txBody>
      </p:sp>
      <p:sp>
        <p:nvSpPr>
          <p:cNvPr id="9" name="Shape 7"/>
          <p:cNvSpPr/>
          <p:nvPr/>
        </p:nvSpPr>
        <p:spPr>
          <a:xfrm>
            <a:off x="5760720" y="1170432"/>
            <a:ext cx="2578608" cy="292608"/>
          </a:xfrm>
          <a:prstGeom prst="roundRect">
            <a:avLst>
              <a:gd name="adj" fmla="val 18750"/>
            </a:avLst>
          </a:prstGeom>
          <a:solidFill>
            <a:srgbClr val="A32D2D"/>
          </a:solidFill>
          <a:ln w="12700">
            <a:solidFill>
              <a:srgbClr val="A32D2D"/>
            </a:solidFill>
            <a:prstDash val="solid"/>
          </a:ln>
        </p:spPr>
      </p:sp>
      <p:sp>
        <p:nvSpPr>
          <p:cNvPr id="10" name="Text 8"/>
          <p:cNvSpPr/>
          <p:nvPr/>
        </p:nvSpPr>
        <p:spPr>
          <a:xfrm>
            <a:off x="5760720" y="1179576"/>
            <a:ext cx="257860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AI was wrong</a:t>
            </a:r>
            <a:endParaRPr lang="en-US" sz="850" dirty="0"/>
          </a:p>
        </p:txBody>
      </p:sp>
      <p:sp>
        <p:nvSpPr>
          <p:cNvPr id="11" name="Shape 9"/>
          <p:cNvSpPr/>
          <p:nvPr/>
        </p:nvSpPr>
        <p:spPr>
          <a:xfrm>
            <a:off x="411480" y="1536192"/>
            <a:ext cx="2578608" cy="1005840"/>
          </a:xfrm>
          <a:prstGeom prst="roundRect">
            <a:avLst>
              <a:gd name="adj" fmla="val 7273"/>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2" name="Text 10"/>
          <p:cNvSpPr/>
          <p:nvPr/>
        </p:nvSpPr>
        <p:spPr>
          <a:xfrm>
            <a:off x="548640" y="1627632"/>
            <a:ext cx="2304288"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Jira as memory source of truth</a:t>
            </a:r>
            <a:endParaRPr lang="en-US" sz="1000" dirty="0"/>
          </a:p>
        </p:txBody>
      </p:sp>
      <p:sp>
        <p:nvSpPr>
          <p:cNvPr id="13" name="Text 11"/>
          <p:cNvSpPr/>
          <p:nvPr/>
        </p:nvSpPr>
        <p:spPr>
          <a:xfrm>
            <a:off x="548640" y="1883664"/>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built a Supabase adrs table. You pointed out Jira already has everything. Simpler, no duplication, architects own it.</a:t>
            </a:r>
            <a:endParaRPr lang="en-US" sz="900" dirty="0"/>
          </a:p>
        </p:txBody>
      </p:sp>
      <p:sp>
        <p:nvSpPr>
          <p:cNvPr id="14" name="Shape 12"/>
          <p:cNvSpPr/>
          <p:nvPr/>
        </p:nvSpPr>
        <p:spPr>
          <a:xfrm>
            <a:off x="411480" y="2651760"/>
            <a:ext cx="2578608" cy="1005840"/>
          </a:xfrm>
          <a:prstGeom prst="roundRect">
            <a:avLst>
              <a:gd name="adj" fmla="val 7273"/>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5" name="Text 13"/>
          <p:cNvSpPr/>
          <p:nvPr/>
        </p:nvSpPr>
        <p:spPr>
          <a:xfrm>
            <a:off x="548640" y="2743200"/>
            <a:ext cx="2304288"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Countersign logic was too blunt</a:t>
            </a:r>
            <a:endParaRPr lang="en-US" sz="1000" dirty="0"/>
          </a:p>
        </p:txBody>
      </p:sp>
      <p:sp>
        <p:nvSpPr>
          <p:cNvPr id="16" name="Text 14"/>
          <p:cNvSpPr/>
          <p:nvPr/>
        </p:nvSpPr>
        <p:spPr>
          <a:xfrm>
            <a:off x="548640" y="2999232"/>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made countersign available on every session. You said low-confidence decisions need forced assignment, not a one-click stamp.</a:t>
            </a:r>
            <a:endParaRPr lang="en-US" sz="900" dirty="0"/>
          </a:p>
        </p:txBody>
      </p:sp>
      <p:sp>
        <p:nvSpPr>
          <p:cNvPr id="17" name="Shape 15"/>
          <p:cNvSpPr/>
          <p:nvPr/>
        </p:nvSpPr>
        <p:spPr>
          <a:xfrm>
            <a:off x="411480" y="3767328"/>
            <a:ext cx="2578608" cy="1005840"/>
          </a:xfrm>
          <a:prstGeom prst="roundRect">
            <a:avLst>
              <a:gd name="adj" fmla="val 7273"/>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8" name="Text 16"/>
          <p:cNvSpPr/>
          <p:nvPr/>
        </p:nvSpPr>
        <p:spPr>
          <a:xfrm>
            <a:off x="548640" y="3858768"/>
            <a:ext cx="2304288"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Stopping to define personas</a:t>
            </a:r>
            <a:endParaRPr lang="en-US" sz="1000" dirty="0"/>
          </a:p>
        </p:txBody>
      </p:sp>
      <p:sp>
        <p:nvSpPr>
          <p:cNvPr id="19" name="Text 17"/>
          <p:cNvSpPr/>
          <p:nvPr/>
        </p:nvSpPr>
        <p:spPr>
          <a:xfrm>
            <a:off x="548640" y="4114800"/>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Midway through building the endorsement UI, you asked who actually runs this. Claude hadn't raised it. The answer shaped the whole flow.</a:t>
            </a:r>
            <a:endParaRPr lang="en-US" sz="900" dirty="0"/>
          </a:p>
        </p:txBody>
      </p:sp>
      <p:sp>
        <p:nvSpPr>
          <p:cNvPr id="20" name="Shape 18"/>
          <p:cNvSpPr/>
          <p:nvPr/>
        </p:nvSpPr>
        <p:spPr>
          <a:xfrm>
            <a:off x="3090672" y="1536192"/>
            <a:ext cx="2578608" cy="1005840"/>
          </a:xfrm>
          <a:prstGeom prst="roundRect">
            <a:avLst>
              <a:gd name="adj" fmla="val 7273"/>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1" name="Text 19"/>
          <p:cNvSpPr/>
          <p:nvPr/>
        </p:nvSpPr>
        <p:spPr>
          <a:xfrm>
            <a:off x="3227832" y="1627632"/>
            <a:ext cx="2304288" cy="256032"/>
          </a:xfrm>
          <a:prstGeom prst="rect">
            <a:avLst/>
          </a:prstGeom>
          <a:noFill/>
          <a:ln/>
        </p:spPr>
        <p:txBody>
          <a:bodyPr wrap="square" rtlCol="0" anchor="ctr"/>
          <a:lstStyle/>
          <a:p>
            <a:pPr indent="0" marL="0">
              <a:buNone/>
            </a:pPr>
            <a:r>
              <a:rPr lang="en-US" sz="1000" b="1" dirty="0">
                <a:solidFill>
                  <a:srgbClr val="1B4F9B"/>
                </a:solidFill>
                <a:latin typeface="Arial" pitchFamily="34" charset="0"/>
                <a:ea typeface="Arial" pitchFamily="34" charset="-122"/>
                <a:cs typeface="Arial" pitchFamily="34" charset="-120"/>
              </a:rPr>
              <a:t>pgvector RAG before Friday</a:t>
            </a:r>
            <a:endParaRPr lang="en-US" sz="1000" dirty="0"/>
          </a:p>
        </p:txBody>
      </p:sp>
      <p:sp>
        <p:nvSpPr>
          <p:cNvPr id="22" name="Text 20"/>
          <p:cNvSpPr/>
          <p:nvPr/>
        </p:nvSpPr>
        <p:spPr>
          <a:xfrm>
            <a:off x="3227832" y="1883664"/>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You wanted full WA Framework ingestion. Claude said too risky two days before demo. Static principles in 30 minutes instead.</a:t>
            </a:r>
            <a:endParaRPr lang="en-US" sz="900" dirty="0"/>
          </a:p>
        </p:txBody>
      </p:sp>
      <p:sp>
        <p:nvSpPr>
          <p:cNvPr id="23" name="Shape 21"/>
          <p:cNvSpPr/>
          <p:nvPr/>
        </p:nvSpPr>
        <p:spPr>
          <a:xfrm>
            <a:off x="3090672" y="2651760"/>
            <a:ext cx="2578608" cy="1005840"/>
          </a:xfrm>
          <a:prstGeom prst="roundRect">
            <a:avLst>
              <a:gd name="adj" fmla="val 7273"/>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4" name="Text 22"/>
          <p:cNvSpPr/>
          <p:nvPr/>
        </p:nvSpPr>
        <p:spPr>
          <a:xfrm>
            <a:off x="3227832" y="2743200"/>
            <a:ext cx="2304288" cy="256032"/>
          </a:xfrm>
          <a:prstGeom prst="rect">
            <a:avLst/>
          </a:prstGeom>
          <a:noFill/>
          <a:ln/>
        </p:spPr>
        <p:txBody>
          <a:bodyPr wrap="square" rtlCol="0" anchor="ctr"/>
          <a:lstStyle/>
          <a:p>
            <a:pPr indent="0" marL="0">
              <a:buNone/>
            </a:pPr>
            <a:r>
              <a:rPr lang="en-US" sz="1000" b="1" dirty="0">
                <a:solidFill>
                  <a:srgbClr val="1B4F9B"/>
                </a:solidFill>
                <a:latin typeface="Arial" pitchFamily="34" charset="0"/>
                <a:ea typeface="Arial" pitchFamily="34" charset="-122"/>
                <a:cs typeface="Arial" pitchFamily="34" charset="-120"/>
              </a:rPr>
              <a:t>MCP before functional build</a:t>
            </a:r>
            <a:endParaRPr lang="en-US" sz="1000" dirty="0"/>
          </a:p>
        </p:txBody>
      </p:sp>
      <p:sp>
        <p:nvSpPr>
          <p:cNvPr id="25" name="Text 23"/>
          <p:cNvSpPr/>
          <p:nvPr/>
        </p:nvSpPr>
        <p:spPr>
          <a:xfrm>
            <a:off x="3227832" y="2999232"/>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MCP was a priority early. Claude kept pushing it back — jsforce works, licensing blocks it. Right call. Everything else shipped.</a:t>
            </a:r>
            <a:endParaRPr lang="en-US" sz="900" dirty="0"/>
          </a:p>
        </p:txBody>
      </p:sp>
      <p:sp>
        <p:nvSpPr>
          <p:cNvPr id="26" name="Shape 24"/>
          <p:cNvSpPr/>
          <p:nvPr/>
        </p:nvSpPr>
        <p:spPr>
          <a:xfrm>
            <a:off x="3090672" y="3767328"/>
            <a:ext cx="2578608" cy="1005840"/>
          </a:xfrm>
          <a:prstGeom prst="roundRect">
            <a:avLst>
              <a:gd name="adj" fmla="val 7273"/>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Text 25"/>
          <p:cNvSpPr/>
          <p:nvPr/>
        </p:nvSpPr>
        <p:spPr>
          <a:xfrm>
            <a:off x="3227832" y="3858768"/>
            <a:ext cx="2304288" cy="256032"/>
          </a:xfrm>
          <a:prstGeom prst="rect">
            <a:avLst/>
          </a:prstGeom>
          <a:noFill/>
          <a:ln/>
        </p:spPr>
        <p:txBody>
          <a:bodyPr wrap="square" rtlCol="0" anchor="ctr"/>
          <a:lstStyle/>
          <a:p>
            <a:pPr indent="0" marL="0">
              <a:buNone/>
            </a:pPr>
            <a:r>
              <a:rPr lang="en-US" sz="1000" b="1" dirty="0">
                <a:solidFill>
                  <a:srgbClr val="1B4F9B"/>
                </a:solidFill>
                <a:latin typeface="Arial" pitchFamily="34" charset="0"/>
                <a:ea typeface="Arial" pitchFamily="34" charset="-122"/>
                <a:cs typeface="Arial" pitchFamily="34" charset="-120"/>
              </a:rPr>
              <a:t>Opus vs Sonnet</a:t>
            </a:r>
            <a:endParaRPr lang="en-US" sz="1000" dirty="0"/>
          </a:p>
        </p:txBody>
      </p:sp>
      <p:sp>
        <p:nvSpPr>
          <p:cNvPr id="28" name="Text 26"/>
          <p:cNvSpPr/>
          <p:nvPr/>
        </p:nvSpPr>
        <p:spPr>
          <a:xfrm>
            <a:off x="3227832" y="4114800"/>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You asked about Opus quality. Claude said the grounding architecture does the lifting — 10x cost for marginal gain is not worth it.</a:t>
            </a:r>
            <a:endParaRPr lang="en-US" sz="900" dirty="0"/>
          </a:p>
        </p:txBody>
      </p:sp>
      <p:sp>
        <p:nvSpPr>
          <p:cNvPr id="29" name="Shape 27"/>
          <p:cNvSpPr/>
          <p:nvPr/>
        </p:nvSpPr>
        <p:spPr>
          <a:xfrm>
            <a:off x="5760720" y="1536192"/>
            <a:ext cx="2578608" cy="1005840"/>
          </a:xfrm>
          <a:prstGeom prst="roundRect">
            <a:avLst>
              <a:gd name="adj" fmla="val 7273"/>
            </a:avLst>
          </a:prstGeom>
          <a:solidFill>
            <a:srgbClr val="FC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0" name="Text 28"/>
          <p:cNvSpPr/>
          <p:nvPr/>
        </p:nvSpPr>
        <p:spPr>
          <a:xfrm>
            <a:off x="5897880" y="1627632"/>
            <a:ext cx="2304288" cy="256032"/>
          </a:xfrm>
          <a:prstGeom prst="rect">
            <a:avLst/>
          </a:prstGeom>
          <a:noFill/>
          <a:ln/>
        </p:spPr>
        <p:txBody>
          <a:bodyPr wrap="square" rtlCol="0" anchor="ctr"/>
          <a:lstStyle/>
          <a:p>
            <a:pPr indent="0" marL="0">
              <a:buNone/>
            </a:pPr>
            <a:r>
              <a:rPr lang="en-US" sz="1000" b="1" dirty="0">
                <a:solidFill>
                  <a:srgbClr val="A32D2D"/>
                </a:solidFill>
                <a:latin typeface="Arial" pitchFamily="34" charset="0"/>
                <a:ea typeface="Arial" pitchFamily="34" charset="-122"/>
                <a:cs typeface="Arial" pitchFamily="34" charset="-120"/>
              </a:rPr>
              <a:t>Cost estimate off by 10x</a:t>
            </a:r>
            <a:endParaRPr lang="en-US" sz="1000" dirty="0"/>
          </a:p>
        </p:txBody>
      </p:sp>
      <p:sp>
        <p:nvSpPr>
          <p:cNvPr id="31" name="Text 29"/>
          <p:cNvSpPr/>
          <p:nvPr/>
        </p:nvSpPr>
        <p:spPr>
          <a:xfrm>
            <a:off x="5897880" y="1883664"/>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said $2-3 per session. Real number after calculation: $0.29, and $0.08 after optimisation. Overestimate nearly changed the API key decision.</a:t>
            </a:r>
            <a:endParaRPr lang="en-US" sz="900" dirty="0"/>
          </a:p>
        </p:txBody>
      </p:sp>
      <p:sp>
        <p:nvSpPr>
          <p:cNvPr id="32" name="Shape 30"/>
          <p:cNvSpPr/>
          <p:nvPr/>
        </p:nvSpPr>
        <p:spPr>
          <a:xfrm>
            <a:off x="5760720" y="2651760"/>
            <a:ext cx="2578608" cy="1005840"/>
          </a:xfrm>
          <a:prstGeom prst="roundRect">
            <a:avLst>
              <a:gd name="adj" fmla="val 7273"/>
            </a:avLst>
          </a:prstGeom>
          <a:solidFill>
            <a:srgbClr val="FC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3" name="Text 31"/>
          <p:cNvSpPr/>
          <p:nvPr/>
        </p:nvSpPr>
        <p:spPr>
          <a:xfrm>
            <a:off x="5897880" y="2743200"/>
            <a:ext cx="2304288" cy="256032"/>
          </a:xfrm>
          <a:prstGeom prst="rect">
            <a:avLst/>
          </a:prstGeom>
          <a:noFill/>
          <a:ln/>
        </p:spPr>
        <p:txBody>
          <a:bodyPr wrap="square" rtlCol="0" anchor="ctr"/>
          <a:lstStyle/>
          <a:p>
            <a:pPr indent="0" marL="0">
              <a:buNone/>
            </a:pPr>
            <a:r>
              <a:rPr lang="en-US" sz="1000" b="1" dirty="0">
                <a:solidFill>
                  <a:srgbClr val="A32D2D"/>
                </a:solidFill>
                <a:latin typeface="Arial" pitchFamily="34" charset="0"/>
                <a:ea typeface="Arial" pitchFamily="34" charset="-122"/>
                <a:cs typeface="Arial" pitchFamily="34" charset="-120"/>
              </a:rPr>
              <a:t>Built infra that should not exist</a:t>
            </a:r>
            <a:endParaRPr lang="en-US" sz="1000" dirty="0"/>
          </a:p>
        </p:txBody>
      </p:sp>
      <p:sp>
        <p:nvSpPr>
          <p:cNvPr id="34" name="Text 32"/>
          <p:cNvSpPr/>
          <p:nvPr/>
        </p:nvSpPr>
        <p:spPr>
          <a:xfrm>
            <a:off x="5897880" y="2999232"/>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The Supabase adrs table was designed, migrated, and built before the simpler answer was found. Cost real build time.</a:t>
            </a:r>
            <a:endParaRPr lang="en-US" sz="900" dirty="0"/>
          </a:p>
        </p:txBody>
      </p:sp>
      <p:sp>
        <p:nvSpPr>
          <p:cNvPr id="35" name="Shape 33"/>
          <p:cNvSpPr/>
          <p:nvPr/>
        </p:nvSpPr>
        <p:spPr>
          <a:xfrm>
            <a:off x="5760720" y="3767328"/>
            <a:ext cx="2578608" cy="1005840"/>
          </a:xfrm>
          <a:prstGeom prst="roundRect">
            <a:avLst>
              <a:gd name="adj" fmla="val 7273"/>
            </a:avLst>
          </a:prstGeom>
          <a:solidFill>
            <a:srgbClr val="FC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6" name="Text 34"/>
          <p:cNvSpPr/>
          <p:nvPr/>
        </p:nvSpPr>
        <p:spPr>
          <a:xfrm>
            <a:off x="5897880" y="3858768"/>
            <a:ext cx="2304288" cy="256032"/>
          </a:xfrm>
          <a:prstGeom prst="rect">
            <a:avLst/>
          </a:prstGeom>
          <a:noFill/>
          <a:ln/>
        </p:spPr>
        <p:txBody>
          <a:bodyPr wrap="square" rtlCol="0" anchor="ctr"/>
          <a:lstStyle/>
          <a:p>
            <a:pPr indent="0" marL="0">
              <a:buNone/>
            </a:pPr>
            <a:r>
              <a:rPr lang="en-US" sz="1000" b="1" dirty="0">
                <a:solidFill>
                  <a:srgbClr val="A32D2D"/>
                </a:solidFill>
                <a:latin typeface="Arial" pitchFamily="34" charset="0"/>
                <a:ea typeface="Arial" pitchFamily="34" charset="-122"/>
                <a:cs typeface="Arial" pitchFamily="34" charset="-120"/>
              </a:rPr>
              <a:t>Misdiagnosed upload bug</a:t>
            </a:r>
            <a:endParaRPr lang="en-US" sz="1000" dirty="0"/>
          </a:p>
        </p:txBody>
      </p:sp>
      <p:sp>
        <p:nvSpPr>
          <p:cNvPr id="37" name="Text 35"/>
          <p:cNvSpPr/>
          <p:nvPr/>
        </p:nvSpPr>
        <p:spPr>
          <a:xfrm>
            <a:off x="5897880" y="4114800"/>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said Impact Analysis showing wrong content was mock mode behaviour. It was a real bug — extracted text not flowing to analyzeImpact.</a:t>
            </a:r>
            <a:endParaRPr lang="en-US" sz="900" dirty="0"/>
          </a:p>
        </p:txBody>
      </p:sp>
      <p:sp>
        <p:nvSpPr>
          <p:cNvPr id="38" name="Shape 36"/>
          <p:cNvSpPr/>
          <p:nvPr/>
        </p:nvSpPr>
        <p:spPr>
          <a:xfrm>
            <a:off x="411480" y="4553712"/>
            <a:ext cx="8321040" cy="347472"/>
          </a:xfrm>
          <a:prstGeom prst="roundRect">
            <a:avLst>
              <a:gd name="adj" fmla="val 15789"/>
            </a:avLst>
          </a:prstGeom>
          <a:solidFill>
            <a:srgbClr val="0F1E3C"/>
          </a:solidFill>
          <a:ln w="12700">
            <a:solidFill>
              <a:srgbClr val="0F1E3C"/>
            </a:solidFill>
            <a:prstDash val="solid"/>
          </a:ln>
        </p:spPr>
      </p:sp>
      <p:sp>
        <p:nvSpPr>
          <p:cNvPr id="39" name="Text 37"/>
          <p:cNvSpPr/>
          <p:nvPr/>
        </p:nvSpPr>
        <p:spPr>
          <a:xfrm>
            <a:off x="548640" y="4562856"/>
            <a:ext cx="8046720" cy="329184"/>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The pattern: human brought domain judgment + architectural instinct. AI brought systems thinking + timing discipline. Neither alone gets here.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rPr>
              <a:t>CAPABILITIES</a:t>
            </a:r>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rPr>
              <a:t>What ARBoard does today</a:t>
            </a:r>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Card1Bg"/>
          <p:cNvSpPr/>
          <p:nvPr/>
        </p:nvSpPr>
        <p:spPr>
          <a:xfrm>
            <a:off x="411480" y="1325880"/>
            <a:ext cx="2651760" cy="3246120"/>
          </a:xfrm>
          <a:prstGeom prst="roundRect">
            <a:avLst>
              <a:gd name="adj" fmla="val 2759"/>
            </a:avLst>
          </a:prstGeom>
          <a:solidFill>
            <a:srgbClr val="E1F5EE"/>
          </a:solidFill>
          <a:ln w="6350">
            <a:solidFill>
              <a:srgbClr val="D3D1C7"/>
            </a:solidFill>
          </a:ln>
        </p:spPr>
      </p:sp>
      <p:sp>
        <p:nvSpPr>
          <p:cNvPr id="6" name="Card1Header"/>
          <p:cNvSpPr/>
          <p:nvPr/>
        </p:nvSpPr>
        <p:spPr>
          <a:xfrm>
            <a:off x="411480" y="1325880"/>
            <a:ext cx="2651760" cy="384048"/>
          </a:xfrm>
          <a:prstGeom prst="roundRect">
            <a:avLst>
              <a:gd name="adj" fmla="val 19048"/>
            </a:avLst>
          </a:prstGeom>
          <a:solidFill>
            <a:srgbClr val="0F6E56"/>
          </a:solidFill>
          <a:ln w="12700">
            <a:solidFill>
              <a:srgbClr val="0F6E56"/>
            </a:solidFill>
          </a:ln>
        </p:spPr>
      </p:sp>
      <p:sp>
        <p:nvSpPr>
          <p:cNvPr id="7" name="Card1Title"/>
          <p:cNvSpPr/>
          <p:nvPr/>
        </p:nvSpPr>
        <p:spPr>
          <a:xfrm>
            <a:off x="411480" y="133502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rPr>
              <a:t>Review</a:t>
            </a:r>
          </a:p>
        </p:txBody>
      </p:sp>
      <p:sp>
        <p:nvSpPr>
          <p:cNvPr id="8" name="Card1Items"/>
          <p:cNvSpPr/>
          <p:nvPr/>
        </p:nvSpPr>
        <p:spPr>
          <a:xfrm>
            <a:off x="548640" y="1792224"/>
            <a:ext cx="2377440" cy="2700000"/>
          </a:xfrm>
          <a:prstGeom prst="rect">
            <a:avLst/>
          </a:prstGeom>
          <a:noFill/>
          <a:ln/>
        </p:spPr>
        <p:txBody>
          <a:bodyPr wrap="square" rtlCol="0" anchor="t"/>
          <a:lstStyle/>
          <a:p>
            <a:pPr indent="0" marL="0">
              <a:buNone/>
            </a:pPr>
            <a:r>
              <a:rPr lang="en-US" sz="950" b="1" dirty="0">
                <a:solidFill>
                  <a:srgbClr val="0F6E56"/>
                </a:solidFill>
                <a:latin typeface="Arial" pitchFamily="34" charset="0"/>
              </a:rPr>
              <a:t xml:space="preserve">→  </a:t>
            </a:r>
            <a:r>
              <a:rPr lang="en-US" sz="950" dirty="0">
                <a:solidFill>
                  <a:srgbClr val="1A1A1A"/>
                </a:solidFill>
                <a:latin typeface="Arial" pitchFamily="34" charset="0"/>
              </a:rPr>
              <a:t>Mode 1: Document Review (upload SDD)</a:t>
            </a:r>
          </a:p>
          <a:p>
            <a:pPr indent="0" marL="0">
              <a:buNone/>
            </a:pPr>
            <a:r>
              <a:rPr lang="en-US" sz="950" b="1" dirty="0">
                <a:solidFill>
                  <a:srgbClr val="0F6E56"/>
                </a:solidFill>
                <a:latin typeface="Arial" pitchFamily="34" charset="0"/>
              </a:rPr>
              <a:t xml:space="preserve">→  </a:t>
            </a:r>
            <a:r>
              <a:rPr lang="en-US" sz="950" dirty="0">
                <a:solidFill>
                  <a:srgbClr val="1A1A1A"/>
                </a:solidFill>
                <a:latin typeface="Arial" pitchFamily="34" charset="0"/>
              </a:rPr>
              <a:t>Mode 2: Greenfield Design (requirement text)</a:t>
            </a:r>
          </a:p>
          <a:p>
            <a:pPr indent="0" marL="0">
              <a:buNone/>
            </a:pPr>
            <a:r>
              <a:rPr lang="en-US" sz="950" b="1" dirty="0">
                <a:solidFill>
                  <a:srgbClr val="0F6E56"/>
                </a:solidFill>
                <a:latin typeface="Arial" pitchFamily="34" charset="0"/>
              </a:rPr>
              <a:t xml:space="preserve">→  </a:t>
            </a:r>
            <a:r>
              <a:rPr lang="en-US" sz="950" dirty="0">
                <a:solidFill>
                  <a:srgbClr val="1A1A1A"/>
                </a:solidFill>
                <a:latin typeface="Arial" pitchFamily="34" charset="0"/>
              </a:rPr>
              <a:t>Mode 3: Debate My Approach (critique free text)</a:t>
            </a:r>
          </a:p>
          <a:p>
            <a:pPr indent="0" marL="0">
              <a:buNone/>
            </a:pPr>
            <a:r>
              <a:rPr lang="en-US" sz="950" b="1" dirty="0">
                <a:solidFill>
                  <a:srgbClr val="0F6E56"/>
                </a:solidFill>
                <a:latin typeface="Arial" pitchFamily="34" charset="0"/>
              </a:rPr>
              <a:t xml:space="preserve">→  </a:t>
            </a:r>
            <a:r>
              <a:rPr lang="en-US" sz="950" dirty="0">
                <a:solidFill>
                  <a:srgbClr val="1A1A1A"/>
                </a:solidFill>
                <a:latin typeface="Arial" pitchFamily="34" charset="0"/>
              </a:rPr>
              <a:t>9 specialist agents review in sequence</a:t>
            </a:r>
          </a:p>
          <a:p>
            <a:pPr indent="0" marL="0">
              <a:buNone/>
            </a:pPr>
            <a:r>
              <a:rPr lang="en-US" sz="950" b="1" dirty="0">
                <a:solidFill>
                  <a:srgbClr val="0F6E56"/>
                </a:solidFill>
                <a:latin typeface="Arial" pitchFamily="34" charset="0"/>
              </a:rPr>
              <a:t xml:space="preserve">→  </a:t>
            </a:r>
            <a:r>
              <a:rPr lang="en-US" sz="950" dirty="0">
                <a:solidFill>
                  <a:srgbClr val="1A1A1A"/>
                </a:solidFill>
                <a:latin typeface="Arial" pitchFamily="34" charset="0"/>
              </a:rPr>
              <a:t>Judge arbitrates + confidence score</a:t>
            </a:r>
          </a:p>
          <a:p>
            <a:pPr indent="0" marL="0">
              <a:buNone/>
            </a:pPr>
            <a:r>
              <a:rPr lang="en-US" sz="950" b="1" dirty="0">
                <a:solidFill>
                  <a:srgbClr val="0F6E56"/>
                </a:solidFill>
                <a:latin typeface="Arial" pitchFamily="34" charset="0"/>
              </a:rPr>
              <a:t xml:space="preserve">→  </a:t>
            </a:r>
            <a:r>
              <a:rPr lang="en-US" sz="950" dirty="0">
                <a:solidFill>
                  <a:srgbClr val="1A1A1A"/>
                </a:solidFill>
                <a:latin typeface="Arial" pitchFamily="34" charset="0"/>
              </a:rPr>
              <a:t>Smart agent selection (Impact Analyser)</a:t>
            </a:r>
          </a:p>
        </p:txBody>
      </p:sp>
      <p:sp>
        <p:nvSpPr>
          <p:cNvPr id="9" name="Card2Bg"/>
          <p:cNvSpPr/>
          <p:nvPr/>
        </p:nvSpPr>
        <p:spPr>
          <a:xfrm>
            <a:off x="3227832" y="1325880"/>
            <a:ext cx="2651760" cy="3246120"/>
          </a:xfrm>
          <a:prstGeom prst="roundRect">
            <a:avLst>
              <a:gd name="adj" fmla="val 2759"/>
            </a:avLst>
          </a:prstGeom>
          <a:solidFill>
            <a:srgbClr val="EBF2FA"/>
          </a:solidFill>
          <a:ln w="6350">
            <a:solidFill>
              <a:srgbClr val="D3D1C7"/>
            </a:solidFill>
          </a:ln>
        </p:spPr>
      </p:sp>
      <p:sp>
        <p:nvSpPr>
          <p:cNvPr id="10" name="Card2Header"/>
          <p:cNvSpPr/>
          <p:nvPr/>
        </p:nvSpPr>
        <p:spPr>
          <a:xfrm>
            <a:off x="3227832" y="1325880"/>
            <a:ext cx="2651760" cy="384048"/>
          </a:xfrm>
          <a:prstGeom prst="roundRect">
            <a:avLst>
              <a:gd name="adj" fmla="val 19048"/>
            </a:avLst>
          </a:prstGeom>
          <a:solidFill>
            <a:srgbClr val="1B4F9B"/>
          </a:solidFill>
          <a:ln w="12700">
            <a:solidFill>
              <a:srgbClr val="1B4F9B"/>
            </a:solidFill>
          </a:ln>
        </p:spPr>
      </p:sp>
      <p:sp>
        <p:nvSpPr>
          <p:cNvPr id="11" name="Card2Title"/>
          <p:cNvSpPr/>
          <p:nvPr/>
        </p:nvSpPr>
        <p:spPr>
          <a:xfrm>
            <a:off x="3227832" y="133502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rPr>
              <a:t>Memory &amp; Grounding</a:t>
            </a:r>
          </a:p>
        </p:txBody>
      </p:sp>
      <p:sp>
        <p:nvSpPr>
          <p:cNvPr id="12" name="Card2Items"/>
          <p:cNvSpPr/>
          <p:nvPr/>
        </p:nvSpPr>
        <p:spPr>
          <a:xfrm>
            <a:off x="3364992" y="1792224"/>
            <a:ext cx="2377440" cy="2700000"/>
          </a:xfrm>
          <a:prstGeom prst="rect">
            <a:avLst/>
          </a:prstGeom>
          <a:noFill/>
          <a:ln/>
        </p:spPr>
        <p:txBody>
          <a:bodyPr wrap="square" rtlCol="0" anchor="t"/>
          <a:lstStyle/>
          <a:p>
            <a:pPr indent="0" marL="0">
              <a:buNone/>
            </a:pPr>
            <a:r>
              <a:rPr lang="en-US" sz="950" b="1" dirty="0">
                <a:solidFill>
                  <a:srgbClr val="1B4F9B"/>
                </a:solidFill>
                <a:latin typeface="Arial" pitchFamily="34" charset="0"/>
              </a:rPr>
              <a:t xml:space="preserve">→  </a:t>
            </a:r>
            <a:r>
              <a:rPr lang="en-US" sz="950" dirty="0">
                <a:solidFill>
                  <a:srgbClr val="1A1A1A"/>
                </a:solidFill>
                <a:latin typeface="Arial" pitchFamily="34" charset="0"/>
              </a:rPr>
              <a:t>Cross-session Jira memory</a:t>
            </a:r>
          </a:p>
          <a:p>
            <a:pPr indent="0" marL="0">
              <a:buNone/>
            </a:pPr>
            <a:r>
              <a:rPr lang="en-US" sz="950" b="1" dirty="0">
                <a:solidFill>
                  <a:srgbClr val="1B4F9B"/>
                </a:solidFill>
                <a:latin typeface="Arial" pitchFamily="34" charset="0"/>
              </a:rPr>
              <a:t xml:space="preserve">→  </a:t>
            </a:r>
            <a:r>
              <a:rPr lang="en-US" sz="950" dirty="0">
                <a:solidFill>
                  <a:srgbClr val="1A1A1A"/>
                </a:solidFill>
                <a:latin typeface="Arial" pitchFamily="34" charset="0"/>
              </a:rPr>
              <a:t>Prior ADR reconciliation (RESOLVED / PERSISTS)</a:t>
            </a:r>
          </a:p>
          <a:p>
            <a:pPr indent="0" marL="0">
              <a:buNone/>
            </a:pPr>
            <a:r>
              <a:rPr lang="en-US" sz="950" b="1" dirty="0">
                <a:solidFill>
                  <a:srgbClr val="1B4F9B"/>
                </a:solidFill>
                <a:latin typeface="Arial" pitchFamily="34" charset="0"/>
              </a:rPr>
              <a:t xml:space="preserve">→  </a:t>
            </a:r>
            <a:r>
              <a:rPr lang="en-US" sz="950" dirty="0">
                <a:solidFill>
                  <a:srgbClr val="1A1A1A"/>
                </a:solidFill>
                <a:latin typeface="Arial" pitchFamily="34" charset="0"/>
              </a:rPr>
              <a:t>SI failure pattern library (FP-004 to FP-012)</a:t>
            </a:r>
          </a:p>
          <a:p>
            <a:pPr indent="0" marL="0">
              <a:buNone/>
            </a:pPr>
            <a:r>
              <a:rPr lang="en-US" sz="950" b="1" dirty="0">
                <a:solidFill>
                  <a:srgbClr val="1B4F9B"/>
                </a:solidFill>
                <a:latin typeface="Arial" pitchFamily="34" charset="0"/>
              </a:rPr>
              <a:t xml:space="preserve">→  </a:t>
            </a:r>
            <a:r>
              <a:rPr lang="en-US" sz="950" dirty="0">
                <a:solidFill>
                  <a:srgbClr val="1A1A1A"/>
                </a:solidFill>
                <a:latin typeface="Arial" pitchFamily="34" charset="0"/>
              </a:rPr>
              <a:t>Salesforce Well-Architected principles</a:t>
            </a:r>
          </a:p>
          <a:p>
            <a:pPr indent="0" marL="0">
              <a:buNone/>
            </a:pPr>
            <a:r>
              <a:rPr lang="en-US" sz="950" b="1" dirty="0">
                <a:solidFill>
                  <a:srgbClr val="1B4F9B"/>
                </a:solidFill>
                <a:latin typeface="Arial" pitchFamily="34" charset="0"/>
              </a:rPr>
              <a:t xml:space="preserve">→  </a:t>
            </a:r>
            <a:r>
              <a:rPr lang="en-US" sz="950" dirty="0">
                <a:solidFill>
                  <a:srgbClr val="1A1A1A"/>
                </a:solidFill>
                <a:latin typeface="Arial" pitchFamily="34" charset="0"/>
              </a:rPr>
              <a:t>Live Salesforce org metadata injection</a:t>
            </a:r>
          </a:p>
          <a:p>
            <a:pPr indent="0" marL="0">
              <a:buNone/>
            </a:pPr>
            <a:r>
              <a:rPr lang="en-US" sz="950" b="1" dirty="0">
                <a:solidFill>
                  <a:srgbClr val="1B4F9B"/>
                </a:solidFill>
                <a:latin typeface="Arial" pitchFamily="34" charset="0"/>
              </a:rPr>
              <a:t xml:space="preserve">→  </a:t>
            </a:r>
            <a:r>
              <a:rPr lang="en-US" sz="950" dirty="0">
                <a:solidFill>
                  <a:srgbClr val="1A1A1A"/>
                </a:solidFill>
                <a:latin typeface="Arial" pitchFamily="34" charset="0"/>
              </a:rPr>
              <a:t>Contradiction detection across sessions</a:t>
            </a:r>
          </a:p>
        </p:txBody>
      </p:sp>
      <p:sp>
        <p:nvSpPr>
          <p:cNvPr id="13" name="Card3Bg"/>
          <p:cNvSpPr/>
          <p:nvPr/>
        </p:nvSpPr>
        <p:spPr>
          <a:xfrm>
            <a:off x="6044184" y="1325880"/>
            <a:ext cx="2651760" cy="3246120"/>
          </a:xfrm>
          <a:prstGeom prst="roundRect">
            <a:avLst>
              <a:gd name="adj" fmla="val 2759"/>
            </a:avLst>
          </a:prstGeom>
          <a:solidFill>
            <a:srgbClr val="FAEEDA"/>
          </a:solidFill>
          <a:ln w="6350">
            <a:solidFill>
              <a:srgbClr val="D3D1C7"/>
            </a:solidFill>
          </a:ln>
        </p:spPr>
      </p:sp>
      <p:sp>
        <p:nvSpPr>
          <p:cNvPr id="14" name="Card3Header"/>
          <p:cNvSpPr/>
          <p:nvPr/>
        </p:nvSpPr>
        <p:spPr>
          <a:xfrm>
            <a:off x="6044184" y="1325880"/>
            <a:ext cx="2651760" cy="384048"/>
          </a:xfrm>
          <a:prstGeom prst="roundRect">
            <a:avLst>
              <a:gd name="adj" fmla="val 19048"/>
            </a:avLst>
          </a:prstGeom>
          <a:solidFill>
            <a:srgbClr val="BA7517"/>
          </a:solidFill>
          <a:ln w="12700">
            <a:solidFill>
              <a:srgbClr val="BA7517"/>
            </a:solidFill>
          </a:ln>
        </p:spPr>
      </p:sp>
      <p:sp>
        <p:nvSpPr>
          <p:cNvPr id="15" name="Card3Title"/>
          <p:cNvSpPr/>
          <p:nvPr/>
        </p:nvSpPr>
        <p:spPr>
          <a:xfrm>
            <a:off x="6044184" y="133502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rPr>
              <a:t>Output &amp; Workflow</a:t>
            </a:r>
          </a:p>
        </p:txBody>
      </p:sp>
      <p:sp>
        <p:nvSpPr>
          <p:cNvPr id="16" name="Card3Items"/>
          <p:cNvSpPr/>
          <p:nvPr/>
        </p:nvSpPr>
        <p:spPr>
          <a:xfrm>
            <a:off x="6181344" y="1792224"/>
            <a:ext cx="2377440" cy="2700000"/>
          </a:xfrm>
          <a:prstGeom prst="rect">
            <a:avLst/>
          </a:prstGeom>
          <a:noFill/>
          <a:ln/>
        </p:spPr>
        <p:txBody>
          <a:bodyPr wrap="square" rtlCol="0" anchor="t"/>
          <a:lstStyle/>
          <a:p>
            <a:pPr indent="0" marL="0">
              <a:buNone/>
            </a:pPr>
            <a:r>
              <a:rPr lang="en-US" sz="950" b="1" dirty="0">
                <a:solidFill>
                  <a:srgbClr val="BA7517"/>
                </a:solidFill>
                <a:latin typeface="Arial" pitchFamily="34" charset="0"/>
              </a:rPr>
              <a:t xml:space="preserve">→  </a:t>
            </a:r>
            <a:r>
              <a:rPr lang="en-US" sz="950" dirty="0">
                <a:solidFill>
                  <a:srgbClr val="1A1A1A"/>
                </a:solidFill>
                <a:latin typeface="Arial" pitchFamily="34" charset="0"/>
              </a:rPr>
              <a:t>Formal ADR output per session</a:t>
            </a:r>
          </a:p>
          <a:p>
            <a:pPr indent="0" marL="0">
              <a:buNone/>
            </a:pPr>
            <a:r>
              <a:rPr lang="en-US" sz="950" b="1" dirty="0">
                <a:solidFill>
                  <a:srgbClr val="BA7517"/>
                </a:solidFill>
                <a:latin typeface="Arial" pitchFamily="34" charset="0"/>
              </a:rPr>
              <a:t xml:space="preserve">→  </a:t>
            </a:r>
            <a:r>
              <a:rPr lang="en-US" sz="950" dirty="0">
                <a:solidFill>
                  <a:srgbClr val="1A1A1A"/>
                </a:solidFill>
                <a:latin typeface="Arial" pitchFamily="34" charset="0"/>
              </a:rPr>
              <a:t>Jira ticket creation (ARBOARD project)</a:t>
            </a:r>
          </a:p>
          <a:p>
            <a:pPr indent="0" marL="0">
              <a:buNone/>
            </a:pPr>
            <a:r>
              <a:rPr lang="en-US" sz="950" b="1" dirty="0">
                <a:solidFill>
                  <a:srgbClr val="BA7517"/>
                </a:solidFill>
                <a:latin typeface="Arial" pitchFamily="34" charset="0"/>
              </a:rPr>
              <a:t xml:space="preserve">→  </a:t>
            </a:r>
            <a:r>
              <a:rPr lang="en-US" sz="950" dirty="0">
                <a:solidFill>
                  <a:srgbClr val="1A1A1A"/>
                </a:solidFill>
                <a:latin typeface="Arial" pitchFamily="34" charset="0"/>
              </a:rPr>
              <a:t>Endorsement review panel</a:t>
            </a:r>
          </a:p>
          <a:p>
            <a:pPr indent="0" marL="0">
              <a:buNone/>
            </a:pPr>
            <a:r>
              <a:rPr lang="en-US" sz="950" b="1" dirty="0">
                <a:solidFill>
                  <a:srgbClr val="BA7517"/>
                </a:solidFill>
                <a:latin typeface="Arial" pitchFamily="34" charset="0"/>
              </a:rPr>
              <a:t xml:space="preserve">→  </a:t>
            </a:r>
            <a:r>
              <a:rPr lang="en-US" sz="950" dirty="0">
                <a:solidFill>
                  <a:srgbClr val="1A1A1A"/>
                </a:solidFill>
                <a:latin typeface="Arial" pitchFamily="34" charset="0"/>
              </a:rPr>
              <a:t>Human countersign + Jira assign</a:t>
            </a:r>
          </a:p>
          <a:p>
            <a:pPr indent="0" marL="0">
              <a:buNone/>
            </a:pPr>
            <a:r>
              <a:rPr lang="en-US" sz="950" b="1" dirty="0">
                <a:solidFill>
                  <a:srgbClr val="BA7517"/>
                </a:solidFill>
                <a:latin typeface="Arial" pitchFamily="34" charset="0"/>
              </a:rPr>
              <a:t xml:space="preserve">→  </a:t>
            </a:r>
            <a:r>
              <a:rPr lang="en-US" sz="950" dirty="0">
                <a:solidFill>
                  <a:srgbClr val="1A1A1A"/>
                </a:solidFill>
                <a:latin typeface="Arial" pitchFamily="34" charset="0"/>
              </a:rPr>
              <a:t>Supabase audit trail + cost analytics</a:t>
            </a:r>
          </a:p>
          <a:p>
            <a:pPr indent="0" marL="0">
              <a:buNone/>
            </a:pPr>
            <a:r>
              <a:rPr lang="en-US" sz="950" b="1" dirty="0">
                <a:solidFill>
                  <a:srgbClr val="BA7517"/>
                </a:solidFill>
                <a:latin typeface="Arial" pitchFamily="34" charset="0"/>
              </a:rPr>
              <a:t xml:space="preserve">→  </a:t>
            </a:r>
            <a:r>
              <a:rPr lang="en-US" sz="950" dirty="0">
                <a:solidFill>
                  <a:srgbClr val="1A1A1A"/>
                </a:solidFill>
                <a:latin typeface="Arial" pitchFamily="34" charset="0"/>
              </a:rPr>
              <a:t>~$0.08 per full session (optimised)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11480" y="160000"/>
            <a:ext cx="8291040" cy="150000"/>
          </a:xfrm>
          <a:prstGeom prst="rect">
            <a:avLst/>
          </a:prstGeom>
          <a:noFill/>
          <a:ln/>
        </p:spPr>
        <p:txBody>
          <a:bodyPr wrap="square" rtlCol="0" anchor="ctr"/>
          <a:lstStyle/>
          <a:p>
            <a:pPr algn="l" indent="0" marL="0">
              <a:buNone/>
            </a:pPr>
            <a:r>
              <a:rPr lang="en-US" sz="800" b="1" spc="300" kern="0" dirty="0">
                <a:solidFill>
                  <a:srgbClr val="2E6DA4"/>
                </a:solidFill>
                <a:latin typeface="Arial" pitchFamily="34" charset="0"/>
              </a:rPr>
              <a:t>APPENDIX — ENGINEERING ARCHITECTURE</a:t>
            </a:r>
          </a:p>
        </p:txBody>
      </p:sp>
      <p:sp>
        <p:nvSpPr>
          <p:cNvPr id="3" name="Text 1"/>
          <p:cNvSpPr/>
          <p:nvPr/>
        </p:nvSpPr>
        <p:spPr>
          <a:xfrm>
            <a:off x="411480" y="320000"/>
            <a:ext cx="8291040" cy="340000"/>
          </a:xfrm>
          <a:prstGeom prst="rect">
            <a:avLst/>
          </a:prstGeom>
          <a:noFill/>
          <a:ln/>
        </p:spPr>
        <p:txBody>
          <a:bodyPr wrap="square" rtlCol="0" anchor="ctr"/>
          <a:lstStyle/>
          <a:p>
            <a:pPr algn="l" indent="0" marL="0">
              <a:buNone/>
            </a:pPr>
            <a:r>
              <a:rPr lang="en-US" sz="1800" b="1" dirty="0">
                <a:solidFill>
                  <a:srgbClr val="1A1A1A"/>
                </a:solidFill>
                <a:latin typeface="Arial" pitchFamily="34" charset="0"/>
              </a:rPr>
              <a:t>The full stack, top to bottom</a:t>
            </a:r>
          </a:p>
        </p:txBody>
      </p:sp>
      <p:sp>
        <p:nvSpPr>
          <p:cNvPr id="4" name="Shape divider"/>
          <p:cNvSpPr/>
          <p:nvPr/>
        </p:nvSpPr>
        <p:spPr>
          <a:xfrm>
            <a:off x="411480" y="690000"/>
            <a:ext cx="8291040" cy="0"/>
          </a:xfrm>
          <a:prstGeom prst="line">
            <a:avLst/>
          </a:prstGeom>
          <a:noFill/>
          <a:ln w="9525">
            <a:solidFill>
              <a:srgbClr val="EBEBEB"/>
            </a:solidFill>
            <a:prstDash val="solid"/>
          </a:ln>
        </p:spPr>
      </p:sp>
      <p:sp>
        <p:nvSpPr>
          <p:cNvPr id="10" name="L1Bg"/>
          <p:cNvSpPr/>
          <p:nvPr/>
        </p:nvSpPr>
        <p:spPr>
          <a:xfrm>
            <a:off x="411480" y="760000"/>
            <a:ext cx="8291040" cy="420000"/>
          </a:xfrm>
          <a:prstGeom prst="roundRect">
            <a:avLst>
              <a:gd name="adj" fmla="val 8000"/>
            </a:avLst>
          </a:prstGeom>
          <a:solidFill>
            <a:srgbClr val="E6F1FB"/>
          </a:solidFill>
          <a:ln w="6350">
            <a:solidFill>
              <a:srgbClr val="378ADD"/>
            </a:solidFill>
          </a:ln>
        </p:spPr>
        <p:txBody>
          <a:bodyPr wrap="square" anchor="t" lIns="140000" tIns="60000"/>
          <a:lstStyle/>
          <a:p>
            <a:pPr indent="0" marL="0">
              <a:buNone/>
            </a:pPr>
            <a:r>
              <a:rPr lang="en-US" sz="1100" b="1" dirty="0">
                <a:solidFill>
                  <a:srgbClr val="0C447C"/>
                </a:solidFill>
                <a:latin typeface="Arial" pitchFamily="34" charset="0"/>
              </a:rPr>
              <a:t>Frontend</a:t>
            </a:r>
          </a:p>
          <a:p>
            <a:pPr indent="0" marL="0">
              <a:buNone/>
            </a:pPr>
            <a:r>
              <a:rPr lang="en-US" sz="850" dirty="0">
                <a:solidFill>
                  <a:srgbClr val="185FA5"/>
                </a:solidFill>
                <a:latin typeface="Arial" pitchFamily="34" charset="0"/>
              </a:rPr>
              <a:t>Next.js 14 App Router  ·  React  ·  TypeScript  —  ForumTestUI.tsx, 3-mode landing page, SalesforceOrgBanner</a:t>
            </a:r>
          </a:p>
        </p:txBody>
      </p:sp>
      <p:cxnSp>
        <p:nvCxnSpPr>
          <p:cNvPr id="11" name="Arrow1"/>
          <p:cNvCxnSpPr/>
          <p:nvPr/>
        </p:nvCxnSpPr>
        <p:spPr>
          <a:xfrm>
            <a:off x="4557000" y="1180000"/>
            <a:ext cx="0" cy="90000"/>
          </a:xfrm>
          <a:prstGeom prst="straightConnector1">
            <a:avLst/>
          </a:prstGeom>
          <a:ln w="15875">
            <a:solidFill>
              <a:srgbClr val="888780"/>
            </a:solidFill>
            <a:tailEnd type="triangle" w="med" len="med"/>
          </a:ln>
        </p:spPr>
      </p:cxnSp>
      <p:sp>
        <p:nvSpPr>
          <p:cNvPr id="12" name="L2Bg"/>
          <p:cNvSpPr/>
          <p:nvPr/>
        </p:nvSpPr>
        <p:spPr>
          <a:xfrm>
            <a:off x="411480" y="1270000"/>
            <a:ext cx="8291040" cy="420000"/>
          </a:xfrm>
          <a:prstGeom prst="roundRect">
            <a:avLst>
              <a:gd name="adj" fmla="val 8000"/>
            </a:avLst>
          </a:prstGeom>
          <a:solidFill>
            <a:srgbClr val="E1F5EE"/>
          </a:solidFill>
          <a:ln w="6350">
            <a:solidFill>
              <a:srgbClr val="0F6E56"/>
            </a:solidFill>
          </a:ln>
        </p:spPr>
        <p:txBody>
          <a:bodyPr wrap="square" anchor="t" lIns="140000" tIns="60000"/>
          <a:lstStyle/>
          <a:p>
            <a:pPr indent="0" marL="0">
              <a:buNone/>
            </a:pPr>
            <a:r>
              <a:rPr lang="en-US" sz="1100" b="1" dirty="0">
                <a:solidFill>
                  <a:srgbClr val="085041"/>
                </a:solidFill>
                <a:latin typeface="Arial" pitchFamily="34" charset="0"/>
              </a:rPr>
              <a:t>API routes</a:t>
            </a:r>
          </a:p>
          <a:p>
            <a:pPr indent="0" marL="0">
              <a:buNone/>
            </a:pPr>
            <a:r>
              <a:rPr lang="en-US" sz="850" dirty="0">
                <a:solidFill>
                  <a:srgbClr val="0F6E56"/>
                </a:solidFill>
                <a:latin typeface="Arial" pitchFamily="34" charset="0"/>
              </a:rPr>
              <a:t>Node.js runtime  —  /api/upload, /api/analyse, /api/forum, /api/salesforce/status, /api/seed-patterns</a:t>
            </a:r>
          </a:p>
        </p:txBody>
      </p:sp>
      <p:cxnSp>
        <p:nvCxnSpPr>
          <p:cNvPr id="13" name="Arrow2"/>
          <p:cNvCxnSpPr/>
          <p:nvPr/>
        </p:nvCxnSpPr>
        <p:spPr>
          <a:xfrm>
            <a:off x="4557000" y="1690000"/>
            <a:ext cx="0" cy="90000"/>
          </a:xfrm>
          <a:prstGeom prst="straightConnector1">
            <a:avLst/>
          </a:prstGeom>
          <a:ln w="15875">
            <a:solidFill>
              <a:srgbClr val="888780"/>
            </a:solidFill>
            <a:tailEnd type="triangle" w="med" len="med"/>
          </a:ln>
        </p:spPr>
      </p:cxnSp>
      <p:sp>
        <p:nvSpPr>
          <p:cNvPr id="14" name="L3Bg"/>
          <p:cNvSpPr/>
          <p:nvPr/>
        </p:nvSpPr>
        <p:spPr>
          <a:xfrm>
            <a:off x="411480" y="1780000"/>
            <a:ext cx="8291040" cy="420000"/>
          </a:xfrm>
          <a:prstGeom prst="roundRect">
            <a:avLst>
              <a:gd name="adj" fmla="val 8000"/>
            </a:avLst>
          </a:prstGeom>
          <a:solidFill>
            <a:srgbClr val="EEEDFE"/>
          </a:solidFill>
          <a:ln w="6350">
            <a:solidFill>
              <a:srgbClr val="534AB7"/>
            </a:solidFill>
          </a:ln>
        </p:spPr>
        <p:txBody>
          <a:bodyPr wrap="square" anchor="t" lIns="140000" tIns="60000"/>
          <a:lstStyle/>
          <a:p>
            <a:pPr indent="0" marL="0">
              <a:buNone/>
            </a:pPr>
            <a:r>
              <a:rPr lang="en-US" sz="1100" b="1" dirty="0">
                <a:solidFill>
                  <a:srgbClr val="3C3489"/>
                </a:solidFill>
                <a:latin typeface="Arial" pitchFamily="34" charset="0"/>
              </a:rPr>
              <a:t>ForumOrchestrator.ts</a:t>
            </a:r>
          </a:p>
          <a:p>
            <a:pPr indent="0" marL="0">
              <a:buNone/>
            </a:pPr>
            <a:r>
              <a:rPr lang="en-US" sz="850" dirty="0">
                <a:solidFill>
                  <a:srgbClr val="534AB7"/>
                </a:solidFill>
                <a:latin typeface="Arial" pitchFamily="34" charset="0"/>
              </a:rPr>
              <a:t>ImpactAnalyser  ·  retrieveMemory + retrieveOrgLearnings  ·  contextInjector.ts</a:t>
            </a:r>
          </a:p>
        </p:txBody>
      </p:sp>
      <p:cxnSp>
        <p:nvCxnSpPr>
          <p:cNvPr id="15" name="Arrow3"/>
          <p:cNvCxnSpPr/>
          <p:nvPr/>
        </p:nvCxnSpPr>
        <p:spPr>
          <a:xfrm>
            <a:off x="4557000" y="2200000"/>
            <a:ext cx="0" cy="90000"/>
          </a:xfrm>
          <a:prstGeom prst="straightConnector1">
            <a:avLst/>
          </a:prstGeom>
          <a:ln w="15875">
            <a:solidFill>
              <a:srgbClr val="888780"/>
            </a:solidFill>
            <a:tailEnd type="triangle" w="med" len="med"/>
          </a:ln>
        </p:spPr>
      </p:cxnSp>
      <p:sp>
        <p:nvSpPr>
          <p:cNvPr id="16" name="L4Bg"/>
          <p:cNvSpPr/>
          <p:nvPr/>
        </p:nvSpPr>
        <p:spPr>
          <a:xfrm>
            <a:off x="411480" y="2290000"/>
            <a:ext cx="8291040" cy="560000"/>
          </a:xfrm>
          <a:prstGeom prst="roundRect">
            <a:avLst>
              <a:gd name="adj" fmla="val 6000"/>
            </a:avLst>
          </a:prstGeom>
          <a:solidFill>
            <a:srgbClr val="FAECE7"/>
          </a:solidFill>
          <a:ln w="6350">
            <a:solidFill>
              <a:srgbClr val="D85A30"/>
            </a:solidFill>
          </a:ln>
        </p:spPr>
        <p:txBody>
          <a:bodyPr wrap="square" anchor="t" lIns="140000" tIns="60000"/>
          <a:lstStyle/>
          <a:p>
            <a:pPr indent="0" marL="0">
              <a:buNone/>
            </a:pPr>
            <a:r>
              <a:rPr lang="en-US" sz="1100" b="1" dirty="0">
                <a:solidFill>
                  <a:srgbClr val="712B13"/>
                </a:solidFill>
                <a:latin typeface="Arial" pitchFamily="34" charset="0"/>
              </a:rPr>
              <a:t>Agent pipeline — 9 specialists, sequential</a:t>
            </a:r>
          </a:p>
          <a:p>
            <a:pPr indent="0" marL="0">
              <a:buNone/>
            </a:pPr>
            <a:r>
              <a:rPr lang="en-US" sz="850" dirty="0">
                <a:solidFill>
                  <a:srgbClr val="993C1D"/>
                </a:solidFill>
                <a:latin typeface="Arial" pitchFamily="34" charset="0"/>
              </a:rPr>
              <a:t>Designer → Apex → LWC → Flow → OmniStudio → Integration → Patterns → Judge → Scribe → Learner</a:t>
            </a:r>
          </a:p>
          <a:p>
            <a:pPr indent="0" marL="0">
              <a:buNone/>
            </a:pPr>
            <a:r>
              <a:rPr lang="en-US" sz="850" i="1" dirty="0">
                <a:solidFill>
                  <a:srgbClr val="993C1D"/>
                </a:solidFill>
                <a:latin typeface="Arial" pitchFamily="34" charset="0"/>
              </a:rPr>
              <a:t>Each agent call is a single Anthropic API request — output of one feeds the next</a:t>
            </a:r>
          </a:p>
        </p:txBody>
      </p:sp>
      <p:cxnSp>
        <p:nvCxnSpPr>
          <p:cNvPr id="17" name="Arrow4a"/>
          <p:cNvCxnSpPr/>
          <p:nvPr/>
        </p:nvCxnSpPr>
        <p:spPr>
          <a:xfrm>
            <a:off x="1700000" y="2850000"/>
            <a:ext cx="0" cy="100000"/>
          </a:xfrm>
          <a:prstGeom prst="straightConnector1">
            <a:avLst/>
          </a:prstGeom>
          <a:ln w="15875">
            <a:solidFill>
              <a:srgbClr val="888780"/>
            </a:solidFill>
            <a:tailEnd type="triangle" w="med" len="med"/>
          </a:ln>
        </p:spPr>
      </p:cxnSp>
      <p:cxnSp>
        <p:nvCxnSpPr>
          <p:cNvPr id="18" name="Arrow4b"/>
          <p:cNvCxnSpPr/>
          <p:nvPr/>
        </p:nvCxnSpPr>
        <p:spPr>
          <a:xfrm>
            <a:off x="4557000" y="2850000"/>
            <a:ext cx="0" cy="100000"/>
          </a:xfrm>
          <a:prstGeom prst="straightConnector1">
            <a:avLst/>
          </a:prstGeom>
          <a:ln w="15875">
            <a:solidFill>
              <a:srgbClr val="888780"/>
            </a:solidFill>
            <a:tailEnd type="triangle" w="med" len="med"/>
          </a:ln>
        </p:spPr>
      </p:cxnSp>
      <p:cxnSp>
        <p:nvCxnSpPr>
          <p:cNvPr id="19" name="Arrow4c"/>
          <p:cNvCxnSpPr/>
          <p:nvPr/>
        </p:nvCxnSpPr>
        <p:spPr>
          <a:xfrm>
            <a:off x="7400000" y="2850000"/>
            <a:ext cx="0" cy="100000"/>
          </a:xfrm>
          <a:prstGeom prst="straightConnector1">
            <a:avLst/>
          </a:prstGeom>
          <a:ln w="15875">
            <a:solidFill>
              <a:srgbClr val="888780"/>
            </a:solidFill>
            <a:tailEnd type="triangle" w="med" len="med"/>
          </a:ln>
        </p:spPr>
      </p:cxnSp>
      <p:sp>
        <p:nvSpPr>
          <p:cNvPr id="20" name="SvcAnthropic"/>
          <p:cNvSpPr/>
          <p:nvPr/>
        </p:nvSpPr>
        <p:spPr>
          <a:xfrm>
            <a:off x="411480" y="2950000"/>
            <a:ext cx="2651760" cy="780000"/>
          </a:xfrm>
          <a:prstGeom prst="roundRect">
            <a:avLst>
              <a:gd name="adj" fmla="val 6000"/>
            </a:avLst>
          </a:prstGeom>
          <a:solidFill>
            <a:srgbClr val="EAF3DE"/>
          </a:solidFill>
          <a:ln w="6350">
            <a:solidFill>
              <a:srgbClr val="639922"/>
            </a:solidFill>
          </a:ln>
        </p:spPr>
        <p:txBody>
          <a:bodyPr wrap="square" anchor="t" lIns="120000" tIns="80000"/>
          <a:lstStyle/>
          <a:p>
            <a:pPr algn="ctr" indent="0" marL="0">
              <a:buNone/>
            </a:pPr>
            <a:r>
              <a:rPr lang="en-US" sz="1050" b="1" dirty="0">
                <a:solidFill>
                  <a:srgbClr val="27500A"/>
                </a:solidFill>
                <a:latin typeface="Arial" pitchFamily="34" charset="0"/>
              </a:rPr>
              <a:t>Anthropic API</a:t>
            </a:r>
          </a:p>
          <a:p>
            <a:pPr algn="ctr" indent="0" marL="0">
              <a:buNone/>
            </a:pPr>
            <a:r>
              <a:rPr lang="en-US" sz="850" dirty="0">
                <a:solidFill>
                  <a:srgbClr val="3B6D11"/>
                </a:solidFill>
                <a:latin typeface="Arial" pitchFamily="34" charset="0"/>
              </a:rPr>
              <a:t>Claude Sonnet</a:t>
            </a:r>
          </a:p>
          <a:p>
            <a:pPr algn="ctr" indent="0" marL="0">
              <a:buNone/>
            </a:pPr>
            <a:r>
              <a:rPr lang="en-US" sz="850" dirty="0">
                <a:solidFill>
                  <a:srgbClr val="3B6D11"/>
                </a:solidFill>
                <a:latin typeface="Arial" pitchFamily="34" charset="0"/>
              </a:rPr>
              <a:t>9 sequential calls / session</a:t>
            </a:r>
          </a:p>
          <a:p>
            <a:pPr algn="ctr" indent="0" marL="0">
              <a:buNone/>
            </a:pPr>
            <a:r>
              <a:rPr lang="en-US" sz="850" dirty="0">
                <a:solidFill>
                  <a:srgbClr val="3B6D11"/>
                </a:solidFill>
                <a:latin typeface="Arial" pitchFamily="34" charset="0"/>
              </a:rPr>
              <a:t>Mock / Live toggle</a:t>
            </a:r>
          </a:p>
        </p:txBody>
      </p:sp>
      <p:sp>
        <p:nvSpPr>
          <p:cNvPr id="21" name="SvcSupabase"/>
          <p:cNvSpPr/>
          <p:nvPr/>
        </p:nvSpPr>
        <p:spPr>
          <a:xfrm>
            <a:off x="3227832" y="2950000"/>
            <a:ext cx="2651760" cy="780000"/>
          </a:xfrm>
          <a:prstGeom prst="roundRect">
            <a:avLst>
              <a:gd name="adj" fmla="val 6000"/>
            </a:avLst>
          </a:prstGeom>
          <a:solidFill>
            <a:srgbClr val="FAEEDA"/>
          </a:solidFill>
          <a:ln w="6350">
            <a:solidFill>
              <a:srgbClr val="BA7517"/>
            </a:solidFill>
          </a:ln>
        </p:spPr>
        <p:txBody>
          <a:bodyPr wrap="square" anchor="t" lIns="120000" tIns="80000"/>
          <a:lstStyle/>
          <a:p>
            <a:pPr algn="ctr" indent="0" marL="0">
              <a:buNone/>
            </a:pPr>
            <a:r>
              <a:rPr lang="en-US" sz="1050" b="1" dirty="0">
                <a:solidFill>
                  <a:srgbClr val="633806"/>
                </a:solidFill>
                <a:latin typeface="Arial" pitchFamily="34" charset="0"/>
              </a:rPr>
              <a:t>Supabase</a:t>
            </a:r>
          </a:p>
          <a:p>
            <a:pPr algn="ctr" indent="0" marL="0">
              <a:buNone/>
            </a:pPr>
            <a:r>
              <a:rPr lang="en-US" sz="850" dirty="0">
                <a:solidFill>
                  <a:srgbClr val="854F0B"/>
                </a:solidFill>
                <a:latin typeface="Arial" pitchFamily="34" charset="0"/>
              </a:rPr>
              <a:t>failure_patterns</a:t>
            </a:r>
          </a:p>
          <a:p>
            <a:pPr algn="ctr" indent="0" marL="0">
              <a:buNone/>
            </a:pPr>
            <a:r>
              <a:rPr lang="en-US" sz="850" dirty="0">
                <a:solidFill>
                  <a:srgbClr val="854F0B"/>
                </a:solidFill>
                <a:latin typeface="Arial" pitchFamily="34" charset="0"/>
              </a:rPr>
              <a:t>org_learnings</a:t>
            </a:r>
          </a:p>
          <a:p>
            <a:pPr algn="ctr" indent="0" marL="0">
              <a:buNone/>
            </a:pPr>
            <a:r>
              <a:rPr lang="en-US" sz="850" dirty="0">
                <a:solidFill>
                  <a:srgbClr val="854F0B"/>
                </a:solidFill>
                <a:latin typeface="Arial" pitchFamily="34" charset="0"/>
              </a:rPr>
              <a:t>sessions · signoffs</a:t>
            </a:r>
          </a:p>
        </p:txBody>
      </p:sp>
      <p:sp>
        <p:nvSpPr>
          <p:cNvPr id="22" name="SvcJira"/>
          <p:cNvSpPr/>
          <p:nvPr/>
        </p:nvSpPr>
        <p:spPr>
          <a:xfrm>
            <a:off x="6044184" y="2950000"/>
            <a:ext cx="2658336" cy="780000"/>
          </a:xfrm>
          <a:prstGeom prst="roundRect">
            <a:avLst>
              <a:gd name="adj" fmla="val 6000"/>
            </a:avLst>
          </a:prstGeom>
          <a:solidFill>
            <a:srgbClr val="FBEAF0"/>
          </a:solidFill>
          <a:ln w="6350">
            <a:solidFill>
              <a:srgbClr val="D4537E"/>
            </a:solidFill>
          </a:ln>
        </p:spPr>
        <p:txBody>
          <a:bodyPr wrap="square" anchor="t" lIns="120000" tIns="80000"/>
          <a:lstStyle/>
          <a:p>
            <a:pPr algn="ctr" indent="0" marL="0">
              <a:buNone/>
            </a:pPr>
            <a:r>
              <a:rPr lang="en-US" sz="1050" b="1" dirty="0">
                <a:solidFill>
                  <a:srgbClr val="4B1528"/>
                </a:solidFill>
                <a:latin typeface="Arial" pitchFamily="34" charset="0"/>
              </a:rPr>
              <a:t>Jira</a:t>
            </a:r>
          </a:p>
          <a:p>
            <a:pPr algn="ctr" indent="0" marL="0">
              <a:buNone/>
            </a:pPr>
            <a:r>
              <a:rPr lang="en-US" sz="850" dirty="0">
                <a:solidFill>
                  <a:srgbClr val="72243E"/>
                </a:solidFill>
                <a:latin typeface="Arial" pitchFamily="34" charset="0"/>
              </a:rPr>
              <a:t>Project ARBOARD</a:t>
            </a:r>
          </a:p>
          <a:p>
            <a:pPr algn="ctr" indent="0" marL="0">
              <a:buNone/>
            </a:pPr>
            <a:r>
              <a:rPr lang="en-US" sz="850" dirty="0">
                <a:solidFill>
                  <a:srgbClr val="72243E"/>
                </a:solidFill>
                <a:latin typeface="Arial" pitchFamily="34" charset="0"/>
              </a:rPr>
              <a:t>ADR storage</a:t>
            </a:r>
          </a:p>
          <a:p>
            <a:pPr algn="ctr" indent="0" marL="0">
              <a:buNone/>
            </a:pPr>
            <a:r>
              <a:rPr lang="en-US" sz="850" dirty="0">
                <a:solidFill>
                  <a:srgbClr val="72243E"/>
                </a:solidFill>
                <a:latin typeface="Arial" pitchFamily="34" charset="0"/>
              </a:rPr>
              <a:t>JQL retrieval</a:t>
            </a:r>
          </a:p>
        </p:txBody>
      </p:sp>
      <p:cxnSp>
        <p:nvCxnSpPr>
          <p:cNvPr id="23" name="Arrow5"/>
          <p:cNvCxnSpPr/>
          <p:nvPr/>
        </p:nvCxnSpPr>
        <p:spPr>
          <a:xfrm>
            <a:off x="4557000" y="3730000"/>
            <a:ext cx="0" cy="100000"/>
          </a:xfrm>
          <a:prstGeom prst="straightConnector1">
            <a:avLst/>
          </a:prstGeom>
          <a:ln w="15875">
            <a:solidFill>
              <a:srgbClr val="888780"/>
            </a:solidFill>
            <a:tailEnd type="triangle" w="med" len="med"/>
          </a:ln>
        </p:spPr>
      </p:cxnSp>
      <p:sp>
        <p:nvSpPr>
          <p:cNvPr id="24" name="FooterBg"/>
          <p:cNvSpPr/>
          <p:nvPr/>
        </p:nvSpPr>
        <p:spPr>
          <a:xfrm>
            <a:off x="411480" y="3830000"/>
            <a:ext cx="8291040" cy="380000"/>
          </a:xfrm>
          <a:prstGeom prst="roundRect">
            <a:avLst>
              <a:gd name="adj" fmla="val 8000"/>
            </a:avLst>
          </a:prstGeom>
          <a:solidFill>
            <a:srgbClr val="F1EFE8"/>
          </a:solidFill>
          <a:ln w="6350">
            <a:solidFill>
              <a:srgbClr val="B4B2A9"/>
            </a:solidFill>
          </a:ln>
        </p:spPr>
        <p:txBody>
          <a:bodyPr wrap="square" anchor="ctr" lIns="140000"/>
          <a:lstStyle/>
          <a:p>
            <a:pPr indent="0" marL="0">
              <a:buNone/>
            </a:pPr>
            <a:r>
              <a:rPr lang="en-US" sz="950" b="1" dirty="0">
                <a:solidFill>
                  <a:srgbClr val="2C2C2A"/>
                </a:solidFill>
                <a:latin typeface="Arial" pitchFamily="34" charset="0"/>
              </a:rPr>
              <a:t xml:space="preserve">Salesforce org connectivity:  </a:t>
            </a:r>
            <a:r>
              <a:rPr lang="en-US" sz="850" dirty="0">
                <a:solidFill>
                  <a:srgbClr val="5F5E5A"/>
                </a:solidFill>
                <a:latin typeface="Arial" pitchFamily="34" charset="0"/>
              </a:rPr>
              <a:t>Hosted MCP gateway → jsforce fallback — live metadata for grounding</a:t>
            </a:r>
          </a:p>
        </p:txBody>
      </p:sp>
      <p:sp>
        <p:nvSpPr>
          <p:cNvPr id="25" name="DeployFooter"/>
          <p:cNvSpPr/>
          <p:nvPr/>
        </p:nvSpPr>
        <p:spPr>
          <a:xfrm>
            <a:off x="411480" y="4260000"/>
            <a:ext cx="8291040" cy="220000"/>
          </a:xfrm>
          <a:prstGeom prst="rect">
            <a:avLst/>
          </a:prstGeom>
          <a:noFill/>
          <a:ln/>
        </p:spPr>
        <p:txBody>
          <a:bodyPr wrap="square" anchor="ctr" lIns="140000"/>
          <a:lstStyle/>
          <a:p>
            <a:pPr algn="ctr" indent="0" marL="0">
              <a:buNone/>
            </a:pPr>
            <a:r>
              <a:rPr lang="en-US" sz="800" i="1" dirty="0">
                <a:solidFill>
                  <a:srgbClr val="888780"/>
                </a:solidFill>
                <a:latin typeface="Arial" pitchFamily="34" charset="0"/>
              </a:rPr>
              <a:t>Deployed on Vercel — arboard.vercel.app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ARBoard — AI Architecture Review Board</dc:title>
  <dc:subject>PptxGenJS Presentation</dc:subject>
  <dc:creator>PptxGenJS</dc:creator>
  <cp:lastModifiedBy>PptxGenJS</cp:lastModifiedBy>
  <cp:revision>1</cp:revision>
  <dcterms:created xsi:type="dcterms:W3CDTF">2026-06-27T03:16:30Z</dcterms:created>
  <dcterms:modified xsi:type="dcterms:W3CDTF">2026-06-27T03:16:30Z</dcterms:modified>
</cp:coreProperties>
</file>