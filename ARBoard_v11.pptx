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20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saying: This is ARBoard — a multi-agent AI system that runs a full Architecture Review Board in under 2 minutes. Let me show you what that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quo for enterprise Salesforce ARBs is expensive, slow, and inconsistent. ARBoard addresses all four of these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value proposition. $0.22 vs $27,500 — that's the number that lands with finance and leadership. The quality story is about the deliberative engine, not just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 is sequential deliberation — each agent builds on prior agent findings. This is not parallel execution; it is structured debate. The dissent panel shows where agents disagree with the final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grounding stack is the real IP. Competitors can replicate the UI. They cannot replicate the accumulated org learnings, failure patterns, and institutional memory injected into every agent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ARBoard is production-ready, not just a prototype. Security and operational hardening have been completed before any client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maturity assessment against canonical agentic architecture patterns. The green items are the foundation. Red items are the next sprint — timeout and retry are the most operationally critical before client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Done column shows how rapidly ARBoard has evolved. Next sprint items are prioritised by operational risk — timeout and retry first, then quality improvements like Round 2 Rebuttal and HITL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$27,500 number to anchor. Then show $0.22. The 99.2% cost reduction is the headline. But also emphasise: this isn't a cost play — it's a quality and consistency play. The cost is just the proof it's worth trying.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a clean Next.js monolith on Vercel. No heavyweight orchestration framework — the deliberative pattern is implemented directly in TypeScript, which makes it auditable, debuggable, and extensible.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conversation to have with leadership: which client engagement do we run this on first? The platform is ready. We need a domain package and a client context to make it 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The question isn't whether AI belongs in architecture review. The question is whether we build the institutional memory and governance layer to make it trustworthy. ARBoard does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went through 4 rounds of design challenge before a line of code was written. 7 queries defined first — schema designed to answer them. Write-before-run means traces survive orchestrator crashes.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Architecture Review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 ·  9 Grounding Layers  ·  Governed ADR Trail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332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019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706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93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766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53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140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827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827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·  Lead Architecture Practice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ARBs require 4–8 architects, weeks of scheduling, and hours of prep per engagement.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051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10328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quality varies by who attends. Different architects flag different risks.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past engagements aren't systematically captured or reused.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926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~$27,500 per review at blended $150/hr rates. Unscalable for frequent Salesforce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Solution Design Document.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debate, critique, and synthesise a binding Architecture Decision Record in under 2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DOCX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diagrams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12848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12848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848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risks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4176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68496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68496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Debate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8496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9824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24144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24144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24144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24144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decision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5472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+ Jira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79792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$0.22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33472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633472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9744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809744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equivalent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86016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86016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986016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deliberative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just run in parallel — each specialist builds on prior findings. The Judge synthesises all perspectives into a binding verdict.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1673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1673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4086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4086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3737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6150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0" y="178308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103120"/>
            <a:ext cx="790041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93024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4231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496312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090672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 —  Binding ARB Verdict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0" y="3063240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3716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716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— ADR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— Org Memory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run in parallel after verdict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51960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68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call flags where specialists diverged from the Judge verdict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251960"/>
            <a:ext cx="292608" cy="29260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40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ADR Trail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5440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Supabase + Jira with verdict, must-fix items, confidence score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every session — grounded in institutional knowledge before generating a single finding.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61872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289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knowledge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training — Salesforce patterns, LWC, Apex, integration, Flow, platform limits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75104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0025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grounding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295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Principles (per agent)  ·  SI Failure Pattern Library (FP-004–FP-012)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88336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008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skills always loaded per agent  ·  Cross-cutting skills keyword-triggered from document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401568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721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— prior agent findings injected forward  ·  Jira ADR cross-session reconciliation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14800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114800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4142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4434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(Supabase, compounds over time)  ·  Live Salesforce org metadata via MCP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stack is the moat — it compounds with every session as org learnings accumulate.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— completed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41832"/>
            <a:ext cx="347472" cy="347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isolation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and Supabase keys server-side only. No NEXT_PUBLIC_ exposure. Key mutation removed from request handlers.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27448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941832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49240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4924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910328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authentication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032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Shared-secret auth guard on all 7 high-risk API routes. 401 on missing or incorrect key. Local dev no-op when unset.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59152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41832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41832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02920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now explicitly threaded through ImpactAnalyser and ForumOrchestrator. No real API calls in mock sessions.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27448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35915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349240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349240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910328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10328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enabled on all tables. Service role key used server-side only for writes. Anon key removed.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76472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1832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41832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502920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Map cache added to skillLoader.ts. 20–40 disk reads per session reduced to first-call only.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27448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776472"/>
            <a:ext cx="347472" cy="3474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349240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349240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4910328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910328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now run concurrently after Judge verdict. ~10s saved per session. Sequential debate chain preserved.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maturity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8046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18304" y="80467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on roadmap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94576" y="80467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41464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logical step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11556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2070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1155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1115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episodic memory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11155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Session-scoped, injected forward between agents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44475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5361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14447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persistent memory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4447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in Supabase + Jira ADR cross-session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1773936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8653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17739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7739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upgrade needed — currently full-inject, no selectivity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03120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194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103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2103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critique → synthesis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10312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→ 8 specialists → Judge — textbook deliberative pattern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432304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5237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24323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rounds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24323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Re-submission exists; Round 2 in-session rebuttal not yet built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761488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8529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27614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signalling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27614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scores implemented; document-relevance-based scoring TBD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090672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30906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detection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94960" y="30906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Post-verdict dissent panel via Haiku call — working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419856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5112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341985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03120" y="34198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cancellation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94960" y="34198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per-agent timeout or cancel button — risk for demos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749040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8404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03120" y="3749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failure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94960" y="37490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agents silently drop — Judge synthesises incomplete input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078224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1696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0782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40782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ADR output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94960" y="40782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Jira + Supabase — full governed trail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440740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4988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03120" y="4407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94960" y="44074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Countersign endpoint exists — HITL workflow not yet wired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73659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482803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03120" y="47365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tracing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94960" y="473659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trace of injection decisions per agent — not built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" y="13258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" y="16184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191109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 (8 files)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2037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496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27889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 Learner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" y="30815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vision (docx)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33741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Monitor + ROI estimator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" y="36667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60273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+ security hardening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" y="39593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89534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 guard (7 routes)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" y="42519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41879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" y="45445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48056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parallelised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" y="4837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477316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" y="512978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506577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observability schema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" y="54223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535838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SessionTracer — full agent lifecycle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" y="57150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565099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trace integrity hash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64408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64408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429000" y="13258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11880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 button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1618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API failure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29000" y="19110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11880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Rebuttal flow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29000" y="2496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1880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layer tracing (Q1/Q2)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29000" y="27889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11880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scoring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30815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11880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+ prompt injection guard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29000" y="33741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11880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08776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08776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373368" y="13258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56248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 retrieval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73368" y="16184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56248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multi-tenant config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73368" y="19110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56248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versioning across resubmissions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73368" y="220370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56248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write alongside Jira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373368" y="249631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6248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model strategy (Haiku/Sonnet/Opus)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373368" y="27889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56248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MCP integration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73368" y="308152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56248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real numbers from live runs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ARBoard 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NovaPeak SDD · 12 findings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96312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(actual)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44k estimated (+68%)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2584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sequential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48856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 equivalent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8856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architects × 45 hrs × $150/hr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9572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95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cost reduction  ·  Tiered model: Haiku for Scribe &amp; Learner, Sonnet for Specialists &amp; Judge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2971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pricing (Sonnet claude-sonnet-4-6)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$3.00 / MTok   ·   Cached read: $0.30 / MTok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$15.00 / MTok   ·   Cache write: $3.75 / MTok</a:t>
            </a:r>
            <a:endParaRPr lang="en-US" sz="1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880360"/>
            <a:ext cx="2560320" cy="20116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ROI estimator built into ARBoard UI — pre-run estimate and post-session actuals with complexity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(deploy)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56816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6816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56816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6816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/api/* route handlers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56816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6816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 (x-arboard-key)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56816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56816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56816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56816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vision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30752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30752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ForumOrchestrator.ts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30752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AgentRunner (stream)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30752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PromptBuilder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30752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skillLoader (cached)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04688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04688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(Claude)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04688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04688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Haiku tiered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04688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04688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analyser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78624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65A82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8624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78624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78624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(RLS enabled)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78624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78624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server-only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78624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78624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(ADR tickets)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78624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78624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org_learnings table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Next.js · TypeScript · Anthropic SDK · Supabase · Jira REST API · Vercel · JSZip (diagram vision)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92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deployment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regulated industry engagement (financial services or public sector). Inject client-specific compliance standards, failure patterns, and Well-Architected principles as a domain package.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27448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96926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10328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has pgvector built in. Embed org learnings and failure patterns on write. Top-K retrieval by cosine similarity replaces full-inject — improves relevance, reduces cost.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077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existing countersign endpoint to a HITL escalation flow. When Judge flags human judgement points, route to a named reviewer before ADR is finalised.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9077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&amp; white-label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Registry in Supabase with client_id partitioning. Each client accumulates their own org learnings. One ARBoard engine, many domain/client configurations.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Board is open.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agents. 9 grounding layers. One governed verdict.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677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 is production-ready — security hardened, cost-validated, and aligned to enterprise agentic architecture patterns.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5112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 Claude (Sonnet + Haiku tiered)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8313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Supabase · Jira · Vercel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1513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github.com/pganapathineedi/arboard (private)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Ganapathineedi  ·  Lead Architect, Accenture Australia  ·  Salesforce / Agentforce  ·  Agentblazer Legend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&amp; tracing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ARBoard session is fully traced — what was injected, which agents ran, what they found, and a tamper-evident integrity hash.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session  ·  verdict · cost · tokens · hash  ·  resubmission chain ·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81528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agent  ·  status · tokens · must-fix count  ·  sequence · round · dissent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session_trace_injections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grounding layer  ·  type · file · keywords matched  ·  token estimate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7614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analytics queries — designed first, schema built to answer them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layers + token cost per agent per session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/ least triggered cross-cutting skills this 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 rate and error patterns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151376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" y="4197096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419709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" y="41513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changes across document resubmissions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523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deviating most from expected token budget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8523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producing the most Must-Fix findings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Q6b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8523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where specialists dissented from Judge verdict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645152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storage · Write-before-run (crash-safe) · SHA-256 integrity · Mock excluded from analytics · client_id + round on every row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ARBoard">
    <p:bg>
      <p:bgPr>
        <a:solidFill>
          <a:srgbClr val="F8FAFC"/>
        </a:solidFill>
      </p:bgPr>
    </p:bg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Why ARBoard — not just Claude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3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Base Claude gives you ~30-40% of ARBoard. Here is what the other 60-70% looks like.</a:t>
            </a:r>
          </a:p>
        </p:txBody>
      </p:sp>
      <p:sp>
        <p:nvSpPr>
          <p:cNvPr id="5" name="ColHdr1"/>
          <p:cNvSpPr/>
          <p:nvPr/>
        </p:nvSpPr>
        <p:spPr>
          <a:xfrm>
            <a:off x="457200" y="1120000"/>
            <a:ext cx="2743200" cy="33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indent="0" marL="9144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Capability</a:t>
            </a:r>
          </a:p>
        </p:txBody>
      </p:sp>
      <p:sp>
        <p:nvSpPr>
          <p:cNvPr id="6" name="ColHdr2"/>
          <p:cNvSpPr/>
          <p:nvPr/>
        </p:nvSpPr>
        <p:spPr>
          <a:xfrm>
            <a:off x="3200400" y="1120000"/>
            <a:ext cx="2743200" cy="33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Base Claude</a:t>
            </a:r>
          </a:p>
        </p:txBody>
      </p:sp>
      <p:sp>
        <p:nvSpPr>
          <p:cNvPr id="7" name="ColHdr3"/>
          <p:cNvSpPr/>
          <p:nvPr/>
        </p:nvSpPr>
        <p:spPr>
          <a:xfrm>
            <a:off x="5943600" y="1120000"/>
            <a:ext cx="2743200" cy="33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ARBoard</a:t>
            </a:r>
          </a:p>
        </p:txBody>
      </p:sp>
      <p:sp>
        <p:nvSpPr>
          <p:cNvPr id="10" name="R1C1"/>
          <p:cNvSpPr/>
          <p:nvPr/>
        </p:nvSpPr>
        <p:spPr>
          <a:xfrm>
            <a:off x="457200" y="145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indent="0" marL="9144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Specialist lenses</a:t>
            </a:r>
          </a:p>
        </p:txBody>
      </p:sp>
      <p:sp>
        <p:nvSpPr>
          <p:cNvPr id="11" name="R1C2"/>
          <p:cNvSpPr/>
          <p:nvPr/>
        </p:nvSpPr>
        <p:spPr>
          <a:xfrm>
            <a:off x="3200400" y="145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1 generalist opinion</a:t>
            </a:r>
          </a:p>
        </p:txBody>
      </p:sp>
      <p:sp>
        <p:nvSpPr>
          <p:cNvPr id="12" name="R1C3"/>
          <p:cNvSpPr/>
          <p:nvPr/>
        </p:nvSpPr>
        <p:spPr>
          <a:xfrm>
            <a:off x="5943600" y="145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9 specialist agents challenge each other</a:t>
            </a:r>
          </a:p>
        </p:txBody>
      </p:sp>
      <p:sp>
        <p:nvSpPr>
          <p:cNvPr id="13" name="R2C1"/>
          <p:cNvSpPr/>
          <p:nvPr/>
        </p:nvSpPr>
        <p:spPr>
          <a:xfrm>
            <a:off x="457200" y="184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indent="0" marL="9144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Adversarial posture</a:t>
            </a:r>
          </a:p>
        </p:txBody>
      </p:sp>
      <p:sp>
        <p:nvSpPr>
          <p:cNvPr id="14" name="R2C2"/>
          <p:cNvSpPr/>
          <p:nvPr/>
        </p:nvSpPr>
        <p:spPr>
          <a:xfrm>
            <a:off x="3200400" y="184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Helpful and agreeable</a:t>
            </a:r>
          </a:p>
        </p:txBody>
      </p:sp>
      <p:sp>
        <p:nvSpPr>
          <p:cNvPr id="15" name="R2C3"/>
          <p:cNvSpPr/>
          <p:nvPr/>
        </p:nvSpPr>
        <p:spPr>
          <a:xfrm>
            <a:off x="5943600" y="184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Agents challenge before they assess — by design</a:t>
            </a:r>
          </a:p>
        </p:txBody>
      </p:sp>
      <p:sp>
        <p:nvSpPr>
          <p:cNvPr id="16" name="R3C1"/>
          <p:cNvSpPr/>
          <p:nvPr/>
        </p:nvSpPr>
        <p:spPr>
          <a:xfrm>
            <a:off x="457200" y="223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indent="0" marL="9144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SI failure patterns</a:t>
            </a:r>
          </a:p>
        </p:txBody>
      </p:sp>
      <p:sp>
        <p:nvSpPr>
          <p:cNvPr id="17" name="R3C2"/>
          <p:cNvSpPr/>
          <p:nvPr/>
        </p:nvSpPr>
        <p:spPr>
          <a:xfrm>
            <a:off x="3200400" y="223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Salesforce best practice only</a:t>
            </a:r>
          </a:p>
        </p:txBody>
      </p:sp>
      <p:sp>
        <p:nvSpPr>
          <p:cNvPr id="18" name="R3C3"/>
          <p:cNvSpPr/>
          <p:nvPr/>
        </p:nvSpPr>
        <p:spPr>
          <a:xfrm>
            <a:off x="5943600" y="223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FP-004 to FP-012 — Accenture delivery failure library</a:t>
            </a:r>
          </a:p>
        </p:txBody>
      </p:sp>
      <p:sp>
        <p:nvSpPr>
          <p:cNvPr id="19" name="R4C1"/>
          <p:cNvSpPr/>
          <p:nvPr/>
        </p:nvSpPr>
        <p:spPr>
          <a:xfrm>
            <a:off x="457200" y="262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indent="0" marL="9144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Org memory</a:t>
            </a:r>
          </a:p>
        </p:txBody>
      </p:sp>
      <p:sp>
        <p:nvSpPr>
          <p:cNvPr id="20" name="R4C2"/>
          <p:cNvSpPr/>
          <p:nvPr/>
        </p:nvSpPr>
        <p:spPr>
          <a:xfrm>
            <a:off x="3200400" y="262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Forgets everything between sessions</a:t>
            </a:r>
          </a:p>
        </p:txBody>
      </p:sp>
      <p:sp>
        <p:nvSpPr>
          <p:cNvPr id="21" name="R4C3"/>
          <p:cNvSpPr/>
          <p:nvPr/>
        </p:nvSpPr>
        <p:spPr>
          <a:xfrm>
            <a:off x="5943600" y="262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Org learnings compound across every session in Supabase</a:t>
            </a:r>
          </a:p>
        </p:txBody>
      </p:sp>
      <p:sp>
        <p:nvSpPr>
          <p:cNvPr id="22" name="R5C1"/>
          <p:cNvSpPr/>
          <p:nvPr/>
        </p:nvSpPr>
        <p:spPr>
          <a:xfrm>
            <a:off x="457200" y="301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indent="0" marL="9144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Governance trail</a:t>
            </a:r>
          </a:p>
        </p:txBody>
      </p:sp>
      <p:sp>
        <p:nvSpPr>
          <p:cNvPr id="23" name="R5C2"/>
          <p:cNvSpPr/>
          <p:nvPr/>
        </p:nvSpPr>
        <p:spPr>
          <a:xfrm>
            <a:off x="3200400" y="301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Text output only — no audit trail</a:t>
            </a:r>
          </a:p>
        </p:txBody>
      </p:sp>
      <p:sp>
        <p:nvSpPr>
          <p:cNvPr id="24" name="R5C3"/>
          <p:cNvSpPr/>
          <p:nvPr/>
        </p:nvSpPr>
        <p:spPr>
          <a:xfrm>
            <a:off x="5943600" y="301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Structured ADR — Supabase + Jira, auditable and signed off</a:t>
            </a:r>
          </a:p>
        </p:txBody>
      </p:sp>
      <p:sp>
        <p:nvSpPr>
          <p:cNvPr id="25" name="R6C1"/>
          <p:cNvSpPr/>
          <p:nvPr/>
        </p:nvSpPr>
        <p:spPr>
          <a:xfrm>
            <a:off x="457200" y="340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indent="0" marL="9144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Delivery standards</a:t>
            </a:r>
          </a:p>
        </p:txBody>
      </p:sp>
      <p:sp>
        <p:nvSpPr>
          <p:cNvPr id="26" name="R6C2"/>
          <p:cNvSpPr/>
          <p:nvPr/>
        </p:nvSpPr>
        <p:spPr>
          <a:xfrm>
            <a:off x="3200400" y="340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— not tuned to your practice</a:t>
            </a:r>
          </a:p>
        </p:txBody>
      </p:sp>
      <p:sp>
        <p:nvSpPr>
          <p:cNvPr id="27" name="R6C3"/>
          <p:cNvSpPr/>
          <p:nvPr/>
        </p:nvSpPr>
        <p:spPr>
          <a:xfrm>
            <a:off x="5943600" y="340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Guardrails tuned to Accenture delivery standards</a:t>
            </a:r>
          </a:p>
        </p:txBody>
      </p:sp>
      <p:sp>
        <p:nvSpPr>
          <p:cNvPr id="28" name="Callout"/>
          <p:cNvSpPr/>
          <p:nvPr/>
        </p:nvSpPr>
        <p:spPr>
          <a:xfrm>
            <a:off x="457200" y="3870000"/>
            <a:ext cx="8229600" cy="32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The prompt engineering is the product. The adversarial posture, the failure patterns, the org memory — none of that comes free with Claude.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ARBoard — AI-Powered Architecture Review Board</dc:title>
  <dc:subject>PptxGenJS Presentation</dc:subject>
  <dc:creator>PptxGenJS</dc:creator>
  <cp:lastModifiedBy>PptxGenJS</cp:lastModifiedBy>
  <cp:revision>1</cp:revision>
  <dcterms:created xsi:type="dcterms:W3CDTF">2026-07-06T05:46:55Z</dcterms:created>
  <dcterms:modified xsi:type="dcterms:W3CDTF">2026-07-06T05:46:55Z</dcterms:modified>
</cp:coreProperties>
</file>