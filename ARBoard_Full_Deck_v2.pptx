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ARBoard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0"/>
                </a:solidFill>
                <a:latin typeface="Calibri"/>
              </a:rPr>
              <a:t>AI-Powered Salesforce Architecture Review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ABB"/>
                </a:solidFill>
                <a:latin typeface="Calibri"/>
              </a:rPr>
              <a:t>Multi-agent AI · 9 specialist reviewers · Built on Claude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0"/>
                </a:solidFill>
                <a:latin typeface="Calibri"/>
              </a:rPr>
              <a:t>Designer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BA7A"/>
                </a:solidFill>
                <a:latin typeface="Calibri"/>
              </a:rPr>
              <a:t>LWC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944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alibri"/>
              </a:rPr>
              <a:t>OmniStudio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A020"/>
                </a:solidFill>
                <a:latin typeface="Calibri"/>
              </a:rPr>
              <a:t>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04688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0"/>
                </a:solidFill>
                <a:latin typeface="Calibri"/>
              </a:rPr>
              <a:t>Apex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59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BA7A"/>
                </a:solidFill>
                <a:latin typeface="Calibri"/>
              </a:rPr>
              <a:t>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7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Calibri"/>
              </a:rPr>
              <a:t>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A020"/>
                </a:solidFill>
                <a:latin typeface="Calibri"/>
              </a:rPr>
              <a:t>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52176" y="4297680"/>
            <a:ext cx="1170432" cy="45720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8751" y="43525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53E3E"/>
                </a:solidFill>
                <a:latin typeface="Calibri"/>
              </a:rPr>
              <a:t>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ACC New Zealand · Client deployment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Architecture reviews are a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In complex Salesforce programmes, design governance slows delivery or gets skipped entirely.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7784" y="1947672"/>
            <a:ext cx="164592" cy="164592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020"/>
                </a:solidFill>
                <a:latin typeface="Calibri"/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Weeks not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24912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Getting a review panel together for a Salesforce design decision takes days to weeks. By then, the team has moved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73736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38144" y="1947672"/>
            <a:ext cx="164592" cy="164592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  <a:latin typeface="Calibri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3042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Tribal 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24912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Review quality depends entirely on who happens to be in the room. CTA-level expertise is scarce and expensive.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3736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18504" y="1947672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042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724912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Decisions made in meetings vanish. No record of what was reviewed, what was flagged, or why an approach was chosen.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73736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98863" y="1947672"/>
            <a:ext cx="164592" cy="164592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1" y="19019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0"/>
                </a:solidFill>
                <a:latin typeface="Calibri"/>
              </a:rPr>
              <a:t>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3042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Repeat mistakes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724912"/>
            <a:ext cx="2377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Without institutional memory, teams repeat the same architecture mistakes across projects and clients.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review board that runs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Paste a requirement. 9 specialist AI agents debate it. Get a binding verdict and a formal ADR in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2024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0"/>
                </a:solidFill>
                <a:latin typeface="Calibri"/>
              </a:rPr>
              <a:t>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Always active — solution design 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06424" y="2011680"/>
            <a:ext cx="502920" cy="201168"/>
          </a:xfrm>
          <a:prstGeom prst="roundRect">
            <a:avLst>
              <a:gd name="adj" fmla="val 5000"/>
            </a:avLst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02996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0916"/>
                </a:solidFill>
                <a:latin typeface="Calibri"/>
              </a:rPr>
              <a:t>ALWAYS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3" y="192024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20299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A7A"/>
                </a:solidFill>
                <a:latin typeface="Calibri"/>
              </a:rPr>
              <a:t>LWC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9384" y="239572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Lightning Web Component specialist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192024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0299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OmniStudio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39572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OmniScript &amp; FlexCards expert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192024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20299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020"/>
                </a:solidFill>
                <a:latin typeface="Calibri"/>
              </a:rPr>
              <a:t>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239572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Automation &amp; Flow builder 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192024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5" y="202996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0"/>
                </a:solidFill>
                <a:latin typeface="Calibri"/>
              </a:rPr>
              <a:t>Apex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5" y="239572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Governor limits &amp; code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3756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44728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A7A"/>
                </a:solidFill>
                <a:latin typeface="Calibri"/>
              </a:rPr>
              <a:t>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1304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Well-Architected Framework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37943" y="333756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9384" y="344728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9384" y="381304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APIs, Named Credentials, MuleSoft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333756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344728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020"/>
                </a:solidFill>
                <a:latin typeface="Calibri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5848" y="381304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Schema, sharing, FLS, volumes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90872" y="3337560"/>
            <a:ext cx="1261872" cy="123444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2312" y="344728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Judge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3813048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ABB"/>
                </a:solidFill>
                <a:latin typeface="Calibri"/>
              </a:rPr>
              <a:t>Always active — binding verdict + ADR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85816" y="3429000"/>
            <a:ext cx="502920" cy="201168"/>
          </a:xfrm>
          <a:prstGeom prst="roundRect">
            <a:avLst>
              <a:gd name="adj" fmla="val 5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31536" y="3447288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70916"/>
                </a:solidFill>
                <a:latin typeface="Calibri"/>
              </a:rPr>
              <a:t>ALWAYS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Four steps from requirement to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810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F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77440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Submit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834640"/>
            <a:ext cx="23225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Paste text or upload a PDF/DOCX. ARBoard extracts content and detects Salesforce clouds and compliance terms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31089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16916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810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BA7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377440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Impact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834640"/>
            <a:ext cx="23225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Claude analyses the requirement and selects which specialist agents to trigger — showing exactly why each one is needed before a token is spent.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19" y="31089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BA7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7064" y="16916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5" y="1810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377440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Forum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834640"/>
            <a:ext cx="23225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Active agents review in sequence. Each reads all prior outputs, building genuine expert debate — not parallel memos.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1" y="310896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5" y="1691640"/>
            <a:ext cx="2651760" cy="34747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7" y="1810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A020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7" y="2377440"/>
            <a:ext cx="2322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Verdict + ADR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7" y="2834640"/>
            <a:ext cx="2322576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Judge produces a binding decision: Approved / Conditions / Revision. Scribe generates a formal Architecture Decision Record with sign-off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KEY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Built for enterprise Salesforce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0"/>
                </a:solidFill>
                <a:latin typeface="Calibri"/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0195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Document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2788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PDF, DOCX, TXT, MD, Confluence HTML. Auto-detects clouds, compliance terms, integrations.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73736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BA7A"/>
                </a:solidFill>
                <a:latin typeface="Calibr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90195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Cost estimator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267712"/>
            <a:ext cx="2788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Token + cost estimate before every session. Actual vs estimated after. Full AI spend transparency.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3" y="1737360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19019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020"/>
                </a:solidFill>
                <a:latin typeface="Calibri"/>
              </a:rP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1901952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Judge 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2267712"/>
            <a:ext cx="2788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Binding: Approved / Conditions / Revision. Numbered must-fix issues. Formal ADR with sign-off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355848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5CF6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2044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Learning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2788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Learner agent extracts lessons after every session. Knowledge compounds across projects.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3355848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520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0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352044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Impact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3886200"/>
            <a:ext cx="2788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Maps requirement to specialist agents — shows why each is needed, before review starts.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3" y="3355848"/>
            <a:ext cx="35661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3" y="3520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BA7A"/>
                </a:solidFill>
                <a:latin typeface="Calibri"/>
              </a:rPr>
              <a:t>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3520440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Client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3886200"/>
            <a:ext cx="2788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Per-client config: clouds, regulatory overlays, data region, agent guardrails. One file per client.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CLIENT DEPLOYMENT — ACC NEW ZEALAND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Configured for ACC's context from day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Client context injection means agents already know ACC's clouds, data rules, and compliance requirements — without prompting.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11338560" cy="65836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975104"/>
            <a:ext cx="91440" cy="91440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0"/>
                </a:solidFill>
                <a:latin typeface="Calibri"/>
              </a:rPr>
              <a:t>Salesforce clouds 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64792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Service Cloud · Experience Cloud · Health Cloud · OmniStudio · Agentforce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441448"/>
            <a:ext cx="11338560" cy="65836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724912"/>
            <a:ext cx="91440" cy="91440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A7A"/>
                </a:solidFill>
                <a:latin typeface="Calibri"/>
              </a:rPr>
              <a:t>Data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514600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ap-southeast-2 (Australia/NZ) — all data stays in region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91256"/>
            <a:ext cx="11338560" cy="65836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474720"/>
            <a:ext cx="91440" cy="91440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020"/>
                </a:solidFill>
                <a:latin typeface="Calibri"/>
              </a:rPr>
              <a:t>Regulatory overlays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64408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NZ Privacy Act 2020 · WCAG 2.1 AA (NZ Govt digital standards)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41064"/>
            <a:ext cx="11338560" cy="65836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4224528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14216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Agent guardrails 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14216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5 agent overrides: Designer · Apex · Data · Integration · Judge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690872"/>
            <a:ext cx="11338560" cy="65836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974336"/>
            <a:ext cx="91440" cy="9144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64024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3E3E"/>
                </a:solidFill>
                <a:latin typeface="Calibri"/>
              </a:rPr>
              <a:t>Auto MUST-FIX escalations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64024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Health data outside ap-southeast-2 · Missing accessibility · Bulk sync processing · Hardcoded credentials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440679"/>
            <a:ext cx="11338560" cy="65836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5724144"/>
            <a:ext cx="91440" cy="91440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13831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A7A"/>
                </a:solidFill>
                <a:latin typeface="Calibri"/>
              </a:rPr>
              <a:t>Volume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513831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~2M claims/year · High-volume bulk processing patterns enforced in every Apex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PRODUCTION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Five layers — same platform, different config per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1280160" cy="749808"/>
          </a:xfrm>
          <a:prstGeom prst="roundRect">
            <a:avLst>
              <a:gd name="adj" fmla="val 5000"/>
            </a:avLst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928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916"/>
                </a:solidFill>
                <a:latin typeface="Calibri"/>
              </a:rPr>
              <a:t>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928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Vercel / Azure / AWS  ·  Anthropic API  ·  Supabase data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587752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2587752"/>
            <a:ext cx="1280160" cy="749808"/>
          </a:xfrm>
          <a:prstGeom prst="roundRect">
            <a:avLst>
              <a:gd name="adj" fmla="val 5000"/>
            </a:avLst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916"/>
                </a:solidFill>
                <a:latin typeface="Calibri"/>
              </a:rPr>
              <a:t>Client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889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lib/clients/{clientId}/  ·  SF clouds · regulatory overlays · agent overrides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483864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3483864"/>
            <a:ext cx="1280160" cy="749808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850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916"/>
                </a:solidFill>
                <a:latin typeface="Calibri"/>
              </a:rPr>
              <a:t>Agent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850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Impact analyser → Forum engine → Judge + Scribe → Learner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379976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4379976"/>
            <a:ext cx="1280160" cy="749808"/>
          </a:xfrm>
          <a:prstGeom prst="roundRect">
            <a:avLst>
              <a:gd name="adj" fmla="val 5000"/>
            </a:avLst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811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916"/>
                </a:solidFill>
                <a:latin typeface="Calibri"/>
              </a:rPr>
              <a:t>Access &amp;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811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NextAuth SSO (Azure AD / Okta)  ·  RBAC (Admin / Reviewer / Read-only)  ·  Data residency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276088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5276088"/>
            <a:ext cx="1280160" cy="749808"/>
          </a:xfrm>
          <a:prstGeom prst="roundRect">
            <a:avLst>
              <a:gd name="adj" fmla="val 5000"/>
            </a:avLst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77255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70916"/>
                </a:solidFill>
                <a:latin typeface="Calibri"/>
              </a:rPr>
              <a:t>Ops &amp;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477255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ABB"/>
                </a:solidFill>
                <a:latin typeface="Calibri"/>
              </a:rPr>
              <a:t>Usage dashboard  ·  Budget caps + alerts  ·  ADR audit trail + versioning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2179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F0"/>
                </a:solidFill>
                <a:latin typeface="Calibri"/>
              </a:rPr>
              <a:t>Deployment time: ~1 week per client. Adding a new client = new config folder + env vars. Zero code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CODEBASE — FOLDER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lives where and why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556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0"/>
                </a:solidFill>
                <a:latin typeface="Calibri"/>
              </a:rPr>
              <a:t>src/lib/domains/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665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Agent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359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Agents live in domains/salesforce/agents/. Each agent is a .ts file: designer, apex, flow, judge, lwc, omniStudio, patterns, scribe, learner. Extend by adding a new domain folder.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45920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7556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BA7A"/>
                </a:solidFill>
                <a:latin typeface="Calibri"/>
              </a:rPr>
              <a:t>src/lib/clients/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0665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Client configs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359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One folder per client — currently acc-nz/. config.ts = clouds, overlays, region, budget. agent-overrides.ts = per-agent guardrails. Adding a client = copying this 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64408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37413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src/lib/middleware/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685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Pipeline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977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Composable functions every agent call passes through: validateInput → injectClientContext → injectLearnings → rateLimiter → auditLogger.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264408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37413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020"/>
                </a:solidFill>
                <a:latin typeface="Calibri"/>
              </a:rPr>
              <a:t>src/lib/orchestrator/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685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Forum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977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ForumOrchestrator.ts runs agents in sequence via Server-Sent Events. Works with ImpactAnalyser (lib/analysis/) and PromptBuilder (lib/prompt/) to assemble each agent call.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882896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9926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0"/>
                </a:solidFill>
                <a:latin typeface="Calibri"/>
              </a:rPr>
              <a:t>src/app/api/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API routes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5596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Thin routes only — zero business logic. POST /api/analyse, /api/forum (streaming), /api/upload, /api/client-context.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4882896"/>
            <a:ext cx="5394960" cy="141732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49926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BA7A"/>
                </a:solidFill>
                <a:latin typeface="Calibri"/>
              </a:rPr>
              <a:t>src/components/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UI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55961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ABB"/>
                </a:solidFill>
                <a:latin typeface="Calibri"/>
              </a:rPr>
              <a:t>React components. ClientContextBanner shows the active ACC NZ config. ForumTestUI drives the forum session. AgentChip shows triggered agents with confidence scores.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263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Also present: lib/agents/AgentRunner.ts · lib/analysis/ImpactAnalyser.ts · lib/documents/ (parser, chunker) · lib/context/ContextStore.ts · lib/prompt/PromptBuilder.ts · lib/salesforce/OrgMetadataCollector.ts · lib/types/ · lib/session.ts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CODEBASE — FILE TYPES &amp;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each file extension 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1371600" cy="749808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928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0"/>
                </a:solidFill>
                <a:latin typeface="Calibri"/>
              </a:rPr>
              <a:t>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0"/>
                </a:solidFill>
                <a:latin typeface="Calibri"/>
              </a:rP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75688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JavaScript with type safety. Catches mistakes before the app runs. Used for all logic, config, and data types. The compiler refuses to build if something is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587752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2587752"/>
            <a:ext cx="1371600" cy="749808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BA7A"/>
                </a:solidFill>
                <a:latin typeface="Calibri"/>
              </a:rPr>
              <a:t>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6791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BA7A"/>
                </a:solidFill>
                <a:latin typeface="Calibri"/>
              </a:rPr>
              <a:t>TypeScript + 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971800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Same as .ts but allows React UI markup (JSX) in the same file. Used for all visual components — buttons, cards, banners.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483864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483864"/>
            <a:ext cx="1371600" cy="749808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850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020"/>
                </a:solidFill>
                <a:latin typeface="Calibri"/>
              </a:rPr>
              <a:t>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5753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020"/>
                </a:solidFill>
                <a:latin typeface="Calibri"/>
              </a:rPr>
              <a:t>Configuration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67912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Plain structured data. tsconfig.json controls TypeScript rules. package.json lists all installed libraries. No logic — data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79976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" y="4379976"/>
            <a:ext cx="1371600" cy="749808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811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4714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Markdown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64024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Plain text with simple formatting. Used for documentation, README files, and instruction prompts (like the Claude Code prompt files).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276088"/>
            <a:ext cx="11338560" cy="749808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5276088"/>
            <a:ext cx="1371600" cy="749808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7725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53E3E"/>
                </a:solidFill>
                <a:latin typeface="Calibri"/>
              </a:rPr>
              <a:t>.env.local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3675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Environment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660136"/>
            <a:ext cx="9509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Secret config that never goes into Git. API keys, database URLs, client IDs. One file per deployment environment.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CODEBASE — HOW TO EXTEND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Adding a new client or agent — zero code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0"/>
                </a:solidFill>
                <a:latin typeface="Calibri"/>
              </a:rPr>
              <a:t>Adding a new client</a:t>
            </a:r>
          </a:p>
        </p:txBody>
      </p:sp>
      <p:sp>
        <p:nvSpPr>
          <p:cNvPr id="8" name="Oval 7"/>
          <p:cNvSpPr/>
          <p:nvPr/>
        </p:nvSpPr>
        <p:spPr>
          <a:xfrm>
            <a:off x="594359" y="2258568"/>
            <a:ext cx="128016" cy="12801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21284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Copy lib/clients/acc-nz/ → lib/clients/{new-client}/</a:t>
            </a:r>
          </a:p>
        </p:txBody>
      </p:sp>
      <p:sp>
        <p:nvSpPr>
          <p:cNvPr id="11" name="Oval 10"/>
          <p:cNvSpPr/>
          <p:nvPr/>
        </p:nvSpPr>
        <p:spPr>
          <a:xfrm>
            <a:off x="594359" y="2916936"/>
            <a:ext cx="128016" cy="12801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2871215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3463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Edit config.ts — update clientId, name, clouds, overlays, region</a:t>
            </a:r>
          </a:p>
        </p:txBody>
      </p:sp>
      <p:sp>
        <p:nvSpPr>
          <p:cNvPr id="14" name="Oval 13"/>
          <p:cNvSpPr/>
          <p:nvPr/>
        </p:nvSpPr>
        <p:spPr>
          <a:xfrm>
            <a:off x="594359" y="3575304"/>
            <a:ext cx="128016" cy="12801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352958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930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Edit agent-overrides.ts — add client-specific guardrails for each agent</a:t>
            </a:r>
          </a:p>
        </p:txBody>
      </p:sp>
      <p:sp>
        <p:nvSpPr>
          <p:cNvPr id="17" name="Oval 16"/>
          <p:cNvSpPr/>
          <p:nvPr/>
        </p:nvSpPr>
        <p:spPr>
          <a:xfrm>
            <a:off x="594359" y="4233672"/>
            <a:ext cx="128016" cy="12801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41879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15137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Set CLIENT_ID={new-client} in the deployment env vars</a:t>
            </a:r>
          </a:p>
        </p:txBody>
      </p:sp>
      <p:sp>
        <p:nvSpPr>
          <p:cNvPr id="20" name="Oval 19"/>
          <p:cNvSpPr/>
          <p:nvPr/>
        </p:nvSpPr>
        <p:spPr>
          <a:xfrm>
            <a:off x="594359" y="4892040"/>
            <a:ext cx="128016" cy="12801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48463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8097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Deploy — agents now have full client context automatically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68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BA7A"/>
                </a:solidFill>
                <a:latin typeface="Calibri"/>
              </a:rPr>
              <a:t>Time: ~2 hours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60020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190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Adding a new agent</a:t>
            </a:r>
          </a:p>
        </p:txBody>
      </p:sp>
      <p:sp>
        <p:nvSpPr>
          <p:cNvPr id="26" name="Oval 25"/>
          <p:cNvSpPr/>
          <p:nvPr/>
        </p:nvSpPr>
        <p:spPr>
          <a:xfrm>
            <a:off x="6501383" y="2258568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212848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1762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Add a new .ts file in lib/domains/salesforce/agents/ — copy apex.ts or designer.ts as a template</a:t>
            </a:r>
          </a:p>
        </p:txBody>
      </p:sp>
      <p:sp>
        <p:nvSpPr>
          <p:cNvPr id="29" name="Oval 28"/>
          <p:cNvSpPr/>
          <p:nvPr/>
        </p:nvSpPr>
        <p:spPr>
          <a:xfrm>
            <a:off x="6501383" y="2916936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871215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283463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Set always: false and define keyword[] array — ImpactAnalyser uses these to auto-trigger the agent</a:t>
            </a:r>
          </a:p>
        </p:txBody>
      </p:sp>
      <p:sp>
        <p:nvSpPr>
          <p:cNvPr id="32" name="Oval 31"/>
          <p:cNvSpPr/>
          <p:nvPr/>
        </p:nvSpPr>
        <p:spPr>
          <a:xfrm>
            <a:off x="6501383" y="3575304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52958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493008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Register in lib/domains/salesforce/index.ts — one line export</a:t>
            </a:r>
          </a:p>
        </p:txBody>
      </p:sp>
      <p:sp>
        <p:nvSpPr>
          <p:cNvPr id="35" name="Oval 34"/>
          <p:cNvSpPr/>
          <p:nvPr/>
        </p:nvSpPr>
        <p:spPr>
          <a:xfrm>
            <a:off x="6501383" y="4233672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1879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415137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ImpactAnalyser.ts in lib/analysis/ picks it up automatically — no changes needed there</a:t>
            </a:r>
          </a:p>
        </p:txBody>
      </p:sp>
      <p:sp>
        <p:nvSpPr>
          <p:cNvPr id="38" name="Oval 37"/>
          <p:cNvSpPr/>
          <p:nvPr/>
        </p:nvSpPr>
        <p:spPr>
          <a:xfrm>
            <a:off x="6501383" y="4892040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8463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70916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48097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ABB"/>
                </a:solidFill>
                <a:latin typeface="Calibri"/>
              </a:rPr>
              <a:t>All middleware in lib/middleware/index.ts applies automatically — AgentRunner.ts handles the 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68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BA7A"/>
                </a:solidFill>
                <a:latin typeface="Calibri"/>
              </a:rPr>
              <a:t>Time: ~4 hours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CODEBASE — MIDDLEWARE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Every agent call passes through the same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Add a global guardrail, a new compliance check, or a cost limit by adding one function to the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783080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0"/>
                </a:solidFill>
                <a:latin typeface="Calibri"/>
              </a:rPr>
              <a:t>validateInput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19456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Checks requirement length, format, and injection attempts before any token is spent.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25786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6916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783080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BA7A"/>
                </a:solidFill>
                <a:latin typeface="Calibri"/>
              </a:rPr>
              <a:t>injectClientContext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19456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Reads lib/clients/{clientId}/ and prepends cloud scope, regulatory overlays, and agent-specific overrides to the system prompt.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25786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BA7A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6916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783080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injectLearnings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19456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Retrieves relevant past lessons from the knowledge base and appends them to the agent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25786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6916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783080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020"/>
                </a:solidFill>
                <a:latin typeface="Calibri"/>
              </a:rPr>
              <a:t>enforceCompliance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19456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Applies regulatory rules from the client config — flags designs that violate GDPR, Privacy Act, or FSC requirements.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5" y="25786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02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16916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1783080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3E3E"/>
                </a:solidFill>
                <a:latin typeface="Calibri"/>
              </a:rPr>
              <a:t>rateLimiter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219456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Enforces per-session and per-client token rate limits to prevent runaway costs.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0695" y="25786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E3E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169164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51007" y="1783080"/>
            <a:ext cx="1609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ABB"/>
                </a:solidFill>
                <a:latin typeface="Calibri"/>
              </a:rPr>
              <a:t>auditLogger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51007" y="219456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ABB"/>
                </a:solidFill>
                <a:latin typeface="Calibri"/>
              </a:rPr>
              <a:t>Logs every agent call with timestamp, clientId, agentId, token count, and cost to the audit 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160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Each function is independently testable. Pipeline wired in lib/middleware/index.ts. Agents in lib/domains/salesforce/agents/. Runner in lib/agents/AgentRunner.ts.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572000"/>
            <a:ext cx="11338560" cy="1417320"/>
          </a:xfrm>
          <a:prstGeom prst="roundRect">
            <a:avLst>
              <a:gd name="adj" fmla="val 5000"/>
            </a:avLst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020"/>
                </a:solidFill>
                <a:latin typeface="Calibri"/>
              </a:rPr>
              <a:t>Example: adding a new HIPAA compliance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01091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BA7A"/>
                </a:solidFill>
                <a:latin typeface="Calibri"/>
              </a:rPr>
              <a:t>// src/lib/middleware/hipaaGuard.ts
export async function hipaaGuard(input) {
  if (config.overlays.includes('HIPAA') &amp;&amp; containsPHI(input.requirement)) {
    input.systemPrompt += '\n== HIPAA: flag any PHI storage outside us-east-1 as MUST-FIX ==';
  }
  return input;
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Expanding client and industry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651760" cy="42976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0"/>
                </a:solidFill>
                <a:latin typeface="Calibri"/>
              </a:rPr>
              <a:t>Phase 1 —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103120"/>
            <a:ext cx="2322576" cy="27432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6364" y="2318004"/>
            <a:ext cx="82296" cy="8229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311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ACC New Zealand deployed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" y="2976372"/>
            <a:ext cx="82296" cy="8229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Client context injection live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" y="3634739"/>
            <a:ext cx="82296" cy="8229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5478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Core 9-agent forum working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" y="4293108"/>
            <a:ext cx="82296" cy="82296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Impact analysis + ADR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9272" y="1600200"/>
            <a:ext cx="2651760" cy="42976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3864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BA7A"/>
                </a:solidFill>
                <a:latin typeface="Calibri"/>
              </a:rPr>
              <a:t>Phase 2 — Next 4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4" y="2103120"/>
            <a:ext cx="2322576" cy="27432"/>
          </a:xfrm>
          <a:prstGeom prst="rect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34156" y="2318004"/>
            <a:ext cx="82296" cy="82296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2311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Auth + RBAC (NextAuth / Azure AD)</a:t>
            </a:r>
          </a:p>
        </p:txBody>
      </p:sp>
      <p:sp>
        <p:nvSpPr>
          <p:cNvPr id="22" name="Oval 21"/>
          <p:cNvSpPr/>
          <p:nvPr/>
        </p:nvSpPr>
        <p:spPr>
          <a:xfrm>
            <a:off x="3534156" y="2976372"/>
            <a:ext cx="82296" cy="82296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ADR persistence + versioning</a:t>
            </a:r>
          </a:p>
        </p:txBody>
      </p:sp>
      <p:sp>
        <p:nvSpPr>
          <p:cNvPr id="24" name="Oval 23"/>
          <p:cNvSpPr/>
          <p:nvPr/>
        </p:nvSpPr>
        <p:spPr>
          <a:xfrm>
            <a:off x="3534156" y="3634739"/>
            <a:ext cx="82296" cy="82296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5478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Cost tracking + budget caps</a:t>
            </a:r>
          </a:p>
        </p:txBody>
      </p:sp>
      <p:sp>
        <p:nvSpPr>
          <p:cNvPr id="26" name="Oval 25"/>
          <p:cNvSpPr/>
          <p:nvPr/>
        </p:nvSpPr>
        <p:spPr>
          <a:xfrm>
            <a:off x="3534156" y="4293108"/>
            <a:ext cx="82296" cy="82296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Admin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1600200"/>
            <a:ext cx="2651760" cy="42976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5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Phase 3 — 8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1655" y="2103120"/>
            <a:ext cx="2322576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1948" y="231800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22311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Second client deployment</a:t>
            </a:r>
          </a:p>
        </p:txBody>
      </p:sp>
      <p:sp>
        <p:nvSpPr>
          <p:cNvPr id="33" name="Oval 32"/>
          <p:cNvSpPr/>
          <p:nvPr/>
        </p:nvSpPr>
        <p:spPr>
          <a:xfrm>
            <a:off x="6441948" y="297637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RAG — Salesforce docs indexed</a:t>
            </a:r>
          </a:p>
        </p:txBody>
      </p:sp>
      <p:sp>
        <p:nvSpPr>
          <p:cNvPr id="35" name="Oval 34"/>
          <p:cNvSpPr/>
          <p:nvPr/>
        </p:nvSpPr>
        <p:spPr>
          <a:xfrm>
            <a:off x="6441948" y="3634739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35478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Session history + search</a:t>
            </a:r>
          </a:p>
        </p:txBody>
      </p:sp>
      <p:sp>
        <p:nvSpPr>
          <p:cNvPr id="37" name="Oval 36"/>
          <p:cNvSpPr/>
          <p:nvPr/>
        </p:nvSpPr>
        <p:spPr>
          <a:xfrm>
            <a:off x="6441948" y="429310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AppExchange packaging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34855" y="1600200"/>
            <a:ext cx="2651760" cy="429768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99447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020"/>
                </a:solidFill>
                <a:latin typeface="Calibri"/>
              </a:rPr>
              <a:t>Phase 4 — 12 weeks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99447" y="2103120"/>
            <a:ext cx="2322576" cy="27432"/>
          </a:xfrm>
          <a:prstGeom prst="rect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49739" y="2318004"/>
            <a:ext cx="82296" cy="82296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8903" y="223113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Finance / FSC edition</a:t>
            </a:r>
          </a:p>
        </p:txBody>
      </p:sp>
      <p:sp>
        <p:nvSpPr>
          <p:cNvPr id="44" name="Oval 43"/>
          <p:cNvSpPr/>
          <p:nvPr/>
        </p:nvSpPr>
        <p:spPr>
          <a:xfrm>
            <a:off x="9349739" y="2976372"/>
            <a:ext cx="82296" cy="82296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18903" y="288950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Health Cloud / HIPAA edition</a:t>
            </a:r>
          </a:p>
        </p:txBody>
      </p:sp>
      <p:sp>
        <p:nvSpPr>
          <p:cNvPr id="46" name="Oval 45"/>
          <p:cNvSpPr/>
          <p:nvPr/>
        </p:nvSpPr>
        <p:spPr>
          <a:xfrm>
            <a:off x="9349739" y="3634739"/>
            <a:ext cx="82296" cy="82296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18903" y="35478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Telco / TM Forum edition</a:t>
            </a:r>
          </a:p>
        </p:txBody>
      </p:sp>
      <p:sp>
        <p:nvSpPr>
          <p:cNvPr id="48" name="Oval 47"/>
          <p:cNvSpPr/>
          <p:nvPr/>
        </p:nvSpPr>
        <p:spPr>
          <a:xfrm>
            <a:off x="9349739" y="4293108"/>
            <a:ext cx="82296" cy="82296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3" y="4206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Multi-tenant SaaS offering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0"/>
                </a:solidFill>
                <a:latin typeface="Calibri"/>
              </a:rPr>
              <a:t>WHY ARBOARD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" cy="36576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makes this defensible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7784" y="1901952"/>
            <a:ext cx="164592" cy="164592"/>
          </a:xfrm>
          <a:prstGeom prst="ellipse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8562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0"/>
                </a:solidFill>
                <a:latin typeface="Calibr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7919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Minutes vs weeks. A full architecture review with 9 specialist agents, a binding verdict, and a formal ADR — in under 5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901952"/>
            <a:ext cx="164592" cy="164592"/>
          </a:xfrm>
          <a:prstGeom prst="ellipse">
            <a:avLst/>
          </a:prstGeom>
          <a:solidFill>
            <a:srgbClr val="0FB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8562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BA7A"/>
                </a:solidFill>
                <a:latin typeface="Calibri"/>
              </a:rPr>
              <a:t>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Domain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7919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9 agents with CTA-level Salesforce domain prompts. Not generic AI — specialists with guardrails, governor limit awareness, and Well-Architected alignment.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916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4" y="1901952"/>
            <a:ext cx="164592" cy="16459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8562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Institutional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7919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The learning loop means every session makes the next one better. ARBoard knows your client's past decisions, patterns, and mistakes.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691640"/>
            <a:ext cx="2651760" cy="3200400"/>
          </a:xfrm>
          <a:prstGeom prst="roundRect">
            <a:avLst>
              <a:gd name="adj" fmla="val 5000"/>
            </a:avLst>
          </a:prstGeom>
          <a:solidFill>
            <a:srgbClr val="16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98863" y="1901952"/>
            <a:ext cx="164592" cy="164592"/>
          </a:xfrm>
          <a:prstGeom prst="ellipse">
            <a:avLst/>
          </a:prstGeom>
          <a:solidFill>
            <a:srgbClr val="F0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1" y="18562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020"/>
                </a:solidFill>
                <a:latin typeface="Calibri"/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2585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Extensible by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679192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New client = new config folder. New industry = new domain file. New agent = one TypeScript file. No code changes to the platform.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3892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vs. Generic LLM chatbots: no Salesforce domain depth, no structured verdict, no ADR output, no client context.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4864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vs. Manual review boards: 50× faster, always available, consistent quality, full audit trail.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The Review Board is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8F0"/>
                </a:solidFill>
                <a:latin typeface="Calibri"/>
              </a:rPr>
              <a:t>ARBoard · ACC New Zealand · Powered by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ABB"/>
                </a:solidFill>
                <a:latin typeface="Calibri"/>
              </a:rPr>
              <a:t>Next: auth + cost controls + second client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36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ABB"/>
                </a:solidFill>
                <a:latin typeface="Calibri"/>
              </a:rPr>
              <a:t>Built in partnership with Claude.ai — 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