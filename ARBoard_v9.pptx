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78" r:id="rId5"/>
    <p:sldId id="279" r:id="rId6"/>
    <p:sldId id="282" r:id="rId7"/>
    <p:sldId id="281" r:id="rId8"/>
    <p:sldId id="259" r:id="rId9"/>
    <p:sldId id="280" r:id="rId10"/>
    <p:sldId id="260" r:id="rId11"/>
    <p:sldId id="274" r:id="rId12"/>
    <p:sldId id="262" r:id="rId13"/>
    <p:sldId id="263" r:id="rId14"/>
    <p:sldId id="276" r:id="rId15"/>
    <p:sldId id="277" r:id="rId16"/>
    <p:sldId id="265" r:id="rId17"/>
    <p:sldId id="266" r:id="rId18"/>
    <p:sldId id="267" r:id="rId19"/>
    <p:sldId id="268" r:id="rId20"/>
    <p:sldId id="269" r:id="rId21"/>
    <p:sldId id="270" r:id="rId22"/>
    <p:sldId id="271" r:id="rId23"/>
    <p:sldId id="272" r:id="rId24"/>
    <p:sldId id="273" r:id="rId25"/>
    <p:sldId id="275"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213" d="100"/>
          <a:sy n="213" d="100"/>
        </p:scale>
        <p:origin x="348" y="12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07719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framing — ARBoard accelerates, not replaces:
1. The ARB forum still runs. Architects still own the verdict. ARBoard is preparation infrastructure.
2. The meeting becomes sharper — architects walk in with findings already surfaced, so time is spent on decisions not discovery.
3. Rework is the biggest cost — $8-15k when issues are found after build starts. ARBoard flags them before a line of code is written.
4. Endorsement velocity is the program-level benefit — if a team can review 3-5x more designs per sprint, the whole delivery pipeline moves faster.
5. $150/hr is a conservative blended rate — loaded cost is higher.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set the scene before the live demo.
Key points to make:
1. Each row is a specialist — they don't just rubber-stamp, they each own a domain.
2. The 'What It Validates' column shows the breadth — this is not a checklist tool, it's a deliberative review.
3. The 'Must-Fix Triggers' column shows teeth — the tool will block approval on these.
4. Judge synthesises across all agents and scores the architecture on 4 dimensions.
5. Scribe and Learner are the institutional memory layer — every session makes the next one smarter.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C"/>
        </a:solidFill>
        <a:effectLst/>
      </p:bgPr>
    </p:bg>
    <p:spTree>
      <p:nvGrpSpPr>
        <p:cNvPr id="1" name=""/>
        <p:cNvGrpSpPr/>
        <p:nvPr/>
      </p:nvGrpSpPr>
      <p:grpSpPr>
        <a:xfrm>
          <a:off x="0" y="0"/>
          <a:ext cx="0" cy="0"/>
          <a:chOff x="0" y="0"/>
          <a:chExt cx="0" cy="0"/>
        </a:xfrm>
      </p:grpSpPr>
      <p:sp>
        <p:nvSpPr>
          <p:cNvPr id="2" name="Text 0"/>
          <p:cNvSpPr/>
          <p:nvPr/>
        </p:nvSpPr>
        <p:spPr>
          <a:xfrm>
            <a:off x="502920" y="1005840"/>
            <a:ext cx="8229600" cy="1005840"/>
          </a:xfrm>
          <a:prstGeom prst="rect">
            <a:avLst/>
          </a:prstGeom>
          <a:noFill/>
          <a:ln/>
        </p:spPr>
        <p:txBody>
          <a:bodyPr wrap="square" rtlCol="0" anchor="ctr"/>
          <a:lstStyle/>
          <a:p>
            <a:pPr marL="0" indent="0">
              <a:buNone/>
            </a:pPr>
            <a:r>
              <a:rPr lang="en-US" sz="5600" b="1" dirty="0">
                <a:solidFill>
                  <a:srgbClr val="FFFFFF"/>
                </a:solidFill>
                <a:latin typeface="Arial" pitchFamily="34" charset="0"/>
                <a:ea typeface="Arial" pitchFamily="34" charset="-122"/>
                <a:cs typeface="Arial" pitchFamily="34" charset="-120"/>
              </a:rPr>
              <a:t>ARBoard</a:t>
            </a:r>
            <a:endParaRPr lang="en-US" sz="5600" dirty="0"/>
          </a:p>
        </p:txBody>
      </p:sp>
      <p:sp>
        <p:nvSpPr>
          <p:cNvPr id="3" name="Text 1"/>
          <p:cNvSpPr/>
          <p:nvPr/>
        </p:nvSpPr>
        <p:spPr>
          <a:xfrm>
            <a:off x="502920" y="1965960"/>
            <a:ext cx="7315200" cy="457200"/>
          </a:xfrm>
          <a:prstGeom prst="rect">
            <a:avLst/>
          </a:prstGeom>
          <a:noFill/>
          <a:ln/>
        </p:spPr>
        <p:txBody>
          <a:bodyPr wrap="square" rtlCol="0" anchor="ctr"/>
          <a:lstStyle/>
          <a:p>
            <a:pPr marL="0" indent="0">
              <a:buNone/>
            </a:pPr>
            <a:r>
              <a:rPr lang="en-US" sz="1800" dirty="0">
                <a:solidFill>
                  <a:srgbClr val="A0B8D8"/>
                </a:solidFill>
                <a:latin typeface="Arial" pitchFamily="34" charset="0"/>
                <a:ea typeface="Arial" pitchFamily="34" charset="-122"/>
                <a:cs typeface="Arial" pitchFamily="34" charset="-120"/>
              </a:rPr>
              <a:t>AI-Powered Salesforce Architecture Review Board</a:t>
            </a:r>
            <a:endParaRPr lang="en-US" sz="1800" dirty="0"/>
          </a:p>
        </p:txBody>
      </p:sp>
      <p:sp>
        <p:nvSpPr>
          <p:cNvPr id="4" name="Shape 2"/>
          <p:cNvSpPr/>
          <p:nvPr/>
        </p:nvSpPr>
        <p:spPr>
          <a:xfrm>
            <a:off x="502920" y="1920240"/>
            <a:ext cx="3200400" cy="0"/>
          </a:xfrm>
          <a:prstGeom prst="line">
            <a:avLst/>
          </a:prstGeom>
          <a:noFill/>
          <a:ln w="25400">
            <a:solidFill>
              <a:srgbClr val="2E6DA4"/>
            </a:solidFill>
            <a:prstDash val="solid"/>
          </a:ln>
        </p:spPr>
        <p:txBody>
          <a:bodyPr/>
          <a:lstStyle/>
          <a:p>
            <a:endParaRPr lang="en-US"/>
          </a:p>
        </p:txBody>
      </p:sp>
      <p:sp>
        <p:nvSpPr>
          <p:cNvPr id="5" name="Text 3"/>
          <p:cNvSpPr/>
          <p:nvPr/>
        </p:nvSpPr>
        <p:spPr>
          <a:xfrm>
            <a:off x="502920" y="2743200"/>
            <a:ext cx="8138160" cy="320040"/>
          </a:xfrm>
          <a:prstGeom prst="rect">
            <a:avLst/>
          </a:prstGeom>
          <a:noFill/>
          <a:ln/>
        </p:spPr>
        <p:txBody>
          <a:bodyPr wrap="square" rtlCol="0" anchor="ctr"/>
          <a:lstStyle/>
          <a:p>
            <a:pPr marL="0" indent="0">
              <a:buNone/>
            </a:pPr>
            <a:r>
              <a:rPr lang="en-US" sz="1100" i="1" dirty="0">
                <a:solidFill>
                  <a:srgbClr val="6A84A8"/>
                </a:solidFill>
                <a:latin typeface="Arial" pitchFamily="34" charset="0"/>
                <a:ea typeface="Arial" pitchFamily="34" charset="-122"/>
                <a:cs typeface="Arial" pitchFamily="34" charset="-120"/>
              </a:rPr>
              <a:t>10 specialist agents · Multi-phase debate · ADR output · Jira integration · Cross-session memory</a:t>
            </a:r>
            <a:endParaRPr lang="en-US" sz="1100" dirty="0"/>
          </a:p>
        </p:txBody>
      </p:sp>
      <p:sp>
        <p:nvSpPr>
          <p:cNvPr id="6" name="Text 4"/>
          <p:cNvSpPr/>
          <p:nvPr/>
        </p:nvSpPr>
        <p:spPr>
          <a:xfrm>
            <a:off x="502920" y="4480560"/>
            <a:ext cx="8138160" cy="274320"/>
          </a:xfrm>
          <a:prstGeom prst="rect">
            <a:avLst/>
          </a:prstGeom>
          <a:noFill/>
          <a:ln/>
        </p:spPr>
        <p:txBody>
          <a:bodyPr wrap="square" rtlCol="0" anchor="ctr"/>
          <a:lstStyle/>
          <a:p>
            <a:pPr marL="0" indent="0">
              <a:buNone/>
            </a:pPr>
            <a:r>
              <a:rPr lang="en-US" sz="1000" dirty="0">
                <a:solidFill>
                  <a:srgbClr val="445566"/>
                </a:solidFill>
                <a:latin typeface="Arial" pitchFamily="34" charset="0"/>
                <a:ea typeface="Arial" pitchFamily="34" charset="-122"/>
                <a:cs typeface="Arial" pitchFamily="34" charset="-120"/>
              </a:rPr>
              <a:t>Built with Claude API · Next.js 14 · Supabase · Vercel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THE PROBLEM</a:t>
            </a:r>
            <a:endParaRPr lang="en-US" sz="900" dirty="0"/>
          </a:p>
        </p:txBody>
      </p:sp>
      <p:sp>
        <p:nvSpPr>
          <p:cNvPr id="3" name="Text 1"/>
          <p:cNvSpPr/>
          <p:nvPr/>
        </p:nvSpPr>
        <p:spPr>
          <a:xfrm>
            <a:off x="502920" y="594360"/>
            <a:ext cx="8138160" cy="90000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Architecture reviews are slow, inconsistent, and often too late</a:t>
            </a:r>
            <a:endParaRPr lang="en-US" sz="2800" dirty="0"/>
          </a:p>
        </p:txBody>
      </p:sp>
      <p:sp>
        <p:nvSpPr>
          <p:cNvPr id="4" name="Shape 2"/>
          <p:cNvSpPr/>
          <p:nvPr/>
        </p:nvSpPr>
        <p:spPr>
          <a:xfrm>
            <a:off x="502920" y="146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502920" y="1677320"/>
            <a:ext cx="2011680" cy="2820320"/>
          </a:xfrm>
          <a:prstGeom prst="roundRect">
            <a:avLst>
              <a:gd name="adj" fmla="val 363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Text 4"/>
          <p:cNvSpPr/>
          <p:nvPr/>
        </p:nvSpPr>
        <p:spPr>
          <a:xfrm>
            <a:off x="502920" y="1814480"/>
            <a:ext cx="2011680" cy="457200"/>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7" name="Text 5"/>
          <p:cNvSpPr/>
          <p:nvPr/>
        </p:nvSpPr>
        <p:spPr>
          <a:xfrm>
            <a:off x="502920" y="2271680"/>
            <a:ext cx="201168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Too slow</a:t>
            </a:r>
            <a:endParaRPr lang="en-US" sz="1300" dirty="0"/>
          </a:p>
        </p:txBody>
      </p:sp>
      <p:sp>
        <p:nvSpPr>
          <p:cNvPr id="8" name="Text 6"/>
          <p:cNvSpPr/>
          <p:nvPr/>
        </p:nvSpPr>
        <p:spPr>
          <a:xfrm>
            <a:off x="502920" y="2591720"/>
            <a:ext cx="2011680" cy="822960"/>
          </a:xfrm>
          <a:prstGeom prst="rect">
            <a:avLst/>
          </a:prstGeom>
          <a:noFill/>
          <a:ln/>
        </p:spPr>
        <p:txBody>
          <a:bodyPr wrap="square" rtlCol="0" anchor="t"/>
          <a:lstStyle/>
          <a:p>
            <a:pPr marL="0" indent="0" algn="ctr">
              <a:buNone/>
            </a:pPr>
            <a:r>
              <a:rPr lang="en-US" sz="1050" dirty="0">
                <a:solidFill>
                  <a:srgbClr val="64635E"/>
                </a:solidFill>
                <a:latin typeface="Arial" pitchFamily="34" charset="0"/>
                <a:ea typeface="Arial" pitchFamily="34" charset="-122"/>
                <a:cs typeface="Arial" pitchFamily="34" charset="-120"/>
              </a:rPr>
              <a:t>ARB meetings take weeks to schedule. Design decisions cannot wait.</a:t>
            </a:r>
            <a:endParaRPr lang="en-US" sz="1050" dirty="0"/>
          </a:p>
        </p:txBody>
      </p:sp>
      <p:sp>
        <p:nvSpPr>
          <p:cNvPr id="9" name="Shape 7"/>
          <p:cNvSpPr/>
          <p:nvPr/>
        </p:nvSpPr>
        <p:spPr>
          <a:xfrm>
            <a:off x="2679192" y="1677320"/>
            <a:ext cx="2011680" cy="2820320"/>
          </a:xfrm>
          <a:prstGeom prst="roundRect">
            <a:avLst>
              <a:gd name="adj" fmla="val 363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0" name="Text 8"/>
          <p:cNvSpPr/>
          <p:nvPr/>
        </p:nvSpPr>
        <p:spPr>
          <a:xfrm>
            <a:off x="2679192" y="1814480"/>
            <a:ext cx="2011680" cy="457200"/>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1" name="Text 9"/>
          <p:cNvSpPr/>
          <p:nvPr/>
        </p:nvSpPr>
        <p:spPr>
          <a:xfrm>
            <a:off x="2679192" y="2271680"/>
            <a:ext cx="201168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Inconsistent</a:t>
            </a:r>
            <a:endParaRPr lang="en-US" sz="1300" dirty="0"/>
          </a:p>
        </p:txBody>
      </p:sp>
      <p:sp>
        <p:nvSpPr>
          <p:cNvPr id="12" name="Text 10"/>
          <p:cNvSpPr/>
          <p:nvPr/>
        </p:nvSpPr>
        <p:spPr>
          <a:xfrm>
            <a:off x="2679192" y="2591720"/>
            <a:ext cx="2011680" cy="822960"/>
          </a:xfrm>
          <a:prstGeom prst="rect">
            <a:avLst/>
          </a:prstGeom>
          <a:noFill/>
          <a:ln/>
        </p:spPr>
        <p:txBody>
          <a:bodyPr wrap="square" rtlCol="0" anchor="t"/>
          <a:lstStyle/>
          <a:p>
            <a:pPr marL="0" indent="0" algn="ctr">
              <a:buNone/>
            </a:pPr>
            <a:r>
              <a:rPr lang="en-US" sz="1050" dirty="0">
                <a:solidFill>
                  <a:srgbClr val="64635E"/>
                </a:solidFill>
                <a:latin typeface="Arial" pitchFamily="34" charset="0"/>
                <a:ea typeface="Arial" pitchFamily="34" charset="-122"/>
                <a:cs typeface="Arial" pitchFamily="34" charset="-120"/>
              </a:rPr>
              <a:t>Quality depends on who is in the room. Same pattern, different outcome.</a:t>
            </a:r>
            <a:endParaRPr lang="en-US" sz="1050" dirty="0"/>
          </a:p>
        </p:txBody>
      </p:sp>
      <p:sp>
        <p:nvSpPr>
          <p:cNvPr id="13" name="Shape 11"/>
          <p:cNvSpPr/>
          <p:nvPr/>
        </p:nvSpPr>
        <p:spPr>
          <a:xfrm>
            <a:off x="4855464" y="1677320"/>
            <a:ext cx="2011680" cy="2820320"/>
          </a:xfrm>
          <a:prstGeom prst="roundRect">
            <a:avLst>
              <a:gd name="adj" fmla="val 363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4" name="Text 12"/>
          <p:cNvSpPr/>
          <p:nvPr/>
        </p:nvSpPr>
        <p:spPr>
          <a:xfrm>
            <a:off x="4855464" y="1814480"/>
            <a:ext cx="2011680" cy="457200"/>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5" name="Text 13"/>
          <p:cNvSpPr/>
          <p:nvPr/>
        </p:nvSpPr>
        <p:spPr>
          <a:xfrm>
            <a:off x="4855464" y="2271680"/>
            <a:ext cx="201168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Too late</a:t>
            </a:r>
            <a:endParaRPr lang="en-US" sz="1300" dirty="0"/>
          </a:p>
        </p:txBody>
      </p:sp>
      <p:sp>
        <p:nvSpPr>
          <p:cNvPr id="16" name="Text 14"/>
          <p:cNvSpPr/>
          <p:nvPr/>
        </p:nvSpPr>
        <p:spPr>
          <a:xfrm>
            <a:off x="4855464" y="2591720"/>
            <a:ext cx="2011680" cy="822960"/>
          </a:xfrm>
          <a:prstGeom prst="rect">
            <a:avLst/>
          </a:prstGeom>
          <a:noFill/>
          <a:ln/>
        </p:spPr>
        <p:txBody>
          <a:bodyPr wrap="square" rtlCol="0" anchor="t"/>
          <a:lstStyle/>
          <a:p>
            <a:pPr marL="0" indent="0" algn="ctr">
              <a:buNone/>
            </a:pPr>
            <a:r>
              <a:rPr lang="en-US" sz="1050" dirty="0">
                <a:solidFill>
                  <a:srgbClr val="64635E"/>
                </a:solidFill>
                <a:latin typeface="Arial" pitchFamily="34" charset="0"/>
                <a:ea typeface="Arial" pitchFamily="34" charset="-122"/>
                <a:cs typeface="Arial" pitchFamily="34" charset="-120"/>
              </a:rPr>
              <a:t>Review happens after build starts. Rework is expensive.</a:t>
            </a:r>
            <a:endParaRPr lang="en-US" sz="1050" dirty="0"/>
          </a:p>
        </p:txBody>
      </p:sp>
      <p:sp>
        <p:nvSpPr>
          <p:cNvPr id="17" name="Shape 15"/>
          <p:cNvSpPr/>
          <p:nvPr/>
        </p:nvSpPr>
        <p:spPr>
          <a:xfrm>
            <a:off x="7031736" y="1677320"/>
            <a:ext cx="2011680" cy="2820320"/>
          </a:xfrm>
          <a:prstGeom prst="roundRect">
            <a:avLst>
              <a:gd name="adj" fmla="val 363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8" name="Text 16"/>
          <p:cNvSpPr/>
          <p:nvPr/>
        </p:nvSpPr>
        <p:spPr>
          <a:xfrm>
            <a:off x="7031736" y="1814480"/>
            <a:ext cx="2011680" cy="457200"/>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9" name="Text 17"/>
          <p:cNvSpPr/>
          <p:nvPr/>
        </p:nvSpPr>
        <p:spPr>
          <a:xfrm>
            <a:off x="7031736" y="2271680"/>
            <a:ext cx="201168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No memory</a:t>
            </a:r>
            <a:endParaRPr lang="en-US" sz="1300" dirty="0"/>
          </a:p>
        </p:txBody>
      </p:sp>
      <p:sp>
        <p:nvSpPr>
          <p:cNvPr id="20" name="Text 18"/>
          <p:cNvSpPr/>
          <p:nvPr/>
        </p:nvSpPr>
        <p:spPr>
          <a:xfrm>
            <a:off x="7031736" y="2591720"/>
            <a:ext cx="2011680" cy="822960"/>
          </a:xfrm>
          <a:prstGeom prst="rect">
            <a:avLst/>
          </a:prstGeom>
          <a:noFill/>
          <a:ln/>
        </p:spPr>
        <p:txBody>
          <a:bodyPr wrap="square" rtlCol="0" anchor="t"/>
          <a:lstStyle/>
          <a:p>
            <a:pPr marL="0" indent="0" algn="ctr">
              <a:buNone/>
            </a:pPr>
            <a:r>
              <a:rPr lang="en-US" sz="1050" dirty="0">
                <a:solidFill>
                  <a:srgbClr val="64635E"/>
                </a:solidFill>
                <a:latin typeface="Arial" pitchFamily="34" charset="0"/>
                <a:ea typeface="Arial" pitchFamily="34" charset="-122"/>
                <a:cs typeface="Arial" pitchFamily="34" charset="-120"/>
              </a:rPr>
              <a:t>Each review starts from scratch. Past decisions are not enforced.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THE SOLUTION</a:t>
            </a:r>
            <a:endParaRPr lang="en-US" sz="900" dirty="0"/>
          </a:p>
        </p:txBody>
      </p:sp>
      <p:sp>
        <p:nvSpPr>
          <p:cNvPr id="3" name="Text 1"/>
          <p:cNvSpPr/>
          <p:nvPr/>
        </p:nvSpPr>
        <p:spPr>
          <a:xfrm>
            <a:off x="502920" y="594360"/>
            <a:ext cx="8138160" cy="90000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ARBoard runs a full architecture review in minutes, not weeks</a:t>
            </a:r>
            <a:endParaRPr lang="en-US" sz="2800" dirty="0"/>
          </a:p>
        </p:txBody>
      </p:sp>
      <p:sp>
        <p:nvSpPr>
          <p:cNvPr id="4" name="Shape 2"/>
          <p:cNvSpPr/>
          <p:nvPr/>
        </p:nvSpPr>
        <p:spPr>
          <a:xfrm>
            <a:off x="502920" y="146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365760" y="1631600"/>
            <a:ext cx="1965960" cy="2911760"/>
          </a:xfrm>
          <a:prstGeom prst="roundRect">
            <a:avLst>
              <a:gd name="adj" fmla="val 3721"/>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Shape 4"/>
          <p:cNvSpPr/>
          <p:nvPr/>
        </p:nvSpPr>
        <p:spPr>
          <a:xfrm>
            <a:off x="1097280" y="1741328"/>
            <a:ext cx="502920" cy="502920"/>
          </a:xfrm>
          <a:prstGeom prst="ellipse">
            <a:avLst/>
          </a:prstGeom>
          <a:solidFill>
            <a:srgbClr val="1B4F9B"/>
          </a:solidFill>
          <a:ln w="12700">
            <a:solidFill>
              <a:srgbClr val="1B4F9B"/>
            </a:solidFill>
            <a:prstDash val="solid"/>
          </a:ln>
        </p:spPr>
        <p:txBody>
          <a:bodyPr/>
          <a:lstStyle/>
          <a:p>
            <a:endParaRPr lang="en-US"/>
          </a:p>
        </p:txBody>
      </p:sp>
      <p:sp>
        <p:nvSpPr>
          <p:cNvPr id="7" name="Text 5"/>
          <p:cNvSpPr/>
          <p:nvPr/>
        </p:nvSpPr>
        <p:spPr>
          <a:xfrm>
            <a:off x="1097280" y="174132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365760" y="2317400"/>
            <a:ext cx="196596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Input</a:t>
            </a:r>
            <a:endParaRPr lang="en-US" sz="1300" dirty="0"/>
          </a:p>
        </p:txBody>
      </p:sp>
      <p:sp>
        <p:nvSpPr>
          <p:cNvPr id="9" name="Text 7"/>
          <p:cNvSpPr/>
          <p:nvPr/>
        </p:nvSpPr>
        <p:spPr>
          <a:xfrm>
            <a:off x="365760" y="2637440"/>
            <a:ext cx="1965960" cy="777240"/>
          </a:xfrm>
          <a:prstGeom prst="rect">
            <a:avLst/>
          </a:prstGeom>
          <a:noFill/>
          <a:ln/>
        </p:spPr>
        <p:txBody>
          <a:bodyPr wrap="square" rtlCol="0" anchor="t"/>
          <a:lstStyle/>
          <a:p>
            <a:pPr marL="0" indent="0" algn="ctr">
              <a:buNone/>
            </a:pPr>
            <a:r>
              <a:rPr lang="en-US" sz="1000" dirty="0">
                <a:solidFill>
                  <a:srgbClr val="64635E"/>
                </a:solidFill>
                <a:latin typeface="Arial" pitchFamily="34" charset="0"/>
                <a:ea typeface="Arial" pitchFamily="34" charset="-122"/>
                <a:cs typeface="Arial" pitchFamily="34" charset="-120"/>
              </a:rPr>
              <a:t>Requirement text or</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Solution Design doc</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(PDF / Word upload)</a:t>
            </a:r>
            <a:endParaRPr lang="en-US" sz="1000" dirty="0"/>
          </a:p>
        </p:txBody>
      </p:sp>
      <p:sp>
        <p:nvSpPr>
          <p:cNvPr id="10" name="Shape 8"/>
          <p:cNvSpPr/>
          <p:nvPr/>
        </p:nvSpPr>
        <p:spPr>
          <a:xfrm>
            <a:off x="2331720" y="2070512"/>
            <a:ext cx="182880" cy="0"/>
          </a:xfrm>
          <a:prstGeom prst="line">
            <a:avLst/>
          </a:prstGeom>
          <a:noFill/>
          <a:ln w="19050">
            <a:solidFill>
              <a:srgbClr val="2E6DA4"/>
            </a:solidFill>
            <a:prstDash val="solid"/>
          </a:ln>
        </p:spPr>
        <p:txBody>
          <a:bodyPr/>
          <a:lstStyle/>
          <a:p>
            <a:endParaRPr lang="en-US"/>
          </a:p>
        </p:txBody>
      </p:sp>
      <p:sp>
        <p:nvSpPr>
          <p:cNvPr id="11" name="Text 9"/>
          <p:cNvSpPr/>
          <p:nvPr/>
        </p:nvSpPr>
        <p:spPr>
          <a:xfrm>
            <a:off x="2359152" y="1960784"/>
            <a:ext cx="182880" cy="228600"/>
          </a:xfrm>
          <a:prstGeom prst="rect">
            <a:avLst/>
          </a:prstGeom>
          <a:noFill/>
          <a:ln/>
        </p:spPr>
        <p:txBody>
          <a:bodyPr wrap="square" rtlCol="0" anchor="ctr"/>
          <a:lstStyle/>
          <a:p>
            <a:pPr marL="0" indent="0" algn="ctr">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12" name="Shape 10"/>
          <p:cNvSpPr/>
          <p:nvPr/>
        </p:nvSpPr>
        <p:spPr>
          <a:xfrm>
            <a:off x="2514600" y="1631600"/>
            <a:ext cx="1965960" cy="2911760"/>
          </a:xfrm>
          <a:prstGeom prst="roundRect">
            <a:avLst>
              <a:gd name="adj" fmla="val 3721"/>
            </a:avLst>
          </a:prstGeom>
          <a:solidFill>
            <a:srgbClr val="EBF2FA"/>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3" name="Shape 11"/>
          <p:cNvSpPr/>
          <p:nvPr/>
        </p:nvSpPr>
        <p:spPr>
          <a:xfrm>
            <a:off x="3246120" y="1741328"/>
            <a:ext cx="502920" cy="502920"/>
          </a:xfrm>
          <a:prstGeom prst="ellipse">
            <a:avLst/>
          </a:prstGeom>
          <a:solidFill>
            <a:srgbClr val="1B4F9B"/>
          </a:solidFill>
          <a:ln w="12700">
            <a:solidFill>
              <a:srgbClr val="1B4F9B"/>
            </a:solidFill>
            <a:prstDash val="solid"/>
          </a:ln>
        </p:spPr>
        <p:txBody>
          <a:bodyPr/>
          <a:lstStyle/>
          <a:p>
            <a:endParaRPr lang="en-US"/>
          </a:p>
        </p:txBody>
      </p:sp>
      <p:sp>
        <p:nvSpPr>
          <p:cNvPr id="14" name="Text 12"/>
          <p:cNvSpPr/>
          <p:nvPr/>
        </p:nvSpPr>
        <p:spPr>
          <a:xfrm>
            <a:off x="3246120" y="174132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p:nvPr/>
        </p:nvSpPr>
        <p:spPr>
          <a:xfrm>
            <a:off x="2514600" y="2317400"/>
            <a:ext cx="196596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Debate</a:t>
            </a:r>
            <a:endParaRPr lang="en-US" sz="1300" dirty="0"/>
          </a:p>
        </p:txBody>
      </p:sp>
      <p:sp>
        <p:nvSpPr>
          <p:cNvPr id="16" name="Text 14"/>
          <p:cNvSpPr/>
          <p:nvPr/>
        </p:nvSpPr>
        <p:spPr>
          <a:xfrm>
            <a:off x="2514600" y="2637440"/>
            <a:ext cx="1965960" cy="777240"/>
          </a:xfrm>
          <a:prstGeom prst="rect">
            <a:avLst/>
          </a:prstGeom>
          <a:noFill/>
          <a:ln/>
        </p:spPr>
        <p:txBody>
          <a:bodyPr wrap="square" rtlCol="0" anchor="t"/>
          <a:lstStyle/>
          <a:p>
            <a:pPr marL="0" indent="0" algn="ctr">
              <a:buNone/>
            </a:pPr>
            <a:r>
              <a:rPr lang="en-US" sz="1000" dirty="0">
                <a:solidFill>
                  <a:srgbClr val="64635E"/>
                </a:solidFill>
                <a:latin typeface="Arial" pitchFamily="34" charset="0"/>
                <a:ea typeface="Arial" pitchFamily="34" charset="-122"/>
                <a:cs typeface="Arial" pitchFamily="34" charset="-120"/>
              </a:rPr>
              <a:t>9 specialist agents run</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in sequence, each critiquing</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from their domain</a:t>
            </a:r>
            <a:endParaRPr lang="en-US" sz="1000" dirty="0"/>
          </a:p>
        </p:txBody>
      </p:sp>
      <p:sp>
        <p:nvSpPr>
          <p:cNvPr id="17" name="Shape 15"/>
          <p:cNvSpPr/>
          <p:nvPr/>
        </p:nvSpPr>
        <p:spPr>
          <a:xfrm>
            <a:off x="4480560" y="2070512"/>
            <a:ext cx="182880" cy="0"/>
          </a:xfrm>
          <a:prstGeom prst="line">
            <a:avLst/>
          </a:prstGeom>
          <a:noFill/>
          <a:ln w="19050">
            <a:solidFill>
              <a:srgbClr val="2E6DA4"/>
            </a:solidFill>
            <a:prstDash val="solid"/>
          </a:ln>
        </p:spPr>
        <p:txBody>
          <a:bodyPr/>
          <a:lstStyle/>
          <a:p>
            <a:endParaRPr lang="en-US"/>
          </a:p>
        </p:txBody>
      </p:sp>
      <p:sp>
        <p:nvSpPr>
          <p:cNvPr id="18" name="Text 16"/>
          <p:cNvSpPr/>
          <p:nvPr/>
        </p:nvSpPr>
        <p:spPr>
          <a:xfrm>
            <a:off x="4507992" y="1960784"/>
            <a:ext cx="182880" cy="228600"/>
          </a:xfrm>
          <a:prstGeom prst="rect">
            <a:avLst/>
          </a:prstGeom>
          <a:noFill/>
          <a:ln/>
        </p:spPr>
        <p:txBody>
          <a:bodyPr wrap="square" rtlCol="0" anchor="ctr"/>
          <a:lstStyle/>
          <a:p>
            <a:pPr marL="0" indent="0" algn="ctr">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19" name="Shape 17"/>
          <p:cNvSpPr/>
          <p:nvPr/>
        </p:nvSpPr>
        <p:spPr>
          <a:xfrm>
            <a:off x="4663440" y="1631600"/>
            <a:ext cx="1965960" cy="2911760"/>
          </a:xfrm>
          <a:prstGeom prst="roundRect">
            <a:avLst>
              <a:gd name="adj" fmla="val 3721"/>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0" name="Shape 18"/>
          <p:cNvSpPr/>
          <p:nvPr/>
        </p:nvSpPr>
        <p:spPr>
          <a:xfrm>
            <a:off x="5394960" y="1741328"/>
            <a:ext cx="502920" cy="502920"/>
          </a:xfrm>
          <a:prstGeom prst="ellipse">
            <a:avLst/>
          </a:prstGeom>
          <a:solidFill>
            <a:srgbClr val="1B4F9B"/>
          </a:solidFill>
          <a:ln w="12700">
            <a:solidFill>
              <a:srgbClr val="1B4F9B"/>
            </a:solidFill>
            <a:prstDash val="solid"/>
          </a:ln>
        </p:spPr>
        <p:txBody>
          <a:bodyPr/>
          <a:lstStyle/>
          <a:p>
            <a:endParaRPr lang="en-US"/>
          </a:p>
        </p:txBody>
      </p:sp>
      <p:sp>
        <p:nvSpPr>
          <p:cNvPr id="21" name="Text 19"/>
          <p:cNvSpPr/>
          <p:nvPr/>
        </p:nvSpPr>
        <p:spPr>
          <a:xfrm>
            <a:off x="5394960" y="174132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2" name="Text 20"/>
          <p:cNvSpPr/>
          <p:nvPr/>
        </p:nvSpPr>
        <p:spPr>
          <a:xfrm>
            <a:off x="4663440" y="2317400"/>
            <a:ext cx="196596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Judge</a:t>
            </a:r>
            <a:endParaRPr lang="en-US" sz="1300" dirty="0"/>
          </a:p>
        </p:txBody>
      </p:sp>
      <p:sp>
        <p:nvSpPr>
          <p:cNvPr id="23" name="Text 21"/>
          <p:cNvSpPr/>
          <p:nvPr/>
        </p:nvSpPr>
        <p:spPr>
          <a:xfrm>
            <a:off x="4663440" y="2637440"/>
            <a:ext cx="1965960" cy="777240"/>
          </a:xfrm>
          <a:prstGeom prst="rect">
            <a:avLst/>
          </a:prstGeom>
          <a:noFill/>
          <a:ln/>
        </p:spPr>
        <p:txBody>
          <a:bodyPr wrap="square" rtlCol="0" anchor="t"/>
          <a:lstStyle/>
          <a:p>
            <a:pPr marL="0" indent="0" algn="ctr">
              <a:buNone/>
            </a:pPr>
            <a:r>
              <a:rPr lang="en-US" sz="1000" dirty="0">
                <a:solidFill>
                  <a:srgbClr val="64635E"/>
                </a:solidFill>
                <a:latin typeface="Arial" pitchFamily="34" charset="0"/>
                <a:ea typeface="Arial" pitchFamily="34" charset="-122"/>
                <a:cs typeface="Arial" pitchFamily="34" charset="-120"/>
              </a:rPr>
              <a:t>Judge agent arbitrates</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conflicts, assigns</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confidence score</a:t>
            </a:r>
            <a:endParaRPr lang="en-US" sz="1000" dirty="0"/>
          </a:p>
        </p:txBody>
      </p:sp>
      <p:sp>
        <p:nvSpPr>
          <p:cNvPr id="24" name="Shape 22"/>
          <p:cNvSpPr/>
          <p:nvPr/>
        </p:nvSpPr>
        <p:spPr>
          <a:xfrm>
            <a:off x="6629400" y="2070512"/>
            <a:ext cx="182880" cy="0"/>
          </a:xfrm>
          <a:prstGeom prst="line">
            <a:avLst/>
          </a:prstGeom>
          <a:noFill/>
          <a:ln w="19050">
            <a:solidFill>
              <a:srgbClr val="2E6DA4"/>
            </a:solidFill>
            <a:prstDash val="solid"/>
          </a:ln>
        </p:spPr>
        <p:txBody>
          <a:bodyPr/>
          <a:lstStyle/>
          <a:p>
            <a:endParaRPr lang="en-US"/>
          </a:p>
        </p:txBody>
      </p:sp>
      <p:sp>
        <p:nvSpPr>
          <p:cNvPr id="25" name="Text 23"/>
          <p:cNvSpPr/>
          <p:nvPr/>
        </p:nvSpPr>
        <p:spPr>
          <a:xfrm>
            <a:off x="6656832" y="1960784"/>
            <a:ext cx="182880" cy="228600"/>
          </a:xfrm>
          <a:prstGeom prst="rect">
            <a:avLst/>
          </a:prstGeom>
          <a:noFill/>
          <a:ln/>
        </p:spPr>
        <p:txBody>
          <a:bodyPr wrap="square" rtlCol="0" anchor="ctr"/>
          <a:lstStyle/>
          <a:p>
            <a:pPr marL="0" indent="0" algn="ctr">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26" name="Shape 24"/>
          <p:cNvSpPr/>
          <p:nvPr/>
        </p:nvSpPr>
        <p:spPr>
          <a:xfrm>
            <a:off x="6812280" y="1631600"/>
            <a:ext cx="1965960" cy="2911760"/>
          </a:xfrm>
          <a:prstGeom prst="roundRect">
            <a:avLst>
              <a:gd name="adj" fmla="val 3721"/>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7" name="Shape 25"/>
          <p:cNvSpPr/>
          <p:nvPr/>
        </p:nvSpPr>
        <p:spPr>
          <a:xfrm>
            <a:off x="7543800" y="1741328"/>
            <a:ext cx="502920" cy="502920"/>
          </a:xfrm>
          <a:prstGeom prst="ellipse">
            <a:avLst/>
          </a:prstGeom>
          <a:solidFill>
            <a:srgbClr val="1B4F9B"/>
          </a:solidFill>
          <a:ln w="12700">
            <a:solidFill>
              <a:srgbClr val="1B4F9B"/>
            </a:solidFill>
            <a:prstDash val="solid"/>
          </a:ln>
        </p:spPr>
        <p:txBody>
          <a:bodyPr/>
          <a:lstStyle/>
          <a:p>
            <a:endParaRPr lang="en-US"/>
          </a:p>
        </p:txBody>
      </p:sp>
      <p:sp>
        <p:nvSpPr>
          <p:cNvPr id="28" name="Text 26"/>
          <p:cNvSpPr/>
          <p:nvPr/>
        </p:nvSpPr>
        <p:spPr>
          <a:xfrm>
            <a:off x="7543800" y="174132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9" name="Text 27"/>
          <p:cNvSpPr/>
          <p:nvPr/>
        </p:nvSpPr>
        <p:spPr>
          <a:xfrm>
            <a:off x="6812280" y="2317400"/>
            <a:ext cx="196596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Endorse</a:t>
            </a:r>
            <a:endParaRPr lang="en-US" sz="1300" dirty="0"/>
          </a:p>
        </p:txBody>
      </p:sp>
      <p:sp>
        <p:nvSpPr>
          <p:cNvPr id="30" name="Text 28"/>
          <p:cNvSpPr/>
          <p:nvPr/>
        </p:nvSpPr>
        <p:spPr>
          <a:xfrm>
            <a:off x="6812280" y="2637440"/>
            <a:ext cx="1965960" cy="777240"/>
          </a:xfrm>
          <a:prstGeom prst="rect">
            <a:avLst/>
          </a:prstGeom>
          <a:noFill/>
          <a:ln/>
        </p:spPr>
        <p:txBody>
          <a:bodyPr wrap="square" rtlCol="0" anchor="t"/>
          <a:lstStyle/>
          <a:p>
            <a:pPr marL="0" indent="0" algn="ctr">
              <a:buNone/>
            </a:pPr>
            <a:r>
              <a:rPr lang="en-US" sz="1000" dirty="0">
                <a:solidFill>
                  <a:srgbClr val="64635E"/>
                </a:solidFill>
                <a:latin typeface="Arial" pitchFamily="34" charset="0"/>
                <a:ea typeface="Arial" pitchFamily="34" charset="-122"/>
                <a:cs typeface="Arial" pitchFamily="34" charset="-120"/>
              </a:rPr>
              <a:t>Admin countersigns</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or assigns to architect</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via Jira</a:t>
            </a:r>
            <a:endParaRPr lang="en-US" sz="1000" dirty="0"/>
          </a:p>
        </p:txBody>
      </p:sp>
      <p:sp>
        <p:nvSpPr>
          <p:cNvPr id="31" name="Text 29"/>
          <p:cNvSpPr/>
          <p:nvPr/>
        </p:nvSpPr>
        <p:spPr>
          <a:xfrm>
            <a:off x="502920" y="4466240"/>
            <a:ext cx="8138160" cy="274320"/>
          </a:xfrm>
          <a:prstGeom prst="rect">
            <a:avLst/>
          </a:prstGeom>
          <a:noFill/>
          <a:ln/>
        </p:spPr>
        <p:txBody>
          <a:bodyPr wrap="square" rtlCol="0" anchor="ctr"/>
          <a:lstStyle/>
          <a:p>
            <a:pPr marL="0" indent="0">
              <a:buNone/>
            </a:pPr>
            <a:r>
              <a:rPr lang="en-US" sz="1000" b="1" i="1" dirty="0">
                <a:solidFill>
                  <a:srgbClr val="0F6E56"/>
                </a:solidFill>
                <a:latin typeface="Arial" pitchFamily="34" charset="0"/>
                <a:ea typeface="Arial" pitchFamily="34" charset="-122"/>
                <a:cs typeface="Arial" pitchFamily="34" charset="-120"/>
              </a:rPr>
              <a:t>Three modes: Document Review · Greenfield Design · Debate My Approach</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01168"/>
            <a:ext cx="8229600" cy="182880"/>
          </a:xfrm>
          <a:prstGeom prst="rect">
            <a:avLst/>
          </a:prstGeom>
          <a:noFill/>
          <a:ln/>
        </p:spPr>
        <p:txBody>
          <a:bodyPr wrap="square" rtlCol="0" anchor="ctr"/>
          <a:lstStyle/>
          <a:p>
            <a:pPr marL="0" indent="0">
              <a:buNone/>
            </a:pPr>
            <a:r>
              <a:rPr lang="en-US" sz="900" b="1" kern="0" spc="300" dirty="0">
                <a:solidFill>
                  <a:srgbClr val="0891B2"/>
                </a:solidFill>
              </a:rPr>
              <a:t>ENTERPRISE FIT</a:t>
            </a:r>
            <a:endParaRPr lang="en-US" sz="900" dirty="0"/>
          </a:p>
        </p:txBody>
      </p:sp>
      <p:sp>
        <p:nvSpPr>
          <p:cNvPr id="3" name="Text 1"/>
          <p:cNvSpPr/>
          <p:nvPr/>
        </p:nvSpPr>
        <p:spPr>
          <a:xfrm>
            <a:off x="457200" y="411480"/>
            <a:ext cx="8229600" cy="685800"/>
          </a:xfrm>
          <a:prstGeom prst="rect">
            <a:avLst/>
          </a:prstGeom>
          <a:noFill/>
          <a:ln/>
        </p:spPr>
        <p:txBody>
          <a:bodyPr wrap="square" rtlCol="0" anchor="ctr"/>
          <a:lstStyle/>
          <a:p>
            <a:pPr marL="0" indent="0">
              <a:buNone/>
            </a:pPr>
            <a:r>
              <a:rPr lang="en-US" sz="3400" b="1" dirty="0">
                <a:solidFill>
                  <a:srgbClr val="1E293B"/>
                </a:solidFill>
              </a:rPr>
              <a:t>Where ARBoard fits in your delivery workflow</a:t>
            </a:r>
            <a:endParaRPr lang="en-US" sz="3400" dirty="0"/>
          </a:p>
        </p:txBody>
      </p:sp>
      <p:sp>
        <p:nvSpPr>
          <p:cNvPr id="4" name="Shape 2"/>
          <p:cNvSpPr/>
          <p:nvPr/>
        </p:nvSpPr>
        <p:spPr>
          <a:xfrm>
            <a:off x="617220" y="1325880"/>
            <a:ext cx="1737360" cy="1417320"/>
          </a:xfrm>
          <a:prstGeom prst="roundRect">
            <a:avLst>
              <a:gd name="adj" fmla="val 6452"/>
            </a:avLst>
          </a:prstGeom>
          <a:solidFill>
            <a:srgbClr val="F1F5F9"/>
          </a:solidFill>
          <a:ln w="12700">
            <a:solidFill>
              <a:srgbClr val="E2E8F0"/>
            </a:solidFill>
            <a:prstDash val="solid"/>
          </a:ln>
        </p:spPr>
        <p:txBody>
          <a:bodyPr/>
          <a:lstStyle/>
          <a:p>
            <a:endParaRPr lang="en-US"/>
          </a:p>
        </p:txBody>
      </p:sp>
      <p:sp>
        <p:nvSpPr>
          <p:cNvPr id="5" name="Shape 3"/>
          <p:cNvSpPr/>
          <p:nvPr/>
        </p:nvSpPr>
        <p:spPr>
          <a:xfrm>
            <a:off x="1284732" y="1435608"/>
            <a:ext cx="402336" cy="402336"/>
          </a:xfrm>
          <a:prstGeom prst="ellipse">
            <a:avLst/>
          </a:prstGeom>
          <a:solidFill>
            <a:srgbClr val="64748B"/>
          </a:solidFill>
          <a:ln w="12700">
            <a:solidFill>
              <a:srgbClr val="64748B"/>
            </a:solidFill>
            <a:prstDash val="solid"/>
          </a:ln>
        </p:spPr>
        <p:txBody>
          <a:bodyPr/>
          <a:lstStyle/>
          <a:p>
            <a:endParaRPr lang="en-US"/>
          </a:p>
        </p:txBody>
      </p:sp>
      <p:sp>
        <p:nvSpPr>
          <p:cNvPr id="6" name="Text 4"/>
          <p:cNvSpPr/>
          <p:nvPr/>
        </p:nvSpPr>
        <p:spPr>
          <a:xfrm>
            <a:off x="1284732" y="1435608"/>
            <a:ext cx="402336" cy="402336"/>
          </a:xfrm>
          <a:prstGeom prst="rect">
            <a:avLst/>
          </a:prstGeom>
          <a:noFill/>
          <a:ln/>
        </p:spPr>
        <p:txBody>
          <a:bodyPr wrap="square" rtlCol="0" anchor="ctr"/>
          <a:lstStyle/>
          <a:p>
            <a:pPr marL="0" indent="0" algn="ctr">
              <a:buNone/>
            </a:pPr>
            <a:r>
              <a:rPr lang="en-US" sz="1400" b="1" dirty="0">
                <a:solidFill>
                  <a:srgbClr val="FFFFFF"/>
                </a:solidFill>
              </a:rPr>
              <a:t>1</a:t>
            </a:r>
            <a:endParaRPr lang="en-US" sz="1400" dirty="0"/>
          </a:p>
        </p:txBody>
      </p:sp>
      <p:sp>
        <p:nvSpPr>
          <p:cNvPr id="7" name="Text 5"/>
          <p:cNvSpPr/>
          <p:nvPr/>
        </p:nvSpPr>
        <p:spPr>
          <a:xfrm>
            <a:off x="708660" y="1911096"/>
            <a:ext cx="1554480" cy="384048"/>
          </a:xfrm>
          <a:prstGeom prst="rect">
            <a:avLst/>
          </a:prstGeom>
          <a:noFill/>
          <a:ln/>
        </p:spPr>
        <p:txBody>
          <a:bodyPr wrap="square" rtlCol="0" anchor="ctr"/>
          <a:lstStyle/>
          <a:p>
            <a:pPr marL="0" indent="0" algn="ctr">
              <a:buNone/>
            </a:pPr>
            <a:r>
              <a:rPr lang="en-US" sz="1300" b="1" dirty="0">
                <a:solidFill>
                  <a:srgbClr val="1E293B"/>
                </a:solidFill>
              </a:rPr>
              <a:t>Solution</a:t>
            </a:r>
            <a:endParaRPr lang="en-US" sz="1300" dirty="0"/>
          </a:p>
          <a:p>
            <a:pPr marL="0" indent="0" algn="ctr">
              <a:buNone/>
            </a:pPr>
            <a:r>
              <a:rPr lang="en-US" sz="1300" b="1" dirty="0">
                <a:solidFill>
                  <a:srgbClr val="1E293B"/>
                </a:solidFill>
              </a:rPr>
              <a:t>Design</a:t>
            </a:r>
            <a:endParaRPr lang="en-US" sz="1300" dirty="0"/>
          </a:p>
        </p:txBody>
      </p:sp>
      <p:sp>
        <p:nvSpPr>
          <p:cNvPr id="8" name="Text 6"/>
          <p:cNvSpPr/>
          <p:nvPr/>
        </p:nvSpPr>
        <p:spPr>
          <a:xfrm>
            <a:off x="708660" y="2313432"/>
            <a:ext cx="1554480" cy="384048"/>
          </a:xfrm>
          <a:prstGeom prst="rect">
            <a:avLst/>
          </a:prstGeom>
          <a:noFill/>
          <a:ln/>
        </p:spPr>
        <p:txBody>
          <a:bodyPr wrap="square" rtlCol="0" anchor="ctr"/>
          <a:lstStyle/>
          <a:p>
            <a:pPr marL="0" indent="0" algn="ctr">
              <a:buNone/>
            </a:pPr>
            <a:r>
              <a:rPr lang="en-US" sz="1000" dirty="0">
                <a:solidFill>
                  <a:srgbClr val="6B7280"/>
                </a:solidFill>
              </a:rPr>
              <a:t>Architect/Designer completes</a:t>
            </a:r>
            <a:endParaRPr lang="en-US" sz="1000" dirty="0"/>
          </a:p>
          <a:p>
            <a:pPr marL="0" indent="0" algn="ctr">
              <a:buNone/>
            </a:pPr>
            <a:r>
              <a:rPr lang="en-US" sz="1000" dirty="0">
                <a:solidFill>
                  <a:srgbClr val="6B7280"/>
                </a:solidFill>
              </a:rPr>
              <a:t>SDD / HLD</a:t>
            </a:r>
            <a:endParaRPr lang="en-US" sz="1000" dirty="0"/>
          </a:p>
        </p:txBody>
      </p:sp>
      <p:sp>
        <p:nvSpPr>
          <p:cNvPr id="9" name="Shape 7"/>
          <p:cNvSpPr/>
          <p:nvPr/>
        </p:nvSpPr>
        <p:spPr>
          <a:xfrm>
            <a:off x="2391156" y="1897380"/>
            <a:ext cx="246888" cy="274320"/>
          </a:xfrm>
          <a:prstGeom prst="rightArrow">
            <a:avLst/>
          </a:prstGeom>
          <a:solidFill>
            <a:srgbClr val="CBD5E1"/>
          </a:solidFill>
          <a:ln w="12700">
            <a:solidFill>
              <a:srgbClr val="CBD5E1"/>
            </a:solidFill>
            <a:prstDash val="solid"/>
          </a:ln>
        </p:spPr>
        <p:txBody>
          <a:bodyPr/>
          <a:lstStyle/>
          <a:p>
            <a:endParaRPr lang="en-US"/>
          </a:p>
        </p:txBody>
      </p:sp>
      <p:sp>
        <p:nvSpPr>
          <p:cNvPr id="10" name="Shape 8"/>
          <p:cNvSpPr/>
          <p:nvPr/>
        </p:nvSpPr>
        <p:spPr>
          <a:xfrm>
            <a:off x="2674620" y="1325880"/>
            <a:ext cx="1737360" cy="1417320"/>
          </a:xfrm>
          <a:prstGeom prst="roundRect">
            <a:avLst>
              <a:gd name="adj" fmla="val 6452"/>
            </a:avLst>
          </a:prstGeom>
          <a:solidFill>
            <a:srgbClr val="EFF6FF"/>
          </a:solidFill>
          <a:ln w="25400">
            <a:solidFill>
              <a:srgbClr val="0891B2"/>
            </a:solidFill>
            <a:prstDash val="solid"/>
          </a:ln>
        </p:spPr>
        <p:txBody>
          <a:bodyPr/>
          <a:lstStyle/>
          <a:p>
            <a:endParaRPr lang="en-US"/>
          </a:p>
        </p:txBody>
      </p:sp>
      <p:sp>
        <p:nvSpPr>
          <p:cNvPr id="11" name="Shape 9"/>
          <p:cNvSpPr/>
          <p:nvPr/>
        </p:nvSpPr>
        <p:spPr>
          <a:xfrm>
            <a:off x="3342132" y="1435608"/>
            <a:ext cx="402336" cy="402336"/>
          </a:xfrm>
          <a:prstGeom prst="ellipse">
            <a:avLst/>
          </a:prstGeom>
          <a:solidFill>
            <a:srgbClr val="0891B2"/>
          </a:solidFill>
          <a:ln w="12700">
            <a:solidFill>
              <a:srgbClr val="0891B2"/>
            </a:solidFill>
            <a:prstDash val="solid"/>
          </a:ln>
        </p:spPr>
        <p:txBody>
          <a:bodyPr/>
          <a:lstStyle/>
          <a:p>
            <a:endParaRPr lang="en-US"/>
          </a:p>
        </p:txBody>
      </p:sp>
      <p:sp>
        <p:nvSpPr>
          <p:cNvPr id="12" name="Text 10"/>
          <p:cNvSpPr/>
          <p:nvPr/>
        </p:nvSpPr>
        <p:spPr>
          <a:xfrm>
            <a:off x="3342132" y="1435608"/>
            <a:ext cx="402336" cy="402336"/>
          </a:xfrm>
          <a:prstGeom prst="rect">
            <a:avLst/>
          </a:prstGeom>
          <a:noFill/>
          <a:ln/>
        </p:spPr>
        <p:txBody>
          <a:bodyPr wrap="square" rtlCol="0" anchor="ctr"/>
          <a:lstStyle/>
          <a:p>
            <a:pPr marL="0" indent="0" algn="ctr">
              <a:buNone/>
            </a:pPr>
            <a:r>
              <a:rPr lang="en-US" sz="1400" b="1" dirty="0">
                <a:solidFill>
                  <a:srgbClr val="FFFFFF"/>
                </a:solidFill>
              </a:rPr>
              <a:t>2</a:t>
            </a:r>
            <a:endParaRPr lang="en-US" sz="1400" dirty="0"/>
          </a:p>
        </p:txBody>
      </p:sp>
      <p:sp>
        <p:nvSpPr>
          <p:cNvPr id="13" name="Text 11"/>
          <p:cNvSpPr/>
          <p:nvPr/>
        </p:nvSpPr>
        <p:spPr>
          <a:xfrm>
            <a:off x="2766060" y="1911096"/>
            <a:ext cx="1554480" cy="384048"/>
          </a:xfrm>
          <a:prstGeom prst="rect">
            <a:avLst/>
          </a:prstGeom>
          <a:noFill/>
          <a:ln/>
        </p:spPr>
        <p:txBody>
          <a:bodyPr wrap="square" rtlCol="0" anchor="ctr"/>
          <a:lstStyle/>
          <a:p>
            <a:pPr marL="0" indent="0" algn="ctr">
              <a:buNone/>
            </a:pPr>
            <a:r>
              <a:rPr lang="en-US" sz="1300" b="1" dirty="0">
                <a:solidFill>
                  <a:srgbClr val="0891B2"/>
                </a:solidFill>
              </a:rPr>
              <a:t>ARBoard</a:t>
            </a:r>
            <a:endParaRPr lang="en-US" sz="1300" dirty="0"/>
          </a:p>
          <a:p>
            <a:pPr marL="0" indent="0" algn="ctr">
              <a:buNone/>
            </a:pPr>
            <a:r>
              <a:rPr lang="en-US" sz="1300" b="1" dirty="0">
                <a:solidFill>
                  <a:srgbClr val="0891B2"/>
                </a:solidFill>
              </a:rPr>
              <a:t>Pre-Review</a:t>
            </a:r>
            <a:endParaRPr lang="en-US" sz="1300" dirty="0"/>
          </a:p>
        </p:txBody>
      </p:sp>
      <p:sp>
        <p:nvSpPr>
          <p:cNvPr id="14" name="Text 12"/>
          <p:cNvSpPr/>
          <p:nvPr/>
        </p:nvSpPr>
        <p:spPr>
          <a:xfrm>
            <a:off x="2766060" y="2313432"/>
            <a:ext cx="1554480" cy="384048"/>
          </a:xfrm>
          <a:prstGeom prst="rect">
            <a:avLst/>
          </a:prstGeom>
          <a:noFill/>
          <a:ln/>
        </p:spPr>
        <p:txBody>
          <a:bodyPr wrap="square" rtlCol="0" anchor="ctr"/>
          <a:lstStyle/>
          <a:p>
            <a:pPr marL="0" indent="0" algn="ctr">
              <a:buNone/>
            </a:pPr>
            <a:r>
              <a:rPr lang="en-US" sz="1000" dirty="0">
                <a:solidFill>
                  <a:srgbClr val="6B7280"/>
                </a:solidFill>
              </a:rPr>
              <a:t>Upload doc · 9 agents</a:t>
            </a:r>
            <a:endParaRPr lang="en-US" sz="1000" dirty="0"/>
          </a:p>
          <a:p>
            <a:pPr marL="0" indent="0" algn="ctr">
              <a:buNone/>
            </a:pPr>
            <a:r>
              <a:rPr lang="en-US" sz="1000" dirty="0">
                <a:solidFill>
                  <a:srgbClr val="6B7280"/>
                </a:solidFill>
              </a:rPr>
              <a:t>debate · ADR created</a:t>
            </a:r>
            <a:endParaRPr lang="en-US" sz="1000" dirty="0"/>
          </a:p>
        </p:txBody>
      </p:sp>
      <p:sp>
        <p:nvSpPr>
          <p:cNvPr id="15" name="Shape 13"/>
          <p:cNvSpPr/>
          <p:nvPr/>
        </p:nvSpPr>
        <p:spPr>
          <a:xfrm>
            <a:off x="4448556" y="1897380"/>
            <a:ext cx="246888" cy="274320"/>
          </a:xfrm>
          <a:prstGeom prst="rightArrow">
            <a:avLst/>
          </a:prstGeom>
          <a:solidFill>
            <a:srgbClr val="CBD5E1"/>
          </a:solidFill>
          <a:ln w="12700">
            <a:solidFill>
              <a:srgbClr val="CBD5E1"/>
            </a:solidFill>
            <a:prstDash val="solid"/>
          </a:ln>
        </p:spPr>
        <p:txBody>
          <a:bodyPr/>
          <a:lstStyle/>
          <a:p>
            <a:endParaRPr lang="en-US"/>
          </a:p>
        </p:txBody>
      </p:sp>
      <p:sp>
        <p:nvSpPr>
          <p:cNvPr id="16" name="Shape 14"/>
          <p:cNvSpPr/>
          <p:nvPr/>
        </p:nvSpPr>
        <p:spPr>
          <a:xfrm>
            <a:off x="4732020" y="1325880"/>
            <a:ext cx="1737360" cy="1417320"/>
          </a:xfrm>
          <a:prstGeom prst="roundRect">
            <a:avLst>
              <a:gd name="adj" fmla="val 6452"/>
            </a:avLst>
          </a:prstGeom>
          <a:solidFill>
            <a:srgbClr val="F1F5F9"/>
          </a:solidFill>
          <a:ln w="12700">
            <a:solidFill>
              <a:srgbClr val="E2E8F0"/>
            </a:solidFill>
            <a:prstDash val="solid"/>
          </a:ln>
        </p:spPr>
        <p:txBody>
          <a:bodyPr/>
          <a:lstStyle/>
          <a:p>
            <a:endParaRPr lang="en-US"/>
          </a:p>
        </p:txBody>
      </p:sp>
      <p:sp>
        <p:nvSpPr>
          <p:cNvPr id="17" name="Shape 15"/>
          <p:cNvSpPr/>
          <p:nvPr/>
        </p:nvSpPr>
        <p:spPr>
          <a:xfrm>
            <a:off x="5399532" y="1435608"/>
            <a:ext cx="402336" cy="402336"/>
          </a:xfrm>
          <a:prstGeom prst="ellipse">
            <a:avLst/>
          </a:prstGeom>
          <a:solidFill>
            <a:srgbClr val="64748B"/>
          </a:solidFill>
          <a:ln w="12700">
            <a:solidFill>
              <a:srgbClr val="64748B"/>
            </a:solidFill>
            <a:prstDash val="solid"/>
          </a:ln>
        </p:spPr>
        <p:txBody>
          <a:bodyPr/>
          <a:lstStyle/>
          <a:p>
            <a:endParaRPr lang="en-US"/>
          </a:p>
        </p:txBody>
      </p:sp>
      <p:sp>
        <p:nvSpPr>
          <p:cNvPr id="18" name="Text 16"/>
          <p:cNvSpPr/>
          <p:nvPr/>
        </p:nvSpPr>
        <p:spPr>
          <a:xfrm>
            <a:off x="5399532" y="1435608"/>
            <a:ext cx="402336" cy="402336"/>
          </a:xfrm>
          <a:prstGeom prst="rect">
            <a:avLst/>
          </a:prstGeom>
          <a:noFill/>
          <a:ln/>
        </p:spPr>
        <p:txBody>
          <a:bodyPr wrap="square" rtlCol="0" anchor="ctr"/>
          <a:lstStyle/>
          <a:p>
            <a:pPr marL="0" indent="0" algn="ctr">
              <a:buNone/>
            </a:pPr>
            <a:r>
              <a:rPr lang="en-US" sz="1400" b="1" dirty="0">
                <a:solidFill>
                  <a:srgbClr val="FFFFFF"/>
                </a:solidFill>
              </a:rPr>
              <a:t>3</a:t>
            </a:r>
            <a:endParaRPr lang="en-US" sz="1400" dirty="0"/>
          </a:p>
        </p:txBody>
      </p:sp>
      <p:sp>
        <p:nvSpPr>
          <p:cNvPr id="19" name="Text 17"/>
          <p:cNvSpPr/>
          <p:nvPr/>
        </p:nvSpPr>
        <p:spPr>
          <a:xfrm>
            <a:off x="4823460" y="1911096"/>
            <a:ext cx="1554480" cy="384048"/>
          </a:xfrm>
          <a:prstGeom prst="rect">
            <a:avLst/>
          </a:prstGeom>
          <a:noFill/>
          <a:ln/>
        </p:spPr>
        <p:txBody>
          <a:bodyPr wrap="square" rtlCol="0" anchor="ctr"/>
          <a:lstStyle/>
          <a:p>
            <a:pPr marL="0" indent="0" algn="ctr">
              <a:buNone/>
            </a:pPr>
            <a:r>
              <a:rPr lang="en-US" sz="1300" b="1" dirty="0">
                <a:solidFill>
                  <a:srgbClr val="1E293B"/>
                </a:solidFill>
              </a:rPr>
              <a:t>ARB</a:t>
            </a:r>
            <a:endParaRPr lang="en-US" sz="1300" dirty="0"/>
          </a:p>
          <a:p>
            <a:pPr marL="0" indent="0" algn="ctr">
              <a:buNone/>
            </a:pPr>
            <a:r>
              <a:rPr lang="en-US" sz="1300" b="1" dirty="0">
                <a:solidFill>
                  <a:srgbClr val="1E293B"/>
                </a:solidFill>
              </a:rPr>
              <a:t>Presentation</a:t>
            </a:r>
            <a:endParaRPr lang="en-US" sz="1300" dirty="0"/>
          </a:p>
        </p:txBody>
      </p:sp>
      <p:sp>
        <p:nvSpPr>
          <p:cNvPr id="20" name="Text 18"/>
          <p:cNvSpPr/>
          <p:nvPr/>
        </p:nvSpPr>
        <p:spPr>
          <a:xfrm>
            <a:off x="4823460" y="2313432"/>
            <a:ext cx="1554480" cy="384048"/>
          </a:xfrm>
          <a:prstGeom prst="rect">
            <a:avLst/>
          </a:prstGeom>
          <a:noFill/>
          <a:ln/>
        </p:spPr>
        <p:txBody>
          <a:bodyPr wrap="square" rtlCol="0" anchor="ctr"/>
          <a:lstStyle/>
          <a:p>
            <a:pPr marL="0" indent="0" algn="ctr">
              <a:buNone/>
            </a:pPr>
            <a:r>
              <a:rPr lang="en-US" sz="1000" dirty="0">
                <a:solidFill>
                  <a:srgbClr val="6B7280"/>
                </a:solidFill>
              </a:rPr>
              <a:t>Senior architects review</a:t>
            </a:r>
            <a:endParaRPr lang="en-US" sz="1000" dirty="0"/>
          </a:p>
          <a:p>
            <a:pPr marL="0" indent="0" algn="ctr">
              <a:buNone/>
            </a:pPr>
            <a:r>
              <a:rPr lang="en-US" sz="1000" dirty="0">
                <a:solidFill>
                  <a:srgbClr val="6B7280"/>
                </a:solidFill>
              </a:rPr>
              <a:t>pre-validated design</a:t>
            </a:r>
            <a:endParaRPr lang="en-US" sz="1000" dirty="0"/>
          </a:p>
        </p:txBody>
      </p:sp>
      <p:sp>
        <p:nvSpPr>
          <p:cNvPr id="21" name="Shape 19"/>
          <p:cNvSpPr/>
          <p:nvPr/>
        </p:nvSpPr>
        <p:spPr>
          <a:xfrm>
            <a:off x="6505956" y="1897380"/>
            <a:ext cx="246888" cy="274320"/>
          </a:xfrm>
          <a:prstGeom prst="rightArrow">
            <a:avLst/>
          </a:prstGeom>
          <a:solidFill>
            <a:srgbClr val="CBD5E1"/>
          </a:solidFill>
          <a:ln w="12700">
            <a:solidFill>
              <a:srgbClr val="CBD5E1"/>
            </a:solidFill>
            <a:prstDash val="solid"/>
          </a:ln>
        </p:spPr>
        <p:txBody>
          <a:bodyPr/>
          <a:lstStyle/>
          <a:p>
            <a:endParaRPr lang="en-US"/>
          </a:p>
        </p:txBody>
      </p:sp>
      <p:sp>
        <p:nvSpPr>
          <p:cNvPr id="22" name="Shape 20"/>
          <p:cNvSpPr/>
          <p:nvPr/>
        </p:nvSpPr>
        <p:spPr>
          <a:xfrm>
            <a:off x="6789420" y="1325880"/>
            <a:ext cx="1737360" cy="1417320"/>
          </a:xfrm>
          <a:prstGeom prst="roundRect">
            <a:avLst>
              <a:gd name="adj" fmla="val 6452"/>
            </a:avLst>
          </a:prstGeom>
          <a:solidFill>
            <a:srgbClr val="F0FDF4"/>
          </a:solidFill>
          <a:ln w="12700">
            <a:solidFill>
              <a:srgbClr val="E2E8F0"/>
            </a:solidFill>
            <a:prstDash val="solid"/>
          </a:ln>
        </p:spPr>
        <p:txBody>
          <a:bodyPr/>
          <a:lstStyle/>
          <a:p>
            <a:endParaRPr lang="en-US"/>
          </a:p>
        </p:txBody>
      </p:sp>
      <p:sp>
        <p:nvSpPr>
          <p:cNvPr id="23" name="Shape 21"/>
          <p:cNvSpPr/>
          <p:nvPr/>
        </p:nvSpPr>
        <p:spPr>
          <a:xfrm>
            <a:off x="7456932" y="1435608"/>
            <a:ext cx="402336" cy="402336"/>
          </a:xfrm>
          <a:prstGeom prst="ellipse">
            <a:avLst/>
          </a:prstGeom>
          <a:solidFill>
            <a:srgbClr val="2E7D32"/>
          </a:solidFill>
          <a:ln w="12700">
            <a:solidFill>
              <a:srgbClr val="2E7D32"/>
            </a:solidFill>
            <a:prstDash val="solid"/>
          </a:ln>
        </p:spPr>
        <p:txBody>
          <a:bodyPr/>
          <a:lstStyle/>
          <a:p>
            <a:endParaRPr lang="en-US"/>
          </a:p>
        </p:txBody>
      </p:sp>
      <p:sp>
        <p:nvSpPr>
          <p:cNvPr id="24" name="Text 22"/>
          <p:cNvSpPr/>
          <p:nvPr/>
        </p:nvSpPr>
        <p:spPr>
          <a:xfrm>
            <a:off x="7456932" y="1435608"/>
            <a:ext cx="402336" cy="402336"/>
          </a:xfrm>
          <a:prstGeom prst="rect">
            <a:avLst/>
          </a:prstGeom>
          <a:noFill/>
          <a:ln/>
        </p:spPr>
        <p:txBody>
          <a:bodyPr wrap="square" rtlCol="0" anchor="ctr"/>
          <a:lstStyle/>
          <a:p>
            <a:pPr marL="0" indent="0" algn="ctr">
              <a:buNone/>
            </a:pPr>
            <a:r>
              <a:rPr lang="en-US" sz="1400" b="1" dirty="0">
                <a:solidFill>
                  <a:srgbClr val="FFFFFF"/>
                </a:solidFill>
              </a:rPr>
              <a:t>4</a:t>
            </a:r>
            <a:endParaRPr lang="en-US" sz="1400" dirty="0"/>
          </a:p>
        </p:txBody>
      </p:sp>
      <p:sp>
        <p:nvSpPr>
          <p:cNvPr id="25" name="Text 23"/>
          <p:cNvSpPr/>
          <p:nvPr/>
        </p:nvSpPr>
        <p:spPr>
          <a:xfrm>
            <a:off x="6880860" y="1911096"/>
            <a:ext cx="1554480" cy="384048"/>
          </a:xfrm>
          <a:prstGeom prst="rect">
            <a:avLst/>
          </a:prstGeom>
          <a:noFill/>
          <a:ln/>
        </p:spPr>
        <p:txBody>
          <a:bodyPr wrap="square" rtlCol="0" anchor="ctr"/>
          <a:lstStyle/>
          <a:p>
            <a:pPr marL="0" indent="0" algn="ctr">
              <a:buNone/>
            </a:pPr>
            <a:r>
              <a:rPr lang="en-US" sz="1300" b="1" dirty="0">
                <a:solidFill>
                  <a:srgbClr val="1E293B"/>
                </a:solidFill>
              </a:rPr>
              <a:t>Sign-off &amp;</a:t>
            </a:r>
            <a:endParaRPr lang="en-US" sz="1300" dirty="0"/>
          </a:p>
          <a:p>
            <a:pPr marL="0" indent="0" algn="ctr">
              <a:buNone/>
            </a:pPr>
            <a:r>
              <a:rPr lang="en-US" sz="1300" b="1" dirty="0">
                <a:solidFill>
                  <a:srgbClr val="1E293B"/>
                </a:solidFill>
              </a:rPr>
              <a:t>Delivery</a:t>
            </a:r>
            <a:endParaRPr lang="en-US" sz="1300" dirty="0"/>
          </a:p>
        </p:txBody>
      </p:sp>
      <p:sp>
        <p:nvSpPr>
          <p:cNvPr id="26" name="Text 24"/>
          <p:cNvSpPr/>
          <p:nvPr/>
        </p:nvSpPr>
        <p:spPr>
          <a:xfrm>
            <a:off x="6880860" y="2313432"/>
            <a:ext cx="1554480" cy="384048"/>
          </a:xfrm>
          <a:prstGeom prst="rect">
            <a:avLst/>
          </a:prstGeom>
          <a:noFill/>
          <a:ln/>
        </p:spPr>
        <p:txBody>
          <a:bodyPr wrap="square" rtlCol="0" anchor="ctr"/>
          <a:lstStyle/>
          <a:p>
            <a:pPr marL="0" indent="0" algn="ctr">
              <a:buNone/>
            </a:pPr>
            <a:r>
              <a:rPr lang="en-US" sz="1000" dirty="0">
                <a:solidFill>
                  <a:srgbClr val="6B7280"/>
                </a:solidFill>
              </a:rPr>
              <a:t>Human countersign</a:t>
            </a:r>
            <a:endParaRPr lang="en-US" sz="1000" dirty="0"/>
          </a:p>
          <a:p>
            <a:pPr marL="0" indent="0" algn="ctr">
              <a:buNone/>
            </a:pPr>
            <a:r>
              <a:rPr lang="en-US" sz="1000" dirty="0">
                <a:solidFill>
                  <a:srgbClr val="6B7280"/>
                </a:solidFill>
              </a:rPr>
              <a:t>Jira ADR enforced</a:t>
            </a:r>
            <a:endParaRPr lang="en-US" sz="1000" dirty="0"/>
          </a:p>
        </p:txBody>
      </p:sp>
      <p:sp>
        <p:nvSpPr>
          <p:cNvPr id="27" name="Shape 25"/>
          <p:cNvSpPr/>
          <p:nvPr/>
        </p:nvSpPr>
        <p:spPr>
          <a:xfrm>
            <a:off x="2674620" y="2907792"/>
            <a:ext cx="1737360" cy="256032"/>
          </a:xfrm>
          <a:prstGeom prst="roundRect">
            <a:avLst>
              <a:gd name="adj" fmla="val 17857"/>
            </a:avLst>
          </a:prstGeom>
          <a:solidFill>
            <a:srgbClr val="0891B2"/>
          </a:solidFill>
          <a:ln w="12700">
            <a:solidFill>
              <a:srgbClr val="0891B2"/>
            </a:solidFill>
            <a:prstDash val="solid"/>
          </a:ln>
        </p:spPr>
        <p:txBody>
          <a:bodyPr/>
          <a:lstStyle/>
          <a:p>
            <a:endParaRPr lang="en-US"/>
          </a:p>
        </p:txBody>
      </p:sp>
      <p:sp>
        <p:nvSpPr>
          <p:cNvPr id="28" name="Text 26"/>
          <p:cNvSpPr/>
          <p:nvPr/>
        </p:nvSpPr>
        <p:spPr>
          <a:xfrm>
            <a:off x="2674620" y="2907792"/>
            <a:ext cx="1737360" cy="256032"/>
          </a:xfrm>
          <a:prstGeom prst="rect">
            <a:avLst/>
          </a:prstGeom>
          <a:noFill/>
          <a:ln/>
        </p:spPr>
        <p:txBody>
          <a:bodyPr wrap="square" rtlCol="0" anchor="ctr"/>
          <a:lstStyle/>
          <a:p>
            <a:pPr marL="0" indent="0" algn="ctr">
              <a:buNone/>
            </a:pPr>
            <a:r>
              <a:rPr lang="en-US" sz="900" b="1" dirty="0">
                <a:solidFill>
                  <a:srgbClr val="FFFFFF"/>
                </a:solidFill>
              </a:rPr>
              <a:t>ARBoard sits here</a:t>
            </a:r>
            <a:endParaRPr lang="en-US" sz="900" dirty="0"/>
          </a:p>
        </p:txBody>
      </p:sp>
      <p:sp>
        <p:nvSpPr>
          <p:cNvPr id="29" name="Shape 27"/>
          <p:cNvSpPr/>
          <p:nvPr/>
        </p:nvSpPr>
        <p:spPr>
          <a:xfrm>
            <a:off x="365760" y="3273552"/>
            <a:ext cx="2651760" cy="1115568"/>
          </a:xfrm>
          <a:prstGeom prst="roundRect">
            <a:avLst>
              <a:gd name="adj" fmla="val 6557"/>
            </a:avLst>
          </a:prstGeom>
          <a:solidFill>
            <a:srgbClr val="F8FAFC"/>
          </a:solidFill>
          <a:ln w="12700">
            <a:solidFill>
              <a:srgbClr val="E2E8F0"/>
            </a:solidFill>
            <a:prstDash val="solid"/>
          </a:ln>
        </p:spPr>
        <p:txBody>
          <a:bodyPr/>
          <a:lstStyle/>
          <a:p>
            <a:endParaRPr lang="en-US"/>
          </a:p>
        </p:txBody>
      </p:sp>
      <p:sp>
        <p:nvSpPr>
          <p:cNvPr id="30" name="Text 28"/>
          <p:cNvSpPr/>
          <p:nvPr/>
        </p:nvSpPr>
        <p:spPr>
          <a:xfrm>
            <a:off x="502920" y="3346704"/>
            <a:ext cx="2377440" cy="256032"/>
          </a:xfrm>
          <a:prstGeom prst="rect">
            <a:avLst/>
          </a:prstGeom>
          <a:noFill/>
          <a:ln/>
        </p:spPr>
        <p:txBody>
          <a:bodyPr wrap="square" rtlCol="0" anchor="ctr"/>
          <a:lstStyle/>
          <a:p>
            <a:pPr marL="0" indent="0">
              <a:buNone/>
            </a:pPr>
            <a:r>
              <a:rPr lang="en-US" sz="1100" b="1" dirty="0">
                <a:solidFill>
                  <a:srgbClr val="1E293B"/>
                </a:solidFill>
              </a:rPr>
              <a:t>✓  Designers get instant feedback</a:t>
            </a:r>
            <a:endParaRPr lang="en-US" sz="1100" dirty="0"/>
          </a:p>
        </p:txBody>
      </p:sp>
      <p:sp>
        <p:nvSpPr>
          <p:cNvPr id="31" name="Text 29"/>
          <p:cNvSpPr/>
          <p:nvPr/>
        </p:nvSpPr>
        <p:spPr>
          <a:xfrm>
            <a:off x="502920" y="3621024"/>
            <a:ext cx="2377440" cy="713232"/>
          </a:xfrm>
          <a:prstGeom prst="rect">
            <a:avLst/>
          </a:prstGeom>
          <a:noFill/>
          <a:ln/>
        </p:spPr>
        <p:txBody>
          <a:bodyPr wrap="square" rtlCol="0" anchor="ctr"/>
          <a:lstStyle/>
          <a:p>
            <a:pPr marL="0" indent="0">
              <a:buNone/>
            </a:pPr>
            <a:r>
              <a:rPr lang="en-US" sz="1000" dirty="0">
                <a:solidFill>
                  <a:srgbClr val="6B7280"/>
                </a:solidFill>
              </a:rPr>
              <a:t>Upload SDD at any point. Get a structured multi-agent review in under 3 minutes — before the ARB meeting.</a:t>
            </a:r>
            <a:endParaRPr lang="en-US" sz="1000" dirty="0"/>
          </a:p>
        </p:txBody>
      </p:sp>
      <p:sp>
        <p:nvSpPr>
          <p:cNvPr id="32" name="Shape 30"/>
          <p:cNvSpPr/>
          <p:nvPr/>
        </p:nvSpPr>
        <p:spPr>
          <a:xfrm>
            <a:off x="3200400" y="3273552"/>
            <a:ext cx="2651760" cy="1115568"/>
          </a:xfrm>
          <a:prstGeom prst="roundRect">
            <a:avLst>
              <a:gd name="adj" fmla="val 6557"/>
            </a:avLst>
          </a:prstGeom>
          <a:solidFill>
            <a:srgbClr val="F8FAFC"/>
          </a:solidFill>
          <a:ln w="12700">
            <a:solidFill>
              <a:srgbClr val="E2E8F0"/>
            </a:solidFill>
            <a:prstDash val="solid"/>
          </a:ln>
        </p:spPr>
        <p:txBody>
          <a:bodyPr/>
          <a:lstStyle/>
          <a:p>
            <a:endParaRPr lang="en-US"/>
          </a:p>
        </p:txBody>
      </p:sp>
      <p:sp>
        <p:nvSpPr>
          <p:cNvPr id="33" name="Text 31"/>
          <p:cNvSpPr/>
          <p:nvPr/>
        </p:nvSpPr>
        <p:spPr>
          <a:xfrm>
            <a:off x="3337560" y="3346704"/>
            <a:ext cx="2377440" cy="256032"/>
          </a:xfrm>
          <a:prstGeom prst="rect">
            <a:avLst/>
          </a:prstGeom>
          <a:noFill/>
          <a:ln/>
        </p:spPr>
        <p:txBody>
          <a:bodyPr wrap="square" rtlCol="0" anchor="ctr"/>
          <a:lstStyle/>
          <a:p>
            <a:pPr marL="0" indent="0">
              <a:buNone/>
            </a:pPr>
            <a:r>
              <a:rPr lang="en-US" sz="1100" b="1" dirty="0">
                <a:solidFill>
                  <a:srgbClr val="1E293B"/>
                </a:solidFill>
              </a:rPr>
              <a:t>✓  Senior architects get quality assurance</a:t>
            </a:r>
            <a:endParaRPr lang="en-US" sz="1100" dirty="0"/>
          </a:p>
        </p:txBody>
      </p:sp>
      <p:sp>
        <p:nvSpPr>
          <p:cNvPr id="34" name="Text 32"/>
          <p:cNvSpPr/>
          <p:nvPr/>
        </p:nvSpPr>
        <p:spPr>
          <a:xfrm>
            <a:off x="3337560" y="3621024"/>
            <a:ext cx="2377440" cy="713232"/>
          </a:xfrm>
          <a:prstGeom prst="rect">
            <a:avLst/>
          </a:prstGeom>
          <a:noFill/>
          <a:ln/>
        </p:spPr>
        <p:txBody>
          <a:bodyPr wrap="square" rtlCol="0" anchor="ctr"/>
          <a:lstStyle/>
          <a:p>
            <a:pPr marL="0" indent="0">
              <a:buNone/>
            </a:pPr>
            <a:r>
              <a:rPr lang="en-US" sz="1000" dirty="0">
                <a:solidFill>
                  <a:srgbClr val="6B7280"/>
                </a:solidFill>
              </a:rPr>
              <a:t>Every design presented to the ARB has already been debated by 9 specialist agents. No surprises in the room.</a:t>
            </a:r>
            <a:endParaRPr lang="en-US" sz="1000" dirty="0"/>
          </a:p>
        </p:txBody>
      </p:sp>
      <p:sp>
        <p:nvSpPr>
          <p:cNvPr id="35" name="Shape 33"/>
          <p:cNvSpPr/>
          <p:nvPr/>
        </p:nvSpPr>
        <p:spPr>
          <a:xfrm>
            <a:off x="6035040" y="3273552"/>
            <a:ext cx="2651760" cy="1115568"/>
          </a:xfrm>
          <a:prstGeom prst="roundRect">
            <a:avLst>
              <a:gd name="adj" fmla="val 6557"/>
            </a:avLst>
          </a:prstGeom>
          <a:solidFill>
            <a:srgbClr val="F8FAFC"/>
          </a:solidFill>
          <a:ln w="12700">
            <a:solidFill>
              <a:srgbClr val="E2E8F0"/>
            </a:solidFill>
            <a:prstDash val="solid"/>
          </a:ln>
        </p:spPr>
        <p:txBody>
          <a:bodyPr/>
          <a:lstStyle/>
          <a:p>
            <a:endParaRPr lang="en-US"/>
          </a:p>
        </p:txBody>
      </p:sp>
      <p:sp>
        <p:nvSpPr>
          <p:cNvPr id="36" name="Text 34"/>
          <p:cNvSpPr/>
          <p:nvPr/>
        </p:nvSpPr>
        <p:spPr>
          <a:xfrm>
            <a:off x="6172200" y="3346704"/>
            <a:ext cx="2377440" cy="256032"/>
          </a:xfrm>
          <a:prstGeom prst="rect">
            <a:avLst/>
          </a:prstGeom>
          <a:noFill/>
          <a:ln/>
        </p:spPr>
        <p:txBody>
          <a:bodyPr wrap="square" rtlCol="0" anchor="ctr"/>
          <a:lstStyle/>
          <a:p>
            <a:pPr marL="0" indent="0">
              <a:buNone/>
            </a:pPr>
            <a:r>
              <a:rPr lang="en-US" sz="1100" b="1" dirty="0">
                <a:solidFill>
                  <a:srgbClr val="1E293B"/>
                </a:solidFill>
              </a:rPr>
              <a:t>✓  ADR is auto-generated</a:t>
            </a:r>
            <a:endParaRPr lang="en-US" sz="1100" dirty="0"/>
          </a:p>
        </p:txBody>
      </p:sp>
      <p:sp>
        <p:nvSpPr>
          <p:cNvPr id="37" name="Text 35"/>
          <p:cNvSpPr/>
          <p:nvPr/>
        </p:nvSpPr>
        <p:spPr>
          <a:xfrm>
            <a:off x="6172200" y="3621024"/>
            <a:ext cx="2377440" cy="713232"/>
          </a:xfrm>
          <a:prstGeom prst="rect">
            <a:avLst/>
          </a:prstGeom>
          <a:noFill/>
          <a:ln/>
        </p:spPr>
        <p:txBody>
          <a:bodyPr wrap="square" rtlCol="0" anchor="ctr"/>
          <a:lstStyle/>
          <a:p>
            <a:pPr marL="0" indent="0">
              <a:buNone/>
            </a:pPr>
            <a:r>
              <a:rPr lang="en-US" sz="1000" dirty="0">
                <a:solidFill>
                  <a:srgbClr val="6B7280"/>
                </a:solidFill>
              </a:rPr>
              <a:t>Verdict, must-fix issues, and decisions are written to a Jira ADR ticket automatically. Human countersign enforces governance.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01168"/>
            <a:ext cx="8229600" cy="182880"/>
          </a:xfrm>
          <a:prstGeom prst="rect">
            <a:avLst/>
          </a:prstGeom>
          <a:noFill/>
          <a:ln/>
        </p:spPr>
        <p:txBody>
          <a:bodyPr wrap="square" rtlCol="0" anchor="ctr"/>
          <a:lstStyle/>
          <a:p>
            <a:pPr marL="0" indent="0">
              <a:buNone/>
            </a:pPr>
            <a:r>
              <a:rPr lang="en-US" sz="900" b="1" kern="0" spc="300" dirty="0">
                <a:solidFill>
                  <a:srgbClr val="0891B2"/>
                </a:solidFill>
              </a:rPr>
              <a:t>THE PROPOSITION</a:t>
            </a:r>
            <a:endParaRPr lang="en-US" sz="900" dirty="0"/>
          </a:p>
        </p:txBody>
      </p:sp>
      <p:sp>
        <p:nvSpPr>
          <p:cNvPr id="3" name="Text 1"/>
          <p:cNvSpPr/>
          <p:nvPr/>
        </p:nvSpPr>
        <p:spPr>
          <a:xfrm>
            <a:off x="457200" y="411480"/>
            <a:ext cx="5943600" cy="914400"/>
          </a:xfrm>
          <a:prstGeom prst="rect">
            <a:avLst/>
          </a:prstGeom>
          <a:noFill/>
          <a:ln/>
        </p:spPr>
        <p:txBody>
          <a:bodyPr wrap="square" rtlCol="0" anchor="ctr"/>
          <a:lstStyle/>
          <a:p>
            <a:pPr marL="0" indent="0">
              <a:buNone/>
            </a:pPr>
            <a:r>
              <a:rPr lang="en-US" sz="3200" b="1" dirty="0">
                <a:solidFill>
                  <a:srgbClr val="1E293B"/>
                </a:solidFill>
              </a:rPr>
              <a:t>The UI is not the product.</a:t>
            </a:r>
            <a:endParaRPr lang="en-US" sz="3200" dirty="0"/>
          </a:p>
          <a:p>
            <a:pPr marL="0" indent="0">
              <a:buNone/>
            </a:pPr>
            <a:r>
              <a:rPr lang="en-US" sz="3200" b="1" dirty="0">
                <a:solidFill>
                  <a:srgbClr val="1E293B"/>
                </a:solidFill>
              </a:rPr>
              <a:t>The deliberative engine is.</a:t>
            </a:r>
            <a:endParaRPr lang="en-US" sz="3200" dirty="0"/>
          </a:p>
        </p:txBody>
      </p:sp>
      <p:sp>
        <p:nvSpPr>
          <p:cNvPr id="4" name="Shape 2"/>
          <p:cNvSpPr/>
          <p:nvPr/>
        </p:nvSpPr>
        <p:spPr>
          <a:xfrm>
            <a:off x="320040" y="1444752"/>
            <a:ext cx="4023360" cy="1207008"/>
          </a:xfrm>
          <a:prstGeom prst="roundRect">
            <a:avLst>
              <a:gd name="adj" fmla="val 7576"/>
            </a:avLst>
          </a:prstGeom>
          <a:solidFill>
            <a:srgbClr val="F8FAFC"/>
          </a:solidFill>
          <a:ln w="12700">
            <a:solidFill>
              <a:srgbClr val="E2E8F0"/>
            </a:solidFill>
            <a:prstDash val="solid"/>
          </a:ln>
        </p:spPr>
        <p:txBody>
          <a:bodyPr/>
          <a:lstStyle/>
          <a:p>
            <a:endParaRPr lang="en-US"/>
          </a:p>
        </p:txBody>
      </p:sp>
      <p:sp>
        <p:nvSpPr>
          <p:cNvPr id="5" name="Text 3"/>
          <p:cNvSpPr/>
          <p:nvPr/>
        </p:nvSpPr>
        <p:spPr>
          <a:xfrm>
            <a:off x="457200" y="1536192"/>
            <a:ext cx="457200" cy="274320"/>
          </a:xfrm>
          <a:prstGeom prst="rect">
            <a:avLst/>
          </a:prstGeom>
          <a:noFill/>
          <a:ln/>
        </p:spPr>
        <p:txBody>
          <a:bodyPr wrap="square" rtlCol="0" anchor="ctr"/>
          <a:lstStyle/>
          <a:p>
            <a:pPr marL="0" indent="0">
              <a:buNone/>
            </a:pPr>
            <a:r>
              <a:rPr lang="en-US" sz="1600" b="1" dirty="0">
                <a:solidFill>
                  <a:srgbClr val="0891B2"/>
                </a:solidFill>
              </a:rPr>
              <a:t>01</a:t>
            </a:r>
            <a:endParaRPr lang="en-US" sz="1600" dirty="0"/>
          </a:p>
        </p:txBody>
      </p:sp>
      <p:sp>
        <p:nvSpPr>
          <p:cNvPr id="6" name="Text 4"/>
          <p:cNvSpPr/>
          <p:nvPr/>
        </p:nvSpPr>
        <p:spPr>
          <a:xfrm>
            <a:off x="960120" y="1536192"/>
            <a:ext cx="3246120" cy="274320"/>
          </a:xfrm>
          <a:prstGeom prst="rect">
            <a:avLst/>
          </a:prstGeom>
          <a:noFill/>
          <a:ln/>
        </p:spPr>
        <p:txBody>
          <a:bodyPr wrap="square" rtlCol="0" anchor="ctr"/>
          <a:lstStyle/>
          <a:p>
            <a:pPr marL="0" indent="0">
              <a:buNone/>
            </a:pPr>
            <a:r>
              <a:rPr lang="en-US" sz="1200" b="1" dirty="0">
                <a:solidFill>
                  <a:srgbClr val="1E293B"/>
                </a:solidFill>
              </a:rPr>
              <a:t>Multi-specialist deliberation</a:t>
            </a:r>
            <a:endParaRPr lang="en-US" sz="1200" dirty="0"/>
          </a:p>
        </p:txBody>
      </p:sp>
      <p:sp>
        <p:nvSpPr>
          <p:cNvPr id="7" name="Text 5"/>
          <p:cNvSpPr/>
          <p:nvPr/>
        </p:nvSpPr>
        <p:spPr>
          <a:xfrm>
            <a:off x="457200" y="1865376"/>
            <a:ext cx="3749040" cy="731520"/>
          </a:xfrm>
          <a:prstGeom prst="rect">
            <a:avLst/>
          </a:prstGeom>
          <a:noFill/>
          <a:ln/>
        </p:spPr>
        <p:txBody>
          <a:bodyPr wrap="square" rtlCol="0" anchor="ctr"/>
          <a:lstStyle/>
          <a:p>
            <a:pPr marL="0" indent="0">
              <a:buNone/>
            </a:pPr>
            <a:r>
              <a:rPr lang="en-US" sz="1050" dirty="0">
                <a:solidFill>
                  <a:srgbClr val="6B7280"/>
                </a:solidFill>
              </a:rPr>
              <a:t>9 domain experts debate — not one model. LWC, Apex, Integration, Patterns, Flow each bring a different lens and cross-reference before the Judge rules.</a:t>
            </a:r>
            <a:endParaRPr lang="en-US" sz="1050" dirty="0"/>
          </a:p>
        </p:txBody>
      </p:sp>
      <p:sp>
        <p:nvSpPr>
          <p:cNvPr id="8" name="Shape 6"/>
          <p:cNvSpPr/>
          <p:nvPr/>
        </p:nvSpPr>
        <p:spPr>
          <a:xfrm>
            <a:off x="4663440" y="1444752"/>
            <a:ext cx="4023360" cy="1207008"/>
          </a:xfrm>
          <a:prstGeom prst="roundRect">
            <a:avLst>
              <a:gd name="adj" fmla="val 7576"/>
            </a:avLst>
          </a:prstGeom>
          <a:solidFill>
            <a:srgbClr val="F8FAFC"/>
          </a:solidFill>
          <a:ln w="12700">
            <a:solidFill>
              <a:srgbClr val="E2E8F0"/>
            </a:solidFill>
            <a:prstDash val="solid"/>
          </a:ln>
        </p:spPr>
        <p:txBody>
          <a:bodyPr/>
          <a:lstStyle/>
          <a:p>
            <a:endParaRPr lang="en-US"/>
          </a:p>
        </p:txBody>
      </p:sp>
      <p:sp>
        <p:nvSpPr>
          <p:cNvPr id="9" name="Text 7"/>
          <p:cNvSpPr/>
          <p:nvPr/>
        </p:nvSpPr>
        <p:spPr>
          <a:xfrm>
            <a:off x="4800600" y="1536192"/>
            <a:ext cx="457200" cy="274320"/>
          </a:xfrm>
          <a:prstGeom prst="rect">
            <a:avLst/>
          </a:prstGeom>
          <a:noFill/>
          <a:ln/>
        </p:spPr>
        <p:txBody>
          <a:bodyPr wrap="square" rtlCol="0" anchor="ctr"/>
          <a:lstStyle/>
          <a:p>
            <a:pPr marL="0" indent="0">
              <a:buNone/>
            </a:pPr>
            <a:r>
              <a:rPr lang="en-US" sz="1600" b="1" dirty="0">
                <a:solidFill>
                  <a:srgbClr val="7C3AED"/>
                </a:solidFill>
              </a:rPr>
              <a:t>02</a:t>
            </a:r>
            <a:endParaRPr lang="en-US" sz="1600" dirty="0"/>
          </a:p>
        </p:txBody>
      </p:sp>
      <p:sp>
        <p:nvSpPr>
          <p:cNvPr id="10" name="Text 8"/>
          <p:cNvSpPr/>
          <p:nvPr/>
        </p:nvSpPr>
        <p:spPr>
          <a:xfrm>
            <a:off x="5303520" y="1536192"/>
            <a:ext cx="3246120" cy="274320"/>
          </a:xfrm>
          <a:prstGeom prst="rect">
            <a:avLst/>
          </a:prstGeom>
          <a:noFill/>
          <a:ln/>
        </p:spPr>
        <p:txBody>
          <a:bodyPr wrap="square" rtlCol="0" anchor="ctr"/>
          <a:lstStyle/>
          <a:p>
            <a:pPr marL="0" indent="0">
              <a:buNone/>
            </a:pPr>
            <a:r>
              <a:rPr lang="en-US" sz="1200" b="1" dirty="0">
                <a:solidFill>
                  <a:srgbClr val="1E293B"/>
                </a:solidFill>
              </a:rPr>
              <a:t>9-layer grounding stack</a:t>
            </a:r>
            <a:endParaRPr lang="en-US" sz="1200" dirty="0"/>
          </a:p>
        </p:txBody>
      </p:sp>
      <p:sp>
        <p:nvSpPr>
          <p:cNvPr id="11" name="Text 9"/>
          <p:cNvSpPr/>
          <p:nvPr/>
        </p:nvSpPr>
        <p:spPr>
          <a:xfrm>
            <a:off x="4800600" y="1865376"/>
            <a:ext cx="3749040" cy="731520"/>
          </a:xfrm>
          <a:prstGeom prst="rect">
            <a:avLst/>
          </a:prstGeom>
          <a:noFill/>
          <a:ln/>
        </p:spPr>
        <p:txBody>
          <a:bodyPr wrap="square" rtlCol="0" anchor="ctr"/>
          <a:lstStyle/>
          <a:p>
            <a:pPr marL="0" indent="0">
              <a:buNone/>
            </a:pPr>
            <a:r>
              <a:rPr lang="en-US" sz="1050" dirty="0">
                <a:solidFill>
                  <a:srgbClr val="6B7280"/>
                </a:solidFill>
              </a:rPr>
              <a:t>Base model + Well-Architected principles + SI failure patterns + domain skills + cross-cutting skills + episodic memory + org learnings + Jira ADR memory + live org context — injected automatically into every agent.</a:t>
            </a:r>
            <a:endParaRPr lang="en-US" sz="1050" dirty="0"/>
          </a:p>
        </p:txBody>
      </p:sp>
      <p:sp>
        <p:nvSpPr>
          <p:cNvPr id="12" name="Shape 10"/>
          <p:cNvSpPr/>
          <p:nvPr/>
        </p:nvSpPr>
        <p:spPr>
          <a:xfrm>
            <a:off x="320040" y="2761488"/>
            <a:ext cx="4023360" cy="1207008"/>
          </a:xfrm>
          <a:prstGeom prst="roundRect">
            <a:avLst>
              <a:gd name="adj" fmla="val 7576"/>
            </a:avLst>
          </a:prstGeom>
          <a:solidFill>
            <a:srgbClr val="F8FAFC"/>
          </a:solidFill>
          <a:ln w="12700">
            <a:solidFill>
              <a:srgbClr val="E2E8F0"/>
            </a:solidFill>
            <a:prstDash val="solid"/>
          </a:ln>
        </p:spPr>
        <p:txBody>
          <a:bodyPr/>
          <a:lstStyle/>
          <a:p>
            <a:endParaRPr lang="en-US"/>
          </a:p>
        </p:txBody>
      </p:sp>
      <p:sp>
        <p:nvSpPr>
          <p:cNvPr id="13" name="Text 11"/>
          <p:cNvSpPr/>
          <p:nvPr/>
        </p:nvSpPr>
        <p:spPr>
          <a:xfrm>
            <a:off x="457200" y="2852928"/>
            <a:ext cx="457200" cy="274320"/>
          </a:xfrm>
          <a:prstGeom prst="rect">
            <a:avLst/>
          </a:prstGeom>
          <a:noFill/>
          <a:ln/>
        </p:spPr>
        <p:txBody>
          <a:bodyPr wrap="square" rtlCol="0" anchor="ctr"/>
          <a:lstStyle/>
          <a:p>
            <a:pPr marL="0" indent="0">
              <a:buNone/>
            </a:pPr>
            <a:r>
              <a:rPr lang="en-US" sz="1600" b="1" dirty="0">
                <a:solidFill>
                  <a:srgbClr val="2E7D32"/>
                </a:solidFill>
              </a:rPr>
              <a:t>03</a:t>
            </a:r>
            <a:endParaRPr lang="en-US" sz="1600" dirty="0"/>
          </a:p>
        </p:txBody>
      </p:sp>
      <p:sp>
        <p:nvSpPr>
          <p:cNvPr id="14" name="Text 12"/>
          <p:cNvSpPr/>
          <p:nvPr/>
        </p:nvSpPr>
        <p:spPr>
          <a:xfrm>
            <a:off x="960120" y="2852928"/>
            <a:ext cx="3246120" cy="274320"/>
          </a:xfrm>
          <a:prstGeom prst="rect">
            <a:avLst/>
          </a:prstGeom>
          <a:noFill/>
          <a:ln/>
        </p:spPr>
        <p:txBody>
          <a:bodyPr wrap="square" rtlCol="0" anchor="ctr"/>
          <a:lstStyle/>
          <a:p>
            <a:pPr marL="0" indent="0">
              <a:buNone/>
            </a:pPr>
            <a:r>
              <a:rPr lang="en-US" sz="1200" b="1" dirty="0">
                <a:solidFill>
                  <a:srgbClr val="1E293B"/>
                </a:solidFill>
              </a:rPr>
              <a:t>Institutional memory that compounds</a:t>
            </a:r>
            <a:endParaRPr lang="en-US" sz="1200" dirty="0"/>
          </a:p>
        </p:txBody>
      </p:sp>
      <p:sp>
        <p:nvSpPr>
          <p:cNvPr id="15" name="Text 13"/>
          <p:cNvSpPr/>
          <p:nvPr/>
        </p:nvSpPr>
        <p:spPr>
          <a:xfrm>
            <a:off x="457200" y="3182112"/>
            <a:ext cx="3749040" cy="731520"/>
          </a:xfrm>
          <a:prstGeom prst="rect">
            <a:avLst/>
          </a:prstGeom>
          <a:noFill/>
          <a:ln/>
        </p:spPr>
        <p:txBody>
          <a:bodyPr wrap="square" rtlCol="0" anchor="ctr"/>
          <a:lstStyle/>
          <a:p>
            <a:pPr marL="0" indent="0">
              <a:buNone/>
            </a:pPr>
            <a:r>
              <a:rPr lang="en-US" sz="1050" dirty="0">
                <a:solidFill>
                  <a:srgbClr val="6B7280"/>
                </a:solidFill>
              </a:rPr>
              <a:t>Every session writes learnings back. Session 10 is smarter than Session 1. Client-partitioned org learnings is the moat — ARBoard knows your org better than a new joiner.</a:t>
            </a:r>
            <a:endParaRPr lang="en-US" sz="1050" dirty="0"/>
          </a:p>
        </p:txBody>
      </p:sp>
      <p:sp>
        <p:nvSpPr>
          <p:cNvPr id="16" name="Shape 14"/>
          <p:cNvSpPr/>
          <p:nvPr/>
        </p:nvSpPr>
        <p:spPr>
          <a:xfrm>
            <a:off x="4663440" y="2761488"/>
            <a:ext cx="4023360" cy="1207008"/>
          </a:xfrm>
          <a:prstGeom prst="roundRect">
            <a:avLst>
              <a:gd name="adj" fmla="val 7576"/>
            </a:avLst>
          </a:prstGeom>
          <a:solidFill>
            <a:srgbClr val="F8FAFC"/>
          </a:solidFill>
          <a:ln w="12700">
            <a:solidFill>
              <a:srgbClr val="E2E8F0"/>
            </a:solidFill>
            <a:prstDash val="solid"/>
          </a:ln>
        </p:spPr>
        <p:txBody>
          <a:bodyPr/>
          <a:lstStyle/>
          <a:p>
            <a:endParaRPr lang="en-US"/>
          </a:p>
        </p:txBody>
      </p:sp>
      <p:sp>
        <p:nvSpPr>
          <p:cNvPr id="17" name="Text 15"/>
          <p:cNvSpPr/>
          <p:nvPr/>
        </p:nvSpPr>
        <p:spPr>
          <a:xfrm>
            <a:off x="4800600" y="2852928"/>
            <a:ext cx="457200" cy="274320"/>
          </a:xfrm>
          <a:prstGeom prst="rect">
            <a:avLst/>
          </a:prstGeom>
          <a:noFill/>
          <a:ln/>
        </p:spPr>
        <p:txBody>
          <a:bodyPr wrap="square" rtlCol="0" anchor="ctr"/>
          <a:lstStyle/>
          <a:p>
            <a:pPr marL="0" indent="0">
              <a:buNone/>
            </a:pPr>
            <a:r>
              <a:rPr lang="en-US" sz="1600" b="1" dirty="0">
                <a:solidFill>
                  <a:srgbClr val="E8721C"/>
                </a:solidFill>
              </a:rPr>
              <a:t>04</a:t>
            </a:r>
            <a:endParaRPr lang="en-US" sz="1600" dirty="0"/>
          </a:p>
        </p:txBody>
      </p:sp>
      <p:sp>
        <p:nvSpPr>
          <p:cNvPr id="18" name="Text 16"/>
          <p:cNvSpPr/>
          <p:nvPr/>
        </p:nvSpPr>
        <p:spPr>
          <a:xfrm>
            <a:off x="5303520" y="2852928"/>
            <a:ext cx="3246120" cy="274320"/>
          </a:xfrm>
          <a:prstGeom prst="rect">
            <a:avLst/>
          </a:prstGeom>
          <a:noFill/>
          <a:ln/>
        </p:spPr>
        <p:txBody>
          <a:bodyPr wrap="square" rtlCol="0" anchor="ctr"/>
          <a:lstStyle/>
          <a:p>
            <a:pPr marL="0" indent="0">
              <a:buNone/>
            </a:pPr>
            <a:r>
              <a:rPr lang="en-US" sz="1200" b="1" dirty="0">
                <a:solidFill>
                  <a:srgbClr val="1E293B"/>
                </a:solidFill>
              </a:rPr>
              <a:t>Governed ADR trail — ~$0.22 per review</a:t>
            </a:r>
            <a:endParaRPr lang="en-US" sz="1200" dirty="0"/>
          </a:p>
        </p:txBody>
      </p:sp>
      <p:sp>
        <p:nvSpPr>
          <p:cNvPr id="19" name="Text 17"/>
          <p:cNvSpPr/>
          <p:nvPr/>
        </p:nvSpPr>
        <p:spPr>
          <a:xfrm>
            <a:off x="4800600" y="3182112"/>
            <a:ext cx="3749040" cy="731520"/>
          </a:xfrm>
          <a:prstGeom prst="rect">
            <a:avLst/>
          </a:prstGeom>
          <a:noFill/>
          <a:ln/>
        </p:spPr>
        <p:txBody>
          <a:bodyPr wrap="square" rtlCol="0" anchor="ctr"/>
          <a:lstStyle/>
          <a:p>
            <a:pPr marL="0" indent="0">
              <a:buNone/>
            </a:pPr>
            <a:r>
              <a:rPr lang="en-US" sz="1050" dirty="0">
                <a:solidFill>
                  <a:srgbClr val="6B7280"/>
                </a:solidFill>
              </a:rPr>
              <a:t>Verdict auto-creates a Jira ADR with human countersign. ~$0.22 vs 2-3 hours of senior architect time. Defensible and auditable for CPS 234 and regulated delivery.</a:t>
            </a:r>
            <a:endParaRPr lang="en-US" sz="1050" dirty="0"/>
          </a:p>
        </p:txBody>
      </p:sp>
      <p:sp>
        <p:nvSpPr>
          <p:cNvPr id="20" name="Shape 18"/>
          <p:cNvSpPr/>
          <p:nvPr/>
        </p:nvSpPr>
        <p:spPr>
          <a:xfrm>
            <a:off x="320040" y="4041648"/>
            <a:ext cx="8503920" cy="347472"/>
          </a:xfrm>
          <a:prstGeom prst="roundRect">
            <a:avLst>
              <a:gd name="adj" fmla="val 15789"/>
            </a:avLst>
          </a:prstGeom>
          <a:solidFill>
            <a:srgbClr val="1B3A6B"/>
          </a:solidFill>
          <a:ln w="12700">
            <a:solidFill>
              <a:srgbClr val="1B3A6B"/>
            </a:solidFill>
            <a:prstDash val="solid"/>
          </a:ln>
        </p:spPr>
        <p:txBody>
          <a:bodyPr/>
          <a:lstStyle/>
          <a:p>
            <a:endParaRPr lang="en-US"/>
          </a:p>
        </p:txBody>
      </p:sp>
      <p:sp>
        <p:nvSpPr>
          <p:cNvPr id="21" name="Text 19"/>
          <p:cNvSpPr/>
          <p:nvPr/>
        </p:nvSpPr>
        <p:spPr>
          <a:xfrm>
            <a:off x="320040" y="4041648"/>
            <a:ext cx="8503920" cy="347472"/>
          </a:xfrm>
          <a:prstGeom prst="rect">
            <a:avLst/>
          </a:prstGeom>
          <a:noFill/>
          <a:ln/>
        </p:spPr>
        <p:txBody>
          <a:bodyPr wrap="square" rtlCol="0" anchor="ctr"/>
          <a:lstStyle/>
          <a:p>
            <a:pPr marL="0" indent="0" algn="ctr">
              <a:buNone/>
            </a:pPr>
            <a:r>
              <a:rPr lang="en-US" sz="1050" b="1" i="1" dirty="0">
                <a:solidFill>
                  <a:srgbClr val="FFFFFF"/>
                </a:solidFill>
              </a:rPr>
              <a:t>The UI today is a demo vehicle. The deliberative engine, grounding stack, and org memory are the IP.</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360045"/>
            <a:ext cx="8428482" cy="442341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3506C113-1AAB-81B5-D005-DC4FA1F2B19E}"/>
              </a:ext>
            </a:extLst>
          </p:cNvPr>
          <p:cNvGraphicFramePr>
            <a:graphicFrameLocks noGrp="1"/>
          </p:cNvGraphicFramePr>
          <p:nvPr>
            <p:extLst>
              <p:ext uri="{D42A27DB-BD31-4B8C-83A1-F6EECF244321}">
                <p14:modId xmlns:p14="http://schemas.microsoft.com/office/powerpoint/2010/main" val="2913156307"/>
              </p:ext>
            </p:extLst>
          </p:nvPr>
        </p:nvGraphicFramePr>
        <p:xfrm>
          <a:off x="1066800" y="1127462"/>
          <a:ext cx="7244081" cy="3414843"/>
        </p:xfrm>
        <a:graphic>
          <a:graphicData uri="http://schemas.openxmlformats.org/drawingml/2006/table">
            <a:tbl>
              <a:tblPr firstRow="1" bandRow="1">
                <a:noFill/>
              </a:tblPr>
              <a:tblGrid>
                <a:gridCol w="945118">
                  <a:extLst>
                    <a:ext uri="{9D8B030D-6E8A-4147-A177-3AD203B41FA5}">
                      <a16:colId xmlns:a16="http://schemas.microsoft.com/office/drawing/2014/main" val="2365190487"/>
                    </a:ext>
                  </a:extLst>
                </a:gridCol>
                <a:gridCol w="2529801">
                  <a:extLst>
                    <a:ext uri="{9D8B030D-6E8A-4147-A177-3AD203B41FA5}">
                      <a16:colId xmlns:a16="http://schemas.microsoft.com/office/drawing/2014/main" val="3705401514"/>
                    </a:ext>
                  </a:extLst>
                </a:gridCol>
                <a:gridCol w="3769162">
                  <a:extLst>
                    <a:ext uri="{9D8B030D-6E8A-4147-A177-3AD203B41FA5}">
                      <a16:colId xmlns:a16="http://schemas.microsoft.com/office/drawing/2014/main" val="945633313"/>
                    </a:ext>
                  </a:extLst>
                </a:gridCol>
              </a:tblGrid>
              <a:tr h="306315">
                <a:tc>
                  <a:txBody>
                    <a:bodyPr/>
                    <a:lstStyle/>
                    <a:p>
                      <a:pPr>
                        <a:buNone/>
                      </a:pPr>
                      <a:r>
                        <a:rPr lang="en-US" sz="1200" b="1">
                          <a:solidFill>
                            <a:schemeClr val="tx1">
                              <a:lumMod val="75000"/>
                              <a:lumOff val="25000"/>
                            </a:schemeClr>
                          </a:solidFill>
                        </a:rPr>
                        <a:t>#</a:t>
                      </a:r>
                    </a:p>
                  </a:txBody>
                  <a:tcPr marL="113449" marR="85087" marT="56725" marB="56725" anchor="ctr">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tc>
                  <a:txBody>
                    <a:bodyPr/>
                    <a:lstStyle/>
                    <a:p>
                      <a:pPr>
                        <a:buNone/>
                      </a:pPr>
                      <a:r>
                        <a:rPr lang="en-US" sz="1200" b="1">
                          <a:solidFill>
                            <a:schemeClr val="tx1">
                              <a:lumMod val="75000"/>
                              <a:lumOff val="25000"/>
                            </a:schemeClr>
                          </a:solidFill>
                        </a:rPr>
                        <a:t>Feature</a:t>
                      </a:r>
                    </a:p>
                  </a:txBody>
                  <a:tcPr marL="113449" marR="85087" marT="56725" marB="56725" anchor="ctr">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tc>
                  <a:txBody>
                    <a:bodyPr/>
                    <a:lstStyle/>
                    <a:p>
                      <a:pPr>
                        <a:buNone/>
                      </a:pPr>
                      <a:r>
                        <a:rPr lang="en-US" sz="1200" b="1">
                          <a:solidFill>
                            <a:schemeClr val="tx1">
                              <a:lumMod val="75000"/>
                              <a:lumOff val="25000"/>
                            </a:schemeClr>
                          </a:solidFill>
                        </a:rPr>
                        <a:t>What it means</a:t>
                      </a:r>
                    </a:p>
                  </a:txBody>
                  <a:tcPr marL="113449" marR="85087" marT="56725" marB="56725" anchor="ctr">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extLst>
                  <a:ext uri="{0D108BD9-81ED-4DB2-BD59-A6C34878D82A}">
                    <a16:rowId xmlns:a16="http://schemas.microsoft.com/office/drawing/2014/main" val="3093356704"/>
                  </a:ext>
                </a:extLst>
              </a:tr>
              <a:tr h="259044">
                <a:tc>
                  <a:txBody>
                    <a:bodyPr/>
                    <a:lstStyle/>
                    <a:p>
                      <a:pPr>
                        <a:buNone/>
                      </a:pPr>
                      <a:r>
                        <a:rPr lang="en-US" sz="800">
                          <a:solidFill>
                            <a:schemeClr val="tx1">
                              <a:lumMod val="75000"/>
                              <a:lumOff val="25000"/>
                            </a:schemeClr>
                          </a:solidFill>
                        </a:rPr>
                        <a:t>1</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Intelligent Agent Assembly</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Right specialists selected per review, not all agents every time</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1608305111"/>
                  </a:ext>
                </a:extLst>
              </a:tr>
              <a:tr h="259044">
                <a:tc>
                  <a:txBody>
                    <a:bodyPr/>
                    <a:lstStyle/>
                    <a:p>
                      <a:pPr>
                        <a:buNone/>
                      </a:pPr>
                      <a:r>
                        <a:rPr lang="en-US" sz="800">
                          <a:solidFill>
                            <a:schemeClr val="tx1">
                              <a:lumMod val="75000"/>
                              <a:lumOff val="25000"/>
                            </a:schemeClr>
                          </a:solidFill>
                        </a:rPr>
                        <a:t>2</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Contextualised Agent Roles</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Agent names and focus adapt to the specific problem</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1208791189"/>
                  </a:ext>
                </a:extLst>
              </a:tr>
              <a:tr h="259044">
                <a:tc>
                  <a:txBody>
                    <a:bodyPr/>
                    <a:lstStyle/>
                    <a:p>
                      <a:pPr>
                        <a:buNone/>
                      </a:pPr>
                      <a:r>
                        <a:rPr lang="en-US" sz="800">
                          <a:solidFill>
                            <a:schemeClr val="tx1">
                              <a:lumMod val="75000"/>
                              <a:lumOff val="25000"/>
                            </a:schemeClr>
                          </a:solidFill>
                        </a:rPr>
                        <a:t>3</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Requirement Challenge Gates</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Agents question before they assess — like a senior architect would</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1752837912"/>
                  </a:ext>
                </a:extLst>
              </a:tr>
              <a:tr h="259044">
                <a:tc>
                  <a:txBody>
                    <a:bodyPr/>
                    <a:lstStyle/>
                    <a:p>
                      <a:pPr>
                        <a:buNone/>
                      </a:pPr>
                      <a:r>
                        <a:rPr lang="en-US" sz="800">
                          <a:solidFill>
                            <a:schemeClr val="tx1">
                              <a:lumMod val="75000"/>
                              <a:lumOff val="25000"/>
                            </a:schemeClr>
                          </a:solidFill>
                        </a:rPr>
                        <a:t>4</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dirty="0">
                          <a:solidFill>
                            <a:schemeClr val="tx1">
                              <a:lumMod val="75000"/>
                              <a:lumOff val="25000"/>
                            </a:schemeClr>
                          </a:solidFill>
                        </a:rPr>
                        <a:t>9-Layer Grounding</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Base model + Well-Architected + SI failure patterns + domain skills + cross-cutting skills + episodic memory + org learnings + Jira ADR memory + live org context</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654329254"/>
                  </a:ext>
                </a:extLst>
              </a:tr>
              <a:tr h="259044">
                <a:tc>
                  <a:txBody>
                    <a:bodyPr/>
                    <a:lstStyle/>
                    <a:p>
                      <a:pPr>
                        <a:buNone/>
                      </a:pPr>
                      <a:r>
                        <a:rPr lang="en-US" sz="800">
                          <a:solidFill>
                            <a:schemeClr val="tx1">
                              <a:lumMod val="75000"/>
                              <a:lumOff val="25000"/>
                            </a:schemeClr>
                          </a:solidFill>
                        </a:rPr>
                        <a:t>5</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dirty="0">
                          <a:solidFill>
                            <a:schemeClr val="tx1">
                              <a:lumMod val="75000"/>
                              <a:lumOff val="25000"/>
                            </a:schemeClr>
                          </a:solidFill>
                        </a:rPr>
                        <a:t>SI Failure Pattern Library</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Codified delivery mistakes injected into every review</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636638321"/>
                  </a:ext>
                </a:extLst>
              </a:tr>
              <a:tr h="259044">
                <a:tc>
                  <a:txBody>
                    <a:bodyPr/>
                    <a:lstStyle/>
                    <a:p>
                      <a:pPr>
                        <a:buNone/>
                      </a:pPr>
                      <a:r>
                        <a:rPr lang="en-US" sz="800">
                          <a:solidFill>
                            <a:schemeClr val="tx1">
                              <a:lumMod val="75000"/>
                              <a:lumOff val="25000"/>
                            </a:schemeClr>
                          </a:solidFill>
                        </a:rPr>
                        <a:t>6</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dirty="0">
                          <a:solidFill>
                            <a:schemeClr val="tx1">
                              <a:lumMod val="75000"/>
                              <a:lumOff val="25000"/>
                            </a:schemeClr>
                          </a:solidFill>
                        </a:rPr>
                        <a:t>Institutional Memory</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Every session compounds — org knowledge grows with every engagement</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2330215785"/>
                  </a:ext>
                </a:extLst>
              </a:tr>
              <a:tr h="259044">
                <a:tc>
                  <a:txBody>
                    <a:bodyPr/>
                    <a:lstStyle/>
                    <a:p>
                      <a:pPr>
                        <a:buNone/>
                      </a:pPr>
                      <a:r>
                        <a:rPr lang="en-US" sz="800">
                          <a:solidFill>
                            <a:schemeClr val="tx1">
                              <a:lumMod val="75000"/>
                              <a:lumOff val="25000"/>
                            </a:schemeClr>
                          </a:solidFill>
                        </a:rPr>
                        <a:t>7</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dirty="0">
                          <a:solidFill>
                            <a:schemeClr val="tx1">
                              <a:lumMod val="75000"/>
                              <a:lumOff val="25000"/>
                            </a:schemeClr>
                          </a:solidFill>
                        </a:rPr>
                        <a:t>Resubmission Accountability</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Judge explicitly checks if prior Must-Fix items were resolved</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369382646"/>
                  </a:ext>
                </a:extLst>
              </a:tr>
              <a:tr h="259044">
                <a:tc>
                  <a:txBody>
                    <a:bodyPr/>
                    <a:lstStyle/>
                    <a:p>
                      <a:pPr>
                        <a:buNone/>
                      </a:pPr>
                      <a:r>
                        <a:rPr lang="en-US" sz="800">
                          <a:solidFill>
                            <a:schemeClr val="tx1">
                              <a:lumMod val="75000"/>
                              <a:lumOff val="25000"/>
                            </a:schemeClr>
                          </a:solidFill>
                        </a:rPr>
                        <a:t>8</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Cost Transparency</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Per-agent token breakdown, actual vs estimated, every run</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1472852601"/>
                  </a:ext>
                </a:extLst>
              </a:tr>
              <a:tr h="259044">
                <a:tc>
                  <a:txBody>
                    <a:bodyPr/>
                    <a:lstStyle/>
                    <a:p>
                      <a:pPr>
                        <a:buNone/>
                      </a:pPr>
                      <a:r>
                        <a:rPr lang="en-US" sz="800">
                          <a:solidFill>
                            <a:schemeClr val="tx1">
                              <a:lumMod val="75000"/>
                              <a:lumOff val="25000"/>
                            </a:schemeClr>
                          </a:solidFill>
                        </a:rPr>
                        <a:t>9</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Confidence Scores</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Agents self-rate — Judge downgrades verdict if confidence is low</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3240690865"/>
                  </a:ext>
                </a:extLst>
              </a:tr>
              <a:tr h="259044">
                <a:tc>
                  <a:txBody>
                    <a:bodyPr/>
                    <a:lstStyle/>
                    <a:p>
                      <a:pPr>
                        <a:buNone/>
                      </a:pPr>
                      <a:r>
                        <a:rPr lang="en-US" sz="800">
                          <a:solidFill>
                            <a:schemeClr val="tx1">
                              <a:lumMod val="75000"/>
                              <a:lumOff val="25000"/>
                            </a:schemeClr>
                          </a:solidFill>
                        </a:rPr>
                        <a:t>10</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dirty="0">
                          <a:solidFill>
                            <a:schemeClr val="tx1">
                              <a:lumMod val="75000"/>
                              <a:lumOff val="25000"/>
                            </a:schemeClr>
                          </a:solidFill>
                        </a:rPr>
                        <a:t>Diagram Vision</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Agents read architecture diagrams, not just document text</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680070694"/>
                  </a:ext>
                </a:extLst>
              </a:tr>
              <a:tr h="259044">
                <a:tc>
                  <a:txBody>
                    <a:bodyPr/>
                    <a:lstStyle/>
                    <a:p>
                      <a:pPr>
                        <a:buNone/>
                      </a:pPr>
                      <a:r>
                        <a:rPr lang="en-US" sz="800">
                          <a:solidFill>
                            <a:schemeClr val="tx1">
                              <a:lumMod val="75000"/>
                              <a:lumOff val="25000"/>
                            </a:schemeClr>
                          </a:solidFill>
                        </a:rPr>
                        <a:t>11</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ADR Trail</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Formal decision record written to Jira after every session</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1142723204"/>
                  </a:ext>
                </a:extLst>
              </a:tr>
              <a:tr h="259044">
                <a:tc>
                  <a:txBody>
                    <a:bodyPr/>
                    <a:lstStyle/>
                    <a:p>
                      <a:pPr>
                        <a:buNone/>
                      </a:pPr>
                      <a:r>
                        <a:rPr lang="en-US" sz="800">
                          <a:solidFill>
                            <a:schemeClr val="tx1">
                              <a:lumMod val="75000"/>
                              <a:lumOff val="25000"/>
                            </a:schemeClr>
                          </a:solidFill>
                        </a:rPr>
                        <a:t>12</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dirty="0">
                          <a:solidFill>
                            <a:schemeClr val="tx1">
                              <a:lumMod val="75000"/>
                              <a:lumOff val="25000"/>
                            </a:schemeClr>
                          </a:solidFill>
                        </a:rPr>
                        <a:t>Skills Library</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dirty="0">
                          <a:solidFill>
                            <a:schemeClr val="tx1">
                              <a:lumMod val="75000"/>
                              <a:lumOff val="25000"/>
                            </a:schemeClr>
                          </a:solidFill>
                        </a:rPr>
                        <a:t>Domain + cross-cutting skill files injected per agent — reusable, composable, keyword-triggered</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4065249210"/>
                  </a:ext>
                </a:extLst>
              </a:tr>
            </a:tbl>
          </a:graphicData>
        </a:graphic>
      </p:graphicFrame>
      <p:sp>
        <p:nvSpPr>
          <p:cNvPr id="4" name="Text 1">
            <a:extLst>
              <a:ext uri="{FF2B5EF4-FFF2-40B4-BE49-F238E27FC236}">
                <a16:creationId xmlns:a16="http://schemas.microsoft.com/office/drawing/2014/main" id="{AEAA7AC0-39EF-C0B9-95A3-89D09D76AAC6}"/>
              </a:ext>
            </a:extLst>
          </p:cNvPr>
          <p:cNvSpPr/>
          <p:nvPr/>
        </p:nvSpPr>
        <p:spPr>
          <a:xfrm>
            <a:off x="457200" y="411480"/>
            <a:ext cx="5943600" cy="914400"/>
          </a:xfrm>
          <a:prstGeom prst="rect">
            <a:avLst/>
          </a:prstGeom>
          <a:noFill/>
          <a:ln/>
        </p:spPr>
        <p:txBody>
          <a:bodyPr wrap="square" rtlCol="0" anchor="ctr"/>
          <a:lstStyle/>
          <a:p>
            <a:pPr marL="0" indent="0">
              <a:buNone/>
            </a:pPr>
            <a:r>
              <a:rPr lang="en-US" sz="3200" b="1" dirty="0">
                <a:solidFill>
                  <a:srgbClr val="1E293B"/>
                </a:solidFill>
              </a:rPr>
              <a:t>What’s under the hood</a:t>
            </a:r>
            <a:endParaRPr lang="en-US" sz="3200" dirty="0"/>
          </a:p>
        </p:txBody>
      </p:sp>
    </p:spTree>
    <p:extLst>
      <p:ext uri="{BB962C8B-B14F-4D97-AF65-F5344CB8AC3E}">
        <p14:creationId xmlns:p14="http://schemas.microsoft.com/office/powerpoint/2010/main" val="3645915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marL="0" indent="0" algn="l">
              <a:buNone/>
            </a:pPr>
            <a:r>
              <a:rPr lang="en-US" sz="2700" b="1" dirty="0">
                <a:solidFill>
                  <a:srgbClr val="FFFFFF"/>
                </a:solidFill>
                <a:latin typeface="Calibri" pitchFamily="34" charset="0"/>
                <a:ea typeface="Calibri" pitchFamily="34" charset="-122"/>
                <a:cs typeface="Calibri" pitchFamily="34" charset="-120"/>
              </a:rPr>
              <a:t>Accelerating ARB Without Replacing It</a:t>
            </a:r>
            <a:endParaRPr lang="en-US" sz="2700" dirty="0"/>
          </a:p>
        </p:txBody>
      </p:sp>
      <p:sp>
        <p:nvSpPr>
          <p:cNvPr id="3" name="Text 1"/>
          <p:cNvSpPr/>
          <p:nvPr/>
        </p:nvSpPr>
        <p:spPr>
          <a:xfrm>
            <a:off x="457200" y="594360"/>
            <a:ext cx="8229600" cy="237744"/>
          </a:xfrm>
          <a:prstGeom prst="rect">
            <a:avLst/>
          </a:prstGeom>
          <a:noFill/>
          <a:ln/>
        </p:spPr>
        <p:txBody>
          <a:bodyPr wrap="square" rtlCol="0" anchor="ctr"/>
          <a:lstStyle/>
          <a:p>
            <a:pPr marL="0" indent="0" algn="l">
              <a:buNone/>
            </a:pPr>
            <a:r>
              <a:rPr lang="en-US" sz="1150" i="1" dirty="0">
                <a:solidFill>
                  <a:srgbClr val="7EB8D4"/>
                </a:solidFill>
                <a:latin typeface="Calibri" pitchFamily="34" charset="0"/>
                <a:ea typeface="Calibri" pitchFamily="34" charset="-122"/>
                <a:cs typeface="Calibri" pitchFamily="34" charset="-120"/>
              </a:rPr>
              <a:t>ARBoard surfaces findings before the meeting — architects still lead, review, and countersign every decision</a:t>
            </a:r>
            <a:endParaRPr lang="en-US" sz="1150" dirty="0"/>
          </a:p>
        </p:txBody>
      </p:sp>
      <p:sp>
        <p:nvSpPr>
          <p:cNvPr id="4" name="Shape 2"/>
          <p:cNvSpPr/>
          <p:nvPr/>
        </p:nvSpPr>
        <p:spPr>
          <a:xfrm>
            <a:off x="228600" y="896112"/>
            <a:ext cx="1143000" cy="329184"/>
          </a:xfrm>
          <a:prstGeom prst="rect">
            <a:avLst/>
          </a:prstGeom>
          <a:solidFill>
            <a:srgbClr val="1A3A5C"/>
          </a:solidFill>
          <a:ln w="6350">
            <a:solidFill>
              <a:srgbClr val="1E3A55"/>
            </a:solidFill>
            <a:prstDash val="solid"/>
          </a:ln>
        </p:spPr>
        <p:txBody>
          <a:bodyPr/>
          <a:lstStyle/>
          <a:p>
            <a:endParaRPr lang="en-US"/>
          </a:p>
        </p:txBody>
      </p:sp>
      <p:sp>
        <p:nvSpPr>
          <p:cNvPr id="5" name="Text 3"/>
          <p:cNvSpPr/>
          <p:nvPr/>
        </p:nvSpPr>
        <p:spPr>
          <a:xfrm>
            <a:off x="228600" y="896112"/>
            <a:ext cx="1143000" cy="329184"/>
          </a:xfrm>
          <a:prstGeom prst="rect">
            <a:avLst/>
          </a:prstGeom>
          <a:noFill/>
          <a:ln/>
        </p:spPr>
        <p:txBody>
          <a:bodyPr wrap="square" rtlCol="0" anchor="ctr"/>
          <a:lstStyle/>
          <a:p>
            <a:pPr marL="0" indent="0" algn="ctr">
              <a:buNone/>
            </a:pPr>
            <a:r>
              <a:rPr lang="en-US" sz="1050" b="1" dirty="0">
                <a:solidFill>
                  <a:srgbClr val="7EB8D4"/>
                </a:solidFill>
                <a:latin typeface="Calibri" pitchFamily="34" charset="0"/>
                <a:ea typeface="Calibri" pitchFamily="34" charset="-122"/>
                <a:cs typeface="Calibri" pitchFamily="34" charset="-120"/>
              </a:rPr>
              <a:t>Activity</a:t>
            </a:r>
            <a:endParaRPr lang="en-US" sz="1050" dirty="0"/>
          </a:p>
        </p:txBody>
      </p:sp>
      <p:sp>
        <p:nvSpPr>
          <p:cNvPr id="6" name="Shape 4"/>
          <p:cNvSpPr/>
          <p:nvPr/>
        </p:nvSpPr>
        <p:spPr>
          <a:xfrm>
            <a:off x="1389888" y="896112"/>
            <a:ext cx="2468880" cy="329184"/>
          </a:xfrm>
          <a:prstGeom prst="rect">
            <a:avLst/>
          </a:prstGeom>
          <a:solidFill>
            <a:srgbClr val="2A1A1A"/>
          </a:solidFill>
          <a:ln w="6350">
            <a:solidFill>
              <a:srgbClr val="1E3A55"/>
            </a:solidFill>
            <a:prstDash val="solid"/>
          </a:ln>
        </p:spPr>
        <p:txBody>
          <a:bodyPr/>
          <a:lstStyle/>
          <a:p>
            <a:endParaRPr lang="en-US"/>
          </a:p>
        </p:txBody>
      </p:sp>
      <p:sp>
        <p:nvSpPr>
          <p:cNvPr id="7" name="Text 5"/>
          <p:cNvSpPr/>
          <p:nvPr/>
        </p:nvSpPr>
        <p:spPr>
          <a:xfrm>
            <a:off x="1389888" y="896112"/>
            <a:ext cx="2468880" cy="329184"/>
          </a:xfrm>
          <a:prstGeom prst="rect">
            <a:avLst/>
          </a:prstGeom>
          <a:noFill/>
          <a:ln/>
        </p:spPr>
        <p:txBody>
          <a:bodyPr wrap="square" rtlCol="0" anchor="ctr"/>
          <a:lstStyle/>
          <a:p>
            <a:pPr marL="0" indent="0" algn="ctr">
              <a:buNone/>
            </a:pPr>
            <a:r>
              <a:rPr lang="en-US" sz="1050" b="1" dirty="0">
                <a:solidFill>
                  <a:srgbClr val="F87171"/>
                </a:solidFill>
                <a:latin typeface="Calibri" pitchFamily="34" charset="0"/>
                <a:ea typeface="Calibri" pitchFamily="34" charset="-122"/>
                <a:cs typeface="Calibri" pitchFamily="34" charset="-120"/>
              </a:rPr>
              <a:t>Without ARBoard</a:t>
            </a:r>
            <a:endParaRPr lang="en-US" sz="1050" dirty="0"/>
          </a:p>
        </p:txBody>
      </p:sp>
      <p:sp>
        <p:nvSpPr>
          <p:cNvPr id="8" name="Shape 6"/>
          <p:cNvSpPr/>
          <p:nvPr/>
        </p:nvSpPr>
        <p:spPr>
          <a:xfrm>
            <a:off x="3877056" y="896112"/>
            <a:ext cx="2834640" cy="329184"/>
          </a:xfrm>
          <a:prstGeom prst="rect">
            <a:avLst/>
          </a:prstGeom>
          <a:solidFill>
            <a:srgbClr val="0A2A1A"/>
          </a:solidFill>
          <a:ln w="6350">
            <a:solidFill>
              <a:srgbClr val="1E3A55"/>
            </a:solidFill>
            <a:prstDash val="solid"/>
          </a:ln>
        </p:spPr>
        <p:txBody>
          <a:bodyPr/>
          <a:lstStyle/>
          <a:p>
            <a:endParaRPr lang="en-US"/>
          </a:p>
        </p:txBody>
      </p:sp>
      <p:sp>
        <p:nvSpPr>
          <p:cNvPr id="9" name="Text 7"/>
          <p:cNvSpPr/>
          <p:nvPr/>
        </p:nvSpPr>
        <p:spPr>
          <a:xfrm>
            <a:off x="3877056" y="896112"/>
            <a:ext cx="2834640" cy="329184"/>
          </a:xfrm>
          <a:prstGeom prst="rect">
            <a:avLst/>
          </a:prstGeom>
          <a:noFill/>
          <a:ln/>
        </p:spPr>
        <p:txBody>
          <a:bodyPr wrap="square" rtlCol="0" anchor="ctr"/>
          <a:lstStyle/>
          <a:p>
            <a:pPr marL="0" indent="0" algn="ctr">
              <a:buNone/>
            </a:pPr>
            <a:r>
              <a:rPr lang="en-US" sz="1050" b="1" dirty="0">
                <a:solidFill>
                  <a:srgbClr val="34D399"/>
                </a:solidFill>
                <a:latin typeface="Calibri" pitchFamily="34" charset="0"/>
                <a:ea typeface="Calibri" pitchFamily="34" charset="-122"/>
                <a:cs typeface="Calibri" pitchFamily="34" charset="-120"/>
              </a:rPr>
              <a:t>With ARBoard</a:t>
            </a:r>
            <a:endParaRPr lang="en-US" sz="1050" dirty="0"/>
          </a:p>
        </p:txBody>
      </p:sp>
      <p:sp>
        <p:nvSpPr>
          <p:cNvPr id="10" name="Shape 8"/>
          <p:cNvSpPr/>
          <p:nvPr/>
        </p:nvSpPr>
        <p:spPr>
          <a:xfrm>
            <a:off x="6729984" y="896112"/>
            <a:ext cx="2103120" cy="329184"/>
          </a:xfrm>
          <a:prstGeom prst="rect">
            <a:avLst/>
          </a:prstGeom>
          <a:solidFill>
            <a:srgbClr val="0A2040"/>
          </a:solidFill>
          <a:ln w="6350">
            <a:solidFill>
              <a:srgbClr val="1E3A55"/>
            </a:solidFill>
            <a:prstDash val="solid"/>
          </a:ln>
        </p:spPr>
        <p:txBody>
          <a:bodyPr/>
          <a:lstStyle/>
          <a:p>
            <a:endParaRPr lang="en-US"/>
          </a:p>
        </p:txBody>
      </p:sp>
      <p:sp>
        <p:nvSpPr>
          <p:cNvPr id="11" name="Text 9"/>
          <p:cNvSpPr/>
          <p:nvPr/>
        </p:nvSpPr>
        <p:spPr>
          <a:xfrm>
            <a:off x="6729984" y="896112"/>
            <a:ext cx="2103120" cy="329184"/>
          </a:xfrm>
          <a:prstGeom prst="rect">
            <a:avLst/>
          </a:prstGeom>
          <a:noFill/>
          <a:ln/>
        </p:spPr>
        <p:txBody>
          <a:bodyPr wrap="square" rtlCol="0" anchor="ctr"/>
          <a:lstStyle/>
          <a:p>
            <a:pPr marL="0" indent="0" algn="ctr">
              <a:buNone/>
            </a:pPr>
            <a:r>
              <a:rPr lang="en-US" sz="1050" b="1" dirty="0">
                <a:solidFill>
                  <a:srgbClr val="00B4D8"/>
                </a:solidFill>
                <a:latin typeface="Calibri" pitchFamily="34" charset="0"/>
                <a:ea typeface="Calibri" pitchFamily="34" charset="-122"/>
                <a:cs typeface="Calibri" pitchFamily="34" charset="-120"/>
              </a:rPr>
              <a:t>Time / Cost Impact</a:t>
            </a:r>
            <a:endParaRPr lang="en-US" sz="1050" dirty="0"/>
          </a:p>
        </p:txBody>
      </p:sp>
      <p:sp>
        <p:nvSpPr>
          <p:cNvPr id="12" name="Shape 10"/>
          <p:cNvSpPr/>
          <p:nvPr/>
        </p:nvSpPr>
        <p:spPr>
          <a:xfrm>
            <a:off x="228600" y="1243584"/>
            <a:ext cx="1143000" cy="594360"/>
          </a:xfrm>
          <a:prstGeom prst="rect">
            <a:avLst/>
          </a:prstGeom>
          <a:solidFill>
            <a:srgbClr val="0F1B2D"/>
          </a:solidFill>
          <a:ln w="6350">
            <a:solidFill>
              <a:srgbClr val="1E3A55"/>
            </a:solidFill>
            <a:prstDash val="solid"/>
          </a:ln>
        </p:spPr>
        <p:txBody>
          <a:bodyPr/>
          <a:lstStyle/>
          <a:p>
            <a:endParaRPr lang="en-US"/>
          </a:p>
        </p:txBody>
      </p:sp>
      <p:sp>
        <p:nvSpPr>
          <p:cNvPr id="13" name="Text 11"/>
          <p:cNvSpPr/>
          <p:nvPr/>
        </p:nvSpPr>
        <p:spPr>
          <a:xfrm>
            <a:off x="265176" y="1243584"/>
            <a:ext cx="1069848" cy="594360"/>
          </a:xfrm>
          <a:prstGeom prst="rect">
            <a:avLst/>
          </a:prstGeom>
          <a:noFill/>
          <a:ln/>
        </p:spPr>
        <p:txBody>
          <a:bodyPr wrap="square" rtlCol="0" anchor="ctr"/>
          <a:lstStyle/>
          <a:p>
            <a:pPr marL="0" indent="0" algn="ctr">
              <a:buNone/>
            </a:pPr>
            <a:r>
              <a:rPr lang="en-US" sz="850" dirty="0">
                <a:solidFill>
                  <a:srgbClr val="8BAFC8"/>
                </a:solidFill>
                <a:latin typeface="Calibri" pitchFamily="34" charset="0"/>
                <a:ea typeface="Calibri" pitchFamily="34" charset="-122"/>
                <a:cs typeface="Calibri" pitchFamily="34" charset="-120"/>
              </a:rPr>
              <a:t>Pre-review</a:t>
            </a:r>
            <a:endParaRPr lang="en-US" sz="850" dirty="0"/>
          </a:p>
          <a:p>
            <a:pPr marL="0" indent="0" algn="ctr">
              <a:buNone/>
            </a:pPr>
            <a:r>
              <a:rPr lang="en-US" sz="850" dirty="0">
                <a:solidFill>
                  <a:srgbClr val="8BAFC8"/>
                </a:solidFill>
                <a:latin typeface="Calibri" pitchFamily="34" charset="0"/>
                <a:ea typeface="Calibri" pitchFamily="34" charset="-122"/>
                <a:cs typeface="Calibri" pitchFamily="34" charset="-120"/>
              </a:rPr>
              <a:t>prep</a:t>
            </a:r>
            <a:endParaRPr lang="en-US" sz="850" dirty="0"/>
          </a:p>
        </p:txBody>
      </p:sp>
      <p:sp>
        <p:nvSpPr>
          <p:cNvPr id="14" name="Shape 12"/>
          <p:cNvSpPr/>
          <p:nvPr/>
        </p:nvSpPr>
        <p:spPr>
          <a:xfrm>
            <a:off x="1389888" y="1243584"/>
            <a:ext cx="2468880" cy="594360"/>
          </a:xfrm>
          <a:prstGeom prst="rect">
            <a:avLst/>
          </a:prstGeom>
          <a:solidFill>
            <a:srgbClr val="0F1B2D"/>
          </a:solidFill>
          <a:ln w="6350">
            <a:solidFill>
              <a:srgbClr val="1E3A55"/>
            </a:solidFill>
            <a:prstDash val="solid"/>
          </a:ln>
        </p:spPr>
        <p:txBody>
          <a:bodyPr/>
          <a:lstStyle/>
          <a:p>
            <a:endParaRPr lang="en-US"/>
          </a:p>
        </p:txBody>
      </p:sp>
      <p:sp>
        <p:nvSpPr>
          <p:cNvPr id="15" name="Text 13"/>
          <p:cNvSpPr/>
          <p:nvPr/>
        </p:nvSpPr>
        <p:spPr>
          <a:xfrm>
            <a:off x="1426464" y="1243584"/>
            <a:ext cx="2395728" cy="594360"/>
          </a:xfrm>
          <a:prstGeom prst="rect">
            <a:avLst/>
          </a:prstGeom>
          <a:noFill/>
          <a:ln/>
        </p:spPr>
        <p:txBody>
          <a:bodyPr wrap="square" rtlCol="0" anchor="ctr"/>
          <a:lstStyle/>
          <a:p>
            <a:pPr marL="0" indent="0" algn="ctr">
              <a:buNone/>
            </a:pPr>
            <a:r>
              <a:rPr lang="en-US" sz="850" dirty="0">
                <a:solidFill>
                  <a:srgbClr val="F8A0A0"/>
                </a:solidFill>
                <a:latin typeface="Calibri" pitchFamily="34" charset="0"/>
                <a:ea typeface="Calibri" pitchFamily="34" charset="-122"/>
                <a:cs typeface="Calibri" pitchFamily="34" charset="-120"/>
              </a:rPr>
              <a:t>Architects manually review SDD</a:t>
            </a:r>
            <a:endParaRPr lang="en-US" sz="850" dirty="0"/>
          </a:p>
          <a:p>
            <a:pPr marL="0" indent="0" algn="ctr">
              <a:buNone/>
            </a:pPr>
            <a:r>
              <a:rPr lang="en-US" sz="850" dirty="0">
                <a:solidFill>
                  <a:srgbClr val="F8A0A0"/>
                </a:solidFill>
                <a:latin typeface="Calibri" pitchFamily="34" charset="0"/>
                <a:ea typeface="Calibri" pitchFamily="34" charset="-122"/>
                <a:cs typeface="Calibri" pitchFamily="34" charset="-120"/>
              </a:rPr>
              <a:t>5 people × 3hrs = $2,250</a:t>
            </a:r>
            <a:endParaRPr lang="en-US" sz="850" dirty="0"/>
          </a:p>
        </p:txBody>
      </p:sp>
      <p:sp>
        <p:nvSpPr>
          <p:cNvPr id="16" name="Shape 14"/>
          <p:cNvSpPr/>
          <p:nvPr/>
        </p:nvSpPr>
        <p:spPr>
          <a:xfrm>
            <a:off x="3877056" y="1243584"/>
            <a:ext cx="2834640" cy="594360"/>
          </a:xfrm>
          <a:prstGeom prst="rect">
            <a:avLst/>
          </a:prstGeom>
          <a:solidFill>
            <a:srgbClr val="0F1B2D"/>
          </a:solidFill>
          <a:ln w="6350">
            <a:solidFill>
              <a:srgbClr val="1E3A55"/>
            </a:solidFill>
            <a:prstDash val="solid"/>
          </a:ln>
        </p:spPr>
        <p:txBody>
          <a:bodyPr/>
          <a:lstStyle/>
          <a:p>
            <a:endParaRPr lang="en-US"/>
          </a:p>
        </p:txBody>
      </p:sp>
      <p:sp>
        <p:nvSpPr>
          <p:cNvPr id="17" name="Text 15"/>
          <p:cNvSpPr/>
          <p:nvPr/>
        </p:nvSpPr>
        <p:spPr>
          <a:xfrm>
            <a:off x="3913632" y="1243584"/>
            <a:ext cx="2761488" cy="594360"/>
          </a:xfrm>
          <a:prstGeom prst="rect">
            <a:avLst/>
          </a:prstGeom>
          <a:noFill/>
          <a:ln/>
        </p:spPr>
        <p:txBody>
          <a:bodyPr wrap="square" rtlCol="0" anchor="ctr"/>
          <a:lstStyle/>
          <a:p>
            <a:pPr marL="0" indent="0" algn="ctr">
              <a:buNone/>
            </a:pPr>
            <a:r>
              <a:rPr lang="en-US" sz="850" dirty="0">
                <a:solidFill>
                  <a:srgbClr val="6EE7B7"/>
                </a:solidFill>
                <a:latin typeface="Calibri" pitchFamily="34" charset="0"/>
                <a:ea typeface="Calibri" pitchFamily="34" charset="-122"/>
                <a:cs typeface="Calibri" pitchFamily="34" charset="-120"/>
              </a:rPr>
              <a:t>ARBoard analyses doc in 4–5 min</a:t>
            </a:r>
            <a:endParaRPr lang="en-US" sz="850" dirty="0"/>
          </a:p>
          <a:p>
            <a:pPr marL="0" indent="0" algn="ctr">
              <a:buNone/>
            </a:pPr>
            <a:r>
              <a:rPr lang="en-US" sz="850" dirty="0">
                <a:solidFill>
                  <a:srgbClr val="6EE7B7"/>
                </a:solidFill>
                <a:latin typeface="Calibri" pitchFamily="34" charset="0"/>
                <a:ea typeface="Calibri" pitchFamily="34" charset="-122"/>
                <a:cs typeface="Calibri" pitchFamily="34" charset="-120"/>
              </a:rPr>
              <a:t>Findings ready before meeting</a:t>
            </a:r>
            <a:endParaRPr lang="en-US" sz="850" dirty="0"/>
          </a:p>
        </p:txBody>
      </p:sp>
      <p:sp>
        <p:nvSpPr>
          <p:cNvPr id="18" name="Shape 16"/>
          <p:cNvSpPr/>
          <p:nvPr/>
        </p:nvSpPr>
        <p:spPr>
          <a:xfrm>
            <a:off x="6729984" y="1243584"/>
            <a:ext cx="2103120" cy="594360"/>
          </a:xfrm>
          <a:prstGeom prst="rect">
            <a:avLst/>
          </a:prstGeom>
          <a:solidFill>
            <a:srgbClr val="0F1B2D"/>
          </a:solidFill>
          <a:ln w="6350">
            <a:solidFill>
              <a:srgbClr val="1E3A55"/>
            </a:solidFill>
            <a:prstDash val="solid"/>
          </a:ln>
        </p:spPr>
        <p:txBody>
          <a:bodyPr/>
          <a:lstStyle/>
          <a:p>
            <a:endParaRPr lang="en-US"/>
          </a:p>
        </p:txBody>
      </p:sp>
      <p:sp>
        <p:nvSpPr>
          <p:cNvPr id="19" name="Text 17"/>
          <p:cNvSpPr/>
          <p:nvPr/>
        </p:nvSpPr>
        <p:spPr>
          <a:xfrm>
            <a:off x="6766560" y="1243584"/>
            <a:ext cx="2029968" cy="594360"/>
          </a:xfrm>
          <a:prstGeom prst="rect">
            <a:avLst/>
          </a:prstGeom>
          <a:noFill/>
          <a:ln/>
        </p:spPr>
        <p:txBody>
          <a:bodyPr wrap="square" rtlCol="0" anchor="ctr"/>
          <a:lstStyle/>
          <a:p>
            <a:pPr marL="0" indent="0" algn="ctr">
              <a:buNone/>
            </a:pPr>
            <a:r>
              <a:rPr lang="en-US" sz="1000" b="1" dirty="0">
                <a:solidFill>
                  <a:srgbClr val="00B4D8"/>
                </a:solidFill>
                <a:latin typeface="Calibri" pitchFamily="34" charset="0"/>
                <a:ea typeface="Calibri" pitchFamily="34" charset="-122"/>
                <a:cs typeface="Calibri" pitchFamily="34" charset="-120"/>
              </a:rPr>
              <a:t>~3hrs saved</a:t>
            </a:r>
            <a:endParaRPr lang="en-US" sz="1000" dirty="0"/>
          </a:p>
          <a:p>
            <a:pPr marL="0" indent="0" algn="ctr">
              <a:buNone/>
            </a:pPr>
            <a:r>
              <a:rPr lang="en-US" sz="1000" b="1" dirty="0">
                <a:solidFill>
                  <a:srgbClr val="00B4D8"/>
                </a:solidFill>
                <a:latin typeface="Calibri" pitchFamily="34" charset="0"/>
                <a:ea typeface="Calibri" pitchFamily="34" charset="-122"/>
                <a:cs typeface="Calibri" pitchFamily="34" charset="-120"/>
              </a:rPr>
              <a:t>per architect</a:t>
            </a:r>
            <a:endParaRPr lang="en-US" sz="1000" dirty="0"/>
          </a:p>
        </p:txBody>
      </p:sp>
      <p:sp>
        <p:nvSpPr>
          <p:cNvPr id="20" name="Shape 18"/>
          <p:cNvSpPr/>
          <p:nvPr/>
        </p:nvSpPr>
        <p:spPr>
          <a:xfrm>
            <a:off x="228600" y="1837944"/>
            <a:ext cx="1143000" cy="594360"/>
          </a:xfrm>
          <a:prstGeom prst="rect">
            <a:avLst/>
          </a:prstGeom>
          <a:solidFill>
            <a:srgbClr val="162435"/>
          </a:solidFill>
          <a:ln w="6350">
            <a:solidFill>
              <a:srgbClr val="1E3A55"/>
            </a:solidFill>
            <a:prstDash val="solid"/>
          </a:ln>
        </p:spPr>
        <p:txBody>
          <a:bodyPr/>
          <a:lstStyle/>
          <a:p>
            <a:endParaRPr lang="en-US"/>
          </a:p>
        </p:txBody>
      </p:sp>
      <p:sp>
        <p:nvSpPr>
          <p:cNvPr id="21" name="Text 19"/>
          <p:cNvSpPr/>
          <p:nvPr/>
        </p:nvSpPr>
        <p:spPr>
          <a:xfrm>
            <a:off x="265176" y="1837944"/>
            <a:ext cx="1069848" cy="594360"/>
          </a:xfrm>
          <a:prstGeom prst="rect">
            <a:avLst/>
          </a:prstGeom>
          <a:noFill/>
          <a:ln/>
        </p:spPr>
        <p:txBody>
          <a:bodyPr wrap="square" rtlCol="0" anchor="ctr"/>
          <a:lstStyle/>
          <a:p>
            <a:pPr marL="0" indent="0" algn="ctr">
              <a:buNone/>
            </a:pPr>
            <a:r>
              <a:rPr lang="en-US" sz="850" dirty="0">
                <a:solidFill>
                  <a:srgbClr val="8BAFC8"/>
                </a:solidFill>
                <a:latin typeface="Calibri" pitchFamily="34" charset="0"/>
                <a:ea typeface="Calibri" pitchFamily="34" charset="-122"/>
                <a:cs typeface="Calibri" pitchFamily="34" charset="-120"/>
              </a:rPr>
              <a:t>ARB review</a:t>
            </a:r>
            <a:endParaRPr lang="en-US" sz="850" dirty="0"/>
          </a:p>
          <a:p>
            <a:pPr marL="0" indent="0" algn="ctr">
              <a:buNone/>
            </a:pPr>
            <a:r>
              <a:rPr lang="en-US" sz="850" dirty="0">
                <a:solidFill>
                  <a:srgbClr val="8BAFC8"/>
                </a:solidFill>
                <a:latin typeface="Calibri" pitchFamily="34" charset="0"/>
                <a:ea typeface="Calibri" pitchFamily="34" charset="-122"/>
                <a:cs typeface="Calibri" pitchFamily="34" charset="-120"/>
              </a:rPr>
              <a:t>meeting</a:t>
            </a:r>
            <a:endParaRPr lang="en-US" sz="850" dirty="0"/>
          </a:p>
        </p:txBody>
      </p:sp>
      <p:sp>
        <p:nvSpPr>
          <p:cNvPr id="22" name="Shape 20"/>
          <p:cNvSpPr/>
          <p:nvPr/>
        </p:nvSpPr>
        <p:spPr>
          <a:xfrm>
            <a:off x="1389888" y="1837944"/>
            <a:ext cx="2468880" cy="594360"/>
          </a:xfrm>
          <a:prstGeom prst="rect">
            <a:avLst/>
          </a:prstGeom>
          <a:solidFill>
            <a:srgbClr val="162435"/>
          </a:solidFill>
          <a:ln w="6350">
            <a:solidFill>
              <a:srgbClr val="1E3A55"/>
            </a:solidFill>
            <a:prstDash val="solid"/>
          </a:ln>
        </p:spPr>
        <p:txBody>
          <a:bodyPr/>
          <a:lstStyle/>
          <a:p>
            <a:endParaRPr lang="en-US"/>
          </a:p>
        </p:txBody>
      </p:sp>
      <p:sp>
        <p:nvSpPr>
          <p:cNvPr id="23" name="Text 21"/>
          <p:cNvSpPr/>
          <p:nvPr/>
        </p:nvSpPr>
        <p:spPr>
          <a:xfrm>
            <a:off x="1426464" y="1837944"/>
            <a:ext cx="2395728" cy="594360"/>
          </a:xfrm>
          <a:prstGeom prst="rect">
            <a:avLst/>
          </a:prstGeom>
          <a:noFill/>
          <a:ln/>
        </p:spPr>
        <p:txBody>
          <a:bodyPr wrap="square" rtlCol="0" anchor="ctr"/>
          <a:lstStyle/>
          <a:p>
            <a:pPr marL="0" indent="0" algn="ctr">
              <a:buNone/>
            </a:pPr>
            <a:r>
              <a:rPr lang="en-US" sz="850" dirty="0">
                <a:solidFill>
                  <a:srgbClr val="F8A0A0"/>
                </a:solidFill>
                <a:latin typeface="Calibri" pitchFamily="34" charset="0"/>
                <a:ea typeface="Calibri" pitchFamily="34" charset="-122"/>
                <a:cs typeface="Calibri" pitchFamily="34" charset="-120"/>
              </a:rPr>
              <a:t>Full review in meeting</a:t>
            </a:r>
            <a:endParaRPr lang="en-US" sz="850" dirty="0"/>
          </a:p>
          <a:p>
            <a:pPr marL="0" indent="0" algn="ctr">
              <a:buNone/>
            </a:pPr>
            <a:r>
              <a:rPr lang="en-US" sz="850" dirty="0">
                <a:solidFill>
                  <a:srgbClr val="F8A0A0"/>
                </a:solidFill>
                <a:latin typeface="Calibri" pitchFamily="34" charset="0"/>
                <a:ea typeface="Calibri" pitchFamily="34" charset="-122"/>
                <a:cs typeface="Calibri" pitchFamily="34" charset="-120"/>
              </a:rPr>
              <a:t>5 people × 2hrs = $1,500</a:t>
            </a:r>
            <a:endParaRPr lang="en-US" sz="850" dirty="0"/>
          </a:p>
        </p:txBody>
      </p:sp>
      <p:sp>
        <p:nvSpPr>
          <p:cNvPr id="24" name="Shape 22"/>
          <p:cNvSpPr/>
          <p:nvPr/>
        </p:nvSpPr>
        <p:spPr>
          <a:xfrm>
            <a:off x="3877056" y="1837944"/>
            <a:ext cx="2834640" cy="594360"/>
          </a:xfrm>
          <a:prstGeom prst="rect">
            <a:avLst/>
          </a:prstGeom>
          <a:solidFill>
            <a:srgbClr val="162435"/>
          </a:solidFill>
          <a:ln w="6350">
            <a:solidFill>
              <a:srgbClr val="1E3A55"/>
            </a:solidFill>
            <a:prstDash val="solid"/>
          </a:ln>
        </p:spPr>
        <p:txBody>
          <a:bodyPr/>
          <a:lstStyle/>
          <a:p>
            <a:endParaRPr lang="en-US"/>
          </a:p>
        </p:txBody>
      </p:sp>
      <p:sp>
        <p:nvSpPr>
          <p:cNvPr id="25" name="Text 23"/>
          <p:cNvSpPr/>
          <p:nvPr/>
        </p:nvSpPr>
        <p:spPr>
          <a:xfrm>
            <a:off x="3913632" y="1837944"/>
            <a:ext cx="2761488" cy="594360"/>
          </a:xfrm>
          <a:prstGeom prst="rect">
            <a:avLst/>
          </a:prstGeom>
          <a:noFill/>
          <a:ln/>
        </p:spPr>
        <p:txBody>
          <a:bodyPr wrap="square" rtlCol="0" anchor="ctr"/>
          <a:lstStyle/>
          <a:p>
            <a:pPr marL="0" indent="0" algn="ctr">
              <a:buNone/>
            </a:pPr>
            <a:r>
              <a:rPr lang="en-US" sz="850" dirty="0">
                <a:solidFill>
                  <a:srgbClr val="6EE7B7"/>
                </a:solidFill>
                <a:latin typeface="Calibri" pitchFamily="34" charset="0"/>
                <a:ea typeface="Calibri" pitchFamily="34" charset="-122"/>
                <a:cs typeface="Calibri" pitchFamily="34" charset="-120"/>
              </a:rPr>
              <a:t>Meeting focuses on decisions</a:t>
            </a:r>
            <a:endParaRPr lang="en-US" sz="850" dirty="0"/>
          </a:p>
          <a:p>
            <a:pPr marL="0" indent="0" algn="ctr">
              <a:buNone/>
            </a:pPr>
            <a:r>
              <a:rPr lang="en-US" sz="850" dirty="0">
                <a:solidFill>
                  <a:srgbClr val="6EE7B7"/>
                </a:solidFill>
                <a:latin typeface="Calibri" pitchFamily="34" charset="0"/>
                <a:ea typeface="Calibri" pitchFamily="34" charset="-122"/>
                <a:cs typeface="Calibri" pitchFamily="34" charset="-120"/>
              </a:rPr>
              <a:t>not discovery — shorter, sharper</a:t>
            </a:r>
            <a:endParaRPr lang="en-US" sz="850" dirty="0"/>
          </a:p>
        </p:txBody>
      </p:sp>
      <p:sp>
        <p:nvSpPr>
          <p:cNvPr id="26" name="Shape 24"/>
          <p:cNvSpPr/>
          <p:nvPr/>
        </p:nvSpPr>
        <p:spPr>
          <a:xfrm>
            <a:off x="6729984" y="1837944"/>
            <a:ext cx="2103120" cy="594360"/>
          </a:xfrm>
          <a:prstGeom prst="rect">
            <a:avLst/>
          </a:prstGeom>
          <a:solidFill>
            <a:srgbClr val="162435"/>
          </a:solidFill>
          <a:ln w="6350">
            <a:solidFill>
              <a:srgbClr val="1E3A55"/>
            </a:solidFill>
            <a:prstDash val="solid"/>
          </a:ln>
        </p:spPr>
        <p:txBody>
          <a:bodyPr/>
          <a:lstStyle/>
          <a:p>
            <a:endParaRPr lang="en-US"/>
          </a:p>
        </p:txBody>
      </p:sp>
      <p:sp>
        <p:nvSpPr>
          <p:cNvPr id="27" name="Text 25"/>
          <p:cNvSpPr/>
          <p:nvPr/>
        </p:nvSpPr>
        <p:spPr>
          <a:xfrm>
            <a:off x="6766560" y="1837944"/>
            <a:ext cx="2029968" cy="594360"/>
          </a:xfrm>
          <a:prstGeom prst="rect">
            <a:avLst/>
          </a:prstGeom>
          <a:noFill/>
          <a:ln/>
        </p:spPr>
        <p:txBody>
          <a:bodyPr wrap="square" rtlCol="0" anchor="ctr"/>
          <a:lstStyle/>
          <a:p>
            <a:pPr marL="0" indent="0" algn="ctr">
              <a:buNone/>
            </a:pPr>
            <a:r>
              <a:rPr lang="en-US" sz="1000" b="1" dirty="0">
                <a:solidFill>
                  <a:srgbClr val="00B4D8"/>
                </a:solidFill>
                <a:latin typeface="Calibri" pitchFamily="34" charset="0"/>
                <a:ea typeface="Calibri" pitchFamily="34" charset="-122"/>
                <a:cs typeface="Calibri" pitchFamily="34" charset="-120"/>
              </a:rPr>
              <a:t>Meeting time</a:t>
            </a:r>
            <a:endParaRPr lang="en-US" sz="1000" dirty="0"/>
          </a:p>
          <a:p>
            <a:pPr marL="0" indent="0" algn="ctr">
              <a:buNone/>
            </a:pPr>
            <a:r>
              <a:rPr lang="en-US" sz="1000" b="1" dirty="0">
                <a:solidFill>
                  <a:srgbClr val="00B4D8"/>
                </a:solidFill>
                <a:latin typeface="Calibri" pitchFamily="34" charset="0"/>
                <a:ea typeface="Calibri" pitchFamily="34" charset="-122"/>
                <a:cs typeface="Calibri" pitchFamily="34" charset="-120"/>
              </a:rPr>
              <a:t>reduced</a:t>
            </a:r>
            <a:endParaRPr lang="en-US" sz="1000" dirty="0"/>
          </a:p>
        </p:txBody>
      </p:sp>
      <p:sp>
        <p:nvSpPr>
          <p:cNvPr id="28" name="Shape 26"/>
          <p:cNvSpPr/>
          <p:nvPr/>
        </p:nvSpPr>
        <p:spPr>
          <a:xfrm>
            <a:off x="228600" y="2432304"/>
            <a:ext cx="1143000" cy="594360"/>
          </a:xfrm>
          <a:prstGeom prst="rect">
            <a:avLst/>
          </a:prstGeom>
          <a:solidFill>
            <a:srgbClr val="0F1B2D"/>
          </a:solidFill>
          <a:ln w="6350">
            <a:solidFill>
              <a:srgbClr val="1E3A55"/>
            </a:solidFill>
            <a:prstDash val="solid"/>
          </a:ln>
        </p:spPr>
        <p:txBody>
          <a:bodyPr/>
          <a:lstStyle/>
          <a:p>
            <a:endParaRPr lang="en-US"/>
          </a:p>
        </p:txBody>
      </p:sp>
      <p:sp>
        <p:nvSpPr>
          <p:cNvPr id="29" name="Text 27"/>
          <p:cNvSpPr/>
          <p:nvPr/>
        </p:nvSpPr>
        <p:spPr>
          <a:xfrm>
            <a:off x="265176" y="2432304"/>
            <a:ext cx="1069848" cy="594360"/>
          </a:xfrm>
          <a:prstGeom prst="rect">
            <a:avLst/>
          </a:prstGeom>
          <a:noFill/>
          <a:ln/>
        </p:spPr>
        <p:txBody>
          <a:bodyPr wrap="square" rtlCol="0" anchor="ctr"/>
          <a:lstStyle/>
          <a:p>
            <a:pPr marL="0" indent="0" algn="ctr">
              <a:buNone/>
            </a:pPr>
            <a:r>
              <a:rPr lang="en-US" sz="850" dirty="0">
                <a:solidFill>
                  <a:srgbClr val="8BAFC8"/>
                </a:solidFill>
                <a:latin typeface="Calibri" pitchFamily="34" charset="0"/>
                <a:ea typeface="Calibri" pitchFamily="34" charset="-122"/>
                <a:cs typeface="Calibri" pitchFamily="34" charset="-120"/>
              </a:rPr>
              <a:t>Post-review</a:t>
            </a:r>
            <a:endParaRPr lang="en-US" sz="850" dirty="0"/>
          </a:p>
          <a:p>
            <a:pPr marL="0" indent="0" algn="ctr">
              <a:buNone/>
            </a:pPr>
            <a:r>
              <a:rPr lang="en-US" sz="850" dirty="0">
                <a:solidFill>
                  <a:srgbClr val="8BAFC8"/>
                </a:solidFill>
                <a:latin typeface="Calibri" pitchFamily="34" charset="0"/>
                <a:ea typeface="Calibri" pitchFamily="34" charset="-122"/>
                <a:cs typeface="Calibri" pitchFamily="34" charset="-120"/>
              </a:rPr>
              <a:t>rework</a:t>
            </a:r>
            <a:endParaRPr lang="en-US" sz="850" dirty="0"/>
          </a:p>
        </p:txBody>
      </p:sp>
      <p:sp>
        <p:nvSpPr>
          <p:cNvPr id="30" name="Shape 28"/>
          <p:cNvSpPr/>
          <p:nvPr/>
        </p:nvSpPr>
        <p:spPr>
          <a:xfrm>
            <a:off x="1389888" y="2432304"/>
            <a:ext cx="2468880" cy="594360"/>
          </a:xfrm>
          <a:prstGeom prst="rect">
            <a:avLst/>
          </a:prstGeom>
          <a:solidFill>
            <a:srgbClr val="0F1B2D"/>
          </a:solidFill>
          <a:ln w="6350">
            <a:solidFill>
              <a:srgbClr val="1E3A55"/>
            </a:solidFill>
            <a:prstDash val="solid"/>
          </a:ln>
        </p:spPr>
        <p:txBody>
          <a:bodyPr/>
          <a:lstStyle/>
          <a:p>
            <a:endParaRPr lang="en-US"/>
          </a:p>
        </p:txBody>
      </p:sp>
      <p:sp>
        <p:nvSpPr>
          <p:cNvPr id="31" name="Text 29"/>
          <p:cNvSpPr/>
          <p:nvPr/>
        </p:nvSpPr>
        <p:spPr>
          <a:xfrm>
            <a:off x="1426464" y="2432304"/>
            <a:ext cx="2395728" cy="594360"/>
          </a:xfrm>
          <a:prstGeom prst="rect">
            <a:avLst/>
          </a:prstGeom>
          <a:noFill/>
          <a:ln/>
        </p:spPr>
        <p:txBody>
          <a:bodyPr wrap="square" rtlCol="0" anchor="ctr"/>
          <a:lstStyle/>
          <a:p>
            <a:pPr marL="0" indent="0" algn="ctr">
              <a:buNone/>
            </a:pPr>
            <a:r>
              <a:rPr lang="en-US" sz="850" dirty="0">
                <a:solidFill>
                  <a:srgbClr val="F8A0A0"/>
                </a:solidFill>
                <a:latin typeface="Calibri" pitchFamily="34" charset="0"/>
                <a:ea typeface="Calibri" pitchFamily="34" charset="-122"/>
                <a:cs typeface="Calibri" pitchFamily="34" charset="-120"/>
              </a:rPr>
              <a:t>Issues found after design is built</a:t>
            </a:r>
            <a:endParaRPr lang="en-US" sz="850" dirty="0"/>
          </a:p>
          <a:p>
            <a:pPr marL="0" indent="0" algn="ctr">
              <a:buNone/>
            </a:pPr>
            <a:r>
              <a:rPr lang="en-US" sz="850" dirty="0">
                <a:solidFill>
                  <a:srgbClr val="F8A0A0"/>
                </a:solidFill>
                <a:latin typeface="Calibri" pitchFamily="34" charset="0"/>
                <a:ea typeface="Calibri" pitchFamily="34" charset="-122"/>
                <a:cs typeface="Calibri" pitchFamily="34" charset="-120"/>
              </a:rPr>
              <a:t>$8k–$15k avg rework cost</a:t>
            </a:r>
            <a:endParaRPr lang="en-US" sz="850" dirty="0"/>
          </a:p>
        </p:txBody>
      </p:sp>
      <p:sp>
        <p:nvSpPr>
          <p:cNvPr id="32" name="Shape 30"/>
          <p:cNvSpPr/>
          <p:nvPr/>
        </p:nvSpPr>
        <p:spPr>
          <a:xfrm>
            <a:off x="3877056" y="2432304"/>
            <a:ext cx="2834640" cy="594360"/>
          </a:xfrm>
          <a:prstGeom prst="rect">
            <a:avLst/>
          </a:prstGeom>
          <a:solidFill>
            <a:srgbClr val="0F1B2D"/>
          </a:solidFill>
          <a:ln w="6350">
            <a:solidFill>
              <a:srgbClr val="1E3A55"/>
            </a:solidFill>
            <a:prstDash val="solid"/>
          </a:ln>
        </p:spPr>
        <p:txBody>
          <a:bodyPr/>
          <a:lstStyle/>
          <a:p>
            <a:endParaRPr lang="en-US"/>
          </a:p>
        </p:txBody>
      </p:sp>
      <p:sp>
        <p:nvSpPr>
          <p:cNvPr id="33" name="Text 31"/>
          <p:cNvSpPr/>
          <p:nvPr/>
        </p:nvSpPr>
        <p:spPr>
          <a:xfrm>
            <a:off x="3913632" y="2432304"/>
            <a:ext cx="2761488" cy="594360"/>
          </a:xfrm>
          <a:prstGeom prst="rect">
            <a:avLst/>
          </a:prstGeom>
          <a:noFill/>
          <a:ln/>
        </p:spPr>
        <p:txBody>
          <a:bodyPr wrap="square" rtlCol="0" anchor="ctr"/>
          <a:lstStyle/>
          <a:p>
            <a:pPr marL="0" indent="0" algn="ctr">
              <a:buNone/>
            </a:pPr>
            <a:r>
              <a:rPr lang="en-US" sz="850" dirty="0">
                <a:solidFill>
                  <a:srgbClr val="6EE7B7"/>
                </a:solidFill>
                <a:latin typeface="Calibri" pitchFamily="34" charset="0"/>
                <a:ea typeface="Calibri" pitchFamily="34" charset="-122"/>
                <a:cs typeface="Calibri" pitchFamily="34" charset="-120"/>
              </a:rPr>
              <a:t>Issues flagged before build starts</a:t>
            </a:r>
            <a:endParaRPr lang="en-US" sz="850" dirty="0"/>
          </a:p>
          <a:p>
            <a:pPr marL="0" indent="0" algn="ctr">
              <a:buNone/>
            </a:pPr>
            <a:r>
              <a:rPr lang="en-US" sz="850" dirty="0">
                <a:solidFill>
                  <a:srgbClr val="6EE7B7"/>
                </a:solidFill>
                <a:latin typeface="Calibri" pitchFamily="34" charset="0"/>
                <a:ea typeface="Calibri" pitchFamily="34" charset="-122"/>
                <a:cs typeface="Calibri" pitchFamily="34" charset="-120"/>
              </a:rPr>
              <a:t>Design corrected earlier</a:t>
            </a:r>
            <a:endParaRPr lang="en-US" sz="850" dirty="0"/>
          </a:p>
        </p:txBody>
      </p:sp>
      <p:sp>
        <p:nvSpPr>
          <p:cNvPr id="34" name="Shape 32"/>
          <p:cNvSpPr/>
          <p:nvPr/>
        </p:nvSpPr>
        <p:spPr>
          <a:xfrm>
            <a:off x="6729984" y="2432304"/>
            <a:ext cx="2103120" cy="594360"/>
          </a:xfrm>
          <a:prstGeom prst="rect">
            <a:avLst/>
          </a:prstGeom>
          <a:solidFill>
            <a:srgbClr val="0F1B2D"/>
          </a:solidFill>
          <a:ln w="6350">
            <a:solidFill>
              <a:srgbClr val="1E3A55"/>
            </a:solidFill>
            <a:prstDash val="solid"/>
          </a:ln>
        </p:spPr>
        <p:txBody>
          <a:bodyPr/>
          <a:lstStyle/>
          <a:p>
            <a:endParaRPr lang="en-US"/>
          </a:p>
        </p:txBody>
      </p:sp>
      <p:sp>
        <p:nvSpPr>
          <p:cNvPr id="35" name="Text 33"/>
          <p:cNvSpPr/>
          <p:nvPr/>
        </p:nvSpPr>
        <p:spPr>
          <a:xfrm>
            <a:off x="6766560" y="2432304"/>
            <a:ext cx="2029968" cy="594360"/>
          </a:xfrm>
          <a:prstGeom prst="rect">
            <a:avLst/>
          </a:prstGeom>
          <a:noFill/>
          <a:ln/>
        </p:spPr>
        <p:txBody>
          <a:bodyPr wrap="square" rtlCol="0" anchor="ctr"/>
          <a:lstStyle/>
          <a:p>
            <a:pPr marL="0" indent="0" algn="ctr">
              <a:buNone/>
            </a:pPr>
            <a:r>
              <a:rPr lang="en-US" sz="1000" b="1" dirty="0">
                <a:solidFill>
                  <a:srgbClr val="00B4D8"/>
                </a:solidFill>
                <a:latin typeface="Calibri" pitchFamily="34" charset="0"/>
                <a:ea typeface="Calibri" pitchFamily="34" charset="-122"/>
                <a:cs typeface="Calibri" pitchFamily="34" charset="-120"/>
              </a:rPr>
              <a:t>~$10,000</a:t>
            </a:r>
            <a:endParaRPr lang="en-US" sz="1000" dirty="0"/>
          </a:p>
          <a:p>
            <a:pPr marL="0" indent="0" algn="ctr">
              <a:buNone/>
            </a:pPr>
            <a:r>
              <a:rPr lang="en-US" sz="1000" b="1" dirty="0">
                <a:solidFill>
                  <a:srgbClr val="00B4D8"/>
                </a:solidFill>
                <a:latin typeface="Calibri" pitchFamily="34" charset="0"/>
                <a:ea typeface="Calibri" pitchFamily="34" charset="-122"/>
                <a:cs typeface="Calibri" pitchFamily="34" charset="-120"/>
              </a:rPr>
              <a:t>avg rework avoided</a:t>
            </a:r>
            <a:endParaRPr lang="en-US" sz="1000" dirty="0"/>
          </a:p>
        </p:txBody>
      </p:sp>
      <p:sp>
        <p:nvSpPr>
          <p:cNvPr id="36" name="Shape 34"/>
          <p:cNvSpPr/>
          <p:nvPr/>
        </p:nvSpPr>
        <p:spPr>
          <a:xfrm>
            <a:off x="228600" y="3026664"/>
            <a:ext cx="1143000" cy="594360"/>
          </a:xfrm>
          <a:prstGeom prst="rect">
            <a:avLst/>
          </a:prstGeom>
          <a:solidFill>
            <a:srgbClr val="162435"/>
          </a:solidFill>
          <a:ln w="6350">
            <a:solidFill>
              <a:srgbClr val="1E3A55"/>
            </a:solidFill>
            <a:prstDash val="solid"/>
          </a:ln>
        </p:spPr>
        <p:txBody>
          <a:bodyPr/>
          <a:lstStyle/>
          <a:p>
            <a:endParaRPr lang="en-US"/>
          </a:p>
        </p:txBody>
      </p:sp>
      <p:sp>
        <p:nvSpPr>
          <p:cNvPr id="37" name="Text 35"/>
          <p:cNvSpPr/>
          <p:nvPr/>
        </p:nvSpPr>
        <p:spPr>
          <a:xfrm>
            <a:off x="265176" y="3026664"/>
            <a:ext cx="1069848" cy="594360"/>
          </a:xfrm>
          <a:prstGeom prst="rect">
            <a:avLst/>
          </a:prstGeom>
          <a:noFill/>
          <a:ln/>
        </p:spPr>
        <p:txBody>
          <a:bodyPr wrap="square" rtlCol="0" anchor="ctr"/>
          <a:lstStyle/>
          <a:p>
            <a:pPr marL="0" indent="0" algn="ctr">
              <a:buNone/>
            </a:pPr>
            <a:r>
              <a:rPr lang="en-US" sz="850" dirty="0">
                <a:solidFill>
                  <a:srgbClr val="8BAFC8"/>
                </a:solidFill>
                <a:latin typeface="Calibri" pitchFamily="34" charset="0"/>
                <a:ea typeface="Calibri" pitchFamily="34" charset="-122"/>
                <a:cs typeface="Calibri" pitchFamily="34" charset="-120"/>
              </a:rPr>
              <a:t>Re-submission</a:t>
            </a:r>
            <a:endParaRPr lang="en-US" sz="850" dirty="0"/>
          </a:p>
          <a:p>
            <a:pPr marL="0" indent="0" algn="ctr">
              <a:buNone/>
            </a:pPr>
            <a:r>
              <a:rPr lang="en-US" sz="850" dirty="0">
                <a:solidFill>
                  <a:srgbClr val="8BAFC8"/>
                </a:solidFill>
                <a:latin typeface="Calibri" pitchFamily="34" charset="0"/>
                <a:ea typeface="Calibri" pitchFamily="34" charset="-122"/>
                <a:cs typeface="Calibri" pitchFamily="34" charset="-120"/>
              </a:rPr>
              <a:t>cycle</a:t>
            </a:r>
            <a:endParaRPr lang="en-US" sz="850" dirty="0"/>
          </a:p>
        </p:txBody>
      </p:sp>
      <p:sp>
        <p:nvSpPr>
          <p:cNvPr id="38" name="Shape 36"/>
          <p:cNvSpPr/>
          <p:nvPr/>
        </p:nvSpPr>
        <p:spPr>
          <a:xfrm>
            <a:off x="1389888" y="3026664"/>
            <a:ext cx="2468880" cy="594360"/>
          </a:xfrm>
          <a:prstGeom prst="rect">
            <a:avLst/>
          </a:prstGeom>
          <a:solidFill>
            <a:srgbClr val="162435"/>
          </a:solidFill>
          <a:ln w="6350">
            <a:solidFill>
              <a:srgbClr val="1E3A55"/>
            </a:solidFill>
            <a:prstDash val="solid"/>
          </a:ln>
        </p:spPr>
        <p:txBody>
          <a:bodyPr/>
          <a:lstStyle/>
          <a:p>
            <a:endParaRPr lang="en-US"/>
          </a:p>
        </p:txBody>
      </p:sp>
      <p:sp>
        <p:nvSpPr>
          <p:cNvPr id="39" name="Text 37"/>
          <p:cNvSpPr/>
          <p:nvPr/>
        </p:nvSpPr>
        <p:spPr>
          <a:xfrm>
            <a:off x="1426464" y="3026664"/>
            <a:ext cx="2395728" cy="594360"/>
          </a:xfrm>
          <a:prstGeom prst="rect">
            <a:avLst/>
          </a:prstGeom>
          <a:noFill/>
          <a:ln/>
        </p:spPr>
        <p:txBody>
          <a:bodyPr wrap="square" rtlCol="0" anchor="ctr"/>
          <a:lstStyle/>
          <a:p>
            <a:pPr marL="0" indent="0" algn="ctr">
              <a:buNone/>
            </a:pPr>
            <a:r>
              <a:rPr lang="en-US" sz="850" dirty="0">
                <a:solidFill>
                  <a:srgbClr val="F8A0A0"/>
                </a:solidFill>
                <a:latin typeface="Calibri" pitchFamily="34" charset="0"/>
                <a:ea typeface="Calibri" pitchFamily="34" charset="-122"/>
                <a:cs typeface="Calibri" pitchFamily="34" charset="-120"/>
              </a:rPr>
              <a:t>Second ARB scheduling + review</a:t>
            </a:r>
            <a:endParaRPr lang="en-US" sz="850" dirty="0"/>
          </a:p>
          <a:p>
            <a:pPr marL="0" indent="0" algn="ctr">
              <a:buNone/>
            </a:pPr>
            <a:r>
              <a:rPr lang="en-US" sz="850" dirty="0">
                <a:solidFill>
                  <a:srgbClr val="F8A0A0"/>
                </a:solidFill>
                <a:latin typeface="Calibri" pitchFamily="34" charset="0"/>
                <a:ea typeface="Calibri" pitchFamily="34" charset="-122"/>
                <a:cs typeface="Calibri" pitchFamily="34" charset="-120"/>
              </a:rPr>
              <a:t>$4,050 + 1–2 week delay</a:t>
            </a:r>
            <a:endParaRPr lang="en-US" sz="850" dirty="0"/>
          </a:p>
        </p:txBody>
      </p:sp>
      <p:sp>
        <p:nvSpPr>
          <p:cNvPr id="40" name="Shape 38"/>
          <p:cNvSpPr/>
          <p:nvPr/>
        </p:nvSpPr>
        <p:spPr>
          <a:xfrm>
            <a:off x="3877056" y="3026664"/>
            <a:ext cx="2834640" cy="594360"/>
          </a:xfrm>
          <a:prstGeom prst="rect">
            <a:avLst/>
          </a:prstGeom>
          <a:solidFill>
            <a:srgbClr val="162435"/>
          </a:solidFill>
          <a:ln w="6350">
            <a:solidFill>
              <a:srgbClr val="1E3A55"/>
            </a:solidFill>
            <a:prstDash val="solid"/>
          </a:ln>
        </p:spPr>
        <p:txBody>
          <a:bodyPr/>
          <a:lstStyle/>
          <a:p>
            <a:endParaRPr lang="en-US"/>
          </a:p>
        </p:txBody>
      </p:sp>
      <p:sp>
        <p:nvSpPr>
          <p:cNvPr id="41" name="Text 39"/>
          <p:cNvSpPr/>
          <p:nvPr/>
        </p:nvSpPr>
        <p:spPr>
          <a:xfrm>
            <a:off x="3913632" y="3026664"/>
            <a:ext cx="2761488" cy="594360"/>
          </a:xfrm>
          <a:prstGeom prst="rect">
            <a:avLst/>
          </a:prstGeom>
          <a:noFill/>
          <a:ln/>
        </p:spPr>
        <p:txBody>
          <a:bodyPr wrap="square" rtlCol="0" anchor="ctr"/>
          <a:lstStyle/>
          <a:p>
            <a:pPr marL="0" indent="0" algn="ctr">
              <a:buNone/>
            </a:pPr>
            <a:r>
              <a:rPr lang="en-US" sz="850" dirty="0">
                <a:solidFill>
                  <a:srgbClr val="6EE7B7"/>
                </a:solidFill>
                <a:latin typeface="Calibri" pitchFamily="34" charset="0"/>
                <a:ea typeface="Calibri" pitchFamily="34" charset="-122"/>
                <a:cs typeface="Calibri" pitchFamily="34" charset="-120"/>
              </a:rPr>
              <a:t>Revision mode re-runs in minutes</a:t>
            </a:r>
            <a:endParaRPr lang="en-US" sz="850" dirty="0"/>
          </a:p>
          <a:p>
            <a:pPr marL="0" indent="0" algn="ctr">
              <a:buNone/>
            </a:pPr>
            <a:r>
              <a:rPr lang="en-US" sz="850" dirty="0">
                <a:solidFill>
                  <a:srgbClr val="6EE7B7"/>
                </a:solidFill>
                <a:latin typeface="Calibri" pitchFamily="34" charset="0"/>
                <a:ea typeface="Calibri" pitchFamily="34" charset="-122"/>
                <a:cs typeface="Calibri" pitchFamily="34" charset="-120"/>
              </a:rPr>
              <a:t>Same-day turnaround</a:t>
            </a:r>
            <a:endParaRPr lang="en-US" sz="850" dirty="0"/>
          </a:p>
        </p:txBody>
      </p:sp>
      <p:sp>
        <p:nvSpPr>
          <p:cNvPr id="42" name="Shape 40"/>
          <p:cNvSpPr/>
          <p:nvPr/>
        </p:nvSpPr>
        <p:spPr>
          <a:xfrm>
            <a:off x="6729984" y="3026664"/>
            <a:ext cx="2103120" cy="594360"/>
          </a:xfrm>
          <a:prstGeom prst="rect">
            <a:avLst/>
          </a:prstGeom>
          <a:solidFill>
            <a:srgbClr val="162435"/>
          </a:solidFill>
          <a:ln w="6350">
            <a:solidFill>
              <a:srgbClr val="1E3A55"/>
            </a:solidFill>
            <a:prstDash val="solid"/>
          </a:ln>
        </p:spPr>
        <p:txBody>
          <a:bodyPr/>
          <a:lstStyle/>
          <a:p>
            <a:endParaRPr lang="en-US"/>
          </a:p>
        </p:txBody>
      </p:sp>
      <p:sp>
        <p:nvSpPr>
          <p:cNvPr id="43" name="Text 41"/>
          <p:cNvSpPr/>
          <p:nvPr/>
        </p:nvSpPr>
        <p:spPr>
          <a:xfrm>
            <a:off x="6766560" y="3026664"/>
            <a:ext cx="2029968" cy="594360"/>
          </a:xfrm>
          <a:prstGeom prst="rect">
            <a:avLst/>
          </a:prstGeom>
          <a:noFill/>
          <a:ln/>
        </p:spPr>
        <p:txBody>
          <a:bodyPr wrap="square" rtlCol="0" anchor="ctr"/>
          <a:lstStyle/>
          <a:p>
            <a:pPr marL="0" indent="0" algn="ctr">
              <a:buNone/>
            </a:pPr>
            <a:r>
              <a:rPr lang="en-US" sz="1000" b="1" dirty="0">
                <a:solidFill>
                  <a:srgbClr val="00B4D8"/>
                </a:solidFill>
                <a:latin typeface="Calibri" pitchFamily="34" charset="0"/>
                <a:ea typeface="Calibri" pitchFamily="34" charset="-122"/>
                <a:cs typeface="Calibri" pitchFamily="34" charset="-120"/>
              </a:rPr>
              <a:t>Days → minutes</a:t>
            </a:r>
            <a:endParaRPr lang="en-US" sz="1000" dirty="0"/>
          </a:p>
          <a:p>
            <a:pPr marL="0" indent="0" algn="ctr">
              <a:buNone/>
            </a:pPr>
            <a:r>
              <a:rPr lang="en-US" sz="1000" b="1" dirty="0">
                <a:solidFill>
                  <a:srgbClr val="00B4D8"/>
                </a:solidFill>
                <a:latin typeface="Calibri" pitchFamily="34" charset="0"/>
                <a:ea typeface="Calibri" pitchFamily="34" charset="-122"/>
                <a:cs typeface="Calibri" pitchFamily="34" charset="-120"/>
              </a:rPr>
              <a:t>per revision</a:t>
            </a:r>
            <a:endParaRPr lang="en-US" sz="1000" dirty="0"/>
          </a:p>
        </p:txBody>
      </p:sp>
      <p:sp>
        <p:nvSpPr>
          <p:cNvPr id="44" name="Shape 42"/>
          <p:cNvSpPr/>
          <p:nvPr/>
        </p:nvSpPr>
        <p:spPr>
          <a:xfrm>
            <a:off x="228600" y="3621024"/>
            <a:ext cx="1143000" cy="594360"/>
          </a:xfrm>
          <a:prstGeom prst="rect">
            <a:avLst/>
          </a:prstGeom>
          <a:solidFill>
            <a:srgbClr val="0F1B2D"/>
          </a:solidFill>
          <a:ln w="6350">
            <a:solidFill>
              <a:srgbClr val="1E3A55"/>
            </a:solidFill>
            <a:prstDash val="solid"/>
          </a:ln>
        </p:spPr>
        <p:txBody>
          <a:bodyPr/>
          <a:lstStyle/>
          <a:p>
            <a:endParaRPr lang="en-US"/>
          </a:p>
        </p:txBody>
      </p:sp>
      <p:sp>
        <p:nvSpPr>
          <p:cNvPr id="45" name="Text 43"/>
          <p:cNvSpPr/>
          <p:nvPr/>
        </p:nvSpPr>
        <p:spPr>
          <a:xfrm>
            <a:off x="265176" y="3621024"/>
            <a:ext cx="1069848" cy="594360"/>
          </a:xfrm>
          <a:prstGeom prst="rect">
            <a:avLst/>
          </a:prstGeom>
          <a:noFill/>
          <a:ln/>
        </p:spPr>
        <p:txBody>
          <a:bodyPr wrap="square" rtlCol="0" anchor="ctr"/>
          <a:lstStyle/>
          <a:p>
            <a:pPr marL="0" indent="0" algn="ctr">
              <a:buNone/>
            </a:pPr>
            <a:r>
              <a:rPr lang="en-US" sz="850" dirty="0">
                <a:solidFill>
                  <a:srgbClr val="8BAFC8"/>
                </a:solidFill>
                <a:latin typeface="Calibri" pitchFamily="34" charset="0"/>
                <a:ea typeface="Calibri" pitchFamily="34" charset="-122"/>
                <a:cs typeface="Calibri" pitchFamily="34" charset="-120"/>
              </a:rPr>
              <a:t>Endorsement</a:t>
            </a:r>
            <a:endParaRPr lang="en-US" sz="850" dirty="0"/>
          </a:p>
          <a:p>
            <a:pPr marL="0" indent="0" algn="ctr">
              <a:buNone/>
            </a:pPr>
            <a:r>
              <a:rPr lang="en-US" sz="850" dirty="0">
                <a:solidFill>
                  <a:srgbClr val="8BAFC8"/>
                </a:solidFill>
                <a:latin typeface="Calibri" pitchFamily="34" charset="0"/>
                <a:ea typeface="Calibri" pitchFamily="34" charset="-122"/>
                <a:cs typeface="Calibri" pitchFamily="34" charset="-120"/>
              </a:rPr>
              <a:t>velocity</a:t>
            </a:r>
            <a:endParaRPr lang="en-US" sz="850" dirty="0"/>
          </a:p>
        </p:txBody>
      </p:sp>
      <p:sp>
        <p:nvSpPr>
          <p:cNvPr id="46" name="Shape 44"/>
          <p:cNvSpPr/>
          <p:nvPr/>
        </p:nvSpPr>
        <p:spPr>
          <a:xfrm>
            <a:off x="1389888" y="3621024"/>
            <a:ext cx="2468880" cy="594360"/>
          </a:xfrm>
          <a:prstGeom prst="rect">
            <a:avLst/>
          </a:prstGeom>
          <a:solidFill>
            <a:srgbClr val="0F1B2D"/>
          </a:solidFill>
          <a:ln w="6350">
            <a:solidFill>
              <a:srgbClr val="1E3A55"/>
            </a:solidFill>
            <a:prstDash val="solid"/>
          </a:ln>
        </p:spPr>
        <p:txBody>
          <a:bodyPr/>
          <a:lstStyle/>
          <a:p>
            <a:endParaRPr lang="en-US"/>
          </a:p>
        </p:txBody>
      </p:sp>
      <p:sp>
        <p:nvSpPr>
          <p:cNvPr id="47" name="Text 45"/>
          <p:cNvSpPr/>
          <p:nvPr/>
        </p:nvSpPr>
        <p:spPr>
          <a:xfrm>
            <a:off x="1426464" y="3621024"/>
            <a:ext cx="2395728" cy="594360"/>
          </a:xfrm>
          <a:prstGeom prst="rect">
            <a:avLst/>
          </a:prstGeom>
          <a:noFill/>
          <a:ln/>
        </p:spPr>
        <p:txBody>
          <a:bodyPr wrap="square" rtlCol="0" anchor="ctr"/>
          <a:lstStyle/>
          <a:p>
            <a:pPr marL="0" indent="0" algn="ctr">
              <a:buNone/>
            </a:pPr>
            <a:r>
              <a:rPr lang="en-US" sz="850" dirty="0">
                <a:solidFill>
                  <a:srgbClr val="F8A0A0"/>
                </a:solidFill>
                <a:latin typeface="Calibri" pitchFamily="34" charset="0"/>
                <a:ea typeface="Calibri" pitchFamily="34" charset="-122"/>
                <a:cs typeface="Calibri" pitchFamily="34" charset="-120"/>
              </a:rPr>
              <a:t>1–2 designs reviewed per sprint</a:t>
            </a:r>
            <a:endParaRPr lang="en-US" sz="850" dirty="0"/>
          </a:p>
          <a:p>
            <a:pPr marL="0" indent="0" algn="ctr">
              <a:buNone/>
            </a:pPr>
            <a:r>
              <a:rPr lang="en-US" sz="850" dirty="0">
                <a:solidFill>
                  <a:srgbClr val="F8A0A0"/>
                </a:solidFill>
                <a:latin typeface="Calibri" pitchFamily="34" charset="0"/>
                <a:ea typeface="Calibri" pitchFamily="34" charset="-122"/>
                <a:cs typeface="Calibri" pitchFamily="34" charset="-120"/>
              </a:rPr>
              <a:t>Scheduling bottleneck</a:t>
            </a:r>
            <a:endParaRPr lang="en-US" sz="850" dirty="0"/>
          </a:p>
        </p:txBody>
      </p:sp>
      <p:sp>
        <p:nvSpPr>
          <p:cNvPr id="48" name="Shape 46"/>
          <p:cNvSpPr/>
          <p:nvPr/>
        </p:nvSpPr>
        <p:spPr>
          <a:xfrm>
            <a:off x="3877056" y="3621024"/>
            <a:ext cx="2834640" cy="594360"/>
          </a:xfrm>
          <a:prstGeom prst="rect">
            <a:avLst/>
          </a:prstGeom>
          <a:solidFill>
            <a:srgbClr val="0F1B2D"/>
          </a:solidFill>
          <a:ln w="6350">
            <a:solidFill>
              <a:srgbClr val="1E3A55"/>
            </a:solidFill>
            <a:prstDash val="solid"/>
          </a:ln>
        </p:spPr>
        <p:txBody>
          <a:bodyPr/>
          <a:lstStyle/>
          <a:p>
            <a:endParaRPr lang="en-US"/>
          </a:p>
        </p:txBody>
      </p:sp>
      <p:sp>
        <p:nvSpPr>
          <p:cNvPr id="49" name="Text 47"/>
          <p:cNvSpPr/>
          <p:nvPr/>
        </p:nvSpPr>
        <p:spPr>
          <a:xfrm>
            <a:off x="3913632" y="3621024"/>
            <a:ext cx="2761488" cy="594360"/>
          </a:xfrm>
          <a:prstGeom prst="rect">
            <a:avLst/>
          </a:prstGeom>
          <a:noFill/>
          <a:ln/>
        </p:spPr>
        <p:txBody>
          <a:bodyPr wrap="square" rtlCol="0" anchor="ctr"/>
          <a:lstStyle/>
          <a:p>
            <a:pPr marL="0" indent="0" algn="ctr">
              <a:buNone/>
            </a:pPr>
            <a:r>
              <a:rPr lang="en-US" sz="850" dirty="0">
                <a:solidFill>
                  <a:srgbClr val="6EE7B7"/>
                </a:solidFill>
                <a:latin typeface="Calibri" pitchFamily="34" charset="0"/>
                <a:ea typeface="Calibri" pitchFamily="34" charset="-122"/>
                <a:cs typeface="Calibri" pitchFamily="34" charset="-120"/>
              </a:rPr>
              <a:t>Multiple designs reviewed per sprint</a:t>
            </a:r>
            <a:endParaRPr lang="en-US" sz="850" dirty="0"/>
          </a:p>
          <a:p>
            <a:pPr marL="0" indent="0" algn="ctr">
              <a:buNone/>
            </a:pPr>
            <a:r>
              <a:rPr lang="en-US" sz="850" dirty="0">
                <a:solidFill>
                  <a:srgbClr val="6EE7B7"/>
                </a:solidFill>
                <a:latin typeface="Calibri" pitchFamily="34" charset="0"/>
                <a:ea typeface="Calibri" pitchFamily="34" charset="-122"/>
                <a:cs typeface="Calibri" pitchFamily="34" charset="-120"/>
              </a:rPr>
              <a:t>No scheduling dependency</a:t>
            </a:r>
            <a:endParaRPr lang="en-US" sz="850" dirty="0"/>
          </a:p>
        </p:txBody>
      </p:sp>
      <p:sp>
        <p:nvSpPr>
          <p:cNvPr id="50" name="Shape 48"/>
          <p:cNvSpPr/>
          <p:nvPr/>
        </p:nvSpPr>
        <p:spPr>
          <a:xfrm>
            <a:off x="6729984" y="3621024"/>
            <a:ext cx="2103120" cy="594360"/>
          </a:xfrm>
          <a:prstGeom prst="rect">
            <a:avLst/>
          </a:prstGeom>
          <a:solidFill>
            <a:srgbClr val="0F1B2D"/>
          </a:solidFill>
          <a:ln w="6350">
            <a:solidFill>
              <a:srgbClr val="1E3A55"/>
            </a:solidFill>
            <a:prstDash val="solid"/>
          </a:ln>
        </p:spPr>
        <p:txBody>
          <a:bodyPr/>
          <a:lstStyle/>
          <a:p>
            <a:endParaRPr lang="en-US"/>
          </a:p>
        </p:txBody>
      </p:sp>
      <p:sp>
        <p:nvSpPr>
          <p:cNvPr id="51" name="Text 49"/>
          <p:cNvSpPr/>
          <p:nvPr/>
        </p:nvSpPr>
        <p:spPr>
          <a:xfrm>
            <a:off x="6766560" y="3621024"/>
            <a:ext cx="2029968" cy="594360"/>
          </a:xfrm>
          <a:prstGeom prst="rect">
            <a:avLst/>
          </a:prstGeom>
          <a:noFill/>
          <a:ln/>
        </p:spPr>
        <p:txBody>
          <a:bodyPr wrap="square" rtlCol="0" anchor="ctr"/>
          <a:lstStyle/>
          <a:p>
            <a:pPr marL="0" indent="0" algn="ctr">
              <a:buNone/>
            </a:pPr>
            <a:r>
              <a:rPr lang="en-US" sz="1000" b="1" dirty="0">
                <a:solidFill>
                  <a:srgbClr val="00B4D8"/>
                </a:solidFill>
                <a:latin typeface="Calibri" pitchFamily="34" charset="0"/>
                <a:ea typeface="Calibri" pitchFamily="34" charset="-122"/>
                <a:cs typeface="Calibri" pitchFamily="34" charset="-120"/>
              </a:rPr>
              <a:t>Higher delivery</a:t>
            </a:r>
            <a:endParaRPr lang="en-US" sz="1000" dirty="0"/>
          </a:p>
          <a:p>
            <a:pPr marL="0" indent="0" algn="ctr">
              <a:buNone/>
            </a:pPr>
            <a:r>
              <a:rPr lang="en-US" sz="1000" b="1" dirty="0">
                <a:solidFill>
                  <a:srgbClr val="00B4D8"/>
                </a:solidFill>
                <a:latin typeface="Calibri" pitchFamily="34" charset="0"/>
                <a:ea typeface="Calibri" pitchFamily="34" charset="-122"/>
                <a:cs typeface="Calibri" pitchFamily="34" charset="-120"/>
              </a:rPr>
              <a:t>velocity</a:t>
            </a:r>
            <a:endParaRPr lang="en-US" sz="1000" dirty="0"/>
          </a:p>
        </p:txBody>
      </p:sp>
      <p:sp>
        <p:nvSpPr>
          <p:cNvPr id="52" name="Shape 50"/>
          <p:cNvSpPr/>
          <p:nvPr/>
        </p:nvSpPr>
        <p:spPr>
          <a:xfrm>
            <a:off x="228600" y="4279392"/>
            <a:ext cx="8604504" cy="402336"/>
          </a:xfrm>
          <a:prstGeom prst="rect">
            <a:avLst/>
          </a:prstGeom>
          <a:solidFill>
            <a:srgbClr val="0A2540"/>
          </a:solidFill>
          <a:ln w="12700">
            <a:solidFill>
              <a:srgbClr val="00B4D8"/>
            </a:solidFill>
            <a:prstDash val="solid"/>
          </a:ln>
        </p:spPr>
        <p:txBody>
          <a:bodyPr/>
          <a:lstStyle/>
          <a:p>
            <a:endParaRPr lang="en-US"/>
          </a:p>
        </p:txBody>
      </p:sp>
      <p:sp>
        <p:nvSpPr>
          <p:cNvPr id="53" name="Text 51"/>
          <p:cNvSpPr/>
          <p:nvPr/>
        </p:nvSpPr>
        <p:spPr>
          <a:xfrm>
            <a:off x="320040" y="4279392"/>
            <a:ext cx="5029200" cy="402336"/>
          </a:xfrm>
          <a:prstGeom prst="rect">
            <a:avLst/>
          </a:prstGeom>
          <a:noFill/>
          <a:ln/>
        </p:spPr>
        <p:txBody>
          <a:bodyPr wrap="square" rtlCol="0" anchor="ctr"/>
          <a:lstStyle/>
          <a:p>
            <a:pPr marL="0" indent="0" algn="l">
              <a:buNone/>
            </a:pPr>
            <a:r>
              <a:rPr lang="en-US" sz="950" i="1" dirty="0">
                <a:solidFill>
                  <a:srgbClr val="FFFFFF"/>
                </a:solidFill>
                <a:latin typeface="Calibri" pitchFamily="34" charset="0"/>
                <a:ea typeface="Calibri" pitchFamily="34" charset="-122"/>
                <a:cs typeface="Calibri" pitchFamily="34" charset="-120"/>
              </a:rPr>
              <a:t>ARB still runs. Architects still decide. ARBoard removes the prep, rework, and scheduling wait.</a:t>
            </a:r>
            <a:endParaRPr lang="en-US" sz="950" dirty="0"/>
          </a:p>
        </p:txBody>
      </p:sp>
      <p:sp>
        <p:nvSpPr>
          <p:cNvPr id="54" name="Text 52"/>
          <p:cNvSpPr/>
          <p:nvPr/>
        </p:nvSpPr>
        <p:spPr>
          <a:xfrm>
            <a:off x="6729984" y="4279392"/>
            <a:ext cx="2103120" cy="402336"/>
          </a:xfrm>
          <a:prstGeom prst="rect">
            <a:avLst/>
          </a:prstGeom>
          <a:noFill/>
          <a:ln/>
        </p:spPr>
        <p:txBody>
          <a:bodyPr wrap="square"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~95% less prep &amp; rework</a:t>
            </a:r>
            <a:endParaRPr lang="en-US" sz="1100" dirty="0"/>
          </a:p>
        </p:txBody>
      </p:sp>
      <p:sp>
        <p:nvSpPr>
          <p:cNvPr id="55" name="Shape 53"/>
          <p:cNvSpPr/>
          <p:nvPr/>
        </p:nvSpPr>
        <p:spPr>
          <a:xfrm>
            <a:off x="228600" y="4754880"/>
            <a:ext cx="2103120" cy="475488"/>
          </a:xfrm>
          <a:prstGeom prst="rect">
            <a:avLst/>
          </a:prstGeom>
          <a:solidFill>
            <a:srgbClr val="132030"/>
          </a:solidFill>
          <a:ln w="8890">
            <a:solidFill>
              <a:srgbClr val="00B4D8"/>
            </a:solidFill>
            <a:prstDash val="solid"/>
          </a:ln>
        </p:spPr>
        <p:txBody>
          <a:bodyPr/>
          <a:lstStyle/>
          <a:p>
            <a:endParaRPr lang="en-US"/>
          </a:p>
        </p:txBody>
      </p:sp>
      <p:sp>
        <p:nvSpPr>
          <p:cNvPr id="56" name="Text 54"/>
          <p:cNvSpPr/>
          <p:nvPr/>
        </p:nvSpPr>
        <p:spPr>
          <a:xfrm>
            <a:off x="228600" y="4764024"/>
            <a:ext cx="2103120" cy="237744"/>
          </a:xfrm>
          <a:prstGeom prst="rect">
            <a:avLst/>
          </a:prstGeom>
          <a:noFill/>
          <a:ln/>
        </p:spPr>
        <p:txBody>
          <a:bodyPr wrap="square" rtlCol="0" anchor="ctr"/>
          <a:lstStyle/>
          <a:p>
            <a:pPr marL="0" indent="0" algn="ctr">
              <a:buNone/>
            </a:pPr>
            <a:r>
              <a:rPr lang="en-US" sz="1700" b="1" dirty="0">
                <a:solidFill>
                  <a:srgbClr val="00B4D8"/>
                </a:solidFill>
                <a:latin typeface="Calibri" pitchFamily="34" charset="0"/>
                <a:ea typeface="Calibri" pitchFamily="34" charset="-122"/>
                <a:cs typeface="Calibri" pitchFamily="34" charset="-120"/>
              </a:rPr>
              <a:t>4 min</a:t>
            </a:r>
            <a:endParaRPr lang="en-US" sz="1700" dirty="0"/>
          </a:p>
        </p:txBody>
      </p:sp>
      <p:sp>
        <p:nvSpPr>
          <p:cNvPr id="57" name="Text 55"/>
          <p:cNvSpPr/>
          <p:nvPr/>
        </p:nvSpPr>
        <p:spPr>
          <a:xfrm>
            <a:off x="228600" y="5001768"/>
            <a:ext cx="2103120" cy="201168"/>
          </a:xfrm>
          <a:prstGeom prst="rect">
            <a:avLst/>
          </a:prstGeom>
          <a:noFill/>
          <a:ln/>
        </p:spPr>
        <p:txBody>
          <a:bodyPr wrap="square" rtlCol="0" anchor="ctr"/>
          <a:lstStyle/>
          <a:p>
            <a:pPr marL="0" indent="0" algn="ctr">
              <a:buNone/>
            </a:pPr>
            <a:r>
              <a:rPr lang="en-US" sz="750" dirty="0">
                <a:solidFill>
                  <a:srgbClr val="8BAFC8"/>
                </a:solidFill>
                <a:latin typeface="Calibri" pitchFamily="34" charset="0"/>
                <a:ea typeface="Calibri" pitchFamily="34" charset="-122"/>
                <a:cs typeface="Calibri" pitchFamily="34" charset="-120"/>
              </a:rPr>
              <a:t>Findings surfaced</a:t>
            </a:r>
            <a:endParaRPr lang="en-US" sz="750" dirty="0"/>
          </a:p>
          <a:p>
            <a:pPr marL="0" indent="0" algn="ctr">
              <a:buNone/>
            </a:pPr>
            <a:r>
              <a:rPr lang="en-US" sz="750" dirty="0">
                <a:solidFill>
                  <a:srgbClr val="8BAFC8"/>
                </a:solidFill>
                <a:latin typeface="Calibri" pitchFamily="34" charset="0"/>
                <a:ea typeface="Calibri" pitchFamily="34" charset="-122"/>
                <a:cs typeface="Calibri" pitchFamily="34" charset="-120"/>
              </a:rPr>
              <a:t>vs 3hr manual prep</a:t>
            </a:r>
            <a:endParaRPr lang="en-US" sz="750" dirty="0"/>
          </a:p>
        </p:txBody>
      </p:sp>
      <p:sp>
        <p:nvSpPr>
          <p:cNvPr id="58" name="Shape 56"/>
          <p:cNvSpPr/>
          <p:nvPr/>
        </p:nvSpPr>
        <p:spPr>
          <a:xfrm>
            <a:off x="2386584" y="4754880"/>
            <a:ext cx="2103120" cy="475488"/>
          </a:xfrm>
          <a:prstGeom prst="rect">
            <a:avLst/>
          </a:prstGeom>
          <a:solidFill>
            <a:srgbClr val="132030"/>
          </a:solidFill>
          <a:ln w="8890">
            <a:solidFill>
              <a:srgbClr val="00B4D8"/>
            </a:solidFill>
            <a:prstDash val="solid"/>
          </a:ln>
        </p:spPr>
        <p:txBody>
          <a:bodyPr/>
          <a:lstStyle/>
          <a:p>
            <a:endParaRPr lang="en-US"/>
          </a:p>
        </p:txBody>
      </p:sp>
      <p:sp>
        <p:nvSpPr>
          <p:cNvPr id="59" name="Text 57"/>
          <p:cNvSpPr/>
          <p:nvPr/>
        </p:nvSpPr>
        <p:spPr>
          <a:xfrm>
            <a:off x="2386584" y="4764024"/>
            <a:ext cx="2103120" cy="237744"/>
          </a:xfrm>
          <a:prstGeom prst="rect">
            <a:avLst/>
          </a:prstGeom>
          <a:noFill/>
          <a:ln/>
        </p:spPr>
        <p:txBody>
          <a:bodyPr wrap="square" rtlCol="0" anchor="ctr"/>
          <a:lstStyle/>
          <a:p>
            <a:pPr marL="0" indent="0" algn="ctr">
              <a:buNone/>
            </a:pPr>
            <a:r>
              <a:rPr lang="en-US" sz="1700" b="1" dirty="0">
                <a:solidFill>
                  <a:srgbClr val="00B4D8"/>
                </a:solidFill>
                <a:latin typeface="Calibri" pitchFamily="34" charset="0"/>
                <a:ea typeface="Calibri" pitchFamily="34" charset="-122"/>
                <a:cs typeface="Calibri" pitchFamily="34" charset="-120"/>
              </a:rPr>
              <a:t>~$10k</a:t>
            </a:r>
            <a:endParaRPr lang="en-US" sz="1700" dirty="0"/>
          </a:p>
        </p:txBody>
      </p:sp>
      <p:sp>
        <p:nvSpPr>
          <p:cNvPr id="60" name="Text 58"/>
          <p:cNvSpPr/>
          <p:nvPr/>
        </p:nvSpPr>
        <p:spPr>
          <a:xfrm>
            <a:off x="2386584" y="5001768"/>
            <a:ext cx="2103120" cy="201168"/>
          </a:xfrm>
          <a:prstGeom prst="rect">
            <a:avLst/>
          </a:prstGeom>
          <a:noFill/>
          <a:ln/>
        </p:spPr>
        <p:txBody>
          <a:bodyPr wrap="square" rtlCol="0" anchor="ctr"/>
          <a:lstStyle/>
          <a:p>
            <a:pPr marL="0" indent="0" algn="ctr">
              <a:buNone/>
            </a:pPr>
            <a:r>
              <a:rPr lang="en-US" sz="750" dirty="0">
                <a:solidFill>
                  <a:srgbClr val="8BAFC8"/>
                </a:solidFill>
                <a:latin typeface="Calibri" pitchFamily="34" charset="0"/>
                <a:ea typeface="Calibri" pitchFamily="34" charset="-122"/>
                <a:cs typeface="Calibri" pitchFamily="34" charset="-120"/>
              </a:rPr>
              <a:t>Avg rework avoided</a:t>
            </a:r>
            <a:endParaRPr lang="en-US" sz="750" dirty="0"/>
          </a:p>
          <a:p>
            <a:pPr marL="0" indent="0" algn="ctr">
              <a:buNone/>
            </a:pPr>
            <a:r>
              <a:rPr lang="en-US" sz="750" dirty="0">
                <a:solidFill>
                  <a:srgbClr val="8BAFC8"/>
                </a:solidFill>
                <a:latin typeface="Calibri" pitchFamily="34" charset="0"/>
                <a:ea typeface="Calibri" pitchFamily="34" charset="-122"/>
                <a:cs typeface="Calibri" pitchFamily="34" charset="-120"/>
              </a:rPr>
              <a:t>per review cycle</a:t>
            </a:r>
            <a:endParaRPr lang="en-US" sz="750" dirty="0"/>
          </a:p>
        </p:txBody>
      </p:sp>
      <p:sp>
        <p:nvSpPr>
          <p:cNvPr id="61" name="Shape 59"/>
          <p:cNvSpPr/>
          <p:nvPr/>
        </p:nvSpPr>
        <p:spPr>
          <a:xfrm>
            <a:off x="4544568" y="4754880"/>
            <a:ext cx="2103120" cy="475488"/>
          </a:xfrm>
          <a:prstGeom prst="rect">
            <a:avLst/>
          </a:prstGeom>
          <a:solidFill>
            <a:srgbClr val="132030"/>
          </a:solidFill>
          <a:ln w="8890">
            <a:solidFill>
              <a:srgbClr val="00B4D8"/>
            </a:solidFill>
            <a:prstDash val="solid"/>
          </a:ln>
        </p:spPr>
        <p:txBody>
          <a:bodyPr/>
          <a:lstStyle/>
          <a:p>
            <a:endParaRPr lang="en-US"/>
          </a:p>
        </p:txBody>
      </p:sp>
      <p:sp>
        <p:nvSpPr>
          <p:cNvPr id="62" name="Text 60"/>
          <p:cNvSpPr/>
          <p:nvPr/>
        </p:nvSpPr>
        <p:spPr>
          <a:xfrm>
            <a:off x="4544568" y="4764024"/>
            <a:ext cx="2103120" cy="237744"/>
          </a:xfrm>
          <a:prstGeom prst="rect">
            <a:avLst/>
          </a:prstGeom>
          <a:noFill/>
          <a:ln/>
        </p:spPr>
        <p:txBody>
          <a:bodyPr wrap="square" rtlCol="0" anchor="ctr"/>
          <a:lstStyle/>
          <a:p>
            <a:pPr marL="0" indent="0" algn="ctr">
              <a:buNone/>
            </a:pPr>
            <a:r>
              <a:rPr lang="en-US" sz="1700" b="1" dirty="0">
                <a:solidFill>
                  <a:srgbClr val="00B4D8"/>
                </a:solidFill>
                <a:latin typeface="Calibri" pitchFamily="34" charset="0"/>
                <a:ea typeface="Calibri" pitchFamily="34" charset="-122"/>
                <a:cs typeface="Calibri" pitchFamily="34" charset="-120"/>
              </a:rPr>
              <a:t>100%</a:t>
            </a:r>
            <a:endParaRPr lang="en-US" sz="1700" dirty="0"/>
          </a:p>
        </p:txBody>
      </p:sp>
      <p:sp>
        <p:nvSpPr>
          <p:cNvPr id="63" name="Text 61"/>
          <p:cNvSpPr/>
          <p:nvPr/>
        </p:nvSpPr>
        <p:spPr>
          <a:xfrm>
            <a:off x="4544568" y="5001768"/>
            <a:ext cx="2103120" cy="201168"/>
          </a:xfrm>
          <a:prstGeom prst="rect">
            <a:avLst/>
          </a:prstGeom>
          <a:noFill/>
          <a:ln/>
        </p:spPr>
        <p:txBody>
          <a:bodyPr wrap="square" rtlCol="0" anchor="ctr"/>
          <a:lstStyle/>
          <a:p>
            <a:pPr marL="0" indent="0" algn="ctr">
              <a:buNone/>
            </a:pPr>
            <a:r>
              <a:rPr lang="en-US" sz="750" dirty="0">
                <a:solidFill>
                  <a:srgbClr val="8BAFC8"/>
                </a:solidFill>
                <a:latin typeface="Calibri" pitchFamily="34" charset="0"/>
                <a:ea typeface="Calibri" pitchFamily="34" charset="-122"/>
                <a:cs typeface="Calibri" pitchFamily="34" charset="-120"/>
              </a:rPr>
              <a:t>Consistent checks</a:t>
            </a:r>
            <a:endParaRPr lang="en-US" sz="750" dirty="0"/>
          </a:p>
          <a:p>
            <a:pPr marL="0" indent="0" algn="ctr">
              <a:buNone/>
            </a:pPr>
            <a:r>
              <a:rPr lang="en-US" sz="750" dirty="0">
                <a:solidFill>
                  <a:srgbClr val="8BAFC8"/>
                </a:solidFill>
                <a:latin typeface="Calibri" pitchFamily="34" charset="0"/>
                <a:ea typeface="Calibri" pitchFamily="34" charset="-122"/>
                <a:cs typeface="Calibri" pitchFamily="34" charset="-120"/>
              </a:rPr>
              <a:t>every submission</a:t>
            </a:r>
            <a:endParaRPr lang="en-US" sz="750" dirty="0"/>
          </a:p>
        </p:txBody>
      </p:sp>
      <p:sp>
        <p:nvSpPr>
          <p:cNvPr id="64" name="Shape 62"/>
          <p:cNvSpPr/>
          <p:nvPr/>
        </p:nvSpPr>
        <p:spPr>
          <a:xfrm>
            <a:off x="6702552" y="4754880"/>
            <a:ext cx="2103120" cy="475488"/>
          </a:xfrm>
          <a:prstGeom prst="rect">
            <a:avLst/>
          </a:prstGeom>
          <a:solidFill>
            <a:srgbClr val="132030"/>
          </a:solidFill>
          <a:ln w="8890">
            <a:solidFill>
              <a:srgbClr val="00B4D8"/>
            </a:solidFill>
            <a:prstDash val="solid"/>
          </a:ln>
        </p:spPr>
        <p:txBody>
          <a:bodyPr/>
          <a:lstStyle/>
          <a:p>
            <a:endParaRPr lang="en-US"/>
          </a:p>
        </p:txBody>
      </p:sp>
      <p:sp>
        <p:nvSpPr>
          <p:cNvPr id="65" name="Text 63"/>
          <p:cNvSpPr/>
          <p:nvPr/>
        </p:nvSpPr>
        <p:spPr>
          <a:xfrm>
            <a:off x="6702552" y="4764024"/>
            <a:ext cx="2103120" cy="237744"/>
          </a:xfrm>
          <a:prstGeom prst="rect">
            <a:avLst/>
          </a:prstGeom>
          <a:noFill/>
          <a:ln/>
        </p:spPr>
        <p:txBody>
          <a:bodyPr wrap="square" rtlCol="0" anchor="ctr"/>
          <a:lstStyle/>
          <a:p>
            <a:pPr marL="0" indent="0" algn="ctr">
              <a:buNone/>
            </a:pPr>
            <a:r>
              <a:rPr lang="en-US" sz="1700" b="1" dirty="0">
                <a:solidFill>
                  <a:srgbClr val="00B4D8"/>
                </a:solidFill>
                <a:latin typeface="Calibri" pitchFamily="34" charset="0"/>
                <a:ea typeface="Calibri" pitchFamily="34" charset="-122"/>
                <a:cs typeface="Calibri" pitchFamily="34" charset="-120"/>
              </a:rPr>
              <a:t>↑ 3–5×</a:t>
            </a:r>
            <a:endParaRPr lang="en-US" sz="1700" dirty="0"/>
          </a:p>
        </p:txBody>
      </p:sp>
      <p:sp>
        <p:nvSpPr>
          <p:cNvPr id="66" name="Text 64"/>
          <p:cNvSpPr/>
          <p:nvPr/>
        </p:nvSpPr>
        <p:spPr>
          <a:xfrm>
            <a:off x="6702552" y="5001768"/>
            <a:ext cx="2103120" cy="201168"/>
          </a:xfrm>
          <a:prstGeom prst="rect">
            <a:avLst/>
          </a:prstGeom>
          <a:noFill/>
          <a:ln/>
        </p:spPr>
        <p:txBody>
          <a:bodyPr wrap="square" rtlCol="0" anchor="ctr"/>
          <a:lstStyle/>
          <a:p>
            <a:pPr marL="0" indent="0" algn="ctr">
              <a:buNone/>
            </a:pPr>
            <a:r>
              <a:rPr lang="en-US" sz="750" dirty="0">
                <a:solidFill>
                  <a:srgbClr val="8BAFC8"/>
                </a:solidFill>
                <a:latin typeface="Calibri" pitchFamily="34" charset="0"/>
                <a:ea typeface="Calibri" pitchFamily="34" charset="-122"/>
                <a:cs typeface="Calibri" pitchFamily="34" charset="-120"/>
              </a:rPr>
              <a:t>More designs</a:t>
            </a:r>
            <a:endParaRPr lang="en-US" sz="750" dirty="0"/>
          </a:p>
          <a:p>
            <a:pPr marL="0" indent="0" algn="ctr">
              <a:buNone/>
            </a:pPr>
            <a:r>
              <a:rPr lang="en-US" sz="750" dirty="0">
                <a:solidFill>
                  <a:srgbClr val="8BAFC8"/>
                </a:solidFill>
                <a:latin typeface="Calibri" pitchFamily="34" charset="0"/>
                <a:ea typeface="Calibri" pitchFamily="34" charset="-122"/>
                <a:cs typeface="Calibri" pitchFamily="34" charset="-120"/>
              </a:rPr>
              <a:t>reviewed per sprint</a:t>
            </a:r>
            <a:endParaRPr lang="en-US" sz="750" dirty="0"/>
          </a:p>
        </p:txBody>
      </p:sp>
      <p:sp>
        <p:nvSpPr>
          <p:cNvPr id="67" name="Text 65"/>
          <p:cNvSpPr/>
          <p:nvPr/>
        </p:nvSpPr>
        <p:spPr>
          <a:xfrm>
            <a:off x="228600" y="6629400"/>
            <a:ext cx="8595360" cy="182880"/>
          </a:xfrm>
          <a:prstGeom prst="rect">
            <a:avLst/>
          </a:prstGeom>
          <a:noFill/>
          <a:ln/>
        </p:spPr>
        <p:txBody>
          <a:bodyPr wrap="square" rtlCol="0" anchor="ctr"/>
          <a:lstStyle/>
          <a:p>
            <a:pPr marL="0" indent="0" algn="l">
              <a:buNone/>
            </a:pPr>
            <a:r>
              <a:rPr lang="en-US" sz="700" i="1" dirty="0">
                <a:solidFill>
                  <a:srgbClr val="4A6A85"/>
                </a:solidFill>
                <a:latin typeface="Calibri" pitchFamily="34" charset="0"/>
                <a:ea typeface="Calibri" pitchFamily="34" charset="-122"/>
                <a:cs typeface="Calibri" pitchFamily="34" charset="-120"/>
              </a:rPr>
              <a:t>* Architect rate: $150/hr blended delivery rate. ARBoard does not replace the ARB process or human architects — it accelerates preparation, surfaces risks earlier, and increases endorsement velocity.</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MULTI-AGENT ARCHITECTURE</a:t>
            </a:r>
            <a:endParaRPr lang="en-US" sz="900" dirty="0"/>
          </a:p>
        </p:txBody>
      </p:sp>
      <p:sp>
        <p:nvSpPr>
          <p:cNvPr id="3" name="Text 1"/>
          <p:cNvSpPr/>
          <p:nvPr/>
        </p:nvSpPr>
        <p:spPr>
          <a:xfrm>
            <a:off x="502920" y="594360"/>
            <a:ext cx="8138160" cy="90000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Each agent brings genuine domain expertise — and they disagree</a:t>
            </a:r>
            <a:endParaRPr lang="en-US" sz="2800" dirty="0"/>
          </a:p>
        </p:txBody>
      </p:sp>
      <p:sp>
        <p:nvSpPr>
          <p:cNvPr id="4" name="Shape 2"/>
          <p:cNvSpPr/>
          <p:nvPr/>
        </p:nvSpPr>
        <p:spPr>
          <a:xfrm>
            <a:off x="502920" y="146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365760" y="163160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Text 4"/>
          <p:cNvSpPr/>
          <p:nvPr/>
        </p:nvSpPr>
        <p:spPr>
          <a:xfrm>
            <a:off x="365760" y="174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Designer</a:t>
            </a:r>
            <a:endParaRPr lang="en-US" sz="1200" dirty="0"/>
          </a:p>
        </p:txBody>
      </p:sp>
      <p:sp>
        <p:nvSpPr>
          <p:cNvPr id="7" name="Text 5"/>
          <p:cNvSpPr/>
          <p:nvPr/>
        </p:nvSpPr>
        <p:spPr>
          <a:xfrm>
            <a:off x="365760" y="208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Overall architecture</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and patterns</a:t>
            </a:r>
            <a:endParaRPr lang="en-US" sz="900" dirty="0"/>
          </a:p>
        </p:txBody>
      </p:sp>
      <p:sp>
        <p:nvSpPr>
          <p:cNvPr id="8" name="Shape 6"/>
          <p:cNvSpPr/>
          <p:nvPr/>
        </p:nvSpPr>
        <p:spPr>
          <a:xfrm>
            <a:off x="2057400" y="163160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9" name="Text 7"/>
          <p:cNvSpPr/>
          <p:nvPr/>
        </p:nvSpPr>
        <p:spPr>
          <a:xfrm>
            <a:off x="2057400" y="174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Apex</a:t>
            </a:r>
            <a:endParaRPr lang="en-US" sz="1200" dirty="0"/>
          </a:p>
        </p:txBody>
      </p:sp>
      <p:sp>
        <p:nvSpPr>
          <p:cNvPr id="10" name="Text 8"/>
          <p:cNvSpPr/>
          <p:nvPr/>
        </p:nvSpPr>
        <p:spPr>
          <a:xfrm>
            <a:off x="2057400" y="208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Governor limits,</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triggers, async</a:t>
            </a:r>
            <a:endParaRPr lang="en-US" sz="900" dirty="0"/>
          </a:p>
        </p:txBody>
      </p:sp>
      <p:sp>
        <p:nvSpPr>
          <p:cNvPr id="11" name="Shape 9"/>
          <p:cNvSpPr/>
          <p:nvPr/>
        </p:nvSpPr>
        <p:spPr>
          <a:xfrm>
            <a:off x="3749040" y="163160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2" name="Text 10"/>
          <p:cNvSpPr/>
          <p:nvPr/>
        </p:nvSpPr>
        <p:spPr>
          <a:xfrm>
            <a:off x="3749040" y="174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LWC</a:t>
            </a:r>
            <a:endParaRPr lang="en-US" sz="1200" dirty="0"/>
          </a:p>
        </p:txBody>
      </p:sp>
      <p:sp>
        <p:nvSpPr>
          <p:cNvPr id="13" name="Text 11"/>
          <p:cNvSpPr/>
          <p:nvPr/>
        </p:nvSpPr>
        <p:spPr>
          <a:xfrm>
            <a:off x="3749040" y="208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UI components,</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portal performance</a:t>
            </a:r>
            <a:endParaRPr lang="en-US" sz="900" dirty="0"/>
          </a:p>
        </p:txBody>
      </p:sp>
      <p:sp>
        <p:nvSpPr>
          <p:cNvPr id="14" name="Shape 12"/>
          <p:cNvSpPr/>
          <p:nvPr/>
        </p:nvSpPr>
        <p:spPr>
          <a:xfrm>
            <a:off x="5440680" y="163160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5" name="Text 13"/>
          <p:cNvSpPr/>
          <p:nvPr/>
        </p:nvSpPr>
        <p:spPr>
          <a:xfrm>
            <a:off x="5440680" y="174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Flow</a:t>
            </a:r>
            <a:endParaRPr lang="en-US" sz="1200" dirty="0"/>
          </a:p>
        </p:txBody>
      </p:sp>
      <p:sp>
        <p:nvSpPr>
          <p:cNvPr id="16" name="Text 14"/>
          <p:cNvSpPr/>
          <p:nvPr/>
        </p:nvSpPr>
        <p:spPr>
          <a:xfrm>
            <a:off x="5440680" y="208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Automation,</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declarative logic</a:t>
            </a:r>
            <a:endParaRPr lang="en-US" sz="900" dirty="0"/>
          </a:p>
        </p:txBody>
      </p:sp>
      <p:sp>
        <p:nvSpPr>
          <p:cNvPr id="17" name="Shape 15"/>
          <p:cNvSpPr/>
          <p:nvPr/>
        </p:nvSpPr>
        <p:spPr>
          <a:xfrm>
            <a:off x="7132320" y="163160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8" name="Text 16"/>
          <p:cNvSpPr/>
          <p:nvPr/>
        </p:nvSpPr>
        <p:spPr>
          <a:xfrm>
            <a:off x="7132320" y="174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Integration</a:t>
            </a:r>
            <a:endParaRPr lang="en-US" sz="1200" dirty="0"/>
          </a:p>
        </p:txBody>
      </p:sp>
      <p:sp>
        <p:nvSpPr>
          <p:cNvPr id="19" name="Text 17"/>
          <p:cNvSpPr/>
          <p:nvPr/>
        </p:nvSpPr>
        <p:spPr>
          <a:xfrm>
            <a:off x="7132320" y="208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APIs, events,</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middleware</a:t>
            </a:r>
            <a:endParaRPr lang="en-US" sz="900" dirty="0"/>
          </a:p>
        </p:txBody>
      </p:sp>
      <p:sp>
        <p:nvSpPr>
          <p:cNvPr id="20" name="Shape 18"/>
          <p:cNvSpPr/>
          <p:nvPr/>
        </p:nvSpPr>
        <p:spPr>
          <a:xfrm>
            <a:off x="365760" y="304892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1" name="Text 19"/>
          <p:cNvSpPr/>
          <p:nvPr/>
        </p:nvSpPr>
        <p:spPr>
          <a:xfrm>
            <a:off x="365760" y="315864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Data</a:t>
            </a:r>
            <a:endParaRPr lang="en-US" sz="1200" dirty="0"/>
          </a:p>
        </p:txBody>
      </p:sp>
      <p:sp>
        <p:nvSpPr>
          <p:cNvPr id="22" name="Text 20"/>
          <p:cNvSpPr/>
          <p:nvPr/>
        </p:nvSpPr>
        <p:spPr>
          <a:xfrm>
            <a:off x="365760" y="350612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Schema, volume,</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security model</a:t>
            </a:r>
            <a:endParaRPr lang="en-US" sz="900" dirty="0"/>
          </a:p>
        </p:txBody>
      </p:sp>
      <p:sp>
        <p:nvSpPr>
          <p:cNvPr id="23" name="Shape 21"/>
          <p:cNvSpPr/>
          <p:nvPr/>
        </p:nvSpPr>
        <p:spPr>
          <a:xfrm>
            <a:off x="2057400" y="304892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4" name="Text 22"/>
          <p:cNvSpPr/>
          <p:nvPr/>
        </p:nvSpPr>
        <p:spPr>
          <a:xfrm>
            <a:off x="2057400" y="315864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OmniStudio</a:t>
            </a:r>
            <a:endParaRPr lang="en-US" sz="1200" dirty="0"/>
          </a:p>
        </p:txBody>
      </p:sp>
      <p:sp>
        <p:nvSpPr>
          <p:cNvPr id="25" name="Text 23"/>
          <p:cNvSpPr/>
          <p:nvPr/>
        </p:nvSpPr>
        <p:spPr>
          <a:xfrm>
            <a:off x="2057400" y="350612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Vlocity, DataRaptor,</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OmniScript</a:t>
            </a:r>
            <a:endParaRPr lang="en-US" sz="900" dirty="0"/>
          </a:p>
        </p:txBody>
      </p:sp>
      <p:sp>
        <p:nvSpPr>
          <p:cNvPr id="26" name="Shape 24"/>
          <p:cNvSpPr/>
          <p:nvPr/>
        </p:nvSpPr>
        <p:spPr>
          <a:xfrm>
            <a:off x="3749040" y="304892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7" name="Text 25"/>
          <p:cNvSpPr/>
          <p:nvPr/>
        </p:nvSpPr>
        <p:spPr>
          <a:xfrm>
            <a:off x="3749040" y="315864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Patterns</a:t>
            </a:r>
            <a:endParaRPr lang="en-US" sz="1200" dirty="0"/>
          </a:p>
        </p:txBody>
      </p:sp>
      <p:sp>
        <p:nvSpPr>
          <p:cNvPr id="28" name="Text 26"/>
          <p:cNvSpPr/>
          <p:nvPr/>
        </p:nvSpPr>
        <p:spPr>
          <a:xfrm>
            <a:off x="3749040" y="350612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SI failure patterns,</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anti-patterns</a:t>
            </a:r>
            <a:endParaRPr lang="en-US" sz="900" dirty="0"/>
          </a:p>
        </p:txBody>
      </p:sp>
      <p:sp>
        <p:nvSpPr>
          <p:cNvPr id="29" name="Shape 27"/>
          <p:cNvSpPr/>
          <p:nvPr/>
        </p:nvSpPr>
        <p:spPr>
          <a:xfrm>
            <a:off x="5440680" y="3048920"/>
            <a:ext cx="1554480" cy="1494440"/>
          </a:xfrm>
          <a:prstGeom prst="roundRect">
            <a:avLst>
              <a:gd name="adj" fmla="val 5926"/>
            </a:avLst>
          </a:prstGeom>
          <a:solidFill>
            <a:srgbClr val="0F1E3C"/>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30" name="Text 28"/>
          <p:cNvSpPr/>
          <p:nvPr/>
        </p:nvSpPr>
        <p:spPr>
          <a:xfrm>
            <a:off x="5440680" y="3158648"/>
            <a:ext cx="1554480" cy="32004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Judge</a:t>
            </a:r>
            <a:endParaRPr lang="en-US" sz="1200" dirty="0"/>
          </a:p>
        </p:txBody>
      </p:sp>
      <p:sp>
        <p:nvSpPr>
          <p:cNvPr id="31" name="Text 29"/>
          <p:cNvSpPr/>
          <p:nvPr/>
        </p:nvSpPr>
        <p:spPr>
          <a:xfrm>
            <a:off x="5440680" y="3506120"/>
            <a:ext cx="1554480" cy="640080"/>
          </a:xfrm>
          <a:prstGeom prst="rect">
            <a:avLst/>
          </a:prstGeom>
          <a:noFill/>
          <a:ln/>
        </p:spPr>
        <p:txBody>
          <a:bodyPr wrap="square" rtlCol="0" anchor="t"/>
          <a:lstStyle/>
          <a:p>
            <a:pPr marL="0" indent="0" algn="ctr">
              <a:buNone/>
            </a:pPr>
            <a:r>
              <a:rPr lang="en-US" sz="900" dirty="0">
                <a:solidFill>
                  <a:srgbClr val="A0B8D8"/>
                </a:solidFill>
                <a:latin typeface="Arial" pitchFamily="34" charset="0"/>
                <a:ea typeface="Arial" pitchFamily="34" charset="-122"/>
                <a:cs typeface="Arial" pitchFamily="34" charset="-120"/>
              </a:rPr>
              <a:t>Arbitrates conflicts,</a:t>
            </a:r>
            <a:endParaRPr lang="en-US" sz="900" dirty="0"/>
          </a:p>
          <a:p>
            <a:pPr marL="0" indent="0" algn="ctr">
              <a:buNone/>
            </a:pPr>
            <a:r>
              <a:rPr lang="en-US" sz="900" dirty="0">
                <a:solidFill>
                  <a:srgbClr val="A0B8D8"/>
                </a:solidFill>
                <a:latin typeface="Arial" pitchFamily="34" charset="0"/>
                <a:ea typeface="Arial" pitchFamily="34" charset="-122"/>
                <a:cs typeface="Arial" pitchFamily="34" charset="-120"/>
              </a:rPr>
              <a:t>final verdict</a:t>
            </a:r>
            <a:endParaRPr lang="en-US" sz="900" dirty="0"/>
          </a:p>
        </p:txBody>
      </p:sp>
      <p:sp>
        <p:nvSpPr>
          <p:cNvPr id="32" name="Text 30"/>
          <p:cNvSpPr/>
          <p:nvPr/>
        </p:nvSpPr>
        <p:spPr>
          <a:xfrm>
            <a:off x="502920" y="4740560"/>
            <a:ext cx="8138160" cy="256032"/>
          </a:xfrm>
          <a:prstGeom prst="rect">
            <a:avLst/>
          </a:prstGeom>
          <a:noFill/>
          <a:ln/>
        </p:spPr>
        <p:txBody>
          <a:bodyPr wrap="square" rtlCol="0" anchor="ctr"/>
          <a:lstStyle/>
          <a:p>
            <a:pPr marL="0" indent="0" algn="ctr">
              <a:buNone/>
            </a:pPr>
            <a:r>
              <a:rPr lang="en-US" sz="1000" i="1" dirty="0">
                <a:solidFill>
                  <a:srgbClr val="64635E"/>
                </a:solidFill>
                <a:latin typeface="Arial" pitchFamily="34" charset="0"/>
                <a:ea typeface="Arial" pitchFamily="34" charset="-122"/>
                <a:cs typeface="Arial" pitchFamily="34" charset="-120"/>
              </a:rPr>
              <a:t>Phase 1: Designer (skipped on doc upload) → Phase 2: 8 specialists in sequence → Phase 3: Judge + Scribe + Learner</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64592"/>
            <a:ext cx="8229600" cy="45720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What the ARB Reviews</a:t>
            </a:r>
            <a:endParaRPr lang="en-US" sz="2600" dirty="0"/>
          </a:p>
        </p:txBody>
      </p:sp>
      <p:sp>
        <p:nvSpPr>
          <p:cNvPr id="3" name="Text 1"/>
          <p:cNvSpPr/>
          <p:nvPr/>
        </p:nvSpPr>
        <p:spPr>
          <a:xfrm>
            <a:off x="457200" y="621792"/>
            <a:ext cx="8229600" cy="256032"/>
          </a:xfrm>
          <a:prstGeom prst="rect">
            <a:avLst/>
          </a:prstGeom>
          <a:noFill/>
          <a:ln/>
        </p:spPr>
        <p:txBody>
          <a:bodyPr wrap="square" lIns="0" tIns="0" rIns="0" bIns="0" rtlCol="0" anchor="ctr"/>
          <a:lstStyle/>
          <a:p>
            <a:pPr marL="0" indent="0" algn="l">
              <a:buNone/>
            </a:pPr>
            <a:r>
              <a:rPr lang="en-US" sz="1200" i="1" dirty="0">
                <a:solidFill>
                  <a:srgbClr val="7EB8D4"/>
                </a:solidFill>
                <a:latin typeface="Calibri" pitchFamily="34" charset="0"/>
                <a:ea typeface="Calibri" pitchFamily="34" charset="-122"/>
                <a:cs typeface="Calibri" pitchFamily="34" charset="-120"/>
              </a:rPr>
              <a:t>Coverage across 7 specialist agents — what gets reviewed, what gets flagged</a:t>
            </a:r>
            <a:endParaRPr lang="en-US" sz="1200" dirty="0"/>
          </a:p>
        </p:txBody>
      </p:sp>
      <p:sp>
        <p:nvSpPr>
          <p:cNvPr id="4" name="Shape 2"/>
          <p:cNvSpPr/>
          <p:nvPr/>
        </p:nvSpPr>
        <p:spPr>
          <a:xfrm>
            <a:off x="228600" y="960120"/>
            <a:ext cx="1280160" cy="443484"/>
          </a:xfrm>
          <a:prstGeom prst="rect">
            <a:avLst/>
          </a:prstGeom>
          <a:solidFill>
            <a:srgbClr val="1A3A5C"/>
          </a:solidFill>
          <a:ln w="6350">
            <a:solidFill>
              <a:srgbClr val="1E3A55"/>
            </a:solidFill>
            <a:prstDash val="solid"/>
          </a:ln>
        </p:spPr>
        <p:txBody>
          <a:bodyPr/>
          <a:lstStyle/>
          <a:p>
            <a:endParaRPr lang="en-US"/>
          </a:p>
        </p:txBody>
      </p:sp>
      <p:sp>
        <p:nvSpPr>
          <p:cNvPr id="5" name="Text 3"/>
          <p:cNvSpPr/>
          <p:nvPr/>
        </p:nvSpPr>
        <p:spPr>
          <a:xfrm>
            <a:off x="228600" y="960120"/>
            <a:ext cx="1280160" cy="443484"/>
          </a:xfrm>
          <a:prstGeom prst="rect">
            <a:avLst/>
          </a:prstGeom>
          <a:noFill/>
          <a:ln/>
        </p:spPr>
        <p:txBody>
          <a:bodyPr wrap="square"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Agent</a:t>
            </a:r>
            <a:endParaRPr lang="en-US" sz="1100" dirty="0"/>
          </a:p>
        </p:txBody>
      </p:sp>
      <p:sp>
        <p:nvSpPr>
          <p:cNvPr id="6" name="Shape 4"/>
          <p:cNvSpPr/>
          <p:nvPr/>
        </p:nvSpPr>
        <p:spPr>
          <a:xfrm>
            <a:off x="1508760" y="960120"/>
            <a:ext cx="4297680" cy="443484"/>
          </a:xfrm>
          <a:prstGeom prst="rect">
            <a:avLst/>
          </a:prstGeom>
          <a:solidFill>
            <a:srgbClr val="1A3A5C"/>
          </a:solidFill>
          <a:ln w="6350">
            <a:solidFill>
              <a:srgbClr val="1E3A55"/>
            </a:solidFill>
            <a:prstDash val="solid"/>
          </a:ln>
        </p:spPr>
        <p:txBody>
          <a:bodyPr/>
          <a:lstStyle/>
          <a:p>
            <a:endParaRPr lang="en-US"/>
          </a:p>
        </p:txBody>
      </p:sp>
      <p:sp>
        <p:nvSpPr>
          <p:cNvPr id="7" name="Text 5"/>
          <p:cNvSpPr/>
          <p:nvPr/>
        </p:nvSpPr>
        <p:spPr>
          <a:xfrm>
            <a:off x="1508760" y="960120"/>
            <a:ext cx="4297680" cy="443484"/>
          </a:xfrm>
          <a:prstGeom prst="rect">
            <a:avLst/>
          </a:prstGeom>
          <a:noFill/>
          <a:ln/>
        </p:spPr>
        <p:txBody>
          <a:bodyPr wrap="square"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What It Validates</a:t>
            </a:r>
            <a:endParaRPr lang="en-US" sz="1100" dirty="0"/>
          </a:p>
        </p:txBody>
      </p:sp>
      <p:sp>
        <p:nvSpPr>
          <p:cNvPr id="8" name="Shape 6"/>
          <p:cNvSpPr/>
          <p:nvPr/>
        </p:nvSpPr>
        <p:spPr>
          <a:xfrm>
            <a:off x="5806440" y="960120"/>
            <a:ext cx="3108960" cy="443484"/>
          </a:xfrm>
          <a:prstGeom prst="rect">
            <a:avLst/>
          </a:prstGeom>
          <a:solidFill>
            <a:srgbClr val="1A3A5C"/>
          </a:solidFill>
          <a:ln w="6350">
            <a:solidFill>
              <a:srgbClr val="1E3A55"/>
            </a:solidFill>
            <a:prstDash val="solid"/>
          </a:ln>
        </p:spPr>
        <p:txBody>
          <a:bodyPr/>
          <a:lstStyle/>
          <a:p>
            <a:endParaRPr lang="en-US"/>
          </a:p>
        </p:txBody>
      </p:sp>
      <p:sp>
        <p:nvSpPr>
          <p:cNvPr id="9" name="Text 7"/>
          <p:cNvSpPr/>
          <p:nvPr/>
        </p:nvSpPr>
        <p:spPr>
          <a:xfrm>
            <a:off x="5806440" y="960120"/>
            <a:ext cx="3108960" cy="443484"/>
          </a:xfrm>
          <a:prstGeom prst="rect">
            <a:avLst/>
          </a:prstGeom>
          <a:noFill/>
          <a:ln/>
        </p:spPr>
        <p:txBody>
          <a:bodyPr wrap="square"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Must-Fix Triggers</a:t>
            </a:r>
            <a:endParaRPr lang="en-US" sz="1100" dirty="0"/>
          </a:p>
        </p:txBody>
      </p:sp>
      <p:sp>
        <p:nvSpPr>
          <p:cNvPr id="10" name="Shape 8"/>
          <p:cNvSpPr/>
          <p:nvPr/>
        </p:nvSpPr>
        <p:spPr>
          <a:xfrm>
            <a:off x="228600" y="1403604"/>
            <a:ext cx="1280160" cy="443484"/>
          </a:xfrm>
          <a:prstGeom prst="rect">
            <a:avLst/>
          </a:prstGeom>
          <a:solidFill>
            <a:srgbClr val="0F1B2D"/>
          </a:solidFill>
          <a:ln w="6350">
            <a:solidFill>
              <a:srgbClr val="1E3A55"/>
            </a:solidFill>
            <a:prstDash val="solid"/>
          </a:ln>
        </p:spPr>
        <p:txBody>
          <a:bodyPr/>
          <a:lstStyle/>
          <a:p>
            <a:endParaRPr lang="en-US"/>
          </a:p>
        </p:txBody>
      </p:sp>
      <p:sp>
        <p:nvSpPr>
          <p:cNvPr id="11" name="Text 9"/>
          <p:cNvSpPr/>
          <p:nvPr/>
        </p:nvSpPr>
        <p:spPr>
          <a:xfrm>
            <a:off x="228600" y="1403604"/>
            <a:ext cx="1280160" cy="4434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Designer</a:t>
            </a:r>
            <a:endParaRPr lang="en-US" sz="1100" dirty="0"/>
          </a:p>
        </p:txBody>
      </p:sp>
      <p:sp>
        <p:nvSpPr>
          <p:cNvPr id="12" name="Shape 10"/>
          <p:cNvSpPr/>
          <p:nvPr/>
        </p:nvSpPr>
        <p:spPr>
          <a:xfrm>
            <a:off x="1508760" y="1403604"/>
            <a:ext cx="4297680" cy="443484"/>
          </a:xfrm>
          <a:prstGeom prst="rect">
            <a:avLst/>
          </a:prstGeom>
          <a:solidFill>
            <a:srgbClr val="0F1B2D"/>
          </a:solidFill>
          <a:ln w="6350">
            <a:solidFill>
              <a:srgbClr val="1E3A55"/>
            </a:solidFill>
            <a:prstDash val="solid"/>
          </a:ln>
        </p:spPr>
        <p:txBody>
          <a:bodyPr/>
          <a:lstStyle/>
          <a:p>
            <a:endParaRPr lang="en-US"/>
          </a:p>
        </p:txBody>
      </p:sp>
      <p:sp>
        <p:nvSpPr>
          <p:cNvPr id="13" name="Text 11"/>
          <p:cNvSpPr/>
          <p:nvPr/>
        </p:nvSpPr>
        <p:spPr>
          <a:xfrm>
            <a:off x="1508760" y="1403604"/>
            <a:ext cx="4297680" cy="443484"/>
          </a:xfrm>
          <a:prstGeom prst="rect">
            <a:avLst/>
          </a:prstGeom>
          <a:noFill/>
          <a:ln/>
        </p:spPr>
        <p:txBody>
          <a:bodyPr wrap="square" lIns="50800" tIns="50800" rIns="50800" bIns="50800" rtlCol="0" anchor="ctr"/>
          <a:lstStyle/>
          <a:p>
            <a:pPr marL="0" indent="0" algn="l">
              <a:buNone/>
            </a:pPr>
            <a:r>
              <a:rPr lang="en-US" sz="850" dirty="0">
                <a:solidFill>
                  <a:srgbClr val="8BAFC8"/>
                </a:solidFill>
                <a:latin typeface="Calibri" pitchFamily="34" charset="0"/>
                <a:ea typeface="Calibri" pitchFamily="34" charset="-122"/>
                <a:cs typeface="Calibri" pitchFamily="34" charset="-120"/>
              </a:rPr>
              <a:t>Cloud &amp; license selection · Data model · Security model (OWD → roles → perms) · UX architecture · Automation decision tree · Integration approach · Deployment strategy · Governor limits at volume</a:t>
            </a:r>
            <a:endParaRPr lang="en-US" sz="850" dirty="0"/>
          </a:p>
        </p:txBody>
      </p:sp>
      <p:sp>
        <p:nvSpPr>
          <p:cNvPr id="14" name="Shape 12"/>
          <p:cNvSpPr/>
          <p:nvPr/>
        </p:nvSpPr>
        <p:spPr>
          <a:xfrm>
            <a:off x="5806440" y="1403604"/>
            <a:ext cx="3108960" cy="443484"/>
          </a:xfrm>
          <a:prstGeom prst="rect">
            <a:avLst/>
          </a:prstGeom>
          <a:solidFill>
            <a:srgbClr val="0F1B2D"/>
          </a:solidFill>
          <a:ln w="6350">
            <a:solidFill>
              <a:srgbClr val="1E3A55"/>
            </a:solidFill>
            <a:prstDash val="solid"/>
          </a:ln>
        </p:spPr>
        <p:txBody>
          <a:bodyPr/>
          <a:lstStyle/>
          <a:p>
            <a:endParaRPr lang="en-US"/>
          </a:p>
        </p:txBody>
      </p:sp>
      <p:sp>
        <p:nvSpPr>
          <p:cNvPr id="15" name="Text 13"/>
          <p:cNvSpPr/>
          <p:nvPr/>
        </p:nvSpPr>
        <p:spPr>
          <a:xfrm>
            <a:off x="5806440" y="1403604"/>
            <a:ext cx="3108960" cy="443484"/>
          </a:xfrm>
          <a:prstGeom prst="rect">
            <a:avLst/>
          </a:prstGeom>
          <a:noFill/>
          <a:ln/>
        </p:spPr>
        <p:txBody>
          <a:bodyPr wrap="square" lIns="50800" tIns="50800" rIns="50800" bIns="50800" rtlCol="0" anchor="ctr"/>
          <a:lstStyle/>
          <a:p>
            <a:pPr marL="0" indent="0" algn="l">
              <a:buNone/>
            </a:pPr>
            <a:r>
              <a:rPr lang="en-US" sz="850" dirty="0">
                <a:solidFill>
                  <a:srgbClr val="F87171"/>
                </a:solidFill>
                <a:latin typeface="Calibri" pitchFamily="34" charset="0"/>
                <a:ea typeface="Calibri" pitchFamily="34" charset="-122"/>
                <a:cs typeface="Calibri" pitchFamily="34" charset="-120"/>
              </a:rPr>
              <a:t>Missing security model · Custom objects where standard suffice · Change sets for deployment · Hard-coded IDs or credentials</a:t>
            </a:r>
            <a:endParaRPr lang="en-US" sz="850" dirty="0"/>
          </a:p>
        </p:txBody>
      </p:sp>
      <p:sp>
        <p:nvSpPr>
          <p:cNvPr id="16" name="Shape 14"/>
          <p:cNvSpPr/>
          <p:nvPr/>
        </p:nvSpPr>
        <p:spPr>
          <a:xfrm>
            <a:off x="228600" y="1847088"/>
            <a:ext cx="1280160" cy="443484"/>
          </a:xfrm>
          <a:prstGeom prst="rect">
            <a:avLst/>
          </a:prstGeom>
          <a:solidFill>
            <a:srgbClr val="162435"/>
          </a:solidFill>
          <a:ln w="6350">
            <a:solidFill>
              <a:srgbClr val="1E3A55"/>
            </a:solidFill>
            <a:prstDash val="solid"/>
          </a:ln>
        </p:spPr>
        <p:txBody>
          <a:bodyPr/>
          <a:lstStyle/>
          <a:p>
            <a:endParaRPr lang="en-US"/>
          </a:p>
        </p:txBody>
      </p:sp>
      <p:sp>
        <p:nvSpPr>
          <p:cNvPr id="17" name="Text 15"/>
          <p:cNvSpPr/>
          <p:nvPr/>
        </p:nvSpPr>
        <p:spPr>
          <a:xfrm>
            <a:off x="228600" y="1847088"/>
            <a:ext cx="1280160" cy="4434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LWC</a:t>
            </a:r>
            <a:endParaRPr lang="en-US" sz="1100" dirty="0"/>
          </a:p>
        </p:txBody>
      </p:sp>
      <p:sp>
        <p:nvSpPr>
          <p:cNvPr id="18" name="Shape 16"/>
          <p:cNvSpPr/>
          <p:nvPr/>
        </p:nvSpPr>
        <p:spPr>
          <a:xfrm>
            <a:off x="1508760" y="1847088"/>
            <a:ext cx="4297680" cy="443484"/>
          </a:xfrm>
          <a:prstGeom prst="rect">
            <a:avLst/>
          </a:prstGeom>
          <a:solidFill>
            <a:srgbClr val="162435"/>
          </a:solidFill>
          <a:ln w="6350">
            <a:solidFill>
              <a:srgbClr val="1E3A55"/>
            </a:solidFill>
            <a:prstDash val="solid"/>
          </a:ln>
        </p:spPr>
        <p:txBody>
          <a:bodyPr/>
          <a:lstStyle/>
          <a:p>
            <a:endParaRPr lang="en-US"/>
          </a:p>
        </p:txBody>
      </p:sp>
      <p:sp>
        <p:nvSpPr>
          <p:cNvPr id="19" name="Text 17"/>
          <p:cNvSpPr/>
          <p:nvPr/>
        </p:nvSpPr>
        <p:spPr>
          <a:xfrm>
            <a:off x="1508760" y="1847088"/>
            <a:ext cx="4297680" cy="443484"/>
          </a:xfrm>
          <a:prstGeom prst="rect">
            <a:avLst/>
          </a:prstGeom>
          <a:noFill/>
          <a:ln/>
        </p:spPr>
        <p:txBody>
          <a:bodyPr wrap="square" lIns="50800" tIns="50800" rIns="50800" bIns="50800" rtlCol="0" anchor="ctr"/>
          <a:lstStyle/>
          <a:p>
            <a:pPr marL="0" indent="0" algn="l">
              <a:buNone/>
            </a:pPr>
            <a:r>
              <a:rPr lang="en-US" sz="850" dirty="0">
                <a:solidFill>
                  <a:srgbClr val="8BAFC8"/>
                </a:solidFill>
                <a:latin typeface="Calibri" pitchFamily="34" charset="0"/>
                <a:ea typeface="Calibri" pitchFamily="34" charset="-122"/>
                <a:cs typeface="Calibri" pitchFamily="34" charset="-120"/>
              </a:rPr>
              <a:t>Component decomposition · @wire vs imperative data strategy · Custom events vs LMS scope · State management · SLDS compliance · Performance (lazy load, re-render) · Accessibility · OmniScript vs LWC decision</a:t>
            </a:r>
            <a:endParaRPr lang="en-US" sz="850" dirty="0"/>
          </a:p>
        </p:txBody>
      </p:sp>
      <p:sp>
        <p:nvSpPr>
          <p:cNvPr id="20" name="Shape 18"/>
          <p:cNvSpPr/>
          <p:nvPr/>
        </p:nvSpPr>
        <p:spPr>
          <a:xfrm>
            <a:off x="5806440" y="1847088"/>
            <a:ext cx="3108960" cy="443484"/>
          </a:xfrm>
          <a:prstGeom prst="rect">
            <a:avLst/>
          </a:prstGeom>
          <a:solidFill>
            <a:srgbClr val="162435"/>
          </a:solidFill>
          <a:ln w="6350">
            <a:solidFill>
              <a:srgbClr val="1E3A55"/>
            </a:solidFill>
            <a:prstDash val="solid"/>
          </a:ln>
        </p:spPr>
        <p:txBody>
          <a:bodyPr/>
          <a:lstStyle/>
          <a:p>
            <a:endParaRPr lang="en-US"/>
          </a:p>
        </p:txBody>
      </p:sp>
      <p:sp>
        <p:nvSpPr>
          <p:cNvPr id="21" name="Text 19"/>
          <p:cNvSpPr/>
          <p:nvPr/>
        </p:nvSpPr>
        <p:spPr>
          <a:xfrm>
            <a:off x="5806440" y="1847088"/>
            <a:ext cx="3108960" cy="443484"/>
          </a:xfrm>
          <a:prstGeom prst="rect">
            <a:avLst/>
          </a:prstGeom>
          <a:noFill/>
          <a:ln/>
        </p:spPr>
        <p:txBody>
          <a:bodyPr wrap="square" lIns="50800" tIns="50800" rIns="50800" bIns="50800" rtlCol="0" anchor="ctr"/>
          <a:lstStyle/>
          <a:p>
            <a:pPr marL="0" indent="0" algn="l">
              <a:buNone/>
            </a:pPr>
            <a:r>
              <a:rPr lang="en-US" sz="850" dirty="0">
                <a:solidFill>
                  <a:srgbClr val="F87171"/>
                </a:solidFill>
                <a:latin typeface="Calibri" pitchFamily="34" charset="0"/>
                <a:ea typeface="Calibri" pitchFamily="34" charset="-122"/>
                <a:cs typeface="Calibri" pitchFamily="34" charset="-120"/>
              </a:rPr>
              <a:t>Business logic in UI layer · jQuery or Aura in new builds · Inline styles · Hard-coded IDs</a:t>
            </a:r>
            <a:endParaRPr lang="en-US" sz="850" dirty="0"/>
          </a:p>
        </p:txBody>
      </p:sp>
      <p:sp>
        <p:nvSpPr>
          <p:cNvPr id="22" name="Shape 20"/>
          <p:cNvSpPr/>
          <p:nvPr/>
        </p:nvSpPr>
        <p:spPr>
          <a:xfrm>
            <a:off x="228600" y="2290572"/>
            <a:ext cx="1280160" cy="443484"/>
          </a:xfrm>
          <a:prstGeom prst="rect">
            <a:avLst/>
          </a:prstGeom>
          <a:solidFill>
            <a:srgbClr val="0F1B2D"/>
          </a:solidFill>
          <a:ln w="6350">
            <a:solidFill>
              <a:srgbClr val="1E3A55"/>
            </a:solidFill>
            <a:prstDash val="solid"/>
          </a:ln>
        </p:spPr>
        <p:txBody>
          <a:bodyPr/>
          <a:lstStyle/>
          <a:p>
            <a:endParaRPr lang="en-US"/>
          </a:p>
        </p:txBody>
      </p:sp>
      <p:sp>
        <p:nvSpPr>
          <p:cNvPr id="23" name="Text 21"/>
          <p:cNvSpPr/>
          <p:nvPr/>
        </p:nvSpPr>
        <p:spPr>
          <a:xfrm>
            <a:off x="228600" y="2290572"/>
            <a:ext cx="1280160" cy="4434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Flow</a:t>
            </a:r>
            <a:endParaRPr lang="en-US" sz="1100" dirty="0"/>
          </a:p>
        </p:txBody>
      </p:sp>
      <p:sp>
        <p:nvSpPr>
          <p:cNvPr id="24" name="Shape 22"/>
          <p:cNvSpPr/>
          <p:nvPr/>
        </p:nvSpPr>
        <p:spPr>
          <a:xfrm>
            <a:off x="1508760" y="2290572"/>
            <a:ext cx="4297680" cy="443484"/>
          </a:xfrm>
          <a:prstGeom prst="rect">
            <a:avLst/>
          </a:prstGeom>
          <a:solidFill>
            <a:srgbClr val="0F1B2D"/>
          </a:solidFill>
          <a:ln w="6350">
            <a:solidFill>
              <a:srgbClr val="1E3A55"/>
            </a:solidFill>
            <a:prstDash val="solid"/>
          </a:ln>
        </p:spPr>
        <p:txBody>
          <a:bodyPr/>
          <a:lstStyle/>
          <a:p>
            <a:endParaRPr lang="en-US"/>
          </a:p>
        </p:txBody>
      </p:sp>
      <p:sp>
        <p:nvSpPr>
          <p:cNvPr id="25" name="Text 23"/>
          <p:cNvSpPr/>
          <p:nvPr/>
        </p:nvSpPr>
        <p:spPr>
          <a:xfrm>
            <a:off x="1508760" y="2290572"/>
            <a:ext cx="4297680" cy="443484"/>
          </a:xfrm>
          <a:prstGeom prst="rect">
            <a:avLst/>
          </a:prstGeom>
          <a:noFill/>
          <a:ln/>
        </p:spPr>
        <p:txBody>
          <a:bodyPr wrap="square" lIns="50800" tIns="50800" rIns="50800" bIns="50800" rtlCol="0" anchor="ctr"/>
          <a:lstStyle/>
          <a:p>
            <a:pPr marL="0" indent="0" algn="l">
              <a:buNone/>
            </a:pPr>
            <a:r>
              <a:rPr lang="en-US" sz="850" dirty="0">
                <a:solidFill>
                  <a:srgbClr val="8BAFC8"/>
                </a:solidFill>
                <a:latin typeface="Calibri" pitchFamily="34" charset="0"/>
                <a:ea typeface="Calibri" pitchFamily="34" charset="-122"/>
                <a:cs typeface="Calibri" pitchFamily="34" charset="-120"/>
              </a:rPr>
              <a:t>Flow type selection · Before-save vs after-save · Subflow patterns · Bulk handling (200-record) · Error handling &amp; rollback · Governor limits (CPU/DML) · External callout boundaries · Migration from Process Builder</a:t>
            </a:r>
            <a:endParaRPr lang="en-US" sz="850" dirty="0"/>
          </a:p>
        </p:txBody>
      </p:sp>
      <p:sp>
        <p:nvSpPr>
          <p:cNvPr id="26" name="Shape 24"/>
          <p:cNvSpPr/>
          <p:nvPr/>
        </p:nvSpPr>
        <p:spPr>
          <a:xfrm>
            <a:off x="5806440" y="2290572"/>
            <a:ext cx="3108960" cy="443484"/>
          </a:xfrm>
          <a:prstGeom prst="rect">
            <a:avLst/>
          </a:prstGeom>
          <a:solidFill>
            <a:srgbClr val="0F1B2D"/>
          </a:solidFill>
          <a:ln w="6350">
            <a:solidFill>
              <a:srgbClr val="1E3A55"/>
            </a:solidFill>
            <a:prstDash val="solid"/>
          </a:ln>
        </p:spPr>
        <p:txBody>
          <a:bodyPr/>
          <a:lstStyle/>
          <a:p>
            <a:endParaRPr lang="en-US"/>
          </a:p>
        </p:txBody>
      </p:sp>
      <p:sp>
        <p:nvSpPr>
          <p:cNvPr id="27" name="Text 25"/>
          <p:cNvSpPr/>
          <p:nvPr/>
        </p:nvSpPr>
        <p:spPr>
          <a:xfrm>
            <a:off x="5806440" y="2290572"/>
            <a:ext cx="3108960" cy="443484"/>
          </a:xfrm>
          <a:prstGeom prst="rect">
            <a:avLst/>
          </a:prstGeom>
          <a:noFill/>
          <a:ln/>
        </p:spPr>
        <p:txBody>
          <a:bodyPr wrap="square" lIns="50800" tIns="50800" rIns="50800" bIns="50800" rtlCol="0" anchor="ctr"/>
          <a:lstStyle/>
          <a:p>
            <a:pPr marL="0" indent="0" algn="l">
              <a:buNone/>
            </a:pPr>
            <a:r>
              <a:rPr lang="en-US" sz="850" dirty="0">
                <a:solidFill>
                  <a:srgbClr val="F87171"/>
                </a:solidFill>
                <a:latin typeface="Calibri" pitchFamily="34" charset="0"/>
                <a:ea typeface="Calibri" pitchFamily="34" charset="-122"/>
                <a:cs typeface="Calibri" pitchFamily="34" charset="-120"/>
              </a:rPr>
              <a:t>DML in before-save · No bulk handling · Callouts in Flow without async pattern · Recursive triggers without safeguards</a:t>
            </a:r>
            <a:endParaRPr lang="en-US" sz="850" dirty="0"/>
          </a:p>
        </p:txBody>
      </p:sp>
      <p:sp>
        <p:nvSpPr>
          <p:cNvPr id="28" name="Shape 26"/>
          <p:cNvSpPr/>
          <p:nvPr/>
        </p:nvSpPr>
        <p:spPr>
          <a:xfrm>
            <a:off x="228600" y="2734056"/>
            <a:ext cx="1280160" cy="443484"/>
          </a:xfrm>
          <a:prstGeom prst="rect">
            <a:avLst/>
          </a:prstGeom>
          <a:solidFill>
            <a:srgbClr val="162435"/>
          </a:solidFill>
          <a:ln w="6350">
            <a:solidFill>
              <a:srgbClr val="1E3A55"/>
            </a:solidFill>
            <a:prstDash val="solid"/>
          </a:ln>
        </p:spPr>
        <p:txBody>
          <a:bodyPr/>
          <a:lstStyle/>
          <a:p>
            <a:endParaRPr lang="en-US"/>
          </a:p>
        </p:txBody>
      </p:sp>
      <p:sp>
        <p:nvSpPr>
          <p:cNvPr id="29" name="Text 27"/>
          <p:cNvSpPr/>
          <p:nvPr/>
        </p:nvSpPr>
        <p:spPr>
          <a:xfrm>
            <a:off x="228600" y="2734056"/>
            <a:ext cx="1280160" cy="4434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Apex</a:t>
            </a:r>
            <a:endParaRPr lang="en-US" sz="1100" dirty="0"/>
          </a:p>
        </p:txBody>
      </p:sp>
      <p:sp>
        <p:nvSpPr>
          <p:cNvPr id="30" name="Shape 28"/>
          <p:cNvSpPr/>
          <p:nvPr/>
        </p:nvSpPr>
        <p:spPr>
          <a:xfrm>
            <a:off x="1508760" y="2734056"/>
            <a:ext cx="4297680" cy="443484"/>
          </a:xfrm>
          <a:prstGeom prst="rect">
            <a:avLst/>
          </a:prstGeom>
          <a:solidFill>
            <a:srgbClr val="162435"/>
          </a:solidFill>
          <a:ln w="6350">
            <a:solidFill>
              <a:srgbClr val="1E3A55"/>
            </a:solidFill>
            <a:prstDash val="solid"/>
          </a:ln>
        </p:spPr>
        <p:txBody>
          <a:bodyPr/>
          <a:lstStyle/>
          <a:p>
            <a:endParaRPr lang="en-US"/>
          </a:p>
        </p:txBody>
      </p:sp>
      <p:sp>
        <p:nvSpPr>
          <p:cNvPr id="31" name="Text 29"/>
          <p:cNvSpPr/>
          <p:nvPr/>
        </p:nvSpPr>
        <p:spPr>
          <a:xfrm>
            <a:off x="1508760" y="2734056"/>
            <a:ext cx="4297680" cy="443484"/>
          </a:xfrm>
          <a:prstGeom prst="rect">
            <a:avLst/>
          </a:prstGeom>
          <a:noFill/>
          <a:ln/>
        </p:spPr>
        <p:txBody>
          <a:bodyPr wrap="square" lIns="50800" tIns="50800" rIns="50800" bIns="50800" rtlCol="0" anchor="ctr"/>
          <a:lstStyle/>
          <a:p>
            <a:pPr marL="0" indent="0" algn="l">
              <a:buNone/>
            </a:pPr>
            <a:r>
              <a:rPr lang="en-US" sz="850" dirty="0">
                <a:solidFill>
                  <a:srgbClr val="8BAFC8"/>
                </a:solidFill>
                <a:latin typeface="Calibri" pitchFamily="34" charset="0"/>
                <a:ea typeface="Calibri" pitchFamily="34" charset="-122"/>
                <a:cs typeface="Calibri" pitchFamily="34" charset="-120"/>
              </a:rPr>
              <a:t>Trigger handler framework · Bulkification (SOQL/DML outside loops) · Async mechanism choice (Batch/Queueable/Scheduled) · CRUD/FLS/sharing declarations · Error handling strategy · Test class design &amp; meaningful assertions</a:t>
            </a:r>
            <a:endParaRPr lang="en-US" sz="850" dirty="0"/>
          </a:p>
        </p:txBody>
      </p:sp>
      <p:sp>
        <p:nvSpPr>
          <p:cNvPr id="32" name="Shape 30"/>
          <p:cNvSpPr/>
          <p:nvPr/>
        </p:nvSpPr>
        <p:spPr>
          <a:xfrm>
            <a:off x="5806440" y="2734056"/>
            <a:ext cx="3108960" cy="443484"/>
          </a:xfrm>
          <a:prstGeom prst="rect">
            <a:avLst/>
          </a:prstGeom>
          <a:solidFill>
            <a:srgbClr val="162435"/>
          </a:solidFill>
          <a:ln w="6350">
            <a:solidFill>
              <a:srgbClr val="1E3A55"/>
            </a:solidFill>
            <a:prstDash val="solid"/>
          </a:ln>
        </p:spPr>
        <p:txBody>
          <a:bodyPr/>
          <a:lstStyle/>
          <a:p>
            <a:endParaRPr lang="en-US"/>
          </a:p>
        </p:txBody>
      </p:sp>
      <p:sp>
        <p:nvSpPr>
          <p:cNvPr id="33" name="Text 31"/>
          <p:cNvSpPr/>
          <p:nvPr/>
        </p:nvSpPr>
        <p:spPr>
          <a:xfrm>
            <a:off x="5806440" y="2734056"/>
            <a:ext cx="3108960" cy="443484"/>
          </a:xfrm>
          <a:prstGeom prst="rect">
            <a:avLst/>
          </a:prstGeom>
          <a:noFill/>
          <a:ln/>
        </p:spPr>
        <p:txBody>
          <a:bodyPr wrap="square" lIns="50800" tIns="50800" rIns="50800" bIns="50800" rtlCol="0" anchor="ctr"/>
          <a:lstStyle/>
          <a:p>
            <a:pPr marL="0" indent="0" algn="l">
              <a:buNone/>
            </a:pPr>
            <a:r>
              <a:rPr lang="en-US" sz="850" dirty="0">
                <a:solidFill>
                  <a:srgbClr val="F87171"/>
                </a:solidFill>
                <a:latin typeface="Calibri" pitchFamily="34" charset="0"/>
                <a:ea typeface="Calibri" pitchFamily="34" charset="-122"/>
                <a:cs typeface="Calibri" pitchFamily="34" charset="-120"/>
              </a:rPr>
              <a:t>SOQL/DML in loops · Logic in trigger body · Future→Future chains · Missing sharing declaration · Coverage-only tests</a:t>
            </a:r>
            <a:endParaRPr lang="en-US" sz="850" dirty="0"/>
          </a:p>
        </p:txBody>
      </p:sp>
      <p:sp>
        <p:nvSpPr>
          <p:cNvPr id="34" name="Shape 32"/>
          <p:cNvSpPr/>
          <p:nvPr/>
        </p:nvSpPr>
        <p:spPr>
          <a:xfrm>
            <a:off x="228600" y="3177540"/>
            <a:ext cx="1280160" cy="443484"/>
          </a:xfrm>
          <a:prstGeom prst="rect">
            <a:avLst/>
          </a:prstGeom>
          <a:solidFill>
            <a:srgbClr val="0F1B2D"/>
          </a:solidFill>
          <a:ln w="6350">
            <a:solidFill>
              <a:srgbClr val="1E3A55"/>
            </a:solidFill>
            <a:prstDash val="solid"/>
          </a:ln>
        </p:spPr>
        <p:txBody>
          <a:bodyPr/>
          <a:lstStyle/>
          <a:p>
            <a:endParaRPr lang="en-US"/>
          </a:p>
        </p:txBody>
      </p:sp>
      <p:sp>
        <p:nvSpPr>
          <p:cNvPr id="35" name="Text 33"/>
          <p:cNvSpPr/>
          <p:nvPr/>
        </p:nvSpPr>
        <p:spPr>
          <a:xfrm>
            <a:off x="228600" y="3177540"/>
            <a:ext cx="1280160" cy="4434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Integration</a:t>
            </a:r>
            <a:endParaRPr lang="en-US" sz="1100" dirty="0"/>
          </a:p>
        </p:txBody>
      </p:sp>
      <p:sp>
        <p:nvSpPr>
          <p:cNvPr id="36" name="Shape 34"/>
          <p:cNvSpPr/>
          <p:nvPr/>
        </p:nvSpPr>
        <p:spPr>
          <a:xfrm>
            <a:off x="1508760" y="3177540"/>
            <a:ext cx="4297680" cy="443484"/>
          </a:xfrm>
          <a:prstGeom prst="rect">
            <a:avLst/>
          </a:prstGeom>
          <a:solidFill>
            <a:srgbClr val="0F1B2D"/>
          </a:solidFill>
          <a:ln w="6350">
            <a:solidFill>
              <a:srgbClr val="1E3A55"/>
            </a:solidFill>
            <a:prstDash val="solid"/>
          </a:ln>
        </p:spPr>
        <p:txBody>
          <a:bodyPr/>
          <a:lstStyle/>
          <a:p>
            <a:endParaRPr lang="en-US"/>
          </a:p>
        </p:txBody>
      </p:sp>
      <p:sp>
        <p:nvSpPr>
          <p:cNvPr id="37" name="Text 35"/>
          <p:cNvSpPr/>
          <p:nvPr/>
        </p:nvSpPr>
        <p:spPr>
          <a:xfrm>
            <a:off x="1508760" y="3177540"/>
            <a:ext cx="4297680" cy="443484"/>
          </a:xfrm>
          <a:prstGeom prst="rect">
            <a:avLst/>
          </a:prstGeom>
          <a:noFill/>
          <a:ln/>
        </p:spPr>
        <p:txBody>
          <a:bodyPr wrap="square" lIns="50800" tIns="50800" rIns="50800" bIns="50800" rtlCol="0" anchor="ctr"/>
          <a:lstStyle/>
          <a:p>
            <a:pPr marL="0" indent="0" algn="l">
              <a:buNone/>
            </a:pPr>
            <a:r>
              <a:rPr lang="en-US" sz="850" dirty="0">
                <a:solidFill>
                  <a:srgbClr val="8BAFC8"/>
                </a:solidFill>
                <a:latin typeface="Calibri" pitchFamily="34" charset="0"/>
                <a:ea typeface="Calibri" pitchFamily="34" charset="-122"/>
                <a:cs typeface="Calibri" pitchFamily="34" charset="-120"/>
              </a:rPr>
              <a:t>Pattern selection (REST/Events/CDC/Bulk) · OAuth 2.0 flow appropriateness · Named Credentials usage · mTLS requirement · Idempotency strategy · Retry/dead-letter design · Correlation ID &amp; observability · Governor limit headroom</a:t>
            </a:r>
            <a:endParaRPr lang="en-US" sz="850" dirty="0"/>
          </a:p>
        </p:txBody>
      </p:sp>
      <p:sp>
        <p:nvSpPr>
          <p:cNvPr id="38" name="Shape 36"/>
          <p:cNvSpPr/>
          <p:nvPr/>
        </p:nvSpPr>
        <p:spPr>
          <a:xfrm>
            <a:off x="5806440" y="3177540"/>
            <a:ext cx="3108960" cy="443484"/>
          </a:xfrm>
          <a:prstGeom prst="rect">
            <a:avLst/>
          </a:prstGeom>
          <a:solidFill>
            <a:srgbClr val="0F1B2D"/>
          </a:solidFill>
          <a:ln w="6350">
            <a:solidFill>
              <a:srgbClr val="1E3A55"/>
            </a:solidFill>
            <a:prstDash val="solid"/>
          </a:ln>
        </p:spPr>
        <p:txBody>
          <a:bodyPr/>
          <a:lstStyle/>
          <a:p>
            <a:endParaRPr lang="en-US"/>
          </a:p>
        </p:txBody>
      </p:sp>
      <p:sp>
        <p:nvSpPr>
          <p:cNvPr id="39" name="Text 37"/>
          <p:cNvSpPr/>
          <p:nvPr/>
        </p:nvSpPr>
        <p:spPr>
          <a:xfrm>
            <a:off x="5806440" y="3177540"/>
            <a:ext cx="3108960" cy="443484"/>
          </a:xfrm>
          <a:prstGeom prst="rect">
            <a:avLst/>
          </a:prstGeom>
          <a:noFill/>
          <a:ln/>
        </p:spPr>
        <p:txBody>
          <a:bodyPr wrap="square" lIns="50800" tIns="50800" rIns="50800" bIns="50800" rtlCol="0" anchor="ctr"/>
          <a:lstStyle/>
          <a:p>
            <a:pPr marL="0" indent="0" algn="l">
              <a:buNone/>
            </a:pPr>
            <a:r>
              <a:rPr lang="en-US" sz="850" dirty="0">
                <a:solidFill>
                  <a:srgbClr val="F87171"/>
                </a:solidFill>
                <a:latin typeface="Calibri" pitchFamily="34" charset="0"/>
                <a:ea typeface="Calibri" pitchFamily="34" charset="-122"/>
                <a:cs typeface="Calibri" pitchFamily="34" charset="-120"/>
              </a:rPr>
              <a:t>Hard-coded endpoints or tokens · Sync callouts in triggers on high-volume objects · No retry or dead-letter strategy · OAuth secrets in Custom Metadata</a:t>
            </a:r>
            <a:endParaRPr lang="en-US" sz="850" dirty="0"/>
          </a:p>
        </p:txBody>
      </p:sp>
      <p:sp>
        <p:nvSpPr>
          <p:cNvPr id="40" name="Shape 38"/>
          <p:cNvSpPr/>
          <p:nvPr/>
        </p:nvSpPr>
        <p:spPr>
          <a:xfrm>
            <a:off x="228600" y="3621024"/>
            <a:ext cx="1280160" cy="443484"/>
          </a:xfrm>
          <a:prstGeom prst="rect">
            <a:avLst/>
          </a:prstGeom>
          <a:solidFill>
            <a:srgbClr val="162435"/>
          </a:solidFill>
          <a:ln w="6350">
            <a:solidFill>
              <a:srgbClr val="1E3A55"/>
            </a:solidFill>
            <a:prstDash val="solid"/>
          </a:ln>
        </p:spPr>
        <p:txBody>
          <a:bodyPr/>
          <a:lstStyle/>
          <a:p>
            <a:endParaRPr lang="en-US"/>
          </a:p>
        </p:txBody>
      </p:sp>
      <p:sp>
        <p:nvSpPr>
          <p:cNvPr id="41" name="Text 39"/>
          <p:cNvSpPr/>
          <p:nvPr/>
        </p:nvSpPr>
        <p:spPr>
          <a:xfrm>
            <a:off x="228600" y="3621024"/>
            <a:ext cx="1280160" cy="4434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Patterns</a:t>
            </a:r>
            <a:endParaRPr lang="en-US" sz="1100" dirty="0"/>
          </a:p>
        </p:txBody>
      </p:sp>
      <p:sp>
        <p:nvSpPr>
          <p:cNvPr id="42" name="Shape 40"/>
          <p:cNvSpPr/>
          <p:nvPr/>
        </p:nvSpPr>
        <p:spPr>
          <a:xfrm>
            <a:off x="1508760" y="3621024"/>
            <a:ext cx="4297680" cy="443484"/>
          </a:xfrm>
          <a:prstGeom prst="rect">
            <a:avLst/>
          </a:prstGeom>
          <a:solidFill>
            <a:srgbClr val="162435"/>
          </a:solidFill>
          <a:ln w="6350">
            <a:solidFill>
              <a:srgbClr val="1E3A55"/>
            </a:solidFill>
            <a:prstDash val="solid"/>
          </a:ln>
        </p:spPr>
        <p:txBody>
          <a:bodyPr/>
          <a:lstStyle/>
          <a:p>
            <a:endParaRPr lang="en-US"/>
          </a:p>
        </p:txBody>
      </p:sp>
      <p:sp>
        <p:nvSpPr>
          <p:cNvPr id="43" name="Text 41"/>
          <p:cNvSpPr/>
          <p:nvPr/>
        </p:nvSpPr>
        <p:spPr>
          <a:xfrm>
            <a:off x="1508760" y="3621024"/>
            <a:ext cx="4297680" cy="443484"/>
          </a:xfrm>
          <a:prstGeom prst="rect">
            <a:avLst/>
          </a:prstGeom>
          <a:noFill/>
          <a:ln/>
        </p:spPr>
        <p:txBody>
          <a:bodyPr wrap="square" lIns="50800" tIns="50800" rIns="50800" bIns="50800" rtlCol="0" anchor="ctr"/>
          <a:lstStyle/>
          <a:p>
            <a:pPr marL="0" indent="0" algn="l">
              <a:buNone/>
            </a:pPr>
            <a:r>
              <a:rPr lang="en-US" sz="850" dirty="0">
                <a:solidFill>
                  <a:srgbClr val="8BAFC8"/>
                </a:solidFill>
                <a:latin typeface="Calibri" pitchFamily="34" charset="0"/>
                <a:ea typeface="Calibri" pitchFamily="34" charset="-122"/>
                <a:cs typeface="Calibri" pitchFamily="34" charset="-120"/>
              </a:rPr>
              <a:t>Well-Architected Framework alignment (Trusted/Easy/Adaptable) · Data modeling patterns · LDV &amp; scalability · Security patterns (ABAC, masking) · UI patterns · Over-engineering check · Native vs custom decision</a:t>
            </a:r>
            <a:endParaRPr lang="en-US" sz="850" dirty="0"/>
          </a:p>
        </p:txBody>
      </p:sp>
      <p:sp>
        <p:nvSpPr>
          <p:cNvPr id="44" name="Shape 42"/>
          <p:cNvSpPr/>
          <p:nvPr/>
        </p:nvSpPr>
        <p:spPr>
          <a:xfrm>
            <a:off x="5806440" y="3621024"/>
            <a:ext cx="3108960" cy="443484"/>
          </a:xfrm>
          <a:prstGeom prst="rect">
            <a:avLst/>
          </a:prstGeom>
          <a:solidFill>
            <a:srgbClr val="162435"/>
          </a:solidFill>
          <a:ln w="6350">
            <a:solidFill>
              <a:srgbClr val="1E3A55"/>
            </a:solidFill>
            <a:prstDash val="solid"/>
          </a:ln>
        </p:spPr>
        <p:txBody>
          <a:bodyPr/>
          <a:lstStyle/>
          <a:p>
            <a:endParaRPr lang="en-US"/>
          </a:p>
        </p:txBody>
      </p:sp>
      <p:sp>
        <p:nvSpPr>
          <p:cNvPr id="45" name="Text 43"/>
          <p:cNvSpPr/>
          <p:nvPr/>
        </p:nvSpPr>
        <p:spPr>
          <a:xfrm>
            <a:off x="5806440" y="3621024"/>
            <a:ext cx="3108960" cy="443484"/>
          </a:xfrm>
          <a:prstGeom prst="rect">
            <a:avLst/>
          </a:prstGeom>
          <a:noFill/>
          <a:ln/>
        </p:spPr>
        <p:txBody>
          <a:bodyPr wrap="square" lIns="50800" tIns="50800" rIns="50800" bIns="50800" rtlCol="0" anchor="ctr"/>
          <a:lstStyle/>
          <a:p>
            <a:pPr marL="0" indent="0" algn="l">
              <a:buNone/>
            </a:pPr>
            <a:r>
              <a:rPr lang="en-US" sz="850" dirty="0">
                <a:solidFill>
                  <a:srgbClr val="F87171"/>
                </a:solidFill>
                <a:latin typeface="Calibri" pitchFamily="34" charset="0"/>
                <a:ea typeface="Calibri" pitchFamily="34" charset="-122"/>
                <a:cs typeface="Calibri" pitchFamily="34" charset="-120"/>
              </a:rPr>
              <a:t>Violations of multi-tenancy principles · Custom rebuild of native platform features · LDV patterns ignored at scale</a:t>
            </a:r>
            <a:endParaRPr lang="en-US" sz="850" dirty="0"/>
          </a:p>
        </p:txBody>
      </p:sp>
      <p:sp>
        <p:nvSpPr>
          <p:cNvPr id="46" name="Shape 44"/>
          <p:cNvSpPr/>
          <p:nvPr/>
        </p:nvSpPr>
        <p:spPr>
          <a:xfrm>
            <a:off x="228600" y="4064508"/>
            <a:ext cx="1280160" cy="443484"/>
          </a:xfrm>
          <a:prstGeom prst="rect">
            <a:avLst/>
          </a:prstGeom>
          <a:solidFill>
            <a:srgbClr val="0F1B2D"/>
          </a:solidFill>
          <a:ln w="6350">
            <a:solidFill>
              <a:srgbClr val="1E3A55"/>
            </a:solidFill>
            <a:prstDash val="solid"/>
          </a:ln>
        </p:spPr>
        <p:txBody>
          <a:bodyPr/>
          <a:lstStyle/>
          <a:p>
            <a:endParaRPr lang="en-US"/>
          </a:p>
        </p:txBody>
      </p:sp>
      <p:sp>
        <p:nvSpPr>
          <p:cNvPr id="47" name="Text 45"/>
          <p:cNvSpPr/>
          <p:nvPr/>
        </p:nvSpPr>
        <p:spPr>
          <a:xfrm>
            <a:off x="228600" y="4064508"/>
            <a:ext cx="1280160" cy="4434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Judge</a:t>
            </a:r>
            <a:endParaRPr lang="en-US" sz="1100" dirty="0"/>
          </a:p>
        </p:txBody>
      </p:sp>
      <p:sp>
        <p:nvSpPr>
          <p:cNvPr id="48" name="Shape 46"/>
          <p:cNvSpPr/>
          <p:nvPr/>
        </p:nvSpPr>
        <p:spPr>
          <a:xfrm>
            <a:off x="1508760" y="4064508"/>
            <a:ext cx="4297680" cy="443484"/>
          </a:xfrm>
          <a:prstGeom prst="rect">
            <a:avLst/>
          </a:prstGeom>
          <a:solidFill>
            <a:srgbClr val="0F1B2D"/>
          </a:solidFill>
          <a:ln w="6350">
            <a:solidFill>
              <a:srgbClr val="1E3A55"/>
            </a:solidFill>
            <a:prstDash val="solid"/>
          </a:ln>
        </p:spPr>
        <p:txBody>
          <a:bodyPr/>
          <a:lstStyle/>
          <a:p>
            <a:endParaRPr lang="en-US"/>
          </a:p>
        </p:txBody>
      </p:sp>
      <p:sp>
        <p:nvSpPr>
          <p:cNvPr id="49" name="Text 47"/>
          <p:cNvSpPr/>
          <p:nvPr/>
        </p:nvSpPr>
        <p:spPr>
          <a:xfrm>
            <a:off x="1508760" y="4064508"/>
            <a:ext cx="4297680" cy="443484"/>
          </a:xfrm>
          <a:prstGeom prst="rect">
            <a:avLst/>
          </a:prstGeom>
          <a:noFill/>
          <a:ln/>
        </p:spPr>
        <p:txBody>
          <a:bodyPr wrap="square" lIns="50800" tIns="50800" rIns="50800" bIns="50800" rtlCol="0" anchor="ctr"/>
          <a:lstStyle/>
          <a:p>
            <a:pPr marL="0" indent="0" algn="l">
              <a:buNone/>
            </a:pPr>
            <a:r>
              <a:rPr lang="en-US" sz="850" dirty="0">
                <a:solidFill>
                  <a:srgbClr val="8BAFC8"/>
                </a:solidFill>
                <a:latin typeface="Calibri" pitchFamily="34" charset="0"/>
                <a:ea typeface="Calibri" pitchFamily="34" charset="-122"/>
                <a:cs typeface="Calibri" pitchFamily="34" charset="-120"/>
              </a:rPr>
              <a:t>Cross-cutting risk synthesis · Risk scoring (Tech Debt / Security / Scalability / Maintainability) · Agent quality audit · Diagram vs text consistency · ADR verdict · Points requiring human judgement</a:t>
            </a:r>
            <a:endParaRPr lang="en-US" sz="850" dirty="0"/>
          </a:p>
        </p:txBody>
      </p:sp>
      <p:sp>
        <p:nvSpPr>
          <p:cNvPr id="50" name="Shape 48"/>
          <p:cNvSpPr/>
          <p:nvPr/>
        </p:nvSpPr>
        <p:spPr>
          <a:xfrm>
            <a:off x="5806440" y="4064508"/>
            <a:ext cx="3108960" cy="443484"/>
          </a:xfrm>
          <a:prstGeom prst="rect">
            <a:avLst/>
          </a:prstGeom>
          <a:solidFill>
            <a:srgbClr val="0F1B2D"/>
          </a:solidFill>
          <a:ln w="6350">
            <a:solidFill>
              <a:srgbClr val="1E3A55"/>
            </a:solidFill>
            <a:prstDash val="solid"/>
          </a:ln>
        </p:spPr>
        <p:txBody>
          <a:bodyPr/>
          <a:lstStyle/>
          <a:p>
            <a:endParaRPr lang="en-US"/>
          </a:p>
        </p:txBody>
      </p:sp>
      <p:sp>
        <p:nvSpPr>
          <p:cNvPr id="51" name="Text 49"/>
          <p:cNvSpPr/>
          <p:nvPr/>
        </p:nvSpPr>
        <p:spPr>
          <a:xfrm>
            <a:off x="5806440" y="4064508"/>
            <a:ext cx="3108960" cy="443484"/>
          </a:xfrm>
          <a:prstGeom prst="rect">
            <a:avLst/>
          </a:prstGeom>
          <a:noFill/>
          <a:ln/>
        </p:spPr>
        <p:txBody>
          <a:bodyPr wrap="square" lIns="50800" tIns="50800" rIns="50800" bIns="50800" rtlCol="0" anchor="ctr"/>
          <a:lstStyle/>
          <a:p>
            <a:pPr marL="0" indent="0" algn="l">
              <a:buNone/>
            </a:pPr>
            <a:r>
              <a:rPr lang="en-US" sz="850" dirty="0">
                <a:solidFill>
                  <a:srgbClr val="F87171"/>
                </a:solidFill>
                <a:latin typeface="Calibri" pitchFamily="34" charset="0"/>
                <a:ea typeface="Calibri" pitchFamily="34" charset="-122"/>
                <a:cs typeface="Calibri" pitchFamily="34" charset="-120"/>
              </a:rPr>
              <a:t>Any unmitigated critical risk · Contradictory agent recommendations · Unresolved license or data model assumptions</a:t>
            </a:r>
            <a:endParaRPr lang="en-US" sz="850" dirty="0"/>
          </a:p>
        </p:txBody>
      </p:sp>
      <p:sp>
        <p:nvSpPr>
          <p:cNvPr id="52" name="Text 50"/>
          <p:cNvSpPr/>
          <p:nvPr/>
        </p:nvSpPr>
        <p:spPr>
          <a:xfrm>
            <a:off x="457200" y="4599432"/>
            <a:ext cx="8229600" cy="228600"/>
          </a:xfrm>
          <a:prstGeom prst="rect">
            <a:avLst/>
          </a:prstGeom>
          <a:noFill/>
          <a:ln/>
        </p:spPr>
        <p:txBody>
          <a:bodyPr wrap="square" lIns="0" tIns="0" rIns="0" bIns="0" rtlCol="0" anchor="ctr"/>
          <a:lstStyle/>
          <a:p>
            <a:pPr marL="0" indent="0" algn="l">
              <a:buNone/>
            </a:pPr>
            <a:r>
              <a:rPr lang="en-US" sz="900" i="1" dirty="0">
                <a:solidFill>
                  <a:srgbClr val="4A6A85"/>
                </a:solidFill>
                <a:latin typeface="Calibri" pitchFamily="34" charset="0"/>
                <a:ea typeface="Calibri" pitchFamily="34" charset="-122"/>
                <a:cs typeface="Calibri" pitchFamily="34" charset="-120"/>
              </a:rPr>
              <a:t>Scribe: authors the ADR and implementation checklist  ·  Learner: extracts org-level insights for future sessions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220000"/>
            <a:ext cx="8138160" cy="170000"/>
          </a:xfrm>
          <a:prstGeom prst="rect">
            <a:avLst/>
          </a:prstGeom>
          <a:noFill/>
          <a:ln/>
        </p:spPr>
        <p:txBody>
          <a:bodyPr wrap="square" rtlCol="0" anchor="ctr"/>
          <a:lstStyle/>
          <a:p>
            <a:pPr marL="0" indent="0" algn="l">
              <a:buNone/>
            </a:pPr>
            <a:r>
              <a:rPr lang="en-US" sz="800" b="1" kern="0" spc="300" dirty="0">
                <a:solidFill>
                  <a:srgbClr val="2E6DA4"/>
                </a:solidFill>
                <a:latin typeface="Arial" pitchFamily="34" charset="0"/>
              </a:rPr>
              <a:t>AGENT GROUNDING</a:t>
            </a:r>
          </a:p>
        </p:txBody>
      </p:sp>
      <p:sp>
        <p:nvSpPr>
          <p:cNvPr id="3" name="Text 1"/>
          <p:cNvSpPr/>
          <p:nvPr/>
        </p:nvSpPr>
        <p:spPr>
          <a:xfrm>
            <a:off x="502920" y="380000"/>
            <a:ext cx="8138160" cy="420000"/>
          </a:xfrm>
          <a:prstGeom prst="rect">
            <a:avLst/>
          </a:prstGeom>
          <a:noFill/>
          <a:ln/>
        </p:spPr>
        <p:txBody>
          <a:bodyPr wrap="square" rtlCol="0" anchor="ctr"/>
          <a:lstStyle/>
          <a:p>
            <a:pPr marL="0" indent="0" algn="l">
              <a:buNone/>
            </a:pPr>
            <a:r>
              <a:rPr lang="en-US" sz="2000" b="1" dirty="0">
                <a:solidFill>
                  <a:srgbClr val="1A1A1A"/>
                </a:solidFill>
                <a:latin typeface="Arial" pitchFamily="34" charset="0"/>
              </a:rPr>
              <a:t>Nine grounding layers — every agent, every session</a:t>
            </a:r>
          </a:p>
        </p:txBody>
      </p:sp>
      <p:sp>
        <p:nvSpPr>
          <p:cNvPr id="4" name="Shape 2"/>
          <p:cNvSpPr/>
          <p:nvPr/>
        </p:nvSpPr>
        <p:spPr>
          <a:xfrm>
            <a:off x="502920" y="820000"/>
            <a:ext cx="8138160" cy="0"/>
          </a:xfrm>
          <a:prstGeom prst="line">
            <a:avLst/>
          </a:prstGeom>
          <a:noFill/>
          <a:ln w="9525">
            <a:solidFill>
              <a:srgbClr val="EBEBEB"/>
            </a:solidFill>
            <a:prstDash val="solid"/>
          </a:ln>
        </p:spPr>
        <p:txBody>
          <a:bodyPr/>
          <a:lstStyle/>
          <a:p>
            <a:endParaRPr lang="en-US"/>
          </a:p>
        </p:txBody>
      </p:sp>
      <p:sp>
        <p:nvSpPr>
          <p:cNvPr id="5" name="Row1Bg"/>
          <p:cNvSpPr/>
          <p:nvPr/>
        </p:nvSpPr>
        <p:spPr>
          <a:xfrm>
            <a:off x="502920" y="870000"/>
            <a:ext cx="8138160" cy="490000"/>
          </a:xfrm>
          <a:prstGeom prst="roundRect">
            <a:avLst>
              <a:gd name="adj" fmla="val 11429"/>
            </a:avLst>
          </a:prstGeom>
          <a:solidFill>
            <a:srgbClr val="EBEBEB"/>
          </a:solidFill>
          <a:ln w="6350">
            <a:solidFill>
              <a:srgbClr val="D3D1C7"/>
            </a:solidFill>
            <a:prstDash val="solid"/>
          </a:ln>
        </p:spPr>
        <p:txBody>
          <a:bodyPr/>
          <a:lstStyle/>
          <a:p>
            <a:endParaRPr lang="en-US"/>
          </a:p>
        </p:txBody>
      </p:sp>
      <p:sp>
        <p:nvSpPr>
          <p:cNvPr id="6" name="Row1Circle"/>
          <p:cNvSpPr/>
          <p:nvPr/>
        </p:nvSpPr>
        <p:spPr>
          <a:xfrm>
            <a:off x="658368" y="940000"/>
            <a:ext cx="350000" cy="350000"/>
          </a:xfrm>
          <a:prstGeom prst="ellipse">
            <a:avLst/>
          </a:prstGeom>
          <a:solidFill>
            <a:srgbClr val="0F1E3C"/>
          </a:solidFill>
          <a:ln w="12700">
            <a:solidFill>
              <a:srgbClr val="0F1E3C"/>
            </a:solidFill>
            <a:prstDash val="solid"/>
          </a:ln>
        </p:spPr>
        <p:txBody>
          <a:bodyPr/>
          <a:lstStyle/>
          <a:p>
            <a:endParaRPr lang="en-US"/>
          </a:p>
        </p:txBody>
      </p:sp>
      <p:sp>
        <p:nvSpPr>
          <p:cNvPr id="7" name="Row1Num"/>
          <p:cNvSpPr/>
          <p:nvPr/>
        </p:nvSpPr>
        <p:spPr>
          <a:xfrm>
            <a:off x="658368" y="940000"/>
            <a:ext cx="350000" cy="35000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rPr>
              <a:t>1</a:t>
            </a:r>
          </a:p>
        </p:txBody>
      </p:sp>
      <p:sp>
        <p:nvSpPr>
          <p:cNvPr id="8" name="Row1Title"/>
          <p:cNvSpPr/>
          <p:nvPr/>
        </p:nvSpPr>
        <p:spPr>
          <a:xfrm>
            <a:off x="1100000" y="900000"/>
            <a:ext cx="2926080" cy="210000"/>
          </a:xfrm>
          <a:prstGeom prst="rect">
            <a:avLst/>
          </a:prstGeom>
          <a:noFill/>
          <a:ln/>
        </p:spPr>
        <p:txBody>
          <a:bodyPr wrap="square" rtlCol="0" anchor="ctr"/>
          <a:lstStyle/>
          <a:p>
            <a:pPr marL="0" indent="0">
              <a:buNone/>
            </a:pPr>
            <a:r>
              <a:rPr lang="en-US" sz="1050" b="1" dirty="0">
                <a:solidFill>
                  <a:srgbClr val="0F1E3C"/>
                </a:solidFill>
                <a:latin typeface="Arial" pitchFamily="34" charset="0"/>
              </a:rPr>
              <a:t>Base model knowledge</a:t>
            </a:r>
          </a:p>
        </p:txBody>
      </p:sp>
      <p:sp>
        <p:nvSpPr>
          <p:cNvPr id="9" name="Row1Desc"/>
          <p:cNvSpPr/>
          <p:nvPr/>
        </p:nvSpPr>
        <p:spPr>
          <a:xfrm>
            <a:off x="1100000" y="1100000"/>
            <a:ext cx="7330000" cy="200000"/>
          </a:xfrm>
          <a:prstGeom prst="rect">
            <a:avLst/>
          </a:prstGeom>
          <a:noFill/>
          <a:ln/>
        </p:spPr>
        <p:txBody>
          <a:bodyPr wrap="square" rtlCol="0" anchor="ctr"/>
          <a:lstStyle/>
          <a:p>
            <a:pPr marL="0" indent="0">
              <a:buNone/>
            </a:pPr>
            <a:r>
              <a:rPr lang="en-US" sz="850" dirty="0">
                <a:solidFill>
                  <a:srgbClr val="64635E"/>
                </a:solidFill>
                <a:latin typeface="Arial" pitchFamily="34" charset="0"/>
              </a:rPr>
              <a:t>Claude's training — Salesforce patterns, anti-patterns, best practices</a:t>
            </a:r>
          </a:p>
        </p:txBody>
      </p:sp>
      <p:sp>
        <p:nvSpPr>
          <p:cNvPr id="10" name="Row2Bg"/>
          <p:cNvSpPr/>
          <p:nvPr/>
        </p:nvSpPr>
        <p:spPr>
          <a:xfrm>
            <a:off x="502920" y="1400000"/>
            <a:ext cx="8138160" cy="490000"/>
          </a:xfrm>
          <a:prstGeom prst="roundRect">
            <a:avLst>
              <a:gd name="adj" fmla="val 11429"/>
            </a:avLst>
          </a:prstGeom>
          <a:solidFill>
            <a:srgbClr val="E1F5EE"/>
          </a:solidFill>
          <a:ln w="6350">
            <a:solidFill>
              <a:srgbClr val="D3D1C7"/>
            </a:solidFill>
            <a:prstDash val="solid"/>
          </a:ln>
        </p:spPr>
        <p:txBody>
          <a:bodyPr/>
          <a:lstStyle/>
          <a:p>
            <a:endParaRPr lang="en-US"/>
          </a:p>
        </p:txBody>
      </p:sp>
      <p:sp>
        <p:nvSpPr>
          <p:cNvPr id="11" name="Row2Circle"/>
          <p:cNvSpPr/>
          <p:nvPr/>
        </p:nvSpPr>
        <p:spPr>
          <a:xfrm>
            <a:off x="658368" y="1470000"/>
            <a:ext cx="350000" cy="350000"/>
          </a:xfrm>
          <a:prstGeom prst="ellipse">
            <a:avLst/>
          </a:prstGeom>
          <a:solidFill>
            <a:srgbClr val="0F6E56"/>
          </a:solidFill>
          <a:ln w="12700">
            <a:solidFill>
              <a:srgbClr val="0F6E56"/>
            </a:solidFill>
            <a:prstDash val="solid"/>
          </a:ln>
        </p:spPr>
        <p:txBody>
          <a:bodyPr/>
          <a:lstStyle/>
          <a:p>
            <a:endParaRPr lang="en-US"/>
          </a:p>
        </p:txBody>
      </p:sp>
      <p:sp>
        <p:nvSpPr>
          <p:cNvPr id="12" name="Row2Num"/>
          <p:cNvSpPr/>
          <p:nvPr/>
        </p:nvSpPr>
        <p:spPr>
          <a:xfrm>
            <a:off x="658368" y="1470000"/>
            <a:ext cx="350000" cy="35000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rPr>
              <a:t>2</a:t>
            </a:r>
          </a:p>
        </p:txBody>
      </p:sp>
      <p:sp>
        <p:nvSpPr>
          <p:cNvPr id="13" name="Row2Title"/>
          <p:cNvSpPr/>
          <p:nvPr/>
        </p:nvSpPr>
        <p:spPr>
          <a:xfrm>
            <a:off x="1100000" y="1430000"/>
            <a:ext cx="2926080" cy="210000"/>
          </a:xfrm>
          <a:prstGeom prst="rect">
            <a:avLst/>
          </a:prstGeom>
          <a:noFill/>
          <a:ln/>
        </p:spPr>
        <p:txBody>
          <a:bodyPr wrap="square" rtlCol="0" anchor="ctr"/>
          <a:lstStyle/>
          <a:p>
            <a:pPr marL="0" indent="0">
              <a:buNone/>
            </a:pPr>
            <a:r>
              <a:rPr lang="en-US" sz="1050" b="1" dirty="0">
                <a:solidFill>
                  <a:srgbClr val="0F6E56"/>
                </a:solidFill>
                <a:latin typeface="Arial" pitchFamily="34" charset="0"/>
              </a:rPr>
              <a:t>Static principles</a:t>
            </a:r>
          </a:p>
        </p:txBody>
      </p:sp>
      <p:sp>
        <p:nvSpPr>
          <p:cNvPr id="14" name="Row2Desc"/>
          <p:cNvSpPr/>
          <p:nvPr/>
        </p:nvSpPr>
        <p:spPr>
          <a:xfrm>
            <a:off x="1100000" y="1630000"/>
            <a:ext cx="7330000" cy="200000"/>
          </a:xfrm>
          <a:prstGeom prst="rect">
            <a:avLst/>
          </a:prstGeom>
          <a:noFill/>
          <a:ln/>
        </p:spPr>
        <p:txBody>
          <a:bodyPr wrap="square" rtlCol="0" anchor="ctr"/>
          <a:lstStyle/>
          <a:p>
            <a:pPr marL="0" indent="0">
              <a:buNone/>
            </a:pPr>
            <a:r>
              <a:rPr lang="en-US" sz="850" dirty="0">
                <a:solidFill>
                  <a:srgbClr val="64635E"/>
                </a:solidFill>
                <a:latin typeface="Arial" pitchFamily="34" charset="0"/>
              </a:rPr>
              <a:t>Curated Salesforce Well-Architected principles injected per agent. Zero latency.</a:t>
            </a:r>
          </a:p>
        </p:txBody>
      </p:sp>
      <p:sp>
        <p:nvSpPr>
          <p:cNvPr id="15" name="Row3Bg"/>
          <p:cNvSpPr/>
          <p:nvPr/>
        </p:nvSpPr>
        <p:spPr>
          <a:xfrm>
            <a:off x="502920" y="1930000"/>
            <a:ext cx="8138160" cy="490000"/>
          </a:xfrm>
          <a:prstGeom prst="roundRect">
            <a:avLst>
              <a:gd name="adj" fmla="val 11429"/>
            </a:avLst>
          </a:prstGeom>
          <a:solidFill>
            <a:srgbClr val="FAECE7"/>
          </a:solidFill>
          <a:ln w="6350">
            <a:solidFill>
              <a:srgbClr val="D3D1C7"/>
            </a:solidFill>
            <a:prstDash val="solid"/>
          </a:ln>
        </p:spPr>
        <p:txBody>
          <a:bodyPr/>
          <a:lstStyle/>
          <a:p>
            <a:endParaRPr lang="en-US"/>
          </a:p>
        </p:txBody>
      </p:sp>
      <p:sp>
        <p:nvSpPr>
          <p:cNvPr id="16" name="Row3Circle"/>
          <p:cNvSpPr/>
          <p:nvPr/>
        </p:nvSpPr>
        <p:spPr>
          <a:xfrm>
            <a:off x="658368" y="2000000"/>
            <a:ext cx="350000" cy="350000"/>
          </a:xfrm>
          <a:prstGeom prst="ellipse">
            <a:avLst/>
          </a:prstGeom>
          <a:solidFill>
            <a:srgbClr val="D85A30"/>
          </a:solidFill>
          <a:ln w="12700">
            <a:solidFill>
              <a:srgbClr val="D85A30"/>
            </a:solidFill>
            <a:prstDash val="solid"/>
          </a:ln>
        </p:spPr>
        <p:txBody>
          <a:bodyPr/>
          <a:lstStyle/>
          <a:p>
            <a:endParaRPr lang="en-US"/>
          </a:p>
        </p:txBody>
      </p:sp>
      <p:sp>
        <p:nvSpPr>
          <p:cNvPr id="17" name="Row3Num"/>
          <p:cNvSpPr/>
          <p:nvPr/>
        </p:nvSpPr>
        <p:spPr>
          <a:xfrm>
            <a:off x="658368" y="2000000"/>
            <a:ext cx="350000" cy="35000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rPr>
              <a:t>3</a:t>
            </a:r>
          </a:p>
        </p:txBody>
      </p:sp>
      <p:sp>
        <p:nvSpPr>
          <p:cNvPr id="18" name="Row3Title"/>
          <p:cNvSpPr/>
          <p:nvPr/>
        </p:nvSpPr>
        <p:spPr>
          <a:xfrm>
            <a:off x="1100000" y="1960000"/>
            <a:ext cx="2926080" cy="210000"/>
          </a:xfrm>
          <a:prstGeom prst="rect">
            <a:avLst/>
          </a:prstGeom>
          <a:noFill/>
          <a:ln/>
        </p:spPr>
        <p:txBody>
          <a:bodyPr wrap="square" rtlCol="0" anchor="ctr"/>
          <a:lstStyle/>
          <a:p>
            <a:pPr marL="0" indent="0">
              <a:buNone/>
            </a:pPr>
            <a:r>
              <a:rPr lang="en-US" sz="1050" b="1" dirty="0">
                <a:solidFill>
                  <a:srgbClr val="993C1D"/>
                </a:solidFill>
                <a:latin typeface="Arial" pitchFamily="34" charset="0"/>
              </a:rPr>
              <a:t>SI failure pattern library</a:t>
            </a:r>
          </a:p>
        </p:txBody>
      </p:sp>
      <p:sp>
        <p:nvSpPr>
          <p:cNvPr id="19" name="Row3Desc"/>
          <p:cNvSpPr/>
          <p:nvPr/>
        </p:nvSpPr>
        <p:spPr>
          <a:xfrm>
            <a:off x="1100000" y="2160000"/>
            <a:ext cx="7330000" cy="200000"/>
          </a:xfrm>
          <a:prstGeom prst="rect">
            <a:avLst/>
          </a:prstGeom>
          <a:noFill/>
          <a:ln/>
        </p:spPr>
        <p:txBody>
          <a:bodyPr wrap="square" rtlCol="0" anchor="ctr"/>
          <a:lstStyle/>
          <a:p>
            <a:pPr marL="0" indent="0">
              <a:buNone/>
            </a:pPr>
            <a:r>
              <a:rPr lang="en-US" sz="850" dirty="0">
                <a:solidFill>
                  <a:srgbClr val="64635E"/>
                </a:solidFill>
                <a:latin typeface="Arial" pitchFamily="34" charset="0"/>
              </a:rPr>
              <a:t>Real patterns from past engagements (FP-004 to FP-012). Domain skill files (apex, lwc, flow, data, omni) always loaded per agent. Cross-cutting skills (LDV, async, security, auth, automation) keyword-triggered from document.</a:t>
            </a:r>
          </a:p>
        </p:txBody>
      </p:sp>
      <p:sp>
        <p:nvSpPr>
          <p:cNvPr id="20" name="Row4Bg"/>
          <p:cNvSpPr/>
          <p:nvPr/>
        </p:nvSpPr>
        <p:spPr>
          <a:xfrm>
            <a:off x="502920" y="2460000"/>
            <a:ext cx="8138160" cy="490000"/>
          </a:xfrm>
          <a:prstGeom prst="roundRect">
            <a:avLst>
              <a:gd name="adj" fmla="val 11429"/>
            </a:avLst>
          </a:prstGeom>
          <a:solidFill>
            <a:srgbClr val="FAEEDA"/>
          </a:solidFill>
          <a:ln w="6350">
            <a:solidFill>
              <a:srgbClr val="D3D1C7"/>
            </a:solidFill>
            <a:prstDash val="solid"/>
          </a:ln>
        </p:spPr>
        <p:txBody>
          <a:bodyPr/>
          <a:lstStyle/>
          <a:p>
            <a:endParaRPr lang="en-US"/>
          </a:p>
        </p:txBody>
      </p:sp>
      <p:sp>
        <p:nvSpPr>
          <p:cNvPr id="21" name="Row4Circle"/>
          <p:cNvSpPr/>
          <p:nvPr/>
        </p:nvSpPr>
        <p:spPr>
          <a:xfrm>
            <a:off x="658368" y="2530000"/>
            <a:ext cx="350000" cy="350000"/>
          </a:xfrm>
          <a:prstGeom prst="ellipse">
            <a:avLst/>
          </a:prstGeom>
          <a:solidFill>
            <a:srgbClr val="BA7517"/>
          </a:solidFill>
          <a:ln w="12700">
            <a:solidFill>
              <a:srgbClr val="BA7517"/>
            </a:solidFill>
            <a:prstDash val="solid"/>
          </a:ln>
        </p:spPr>
        <p:txBody>
          <a:bodyPr/>
          <a:lstStyle/>
          <a:p>
            <a:endParaRPr lang="en-US"/>
          </a:p>
        </p:txBody>
      </p:sp>
      <p:sp>
        <p:nvSpPr>
          <p:cNvPr id="22" name="Row4Num"/>
          <p:cNvSpPr/>
          <p:nvPr/>
        </p:nvSpPr>
        <p:spPr>
          <a:xfrm>
            <a:off x="658368" y="2530000"/>
            <a:ext cx="350000" cy="35000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rPr>
              <a:t>4</a:t>
            </a:r>
          </a:p>
        </p:txBody>
      </p:sp>
      <p:sp>
        <p:nvSpPr>
          <p:cNvPr id="23" name="Row4Title"/>
          <p:cNvSpPr/>
          <p:nvPr/>
        </p:nvSpPr>
        <p:spPr>
          <a:xfrm>
            <a:off x="1100000" y="2490000"/>
            <a:ext cx="2926080" cy="210000"/>
          </a:xfrm>
          <a:prstGeom prst="rect">
            <a:avLst/>
          </a:prstGeom>
          <a:noFill/>
          <a:ln/>
        </p:spPr>
        <p:txBody>
          <a:bodyPr wrap="square" rtlCol="0" anchor="ctr"/>
          <a:lstStyle/>
          <a:p>
            <a:pPr marL="0" indent="0">
              <a:buNone/>
            </a:pPr>
            <a:r>
              <a:rPr lang="en-US" sz="1050" b="1" dirty="0">
                <a:solidFill>
                  <a:srgbClr val="BA7517"/>
                </a:solidFill>
                <a:latin typeface="Arial" pitchFamily="34" charset="0"/>
              </a:rPr>
              <a:t>Cross-session memory</a:t>
            </a:r>
          </a:p>
        </p:txBody>
      </p:sp>
      <p:sp>
        <p:nvSpPr>
          <p:cNvPr id="24" name="Row4Desc"/>
          <p:cNvSpPr/>
          <p:nvPr/>
        </p:nvSpPr>
        <p:spPr>
          <a:xfrm>
            <a:off x="1100000" y="2690000"/>
            <a:ext cx="7330000" cy="200000"/>
          </a:xfrm>
          <a:prstGeom prst="rect">
            <a:avLst/>
          </a:prstGeom>
          <a:noFill/>
          <a:ln/>
        </p:spPr>
        <p:txBody>
          <a:bodyPr wrap="square" rtlCol="0" anchor="ctr"/>
          <a:lstStyle/>
          <a:p>
            <a:pPr marL="0" indent="0">
              <a:buNone/>
            </a:pPr>
            <a:r>
              <a:rPr lang="en-US" sz="850" dirty="0">
                <a:solidFill>
                  <a:srgbClr val="64635E"/>
                </a:solidFill>
                <a:latin typeface="Arial" pitchFamily="34" charset="0"/>
              </a:rPr>
              <a:t>Episodic memory — prior agent findings injected into each subsequent agent within the session. Cross-session — past ADR decisions retrieved from Jira. Agents reconcile: resolved, persists, escalated, or contradicted.</a:t>
            </a:r>
          </a:p>
        </p:txBody>
      </p:sp>
      <p:sp>
        <p:nvSpPr>
          <p:cNvPr id="25" name="Row5Bg"/>
          <p:cNvSpPr/>
          <p:nvPr/>
        </p:nvSpPr>
        <p:spPr>
          <a:xfrm>
            <a:off x="502920" y="2990000"/>
            <a:ext cx="8138160" cy="490000"/>
          </a:xfrm>
          <a:prstGeom prst="roundRect">
            <a:avLst>
              <a:gd name="adj" fmla="val 11429"/>
            </a:avLst>
          </a:prstGeom>
          <a:solidFill>
            <a:srgbClr val="EEEDFE"/>
          </a:solidFill>
          <a:ln w="6350">
            <a:solidFill>
              <a:srgbClr val="D3D1C7"/>
            </a:solidFill>
            <a:prstDash val="solid"/>
          </a:ln>
        </p:spPr>
        <p:txBody>
          <a:bodyPr/>
          <a:lstStyle/>
          <a:p>
            <a:endParaRPr lang="en-US"/>
          </a:p>
        </p:txBody>
      </p:sp>
      <p:sp>
        <p:nvSpPr>
          <p:cNvPr id="26" name="Row5Circle"/>
          <p:cNvSpPr/>
          <p:nvPr/>
        </p:nvSpPr>
        <p:spPr>
          <a:xfrm>
            <a:off x="658368" y="3060000"/>
            <a:ext cx="350000" cy="350000"/>
          </a:xfrm>
          <a:prstGeom prst="ellipse">
            <a:avLst/>
          </a:prstGeom>
          <a:solidFill>
            <a:srgbClr val="534AB7"/>
          </a:solidFill>
          <a:ln w="12700">
            <a:solidFill>
              <a:srgbClr val="534AB7"/>
            </a:solidFill>
            <a:prstDash val="solid"/>
          </a:ln>
        </p:spPr>
        <p:txBody>
          <a:bodyPr/>
          <a:lstStyle/>
          <a:p>
            <a:endParaRPr lang="en-US"/>
          </a:p>
        </p:txBody>
      </p:sp>
      <p:sp>
        <p:nvSpPr>
          <p:cNvPr id="27" name="Row5Num"/>
          <p:cNvSpPr/>
          <p:nvPr/>
        </p:nvSpPr>
        <p:spPr>
          <a:xfrm>
            <a:off x="658368" y="3060000"/>
            <a:ext cx="350000" cy="35000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rPr>
              <a:t>5</a:t>
            </a:r>
          </a:p>
        </p:txBody>
      </p:sp>
      <p:sp>
        <p:nvSpPr>
          <p:cNvPr id="28" name="Row5Title"/>
          <p:cNvSpPr/>
          <p:nvPr/>
        </p:nvSpPr>
        <p:spPr>
          <a:xfrm>
            <a:off x="1100000" y="3020000"/>
            <a:ext cx="2926080" cy="210000"/>
          </a:xfrm>
          <a:prstGeom prst="rect">
            <a:avLst/>
          </a:prstGeom>
          <a:noFill/>
          <a:ln/>
        </p:spPr>
        <p:txBody>
          <a:bodyPr wrap="square" rtlCol="0" anchor="ctr"/>
          <a:lstStyle/>
          <a:p>
            <a:pPr marL="0" indent="0">
              <a:buNone/>
            </a:pPr>
            <a:r>
              <a:rPr lang="en-US" sz="1050" b="1" dirty="0">
                <a:solidFill>
                  <a:srgbClr val="3C3489"/>
                </a:solidFill>
                <a:latin typeface="Arial" pitchFamily="34" charset="0"/>
              </a:rPr>
              <a:t>Org intelligence</a:t>
            </a:r>
          </a:p>
        </p:txBody>
      </p:sp>
      <p:sp>
        <p:nvSpPr>
          <p:cNvPr id="29" name="Row5Desc"/>
          <p:cNvSpPr/>
          <p:nvPr/>
        </p:nvSpPr>
        <p:spPr>
          <a:xfrm>
            <a:off x="1100000" y="3220000"/>
            <a:ext cx="7330000" cy="200000"/>
          </a:xfrm>
          <a:prstGeom prst="rect">
            <a:avLst/>
          </a:prstGeom>
          <a:noFill/>
          <a:ln/>
        </p:spPr>
        <p:txBody>
          <a:bodyPr wrap="square" rtlCol="0" anchor="ctr"/>
          <a:lstStyle/>
          <a:p>
            <a:pPr marL="0" indent="0">
              <a:buNone/>
            </a:pPr>
            <a:r>
              <a:rPr lang="en-US" sz="850" dirty="0">
                <a:solidFill>
                  <a:srgbClr val="64635E"/>
                </a:solidFill>
                <a:latin typeface="Arial" pitchFamily="34" charset="0"/>
              </a:rPr>
              <a:t>Org learnings — extracted each session, persisted in Supabase, retrieved in future sessions. Live org context — Salesforce metadata injected via MCP/jsforce when connected (triggers, flows, API version).</a:t>
            </a:r>
          </a:p>
        </p:txBody>
      </p:sp>
      <p:sp>
        <p:nvSpPr>
          <p:cNvPr id="30" name="Footer"/>
          <p:cNvSpPr/>
          <p:nvPr/>
        </p:nvSpPr>
        <p:spPr>
          <a:xfrm>
            <a:off x="502920" y="3550000"/>
            <a:ext cx="8138160" cy="220000"/>
          </a:xfrm>
          <a:prstGeom prst="rect">
            <a:avLst/>
          </a:prstGeom>
          <a:noFill/>
          <a:ln/>
        </p:spPr>
        <p:txBody>
          <a:bodyPr wrap="square" rtlCol="0" anchor="ctr"/>
          <a:lstStyle/>
          <a:p>
            <a:pPr marL="0" indent="0">
              <a:buNone/>
            </a:pPr>
            <a:r>
              <a:rPr lang="en-US" sz="900" b="1" i="1" dirty="0">
                <a:solidFill>
                  <a:srgbClr val="0F6E56"/>
                </a:solidFill>
                <a:latin typeface="Arial" pitchFamily="34" charset="0"/>
              </a:rPr>
              <a:t>Planned: pgvector semantic retrieval — smarter skill and org learning selection. Episodic memory and skills library are live today.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9">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rPr>
              <a:t>CAPABILITIES</a:t>
            </a:r>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rPr>
              <a:t>What ARBoard does today</a:t>
            </a:r>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Card1Bg"/>
          <p:cNvSpPr/>
          <p:nvPr/>
        </p:nvSpPr>
        <p:spPr>
          <a:xfrm>
            <a:off x="411480" y="1325880"/>
            <a:ext cx="2651760" cy="3246120"/>
          </a:xfrm>
          <a:prstGeom prst="roundRect">
            <a:avLst>
              <a:gd name="adj" fmla="val 2759"/>
            </a:avLst>
          </a:prstGeom>
          <a:solidFill>
            <a:srgbClr val="E1F5EE"/>
          </a:solidFill>
          <a:ln w="6350">
            <a:solidFill>
              <a:srgbClr val="D3D1C7"/>
            </a:solidFill>
          </a:ln>
        </p:spPr>
        <p:txBody>
          <a:bodyPr/>
          <a:lstStyle/>
          <a:p>
            <a:endParaRPr lang="en-US"/>
          </a:p>
        </p:txBody>
      </p:sp>
      <p:sp>
        <p:nvSpPr>
          <p:cNvPr id="6" name="Card1Header"/>
          <p:cNvSpPr/>
          <p:nvPr/>
        </p:nvSpPr>
        <p:spPr>
          <a:xfrm>
            <a:off x="411480" y="1325880"/>
            <a:ext cx="2651760" cy="384048"/>
          </a:xfrm>
          <a:prstGeom prst="roundRect">
            <a:avLst>
              <a:gd name="adj" fmla="val 19048"/>
            </a:avLst>
          </a:prstGeom>
          <a:solidFill>
            <a:srgbClr val="0F6E56"/>
          </a:solidFill>
          <a:ln w="12700">
            <a:solidFill>
              <a:srgbClr val="0F6E56"/>
            </a:solidFill>
          </a:ln>
        </p:spPr>
        <p:txBody>
          <a:bodyPr/>
          <a:lstStyle/>
          <a:p>
            <a:endParaRPr lang="en-US"/>
          </a:p>
        </p:txBody>
      </p:sp>
      <p:sp>
        <p:nvSpPr>
          <p:cNvPr id="7" name="Card1Title"/>
          <p:cNvSpPr/>
          <p:nvPr/>
        </p:nvSpPr>
        <p:spPr>
          <a:xfrm>
            <a:off x="411480"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rPr>
              <a:t>Review</a:t>
            </a:r>
          </a:p>
        </p:txBody>
      </p:sp>
      <p:sp>
        <p:nvSpPr>
          <p:cNvPr id="8" name="Card1Items"/>
          <p:cNvSpPr/>
          <p:nvPr/>
        </p:nvSpPr>
        <p:spPr>
          <a:xfrm>
            <a:off x="548640" y="1792224"/>
            <a:ext cx="2377440" cy="2700000"/>
          </a:xfrm>
          <a:prstGeom prst="rect">
            <a:avLst/>
          </a:prstGeom>
          <a:noFill/>
          <a:ln/>
        </p:spPr>
        <p:txBody>
          <a:bodyPr wrap="square" rtlCol="0" anchor="t"/>
          <a:lstStyle/>
          <a:p>
            <a:pPr marL="0" indent="0">
              <a:buNone/>
            </a:pPr>
            <a:r>
              <a:rPr lang="en-US" sz="950" b="1" dirty="0">
                <a:solidFill>
                  <a:srgbClr val="0F6E56"/>
                </a:solidFill>
                <a:latin typeface="Arial" pitchFamily="34" charset="0"/>
              </a:rPr>
              <a:t xml:space="preserve">→  </a:t>
            </a:r>
            <a:r>
              <a:rPr lang="en-US" sz="950" dirty="0">
                <a:solidFill>
                  <a:srgbClr val="1A1A1A"/>
                </a:solidFill>
                <a:latin typeface="Arial" pitchFamily="34" charset="0"/>
              </a:rPr>
              <a:t>Mode 1: Document Review (upload SDD)</a:t>
            </a:r>
          </a:p>
          <a:p>
            <a:pPr marL="0" indent="0">
              <a:buNone/>
            </a:pPr>
            <a:r>
              <a:rPr lang="en-US" sz="950" b="1" dirty="0">
                <a:solidFill>
                  <a:srgbClr val="0F6E56"/>
                </a:solidFill>
                <a:latin typeface="Arial" pitchFamily="34" charset="0"/>
              </a:rPr>
              <a:t xml:space="preserve">→  </a:t>
            </a:r>
            <a:r>
              <a:rPr lang="en-US" sz="950" dirty="0">
                <a:solidFill>
                  <a:srgbClr val="1A1A1A"/>
                </a:solidFill>
                <a:latin typeface="Arial" pitchFamily="34" charset="0"/>
              </a:rPr>
              <a:t>Mode 2: Greenfield Design (requirement text)</a:t>
            </a:r>
          </a:p>
          <a:p>
            <a:pPr marL="0" indent="0">
              <a:buNone/>
            </a:pPr>
            <a:r>
              <a:rPr lang="en-US" sz="950" b="1" dirty="0">
                <a:solidFill>
                  <a:srgbClr val="0F6E56"/>
                </a:solidFill>
                <a:latin typeface="Arial" pitchFamily="34" charset="0"/>
              </a:rPr>
              <a:t xml:space="preserve">→  </a:t>
            </a:r>
            <a:r>
              <a:rPr lang="en-US" sz="950" dirty="0">
                <a:solidFill>
                  <a:srgbClr val="1A1A1A"/>
                </a:solidFill>
                <a:latin typeface="Arial" pitchFamily="34" charset="0"/>
              </a:rPr>
              <a:t>Mode 3: Debate My Approach (critique free text)</a:t>
            </a:r>
          </a:p>
          <a:p>
            <a:pPr marL="0" indent="0">
              <a:buNone/>
            </a:pPr>
            <a:r>
              <a:rPr lang="en-US" sz="950" b="1" dirty="0">
                <a:solidFill>
                  <a:srgbClr val="0F6E56"/>
                </a:solidFill>
                <a:latin typeface="Arial" pitchFamily="34" charset="0"/>
              </a:rPr>
              <a:t xml:space="preserve">→  </a:t>
            </a:r>
            <a:r>
              <a:rPr lang="en-US" sz="950" dirty="0">
                <a:solidFill>
                  <a:srgbClr val="1A1A1A"/>
                </a:solidFill>
                <a:latin typeface="Arial" pitchFamily="34" charset="0"/>
              </a:rPr>
              <a:t>9 specialist agents review in sequence</a:t>
            </a:r>
          </a:p>
          <a:p>
            <a:pPr marL="0" indent="0">
              <a:buNone/>
            </a:pPr>
            <a:r>
              <a:rPr lang="en-US" sz="950" b="1" dirty="0">
                <a:solidFill>
                  <a:srgbClr val="0F6E56"/>
                </a:solidFill>
                <a:latin typeface="Arial" pitchFamily="34" charset="0"/>
              </a:rPr>
              <a:t xml:space="preserve">→  </a:t>
            </a:r>
            <a:r>
              <a:rPr lang="en-US" sz="950" dirty="0">
                <a:solidFill>
                  <a:srgbClr val="1A1A1A"/>
                </a:solidFill>
                <a:latin typeface="Arial" pitchFamily="34" charset="0"/>
              </a:rPr>
              <a:t>Judge arbitrates + confidence score</a:t>
            </a:r>
          </a:p>
          <a:p>
            <a:pPr marL="0" indent="0">
              <a:buNone/>
            </a:pPr>
            <a:r>
              <a:rPr lang="en-US" sz="950" b="1" dirty="0">
                <a:solidFill>
                  <a:srgbClr val="0F6E56"/>
                </a:solidFill>
                <a:latin typeface="Arial" pitchFamily="34" charset="0"/>
              </a:rPr>
              <a:t xml:space="preserve">→  </a:t>
            </a:r>
            <a:r>
              <a:rPr lang="en-US" sz="950" dirty="0">
                <a:solidFill>
                  <a:srgbClr val="1A1A1A"/>
                </a:solidFill>
                <a:latin typeface="Arial" pitchFamily="34" charset="0"/>
              </a:rPr>
              <a:t>Smart agent selection (Impact Analyser)</a:t>
            </a:r>
          </a:p>
        </p:txBody>
      </p:sp>
      <p:sp>
        <p:nvSpPr>
          <p:cNvPr id="9" name="Card2Bg"/>
          <p:cNvSpPr/>
          <p:nvPr/>
        </p:nvSpPr>
        <p:spPr>
          <a:xfrm>
            <a:off x="3227832" y="1325880"/>
            <a:ext cx="2651760" cy="3246120"/>
          </a:xfrm>
          <a:prstGeom prst="roundRect">
            <a:avLst>
              <a:gd name="adj" fmla="val 2759"/>
            </a:avLst>
          </a:prstGeom>
          <a:solidFill>
            <a:srgbClr val="EBF2FA"/>
          </a:solidFill>
          <a:ln w="6350">
            <a:solidFill>
              <a:srgbClr val="D3D1C7"/>
            </a:solidFill>
          </a:ln>
        </p:spPr>
        <p:txBody>
          <a:bodyPr/>
          <a:lstStyle/>
          <a:p>
            <a:endParaRPr lang="en-US"/>
          </a:p>
        </p:txBody>
      </p:sp>
      <p:sp>
        <p:nvSpPr>
          <p:cNvPr id="10" name="Card2Header"/>
          <p:cNvSpPr/>
          <p:nvPr/>
        </p:nvSpPr>
        <p:spPr>
          <a:xfrm>
            <a:off x="3227832" y="1325880"/>
            <a:ext cx="2651760" cy="384048"/>
          </a:xfrm>
          <a:prstGeom prst="roundRect">
            <a:avLst>
              <a:gd name="adj" fmla="val 19048"/>
            </a:avLst>
          </a:prstGeom>
          <a:solidFill>
            <a:srgbClr val="1B4F9B"/>
          </a:solidFill>
          <a:ln w="12700">
            <a:solidFill>
              <a:srgbClr val="1B4F9B"/>
            </a:solidFill>
          </a:ln>
        </p:spPr>
        <p:txBody>
          <a:bodyPr/>
          <a:lstStyle/>
          <a:p>
            <a:endParaRPr lang="en-US"/>
          </a:p>
        </p:txBody>
      </p:sp>
      <p:sp>
        <p:nvSpPr>
          <p:cNvPr id="11" name="Card2Title"/>
          <p:cNvSpPr/>
          <p:nvPr/>
        </p:nvSpPr>
        <p:spPr>
          <a:xfrm>
            <a:off x="3227832"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rPr>
              <a:t>Memory &amp; Grounding</a:t>
            </a:r>
          </a:p>
        </p:txBody>
      </p:sp>
      <p:sp>
        <p:nvSpPr>
          <p:cNvPr id="12" name="Card2Items"/>
          <p:cNvSpPr/>
          <p:nvPr/>
        </p:nvSpPr>
        <p:spPr>
          <a:xfrm>
            <a:off x="3364992" y="1792224"/>
            <a:ext cx="2377440" cy="2700000"/>
          </a:xfrm>
          <a:prstGeom prst="rect">
            <a:avLst/>
          </a:prstGeom>
          <a:noFill/>
          <a:ln/>
        </p:spPr>
        <p:txBody>
          <a:bodyPr wrap="square" rtlCol="0" anchor="t"/>
          <a:lstStyle/>
          <a:p>
            <a:pPr marL="0" indent="0">
              <a:buNone/>
            </a:pPr>
            <a:r>
              <a:rPr lang="en-US" sz="950" b="1" dirty="0">
                <a:solidFill>
                  <a:srgbClr val="1B4F9B"/>
                </a:solidFill>
                <a:latin typeface="Arial" pitchFamily="34" charset="0"/>
              </a:rPr>
              <a:t xml:space="preserve">→  </a:t>
            </a:r>
            <a:r>
              <a:rPr lang="en-US" sz="950" dirty="0">
                <a:solidFill>
                  <a:srgbClr val="1A1A1A"/>
                </a:solidFill>
                <a:latin typeface="Arial" pitchFamily="34" charset="0"/>
              </a:rPr>
              <a:t>Cross-session Jira memory</a:t>
            </a:r>
          </a:p>
          <a:p>
            <a:pPr marL="0" indent="0">
              <a:buNone/>
            </a:pPr>
            <a:r>
              <a:rPr lang="en-US" sz="950" b="1" dirty="0">
                <a:solidFill>
                  <a:srgbClr val="1B4F9B"/>
                </a:solidFill>
                <a:latin typeface="Arial" pitchFamily="34" charset="0"/>
              </a:rPr>
              <a:t xml:space="preserve">→  </a:t>
            </a:r>
            <a:r>
              <a:rPr lang="en-US" sz="950" dirty="0">
                <a:solidFill>
                  <a:srgbClr val="1A1A1A"/>
                </a:solidFill>
                <a:latin typeface="Arial" pitchFamily="34" charset="0"/>
              </a:rPr>
              <a:t>Prior ADR reconciliation (RESOLVED / PERSISTS)</a:t>
            </a:r>
          </a:p>
          <a:p>
            <a:pPr marL="0" indent="0">
              <a:buNone/>
            </a:pPr>
            <a:r>
              <a:rPr lang="en-US" sz="950" b="1" dirty="0">
                <a:solidFill>
                  <a:srgbClr val="1B4F9B"/>
                </a:solidFill>
                <a:latin typeface="Arial" pitchFamily="34" charset="0"/>
              </a:rPr>
              <a:t xml:space="preserve">→  </a:t>
            </a:r>
            <a:r>
              <a:rPr lang="en-US" sz="950" dirty="0">
                <a:solidFill>
                  <a:srgbClr val="1A1A1A"/>
                </a:solidFill>
                <a:latin typeface="Arial" pitchFamily="34" charset="0"/>
              </a:rPr>
              <a:t>SI failure pattern library (FP-004 to FP-012)</a:t>
            </a:r>
          </a:p>
          <a:p>
            <a:pPr marL="0" indent="0">
              <a:buNone/>
            </a:pPr>
            <a:r>
              <a:rPr lang="en-US" sz="950" b="1" dirty="0">
                <a:solidFill>
                  <a:srgbClr val="1B4F9B"/>
                </a:solidFill>
                <a:latin typeface="Arial" pitchFamily="34" charset="0"/>
              </a:rPr>
              <a:t xml:space="preserve">→  </a:t>
            </a:r>
            <a:r>
              <a:rPr lang="en-US" sz="950" dirty="0">
                <a:solidFill>
                  <a:srgbClr val="1A1A1A"/>
                </a:solidFill>
                <a:latin typeface="Arial" pitchFamily="34" charset="0"/>
              </a:rPr>
              <a:t>Salesforce Well-Architected principles</a:t>
            </a:r>
          </a:p>
          <a:p>
            <a:pPr marL="0" indent="0">
              <a:buNone/>
            </a:pPr>
            <a:r>
              <a:rPr lang="en-US" sz="950" b="1" dirty="0">
                <a:solidFill>
                  <a:srgbClr val="1B4F9B"/>
                </a:solidFill>
                <a:latin typeface="Arial" pitchFamily="34" charset="0"/>
              </a:rPr>
              <a:t xml:space="preserve">→  </a:t>
            </a:r>
            <a:r>
              <a:rPr lang="en-US" sz="950" dirty="0">
                <a:solidFill>
                  <a:srgbClr val="1A1A1A"/>
                </a:solidFill>
                <a:latin typeface="Arial" pitchFamily="34" charset="0"/>
              </a:rPr>
              <a:t>Live Salesforce org metadata injection</a:t>
            </a:r>
          </a:p>
          <a:p>
            <a:pPr marL="0" indent="0">
              <a:buNone/>
            </a:pPr>
            <a:r>
              <a:rPr lang="en-US" sz="950" b="1" dirty="0">
                <a:solidFill>
                  <a:srgbClr val="1B4F9B"/>
                </a:solidFill>
                <a:latin typeface="Arial" pitchFamily="34" charset="0"/>
              </a:rPr>
              <a:t xml:space="preserve">→  </a:t>
            </a:r>
            <a:r>
              <a:rPr lang="en-US" sz="950" dirty="0">
                <a:solidFill>
                  <a:srgbClr val="1A1A1A"/>
                </a:solidFill>
                <a:latin typeface="Arial" pitchFamily="34" charset="0"/>
              </a:rPr>
              <a:t>Contradiction detection across sessions</a:t>
            </a:r>
          </a:p>
        </p:txBody>
      </p:sp>
      <p:sp>
        <p:nvSpPr>
          <p:cNvPr id="13" name="Card3Bg"/>
          <p:cNvSpPr/>
          <p:nvPr/>
        </p:nvSpPr>
        <p:spPr>
          <a:xfrm>
            <a:off x="6044184" y="1325880"/>
            <a:ext cx="2651760" cy="3246120"/>
          </a:xfrm>
          <a:prstGeom prst="roundRect">
            <a:avLst>
              <a:gd name="adj" fmla="val 2759"/>
            </a:avLst>
          </a:prstGeom>
          <a:solidFill>
            <a:srgbClr val="FAEEDA"/>
          </a:solidFill>
          <a:ln w="6350">
            <a:solidFill>
              <a:srgbClr val="D3D1C7"/>
            </a:solidFill>
          </a:ln>
        </p:spPr>
        <p:txBody>
          <a:bodyPr/>
          <a:lstStyle/>
          <a:p>
            <a:endParaRPr lang="en-US"/>
          </a:p>
        </p:txBody>
      </p:sp>
      <p:sp>
        <p:nvSpPr>
          <p:cNvPr id="14" name="Card3Header"/>
          <p:cNvSpPr/>
          <p:nvPr/>
        </p:nvSpPr>
        <p:spPr>
          <a:xfrm>
            <a:off x="6044184" y="1325880"/>
            <a:ext cx="2651760" cy="384048"/>
          </a:xfrm>
          <a:prstGeom prst="roundRect">
            <a:avLst>
              <a:gd name="adj" fmla="val 19048"/>
            </a:avLst>
          </a:prstGeom>
          <a:solidFill>
            <a:srgbClr val="BA7517"/>
          </a:solidFill>
          <a:ln w="12700">
            <a:solidFill>
              <a:srgbClr val="BA7517"/>
            </a:solidFill>
          </a:ln>
        </p:spPr>
        <p:txBody>
          <a:bodyPr/>
          <a:lstStyle/>
          <a:p>
            <a:endParaRPr lang="en-US"/>
          </a:p>
        </p:txBody>
      </p:sp>
      <p:sp>
        <p:nvSpPr>
          <p:cNvPr id="15" name="Card3Title"/>
          <p:cNvSpPr/>
          <p:nvPr/>
        </p:nvSpPr>
        <p:spPr>
          <a:xfrm>
            <a:off x="6044184"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rPr>
              <a:t>Output &amp; Workflow</a:t>
            </a:r>
          </a:p>
        </p:txBody>
      </p:sp>
      <p:sp>
        <p:nvSpPr>
          <p:cNvPr id="16" name="Card3Items"/>
          <p:cNvSpPr/>
          <p:nvPr/>
        </p:nvSpPr>
        <p:spPr>
          <a:xfrm>
            <a:off x="6181344" y="1792224"/>
            <a:ext cx="2377440" cy="2700000"/>
          </a:xfrm>
          <a:prstGeom prst="rect">
            <a:avLst/>
          </a:prstGeom>
          <a:noFill/>
          <a:ln/>
        </p:spPr>
        <p:txBody>
          <a:bodyPr wrap="square" rtlCol="0" anchor="t"/>
          <a:lstStyle/>
          <a:p>
            <a:pPr marL="0" indent="0">
              <a:buNone/>
            </a:pPr>
            <a:r>
              <a:rPr lang="en-US" sz="950" b="1" dirty="0">
                <a:solidFill>
                  <a:srgbClr val="BA7517"/>
                </a:solidFill>
                <a:latin typeface="Arial" pitchFamily="34" charset="0"/>
              </a:rPr>
              <a:t xml:space="preserve">→  </a:t>
            </a:r>
            <a:r>
              <a:rPr lang="en-US" sz="950" dirty="0">
                <a:solidFill>
                  <a:srgbClr val="1A1A1A"/>
                </a:solidFill>
                <a:latin typeface="Arial" pitchFamily="34" charset="0"/>
              </a:rPr>
              <a:t>Formal ADR output per session</a:t>
            </a:r>
          </a:p>
          <a:p>
            <a:pPr marL="0" indent="0">
              <a:buNone/>
            </a:pPr>
            <a:r>
              <a:rPr lang="en-US" sz="950" b="1" dirty="0">
                <a:solidFill>
                  <a:srgbClr val="BA7517"/>
                </a:solidFill>
                <a:latin typeface="Arial" pitchFamily="34" charset="0"/>
              </a:rPr>
              <a:t xml:space="preserve">→  </a:t>
            </a:r>
            <a:r>
              <a:rPr lang="en-US" sz="950" dirty="0">
                <a:solidFill>
                  <a:srgbClr val="1A1A1A"/>
                </a:solidFill>
                <a:latin typeface="Arial" pitchFamily="34" charset="0"/>
              </a:rPr>
              <a:t>Jira ticket creation (ARBOARD project)</a:t>
            </a:r>
          </a:p>
          <a:p>
            <a:pPr marL="0" indent="0">
              <a:buNone/>
            </a:pPr>
            <a:r>
              <a:rPr lang="en-US" sz="950" b="1" dirty="0">
                <a:solidFill>
                  <a:srgbClr val="BA7517"/>
                </a:solidFill>
                <a:latin typeface="Arial" pitchFamily="34" charset="0"/>
              </a:rPr>
              <a:t xml:space="preserve">→  </a:t>
            </a:r>
            <a:r>
              <a:rPr lang="en-US" sz="950" dirty="0">
                <a:solidFill>
                  <a:srgbClr val="1A1A1A"/>
                </a:solidFill>
                <a:latin typeface="Arial" pitchFamily="34" charset="0"/>
              </a:rPr>
              <a:t>Endorsement review panel</a:t>
            </a:r>
          </a:p>
          <a:p>
            <a:pPr marL="0" indent="0">
              <a:buNone/>
            </a:pPr>
            <a:r>
              <a:rPr lang="en-US" sz="950" b="1" dirty="0">
                <a:solidFill>
                  <a:srgbClr val="BA7517"/>
                </a:solidFill>
                <a:latin typeface="Arial" pitchFamily="34" charset="0"/>
              </a:rPr>
              <a:t xml:space="preserve">→  </a:t>
            </a:r>
            <a:r>
              <a:rPr lang="en-US" sz="950" dirty="0">
                <a:solidFill>
                  <a:srgbClr val="1A1A1A"/>
                </a:solidFill>
                <a:latin typeface="Arial" pitchFamily="34" charset="0"/>
              </a:rPr>
              <a:t>Human countersign + Jira assign</a:t>
            </a:r>
          </a:p>
          <a:p>
            <a:pPr marL="0" indent="0">
              <a:buNone/>
            </a:pPr>
            <a:r>
              <a:rPr lang="en-US" sz="950" b="1" dirty="0">
                <a:solidFill>
                  <a:srgbClr val="BA7517"/>
                </a:solidFill>
                <a:latin typeface="Arial" pitchFamily="34" charset="0"/>
              </a:rPr>
              <a:t xml:space="preserve">→  </a:t>
            </a:r>
            <a:r>
              <a:rPr lang="en-US" sz="950" dirty="0">
                <a:solidFill>
                  <a:srgbClr val="1A1A1A"/>
                </a:solidFill>
                <a:latin typeface="Arial" pitchFamily="34" charset="0"/>
              </a:rPr>
              <a:t>Supabase audit trail + cost analytics</a:t>
            </a:r>
          </a:p>
          <a:p>
            <a:pPr marL="0" indent="0">
              <a:buNone/>
            </a:pPr>
            <a:r>
              <a:rPr lang="en-US" sz="950" b="1" dirty="0">
                <a:solidFill>
                  <a:srgbClr val="BA7517"/>
                </a:solidFill>
                <a:latin typeface="Arial" pitchFamily="34" charset="0"/>
              </a:rPr>
              <a:t xml:space="preserve">→  </a:t>
            </a:r>
            <a:r>
              <a:rPr lang="en-US" sz="950" dirty="0">
                <a:solidFill>
                  <a:srgbClr val="1A1A1A"/>
                </a:solidFill>
                <a:latin typeface="Arial" pitchFamily="34" charset="0"/>
              </a:rPr>
              <a:t>~$0.08 per full session (optimised)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SYSTEM ARCHITECTURE</a:t>
            </a:r>
            <a:endParaRPr lang="en-US" sz="900" dirty="0"/>
          </a:p>
        </p:txBody>
      </p:sp>
      <p:sp>
        <p:nvSpPr>
          <p:cNvPr id="3" name="Text 1"/>
          <p:cNvSpPr/>
          <p:nvPr/>
        </p:nvSpPr>
        <p:spPr>
          <a:xfrm>
            <a:off x="502920" y="594360"/>
            <a:ext cx="8138160" cy="90000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Every user action maps to a deliberate backend decision</a:t>
            </a:r>
            <a:endParaRPr lang="en-US" sz="2800" dirty="0"/>
          </a:p>
        </p:txBody>
      </p:sp>
      <p:sp>
        <p:nvSpPr>
          <p:cNvPr id="4" name="Shape 2"/>
          <p:cNvSpPr/>
          <p:nvPr/>
        </p:nvSpPr>
        <p:spPr>
          <a:xfrm>
            <a:off x="502920" y="146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558448"/>
            <a:ext cx="8321040" cy="365760"/>
          </a:xfrm>
          <a:prstGeom prst="rect">
            <a:avLst/>
          </a:prstGeom>
          <a:solidFill>
            <a:srgbClr val="0F1E3C"/>
          </a:solidFill>
          <a:ln w="6350">
            <a:solidFill>
              <a:srgbClr val="EBEBEB"/>
            </a:solidFill>
            <a:prstDash val="solid"/>
          </a:ln>
        </p:spPr>
        <p:txBody>
          <a:bodyPr/>
          <a:lstStyle/>
          <a:p>
            <a:endParaRPr lang="en-US"/>
          </a:p>
        </p:txBody>
      </p:sp>
      <p:sp>
        <p:nvSpPr>
          <p:cNvPr id="6" name="Text 4"/>
          <p:cNvSpPr/>
          <p:nvPr/>
        </p:nvSpPr>
        <p:spPr>
          <a:xfrm>
            <a:off x="502920" y="1622456"/>
            <a:ext cx="256032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User action</a:t>
            </a:r>
            <a:endParaRPr lang="en-US" sz="900" dirty="0"/>
          </a:p>
        </p:txBody>
      </p:sp>
      <p:sp>
        <p:nvSpPr>
          <p:cNvPr id="7" name="Text 5"/>
          <p:cNvSpPr/>
          <p:nvPr/>
        </p:nvSpPr>
        <p:spPr>
          <a:xfrm>
            <a:off x="3108960" y="1622456"/>
            <a:ext cx="274320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What happens</a:t>
            </a:r>
            <a:endParaRPr lang="en-US" sz="900" dirty="0"/>
          </a:p>
        </p:txBody>
      </p:sp>
      <p:sp>
        <p:nvSpPr>
          <p:cNvPr id="8" name="Text 6"/>
          <p:cNvSpPr/>
          <p:nvPr/>
        </p:nvSpPr>
        <p:spPr>
          <a:xfrm>
            <a:off x="5897880" y="1622456"/>
            <a:ext cx="269748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Backend system</a:t>
            </a:r>
            <a:endParaRPr lang="en-US" sz="900" dirty="0"/>
          </a:p>
        </p:txBody>
      </p:sp>
      <p:sp>
        <p:nvSpPr>
          <p:cNvPr id="9" name="Shape 7"/>
          <p:cNvSpPr/>
          <p:nvPr/>
        </p:nvSpPr>
        <p:spPr>
          <a:xfrm>
            <a:off x="411480" y="1942496"/>
            <a:ext cx="8321040" cy="365760"/>
          </a:xfrm>
          <a:prstGeom prst="rect">
            <a:avLst/>
          </a:prstGeom>
          <a:solidFill>
            <a:srgbClr val="F7F8FA"/>
          </a:solidFill>
          <a:ln w="6350">
            <a:solidFill>
              <a:srgbClr val="EBEBEB"/>
            </a:solidFill>
            <a:prstDash val="solid"/>
          </a:ln>
        </p:spPr>
        <p:txBody>
          <a:bodyPr/>
          <a:lstStyle/>
          <a:p>
            <a:endParaRPr lang="en-US"/>
          </a:p>
        </p:txBody>
      </p:sp>
      <p:sp>
        <p:nvSpPr>
          <p:cNvPr id="10" name="Text 8"/>
          <p:cNvSpPr/>
          <p:nvPr/>
        </p:nvSpPr>
        <p:spPr>
          <a:xfrm>
            <a:off x="502920" y="2006504"/>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Submit requirement or doc</a:t>
            </a:r>
            <a:endParaRPr lang="en-US" sz="950" dirty="0"/>
          </a:p>
        </p:txBody>
      </p:sp>
      <p:sp>
        <p:nvSpPr>
          <p:cNvPr id="11" name="Text 9"/>
          <p:cNvSpPr/>
          <p:nvPr/>
        </p:nvSpPr>
        <p:spPr>
          <a:xfrm>
            <a:off x="3108960" y="2006504"/>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ForumOrchestrator triggers 3-phase pipeline</a:t>
            </a:r>
            <a:endParaRPr lang="en-US" sz="950" dirty="0"/>
          </a:p>
        </p:txBody>
      </p:sp>
      <p:sp>
        <p:nvSpPr>
          <p:cNvPr id="12" name="Text 10"/>
          <p:cNvSpPr/>
          <p:nvPr/>
        </p:nvSpPr>
        <p:spPr>
          <a:xfrm>
            <a:off x="5897880" y="2006504"/>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Anthropic Claude API (SSE streaming)</a:t>
            </a:r>
            <a:endParaRPr lang="en-US" sz="950" dirty="0"/>
          </a:p>
        </p:txBody>
      </p:sp>
      <p:sp>
        <p:nvSpPr>
          <p:cNvPr id="13" name="Shape 11"/>
          <p:cNvSpPr/>
          <p:nvPr/>
        </p:nvSpPr>
        <p:spPr>
          <a:xfrm>
            <a:off x="411480" y="2326544"/>
            <a:ext cx="8321040" cy="365760"/>
          </a:xfrm>
          <a:prstGeom prst="rect">
            <a:avLst/>
          </a:prstGeom>
          <a:solidFill>
            <a:srgbClr val="FFFFFF"/>
          </a:solidFill>
          <a:ln w="6350">
            <a:solidFill>
              <a:srgbClr val="EBEBEB"/>
            </a:solidFill>
            <a:prstDash val="solid"/>
          </a:ln>
        </p:spPr>
        <p:txBody>
          <a:bodyPr/>
          <a:lstStyle/>
          <a:p>
            <a:endParaRPr lang="en-US"/>
          </a:p>
        </p:txBody>
      </p:sp>
      <p:sp>
        <p:nvSpPr>
          <p:cNvPr id="14" name="Text 12"/>
          <p:cNvSpPr/>
          <p:nvPr/>
        </p:nvSpPr>
        <p:spPr>
          <a:xfrm>
            <a:off x="502920" y="2390552"/>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Doc upload (PDF/Word)</a:t>
            </a:r>
            <a:endParaRPr lang="en-US" sz="950" dirty="0"/>
          </a:p>
        </p:txBody>
      </p:sp>
      <p:sp>
        <p:nvSpPr>
          <p:cNvPr id="15" name="Text 13"/>
          <p:cNvSpPr/>
          <p:nvPr/>
        </p:nvSpPr>
        <p:spPr>
          <a:xfrm>
            <a:off x="3108960" y="2390552"/>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Text extracted, chunked by section</a:t>
            </a:r>
            <a:endParaRPr lang="en-US" sz="950" dirty="0"/>
          </a:p>
        </p:txBody>
      </p:sp>
      <p:sp>
        <p:nvSpPr>
          <p:cNvPr id="16" name="Text 14"/>
          <p:cNvSpPr/>
          <p:nvPr/>
        </p:nvSpPr>
        <p:spPr>
          <a:xfrm>
            <a:off x="5897880" y="2390552"/>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Next.js API route → agent context</a:t>
            </a:r>
            <a:endParaRPr lang="en-US" sz="950" dirty="0"/>
          </a:p>
        </p:txBody>
      </p:sp>
      <p:sp>
        <p:nvSpPr>
          <p:cNvPr id="17" name="Shape 15"/>
          <p:cNvSpPr/>
          <p:nvPr/>
        </p:nvSpPr>
        <p:spPr>
          <a:xfrm>
            <a:off x="411480" y="2710592"/>
            <a:ext cx="8321040" cy="365760"/>
          </a:xfrm>
          <a:prstGeom prst="rect">
            <a:avLst/>
          </a:prstGeom>
          <a:solidFill>
            <a:srgbClr val="F7F8FA"/>
          </a:solidFill>
          <a:ln w="6350">
            <a:solidFill>
              <a:srgbClr val="EBEBEB"/>
            </a:solidFill>
            <a:prstDash val="solid"/>
          </a:ln>
        </p:spPr>
        <p:txBody>
          <a:bodyPr/>
          <a:lstStyle/>
          <a:p>
            <a:endParaRPr lang="en-US"/>
          </a:p>
        </p:txBody>
      </p:sp>
      <p:sp>
        <p:nvSpPr>
          <p:cNvPr id="18" name="Text 16"/>
          <p:cNvSpPr/>
          <p:nvPr/>
        </p:nvSpPr>
        <p:spPr>
          <a:xfrm>
            <a:off x="502920" y="2774600"/>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Session runs</a:t>
            </a:r>
            <a:endParaRPr lang="en-US" sz="950" dirty="0"/>
          </a:p>
        </p:txBody>
      </p:sp>
      <p:sp>
        <p:nvSpPr>
          <p:cNvPr id="19" name="Text 17"/>
          <p:cNvSpPr/>
          <p:nvPr/>
        </p:nvSpPr>
        <p:spPr>
          <a:xfrm>
            <a:off x="3108960" y="2774600"/>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Jira memory retrieved before agents start</a:t>
            </a:r>
            <a:endParaRPr lang="en-US" sz="950" dirty="0"/>
          </a:p>
        </p:txBody>
      </p:sp>
      <p:sp>
        <p:nvSpPr>
          <p:cNvPr id="20" name="Text 18"/>
          <p:cNvSpPr/>
          <p:nvPr/>
        </p:nvSpPr>
        <p:spPr>
          <a:xfrm>
            <a:off x="5897880" y="2774600"/>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Jira REST API (ARBOARD project)</a:t>
            </a:r>
            <a:endParaRPr lang="en-US" sz="950" dirty="0"/>
          </a:p>
        </p:txBody>
      </p:sp>
      <p:sp>
        <p:nvSpPr>
          <p:cNvPr id="21" name="Shape 19"/>
          <p:cNvSpPr/>
          <p:nvPr/>
        </p:nvSpPr>
        <p:spPr>
          <a:xfrm>
            <a:off x="411480" y="3094640"/>
            <a:ext cx="8321040" cy="365760"/>
          </a:xfrm>
          <a:prstGeom prst="rect">
            <a:avLst/>
          </a:prstGeom>
          <a:solidFill>
            <a:srgbClr val="FFFFFF"/>
          </a:solidFill>
          <a:ln w="6350">
            <a:solidFill>
              <a:srgbClr val="EBEBEB"/>
            </a:solidFill>
            <a:prstDash val="solid"/>
          </a:ln>
        </p:spPr>
        <p:txBody>
          <a:bodyPr/>
          <a:lstStyle/>
          <a:p>
            <a:endParaRPr lang="en-US"/>
          </a:p>
        </p:txBody>
      </p:sp>
      <p:sp>
        <p:nvSpPr>
          <p:cNvPr id="22" name="Text 20"/>
          <p:cNvSpPr/>
          <p:nvPr/>
        </p:nvSpPr>
        <p:spPr>
          <a:xfrm>
            <a:off x="502920" y="3158648"/>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Agent outputs</a:t>
            </a:r>
            <a:endParaRPr lang="en-US" sz="950" dirty="0"/>
          </a:p>
        </p:txBody>
      </p:sp>
      <p:sp>
        <p:nvSpPr>
          <p:cNvPr id="23" name="Text 21"/>
          <p:cNvSpPr/>
          <p:nvPr/>
        </p:nvSpPr>
        <p:spPr>
          <a:xfrm>
            <a:off x="3108960" y="3158648"/>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Failure patterns matched, FP-xxx cited</a:t>
            </a:r>
            <a:endParaRPr lang="en-US" sz="950" dirty="0"/>
          </a:p>
        </p:txBody>
      </p:sp>
      <p:sp>
        <p:nvSpPr>
          <p:cNvPr id="24" name="Text 22"/>
          <p:cNvSpPr/>
          <p:nvPr/>
        </p:nvSpPr>
        <p:spPr>
          <a:xfrm>
            <a:off x="5897880" y="3158648"/>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Supabase — failure_patterns table</a:t>
            </a:r>
            <a:endParaRPr lang="en-US" sz="950" dirty="0"/>
          </a:p>
        </p:txBody>
      </p:sp>
      <p:sp>
        <p:nvSpPr>
          <p:cNvPr id="25" name="Shape 23"/>
          <p:cNvSpPr/>
          <p:nvPr/>
        </p:nvSpPr>
        <p:spPr>
          <a:xfrm>
            <a:off x="411480" y="3478688"/>
            <a:ext cx="8321040" cy="365760"/>
          </a:xfrm>
          <a:prstGeom prst="rect">
            <a:avLst/>
          </a:prstGeom>
          <a:solidFill>
            <a:srgbClr val="F7F8FA"/>
          </a:solidFill>
          <a:ln w="6350">
            <a:solidFill>
              <a:srgbClr val="EBEBEB"/>
            </a:solidFill>
            <a:prstDash val="solid"/>
          </a:ln>
        </p:spPr>
        <p:txBody>
          <a:bodyPr/>
          <a:lstStyle/>
          <a:p>
            <a:endParaRPr lang="en-US"/>
          </a:p>
        </p:txBody>
      </p:sp>
      <p:sp>
        <p:nvSpPr>
          <p:cNvPr id="26" name="Text 24"/>
          <p:cNvSpPr/>
          <p:nvPr/>
        </p:nvSpPr>
        <p:spPr>
          <a:xfrm>
            <a:off x="502920" y="3542696"/>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Session completes</a:t>
            </a:r>
            <a:endParaRPr lang="en-US" sz="950" dirty="0"/>
          </a:p>
        </p:txBody>
      </p:sp>
      <p:sp>
        <p:nvSpPr>
          <p:cNvPr id="27" name="Text 25"/>
          <p:cNvSpPr/>
          <p:nvPr/>
        </p:nvSpPr>
        <p:spPr>
          <a:xfrm>
            <a:off x="3108960" y="3542696"/>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Admin makes endorsement decision</a:t>
            </a:r>
            <a:endParaRPr lang="en-US" sz="950" dirty="0"/>
          </a:p>
        </p:txBody>
      </p:sp>
      <p:sp>
        <p:nvSpPr>
          <p:cNvPr id="28" name="Text 26"/>
          <p:cNvSpPr/>
          <p:nvPr/>
        </p:nvSpPr>
        <p:spPr>
          <a:xfrm>
            <a:off x="5897880" y="3542696"/>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Endorsement Review Panel (new)</a:t>
            </a:r>
            <a:endParaRPr lang="en-US" sz="950" dirty="0"/>
          </a:p>
        </p:txBody>
      </p:sp>
      <p:sp>
        <p:nvSpPr>
          <p:cNvPr id="29" name="Shape 27"/>
          <p:cNvSpPr/>
          <p:nvPr/>
        </p:nvSpPr>
        <p:spPr>
          <a:xfrm>
            <a:off x="411480" y="3862736"/>
            <a:ext cx="8321040" cy="365760"/>
          </a:xfrm>
          <a:prstGeom prst="rect">
            <a:avLst/>
          </a:prstGeom>
          <a:solidFill>
            <a:srgbClr val="FFFFFF"/>
          </a:solidFill>
          <a:ln w="6350">
            <a:solidFill>
              <a:srgbClr val="EBEBEB"/>
            </a:solidFill>
            <a:prstDash val="solid"/>
          </a:ln>
        </p:spPr>
        <p:txBody>
          <a:bodyPr/>
          <a:lstStyle/>
          <a:p>
            <a:endParaRPr lang="en-US"/>
          </a:p>
        </p:txBody>
      </p:sp>
      <p:sp>
        <p:nvSpPr>
          <p:cNvPr id="30" name="Text 28"/>
          <p:cNvSpPr/>
          <p:nvPr/>
        </p:nvSpPr>
        <p:spPr>
          <a:xfrm>
            <a:off x="502920" y="3926744"/>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Endorse / assign</a:t>
            </a:r>
            <a:endParaRPr lang="en-US" sz="950" dirty="0"/>
          </a:p>
        </p:txBody>
      </p:sp>
      <p:sp>
        <p:nvSpPr>
          <p:cNvPr id="31" name="Text 29"/>
          <p:cNvSpPr/>
          <p:nvPr/>
        </p:nvSpPr>
        <p:spPr>
          <a:xfrm>
            <a:off x="3108960" y="3926744"/>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Jira ticket created with assignee + comment</a:t>
            </a:r>
            <a:endParaRPr lang="en-US" sz="950" dirty="0"/>
          </a:p>
        </p:txBody>
      </p:sp>
      <p:sp>
        <p:nvSpPr>
          <p:cNvPr id="32" name="Text 30"/>
          <p:cNvSpPr/>
          <p:nvPr/>
        </p:nvSpPr>
        <p:spPr>
          <a:xfrm>
            <a:off x="5897880" y="3926744"/>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Jira REST — arboard-adr / arboard-signed</a:t>
            </a:r>
            <a:endParaRPr lang="en-US" sz="950" dirty="0"/>
          </a:p>
        </p:txBody>
      </p:sp>
      <p:sp>
        <p:nvSpPr>
          <p:cNvPr id="33" name="Shape 31"/>
          <p:cNvSpPr/>
          <p:nvPr/>
        </p:nvSpPr>
        <p:spPr>
          <a:xfrm>
            <a:off x="411480" y="4246784"/>
            <a:ext cx="8321040" cy="365760"/>
          </a:xfrm>
          <a:prstGeom prst="rect">
            <a:avLst/>
          </a:prstGeom>
          <a:solidFill>
            <a:srgbClr val="F7F8FA"/>
          </a:solidFill>
          <a:ln w="6350">
            <a:solidFill>
              <a:srgbClr val="EBEBEB"/>
            </a:solidFill>
            <a:prstDash val="solid"/>
          </a:ln>
        </p:spPr>
        <p:txBody>
          <a:bodyPr/>
          <a:lstStyle/>
          <a:p>
            <a:endParaRPr lang="en-US"/>
          </a:p>
        </p:txBody>
      </p:sp>
      <p:sp>
        <p:nvSpPr>
          <p:cNvPr id="34" name="Text 32"/>
          <p:cNvSpPr/>
          <p:nvPr/>
        </p:nvSpPr>
        <p:spPr>
          <a:xfrm>
            <a:off x="502920" y="4310792"/>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Countersign</a:t>
            </a:r>
            <a:endParaRPr lang="en-US" sz="950" dirty="0"/>
          </a:p>
        </p:txBody>
      </p:sp>
      <p:sp>
        <p:nvSpPr>
          <p:cNvPr id="35" name="Text 33"/>
          <p:cNvSpPr/>
          <p:nvPr/>
        </p:nvSpPr>
        <p:spPr>
          <a:xfrm>
            <a:off x="3108960" y="4310792"/>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Sign-off written to Supabase audit trail</a:t>
            </a:r>
            <a:endParaRPr lang="en-US" sz="950" dirty="0"/>
          </a:p>
        </p:txBody>
      </p:sp>
      <p:sp>
        <p:nvSpPr>
          <p:cNvPr id="36" name="Text 34"/>
          <p:cNvSpPr/>
          <p:nvPr/>
        </p:nvSpPr>
        <p:spPr>
          <a:xfrm>
            <a:off x="5897880" y="4310792"/>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Supabase — signoffs table</a:t>
            </a:r>
            <a:endParaRPr lang="en-US" sz="950" dirty="0"/>
          </a:p>
        </p:txBody>
      </p:sp>
      <p:sp>
        <p:nvSpPr>
          <p:cNvPr id="37" name="Shape 35"/>
          <p:cNvSpPr/>
          <p:nvPr/>
        </p:nvSpPr>
        <p:spPr>
          <a:xfrm>
            <a:off x="411480" y="4630832"/>
            <a:ext cx="8321040" cy="365760"/>
          </a:xfrm>
          <a:prstGeom prst="rect">
            <a:avLst/>
          </a:prstGeom>
          <a:solidFill>
            <a:srgbClr val="FFFFFF"/>
          </a:solidFill>
          <a:ln w="6350">
            <a:solidFill>
              <a:srgbClr val="EBEBEB"/>
            </a:solidFill>
            <a:prstDash val="solid"/>
          </a:ln>
        </p:spPr>
        <p:txBody>
          <a:bodyPr/>
          <a:lstStyle/>
          <a:p>
            <a:endParaRPr lang="en-US"/>
          </a:p>
        </p:txBody>
      </p:sp>
      <p:sp>
        <p:nvSpPr>
          <p:cNvPr id="38" name="Text 36"/>
          <p:cNvSpPr/>
          <p:nvPr/>
        </p:nvSpPr>
        <p:spPr>
          <a:xfrm>
            <a:off x="502920" y="4694840"/>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Org connect</a:t>
            </a:r>
            <a:endParaRPr lang="en-US" sz="950" dirty="0"/>
          </a:p>
        </p:txBody>
      </p:sp>
      <p:sp>
        <p:nvSpPr>
          <p:cNvPr id="39" name="Text 37"/>
          <p:cNvSpPr/>
          <p:nvPr/>
        </p:nvSpPr>
        <p:spPr>
          <a:xfrm>
            <a:off x="3108960" y="4694840"/>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Live metadata injected into agent prompts</a:t>
            </a:r>
            <a:endParaRPr lang="en-US" sz="950" dirty="0"/>
          </a:p>
        </p:txBody>
      </p:sp>
      <p:sp>
        <p:nvSpPr>
          <p:cNvPr id="40" name="Text 38"/>
          <p:cNvSpPr/>
          <p:nvPr/>
        </p:nvSpPr>
        <p:spPr>
          <a:xfrm>
            <a:off x="5897880" y="4694840"/>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Salesforce MCP / jsforce fallback</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BUILD JOURNEY</a:t>
            </a:r>
            <a:endParaRPr lang="en-US" sz="900" dirty="0"/>
          </a:p>
        </p:txBody>
      </p:sp>
      <p:sp>
        <p:nvSpPr>
          <p:cNvPr id="3" name="Text 1"/>
          <p:cNvSpPr/>
          <p:nvPr/>
        </p:nvSpPr>
        <p:spPr>
          <a:xfrm>
            <a:off x="502920" y="594360"/>
            <a:ext cx="8138160" cy="90000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From requirement input to production-grade review platform</a:t>
            </a:r>
            <a:endParaRPr lang="en-US" sz="2800" dirty="0"/>
          </a:p>
        </p:txBody>
      </p:sp>
      <p:sp>
        <p:nvSpPr>
          <p:cNvPr id="4" name="Shape 2"/>
          <p:cNvSpPr/>
          <p:nvPr/>
        </p:nvSpPr>
        <p:spPr>
          <a:xfrm>
            <a:off x="502920" y="146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631600"/>
            <a:ext cx="1965960" cy="3094640"/>
          </a:xfrm>
          <a:prstGeom prst="roundRect">
            <a:avLst>
              <a:gd name="adj" fmla="val 3721"/>
            </a:avLst>
          </a:prstGeom>
          <a:solidFill>
            <a:srgbClr val="EBF2FA"/>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Text 4"/>
          <p:cNvSpPr/>
          <p:nvPr/>
        </p:nvSpPr>
        <p:spPr>
          <a:xfrm>
            <a:off x="411480" y="1723040"/>
            <a:ext cx="196596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Foundation</a:t>
            </a:r>
            <a:endParaRPr lang="en-US" sz="1200" dirty="0"/>
          </a:p>
        </p:txBody>
      </p:sp>
      <p:sp>
        <p:nvSpPr>
          <p:cNvPr id="7" name="Shape 5"/>
          <p:cNvSpPr/>
          <p:nvPr/>
        </p:nvSpPr>
        <p:spPr>
          <a:xfrm>
            <a:off x="594360" y="2088800"/>
            <a:ext cx="1600200" cy="0"/>
          </a:xfrm>
          <a:prstGeom prst="line">
            <a:avLst/>
          </a:prstGeom>
          <a:noFill/>
          <a:ln w="6350">
            <a:solidFill>
              <a:srgbClr val="EBEBEB"/>
            </a:solidFill>
            <a:prstDash val="solid"/>
          </a:ln>
        </p:spPr>
        <p:txBody>
          <a:bodyPr/>
          <a:lstStyle/>
          <a:p>
            <a:endParaRPr lang="en-US"/>
          </a:p>
        </p:txBody>
      </p:sp>
      <p:sp>
        <p:nvSpPr>
          <p:cNvPr id="8" name="Text 6"/>
          <p:cNvSpPr/>
          <p:nvPr/>
        </p:nvSpPr>
        <p:spPr>
          <a:xfrm>
            <a:off x="521208" y="2161952"/>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9 specialist agents + ForumOrchestrator</a:t>
            </a:r>
            <a:endParaRPr lang="en-US" sz="950" dirty="0"/>
          </a:p>
        </p:txBody>
      </p:sp>
      <p:sp>
        <p:nvSpPr>
          <p:cNvPr id="9" name="Text 7"/>
          <p:cNvSpPr/>
          <p:nvPr/>
        </p:nvSpPr>
        <p:spPr>
          <a:xfrm>
            <a:off x="521208" y="2637440"/>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Sequential pipeline — review, judge, record</a:t>
            </a:r>
            <a:endParaRPr lang="en-US" sz="950" dirty="0"/>
          </a:p>
        </p:txBody>
      </p:sp>
      <p:sp>
        <p:nvSpPr>
          <p:cNvPr id="10" name="Text 8"/>
          <p:cNvSpPr/>
          <p:nvPr/>
        </p:nvSpPr>
        <p:spPr>
          <a:xfrm>
            <a:off x="521208" y="3112928"/>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Impact Analyser — selective agent loading</a:t>
            </a:r>
            <a:endParaRPr lang="en-US" sz="950" dirty="0"/>
          </a:p>
        </p:txBody>
      </p:sp>
      <p:sp>
        <p:nvSpPr>
          <p:cNvPr id="11" name="Shape 9"/>
          <p:cNvSpPr/>
          <p:nvPr/>
        </p:nvSpPr>
        <p:spPr>
          <a:xfrm>
            <a:off x="2560320" y="1631600"/>
            <a:ext cx="1965960" cy="3094640"/>
          </a:xfrm>
          <a:prstGeom prst="roundRect">
            <a:avLst>
              <a:gd name="adj" fmla="val 3721"/>
            </a:avLst>
          </a:prstGeom>
          <a:solidFill>
            <a:srgbClr val="E1F5EE"/>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2" name="Text 10"/>
          <p:cNvSpPr/>
          <p:nvPr/>
        </p:nvSpPr>
        <p:spPr>
          <a:xfrm>
            <a:off x="2560320" y="1723040"/>
            <a:ext cx="1965960" cy="320040"/>
          </a:xfrm>
          <a:prstGeom prst="rect">
            <a:avLst/>
          </a:prstGeom>
          <a:noFill/>
          <a:ln/>
        </p:spPr>
        <p:txBody>
          <a:bodyPr wrap="square" rtlCol="0" anchor="ctr"/>
          <a:lstStyle/>
          <a:p>
            <a:pPr marL="0" indent="0" algn="ctr">
              <a:buNone/>
            </a:pPr>
            <a:r>
              <a:rPr lang="en-US" sz="1200" b="1" dirty="0">
                <a:solidFill>
                  <a:srgbClr val="0F6E56"/>
                </a:solidFill>
                <a:latin typeface="Arial" pitchFamily="34" charset="0"/>
                <a:ea typeface="Arial" pitchFamily="34" charset="-122"/>
                <a:cs typeface="Arial" pitchFamily="34" charset="-120"/>
              </a:rPr>
              <a:t>Integrations</a:t>
            </a:r>
            <a:endParaRPr lang="en-US" sz="1200" dirty="0"/>
          </a:p>
        </p:txBody>
      </p:sp>
      <p:sp>
        <p:nvSpPr>
          <p:cNvPr id="13" name="Shape 11"/>
          <p:cNvSpPr/>
          <p:nvPr/>
        </p:nvSpPr>
        <p:spPr>
          <a:xfrm>
            <a:off x="2743200" y="2088800"/>
            <a:ext cx="1600200" cy="0"/>
          </a:xfrm>
          <a:prstGeom prst="line">
            <a:avLst/>
          </a:prstGeom>
          <a:noFill/>
          <a:ln w="6350">
            <a:solidFill>
              <a:srgbClr val="EBEBEB"/>
            </a:solidFill>
            <a:prstDash val="solid"/>
          </a:ln>
        </p:spPr>
        <p:txBody>
          <a:bodyPr/>
          <a:lstStyle/>
          <a:p>
            <a:endParaRPr lang="en-US"/>
          </a:p>
        </p:txBody>
      </p:sp>
      <p:sp>
        <p:nvSpPr>
          <p:cNvPr id="14" name="Text 12"/>
          <p:cNvSpPr/>
          <p:nvPr/>
        </p:nvSpPr>
        <p:spPr>
          <a:xfrm>
            <a:off x="2670048" y="2161952"/>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Jira ADR ticket creation + countersign</a:t>
            </a:r>
            <a:endParaRPr lang="en-US" sz="950" dirty="0"/>
          </a:p>
        </p:txBody>
      </p:sp>
      <p:sp>
        <p:nvSpPr>
          <p:cNvPr id="15" name="Text 13"/>
          <p:cNvSpPr/>
          <p:nvPr/>
        </p:nvSpPr>
        <p:spPr>
          <a:xfrm>
            <a:off x="2670048" y="2637440"/>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Supabase operational store</a:t>
            </a:r>
            <a:endParaRPr lang="en-US" sz="950" dirty="0"/>
          </a:p>
        </p:txBody>
      </p:sp>
      <p:sp>
        <p:nvSpPr>
          <p:cNvPr id="16" name="Text 14"/>
          <p:cNvSpPr/>
          <p:nvPr/>
        </p:nvSpPr>
        <p:spPr>
          <a:xfrm>
            <a:off x="2670048" y="3112928"/>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Salesforce MCP + jsforce fallback</a:t>
            </a:r>
            <a:endParaRPr lang="en-US" sz="950" dirty="0"/>
          </a:p>
        </p:txBody>
      </p:sp>
      <p:sp>
        <p:nvSpPr>
          <p:cNvPr id="17" name="Shape 15"/>
          <p:cNvSpPr/>
          <p:nvPr/>
        </p:nvSpPr>
        <p:spPr>
          <a:xfrm>
            <a:off x="4709160" y="1631600"/>
            <a:ext cx="1965960" cy="3094640"/>
          </a:xfrm>
          <a:prstGeom prst="roundRect">
            <a:avLst>
              <a:gd name="adj" fmla="val 3721"/>
            </a:avLst>
          </a:prstGeom>
          <a:solidFill>
            <a:srgbClr val="FAEEDA"/>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8" name="Text 16"/>
          <p:cNvSpPr/>
          <p:nvPr/>
        </p:nvSpPr>
        <p:spPr>
          <a:xfrm>
            <a:off x="4709160" y="1723040"/>
            <a:ext cx="1965960" cy="320040"/>
          </a:xfrm>
          <a:prstGeom prst="rect">
            <a:avLst/>
          </a:prstGeom>
          <a:noFill/>
          <a:ln/>
        </p:spPr>
        <p:txBody>
          <a:bodyPr wrap="square" rtlCol="0" anchor="ctr"/>
          <a:lstStyle/>
          <a:p>
            <a:pPr marL="0" indent="0" algn="ctr">
              <a:buNone/>
            </a:pPr>
            <a:r>
              <a:rPr lang="en-US" sz="1200" b="1" dirty="0">
                <a:solidFill>
                  <a:srgbClr val="BA7517"/>
                </a:solidFill>
                <a:latin typeface="Arial" pitchFamily="34" charset="0"/>
                <a:ea typeface="Arial" pitchFamily="34" charset="-122"/>
                <a:cs typeface="Arial" pitchFamily="34" charset="-120"/>
              </a:rPr>
              <a:t>Intelligence</a:t>
            </a:r>
            <a:endParaRPr lang="en-US" sz="1200" dirty="0"/>
          </a:p>
        </p:txBody>
      </p:sp>
      <p:sp>
        <p:nvSpPr>
          <p:cNvPr id="19" name="Shape 17"/>
          <p:cNvSpPr/>
          <p:nvPr/>
        </p:nvSpPr>
        <p:spPr>
          <a:xfrm>
            <a:off x="4892040" y="2088800"/>
            <a:ext cx="1600200" cy="0"/>
          </a:xfrm>
          <a:prstGeom prst="line">
            <a:avLst/>
          </a:prstGeom>
          <a:noFill/>
          <a:ln w="6350">
            <a:solidFill>
              <a:srgbClr val="EBEBEB"/>
            </a:solidFill>
            <a:prstDash val="solid"/>
          </a:ln>
        </p:spPr>
        <p:txBody>
          <a:bodyPr/>
          <a:lstStyle/>
          <a:p>
            <a:endParaRPr lang="en-US"/>
          </a:p>
        </p:txBody>
      </p:sp>
      <p:sp>
        <p:nvSpPr>
          <p:cNvPr id="20" name="Text 18"/>
          <p:cNvSpPr/>
          <p:nvPr/>
        </p:nvSpPr>
        <p:spPr>
          <a:xfrm>
            <a:off x="4818888" y="2161952"/>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SI failure pattern library (FP-004→FP-012)</a:t>
            </a:r>
            <a:endParaRPr lang="en-US" sz="950" dirty="0"/>
          </a:p>
        </p:txBody>
      </p:sp>
      <p:sp>
        <p:nvSpPr>
          <p:cNvPr id="21" name="Text 19"/>
          <p:cNvSpPr/>
          <p:nvPr/>
        </p:nvSpPr>
        <p:spPr>
          <a:xfrm>
            <a:off x="4818888" y="2637440"/>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Cross-session memory via Jira</a:t>
            </a:r>
            <a:endParaRPr lang="en-US" sz="950" dirty="0"/>
          </a:p>
        </p:txBody>
      </p:sp>
      <p:sp>
        <p:nvSpPr>
          <p:cNvPr id="22" name="Text 20"/>
          <p:cNvSpPr/>
          <p:nvPr/>
        </p:nvSpPr>
        <p:spPr>
          <a:xfrm>
            <a:off x="4818888" y="3112928"/>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Endorsement Review Panel</a:t>
            </a:r>
            <a:endParaRPr lang="en-US" sz="950" dirty="0"/>
          </a:p>
        </p:txBody>
      </p:sp>
      <p:sp>
        <p:nvSpPr>
          <p:cNvPr id="23" name="Shape 21"/>
          <p:cNvSpPr/>
          <p:nvPr/>
        </p:nvSpPr>
        <p:spPr>
          <a:xfrm>
            <a:off x="6858000" y="1631600"/>
            <a:ext cx="1965960" cy="3094640"/>
          </a:xfrm>
          <a:prstGeom prst="roundRect">
            <a:avLst>
              <a:gd name="adj" fmla="val 3721"/>
            </a:avLst>
          </a:prstGeom>
          <a:solidFill>
            <a:srgbClr val="0F1E3C"/>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4" name="Text 22"/>
          <p:cNvSpPr/>
          <p:nvPr/>
        </p:nvSpPr>
        <p:spPr>
          <a:xfrm>
            <a:off x="6858000" y="1723040"/>
            <a:ext cx="1965960" cy="32004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Optimisation</a:t>
            </a:r>
            <a:endParaRPr lang="en-US" sz="1200" dirty="0"/>
          </a:p>
        </p:txBody>
      </p:sp>
      <p:sp>
        <p:nvSpPr>
          <p:cNvPr id="25" name="Shape 23"/>
          <p:cNvSpPr/>
          <p:nvPr/>
        </p:nvSpPr>
        <p:spPr>
          <a:xfrm>
            <a:off x="7040880" y="2088800"/>
            <a:ext cx="1600200" cy="0"/>
          </a:xfrm>
          <a:prstGeom prst="line">
            <a:avLst/>
          </a:prstGeom>
          <a:noFill/>
          <a:ln w="6350">
            <a:solidFill>
              <a:srgbClr val="445566"/>
            </a:solidFill>
            <a:prstDash val="solid"/>
          </a:ln>
        </p:spPr>
        <p:txBody>
          <a:bodyPr/>
          <a:lstStyle/>
          <a:p>
            <a:endParaRPr lang="en-US"/>
          </a:p>
        </p:txBody>
      </p:sp>
      <p:sp>
        <p:nvSpPr>
          <p:cNvPr id="26" name="Text 24"/>
          <p:cNvSpPr/>
          <p:nvPr/>
        </p:nvSpPr>
        <p:spPr>
          <a:xfrm>
            <a:off x="6967728" y="2161952"/>
            <a:ext cx="1737360" cy="420624"/>
          </a:xfrm>
          <a:prstGeom prst="rect">
            <a:avLst/>
          </a:prstGeom>
          <a:noFill/>
          <a:ln/>
        </p:spPr>
        <p:txBody>
          <a:bodyPr wrap="square" rtlCol="0" anchor="t"/>
          <a:lstStyle/>
          <a:p>
            <a:pPr marL="0" indent="0">
              <a:buNone/>
            </a:pPr>
            <a:r>
              <a:rPr lang="en-US" sz="950" dirty="0">
                <a:solidFill>
                  <a:srgbClr val="A0B8D8"/>
                </a:solidFill>
                <a:latin typeface="Arial" pitchFamily="34" charset="0"/>
                <a:ea typeface="Arial" pitchFamily="34" charset="-122"/>
                <a:cs typeface="Arial" pitchFamily="34" charset="-120"/>
              </a:rPr>
              <a:t>→  Document review mode</a:t>
            </a:r>
            <a:endParaRPr lang="en-US" sz="950" dirty="0"/>
          </a:p>
        </p:txBody>
      </p:sp>
      <p:sp>
        <p:nvSpPr>
          <p:cNvPr id="27" name="Text 25"/>
          <p:cNvSpPr/>
          <p:nvPr/>
        </p:nvSpPr>
        <p:spPr>
          <a:xfrm>
            <a:off x="6967728" y="2637440"/>
            <a:ext cx="1737360" cy="420624"/>
          </a:xfrm>
          <a:prstGeom prst="rect">
            <a:avLst/>
          </a:prstGeom>
          <a:noFill/>
          <a:ln/>
        </p:spPr>
        <p:txBody>
          <a:bodyPr wrap="square" rtlCol="0" anchor="t"/>
          <a:lstStyle/>
          <a:p>
            <a:pPr marL="0" indent="0">
              <a:buNone/>
            </a:pPr>
            <a:r>
              <a:rPr lang="en-US" sz="950" dirty="0">
                <a:solidFill>
                  <a:srgbClr val="A0B8D8"/>
                </a:solidFill>
                <a:latin typeface="Arial" pitchFamily="34" charset="0"/>
                <a:ea typeface="Arial" pitchFamily="34" charset="-122"/>
                <a:cs typeface="Arial" pitchFamily="34" charset="-120"/>
              </a:rPr>
              <a:t>→  Well-Architected principles injection</a:t>
            </a:r>
            <a:endParaRPr lang="en-US" sz="950" dirty="0"/>
          </a:p>
        </p:txBody>
      </p:sp>
      <p:sp>
        <p:nvSpPr>
          <p:cNvPr id="28" name="Text 26"/>
          <p:cNvSpPr/>
          <p:nvPr/>
        </p:nvSpPr>
        <p:spPr>
          <a:xfrm>
            <a:off x="6967728" y="3112928"/>
            <a:ext cx="1737360" cy="420624"/>
          </a:xfrm>
          <a:prstGeom prst="rect">
            <a:avLst/>
          </a:prstGeom>
          <a:noFill/>
          <a:ln/>
        </p:spPr>
        <p:txBody>
          <a:bodyPr wrap="square" rtlCol="0" anchor="t"/>
          <a:lstStyle/>
          <a:p>
            <a:pPr marL="0" indent="0">
              <a:buNone/>
            </a:pPr>
            <a:r>
              <a:rPr lang="en-US" sz="950" dirty="0">
                <a:solidFill>
                  <a:srgbClr val="A0B8D8"/>
                </a:solidFill>
                <a:latin typeface="Arial" pitchFamily="34" charset="0"/>
                <a:ea typeface="Arial" pitchFamily="34" charset="-122"/>
                <a:cs typeface="Arial" pitchFamily="34" charset="-120"/>
              </a:rPr>
              <a:t>→  Token optimisation</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lIns="0" tIns="0" rIns="0" bIns="0" rtlCol="0" anchor="ctr"/>
          <a:lstStyle/>
          <a:p>
            <a:pPr marL="0" indent="0">
              <a:buNone/>
            </a:pPr>
            <a:r>
              <a:rPr lang="en-US" sz="1000" b="1" kern="0" spc="300" dirty="0">
                <a:solidFill>
                  <a:srgbClr val="0891B2"/>
                </a:solidFill>
              </a:rPr>
              <a:t>COST ENGINEERING — LEARNINGS</a:t>
            </a:r>
            <a:endParaRPr lang="en-US" sz="1000" dirty="0"/>
          </a:p>
        </p:txBody>
      </p:sp>
      <p:sp>
        <p:nvSpPr>
          <p:cNvPr id="3" name="Text 1"/>
          <p:cNvSpPr/>
          <p:nvPr/>
        </p:nvSpPr>
        <p:spPr>
          <a:xfrm>
            <a:off x="457200" y="502920"/>
            <a:ext cx="8229600" cy="1005840"/>
          </a:xfrm>
          <a:prstGeom prst="rect">
            <a:avLst/>
          </a:prstGeom>
          <a:noFill/>
          <a:ln/>
        </p:spPr>
        <p:txBody>
          <a:bodyPr wrap="square" lIns="0" tIns="0" rIns="0" bIns="0" rtlCol="0" anchor="ctr"/>
          <a:lstStyle/>
          <a:p>
            <a:pPr marL="0" indent="0">
              <a:buNone/>
            </a:pPr>
            <a:r>
              <a:rPr lang="en-US" sz="3600" b="1" dirty="0">
                <a:solidFill>
                  <a:srgbClr val="111827"/>
                </a:solidFill>
              </a:rPr>
              <a:t>Token consumption: measured,</a:t>
            </a:r>
            <a:endParaRPr lang="en-US" sz="3600" dirty="0"/>
          </a:p>
          <a:p>
            <a:pPr marL="0" indent="0">
              <a:buNone/>
            </a:pPr>
            <a:r>
              <a:rPr lang="en-US" sz="3600" b="1" dirty="0">
                <a:solidFill>
                  <a:srgbClr val="111827"/>
                </a:solidFill>
              </a:rPr>
              <a:t>then engineered down</a:t>
            </a:r>
            <a:endParaRPr lang="en-US" sz="3600" dirty="0"/>
          </a:p>
        </p:txBody>
      </p:sp>
      <p:sp>
        <p:nvSpPr>
          <p:cNvPr id="4" name="Text 2"/>
          <p:cNvSpPr/>
          <p:nvPr/>
        </p:nvSpPr>
        <p:spPr>
          <a:xfrm>
            <a:off x="457200" y="1600200"/>
            <a:ext cx="4572000" cy="256032"/>
          </a:xfrm>
          <a:prstGeom prst="rect">
            <a:avLst/>
          </a:prstGeom>
          <a:noFill/>
          <a:ln/>
        </p:spPr>
        <p:txBody>
          <a:bodyPr wrap="square" lIns="0" tIns="0" rIns="0" bIns="0" rtlCol="0" anchor="ctr"/>
          <a:lstStyle/>
          <a:p>
            <a:pPr marL="0" indent="0">
              <a:buNone/>
            </a:pPr>
            <a:r>
              <a:rPr lang="en-US" sz="1200" b="1" dirty="0">
                <a:solidFill>
                  <a:srgbClr val="111827"/>
                </a:solidFill>
              </a:rPr>
              <a:t>Baseline per session (10 agents, real doc)</a:t>
            </a:r>
            <a:endParaRPr lang="en-US" sz="1200" dirty="0"/>
          </a:p>
        </p:txBody>
      </p:sp>
      <p:graphicFrame>
        <p:nvGraphicFramePr>
          <p:cNvPr id="5" name="Table 0"/>
          <p:cNvGraphicFramePr>
            <a:graphicFrameLocks noGrp="1"/>
          </p:cNvGraphicFramePr>
          <p:nvPr/>
        </p:nvGraphicFramePr>
        <p:xfrm>
          <a:off x="457200" y="1901952"/>
          <a:ext cx="4572000" cy="2176272"/>
        </p:xfrm>
        <a:graphic>
          <a:graphicData uri="http://schemas.openxmlformats.org/drawingml/2006/table">
            <a:tbl>
              <a:tblPr/>
              <a:tblGrid>
                <a:gridCol w="25603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rPr>
                        <a:t>Source</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3A5F"/>
                    </a:solidFill>
                  </a:tcPr>
                </a:tc>
                <a:tc>
                  <a:txBody>
                    <a:bodyPr/>
                    <a:lstStyle/>
                    <a:p>
                      <a:pPr marL="0" indent="0" algn="ctr">
                        <a:buNone/>
                      </a:pPr>
                      <a:r>
                        <a:rPr lang="en-US" sz="1100" b="1" dirty="0">
                          <a:solidFill>
                            <a:srgbClr val="FFFFFF"/>
                          </a:solidFill>
                        </a:rPr>
                        <a:t>Tokens</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3A5F"/>
                    </a:solidFill>
                  </a:tcPr>
                </a:tc>
                <a:tc>
                  <a:txBody>
                    <a:bodyPr/>
                    <a:lstStyle/>
                    <a:p>
                      <a:pPr marL="0" indent="0" algn="ctr">
                        <a:buNone/>
                      </a:pPr>
                      <a:r>
                        <a:rPr lang="en-US" sz="1100" b="1" dirty="0">
                          <a:solidFill>
                            <a:srgbClr val="FFFFFF"/>
                          </a:solidFill>
                        </a:rPr>
                        <a:t>Model</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310896">
                <a:tc>
                  <a:txBody>
                    <a:bodyPr/>
                    <a:lstStyle/>
                    <a:p>
                      <a:pPr marL="0" indent="0">
                        <a:buNone/>
                      </a:pPr>
                      <a:r>
                        <a:rPr lang="en-US" sz="1100" dirty="0">
                          <a:solidFill>
                            <a:srgbClr val="374151"/>
                          </a:solidFill>
                        </a:rPr>
                        <a:t>Document input (NovaPeak SDD)</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74151"/>
                          </a:solidFill>
                        </a:rPr>
                        <a:t>~4,000</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i="1" dirty="0">
                          <a:solidFill>
                            <a:srgbClr val="6B7280"/>
                          </a:solidFill>
                        </a:rPr>
                        <a:t>All agents</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00" dirty="0">
                          <a:solidFill>
                            <a:srgbClr val="374151"/>
                          </a:solidFill>
                        </a:rPr>
                        <a:t>9 agent system prompts</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74151"/>
                          </a:solidFill>
                        </a:rPr>
                        <a:t>~9,000</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6B7280"/>
                          </a:solidFill>
                        </a:rPr>
                        <a:t>—</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00" dirty="0">
                          <a:solidFill>
                            <a:srgbClr val="374151"/>
                          </a:solidFill>
                        </a:rPr>
                        <a:t>Jira memory (10 tickets, filtered)</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74151"/>
                          </a:solidFill>
                        </a:rPr>
                        <a:t>~5,000</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6B7280"/>
                          </a:solidFill>
                        </a:rPr>
                        <a:t>—</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00" dirty="0">
                          <a:solidFill>
                            <a:srgbClr val="374151"/>
                          </a:solidFill>
                        </a:rPr>
                        <a:t>Scribe + Learner (Judge output only)</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74151"/>
                          </a:solidFill>
                        </a:rPr>
                        <a:t>~3,000</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7C3AED"/>
                          </a:solidFill>
                        </a:rPr>
                        <a:t>Haiku</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00" dirty="0">
                          <a:solidFill>
                            <a:srgbClr val="374151"/>
                          </a:solidFill>
                        </a:rPr>
                        <a:t>Specialists + Judge</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74151"/>
                          </a:solidFill>
                        </a:rPr>
                        <a:t>~16,000</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891B2"/>
                          </a:solidFill>
                        </a:rPr>
                        <a:t>Sonnet</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00" b="1" dirty="0">
                          <a:solidFill>
                            <a:srgbClr val="0891B2"/>
                          </a:solidFill>
                        </a:rPr>
                        <a:t>Total (live run, Jul 2026)</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891B2"/>
                          </a:solidFill>
                        </a:rPr>
                        <a:t>55.4k</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891B2"/>
                          </a:solidFill>
                        </a:rPr>
                        <a:t>$0.221</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ext 3"/>
          <p:cNvSpPr/>
          <p:nvPr/>
        </p:nvSpPr>
        <p:spPr>
          <a:xfrm>
            <a:off x="5349240" y="1600200"/>
            <a:ext cx="3566160" cy="256032"/>
          </a:xfrm>
          <a:prstGeom prst="rect">
            <a:avLst/>
          </a:prstGeom>
          <a:noFill/>
          <a:ln/>
        </p:spPr>
        <p:txBody>
          <a:bodyPr wrap="square" lIns="0" tIns="0" rIns="0" bIns="0" rtlCol="0" anchor="ctr"/>
          <a:lstStyle/>
          <a:p>
            <a:pPr marL="0" indent="0">
              <a:buNone/>
            </a:pPr>
            <a:r>
              <a:rPr lang="en-US" sz="1200" b="1" dirty="0">
                <a:solidFill>
                  <a:srgbClr val="111827"/>
                </a:solidFill>
              </a:rPr>
              <a:t>Optimisations implemented</a:t>
            </a:r>
            <a:endParaRPr lang="en-US" sz="1200" dirty="0"/>
          </a:p>
        </p:txBody>
      </p:sp>
      <p:sp>
        <p:nvSpPr>
          <p:cNvPr id="7" name="Shape 4"/>
          <p:cNvSpPr/>
          <p:nvPr/>
        </p:nvSpPr>
        <p:spPr>
          <a:xfrm>
            <a:off x="5349240" y="1901952"/>
            <a:ext cx="3566160" cy="438912"/>
          </a:xfrm>
          <a:prstGeom prst="roundRect">
            <a:avLst>
              <a:gd name="adj" fmla="val 12500"/>
            </a:avLst>
          </a:prstGeom>
          <a:solidFill>
            <a:srgbClr val="EFF6FF"/>
          </a:solidFill>
          <a:ln w="12700">
            <a:solidFill>
              <a:srgbClr val="BFDBFE"/>
            </a:solidFill>
            <a:prstDash val="solid"/>
          </a:ln>
        </p:spPr>
        <p:txBody>
          <a:bodyPr/>
          <a:lstStyle/>
          <a:p>
            <a:endParaRPr lang="en-US"/>
          </a:p>
        </p:txBody>
      </p:sp>
      <p:sp>
        <p:nvSpPr>
          <p:cNvPr id="8" name="Text 5"/>
          <p:cNvSpPr/>
          <p:nvPr/>
        </p:nvSpPr>
        <p:spPr>
          <a:xfrm>
            <a:off x="5532120" y="1938528"/>
            <a:ext cx="3291840" cy="182880"/>
          </a:xfrm>
          <a:prstGeom prst="rect">
            <a:avLst/>
          </a:prstGeom>
          <a:noFill/>
          <a:ln/>
        </p:spPr>
        <p:txBody>
          <a:bodyPr wrap="square" lIns="0" tIns="0" rIns="0" bIns="0" rtlCol="0" anchor="ctr"/>
          <a:lstStyle/>
          <a:p>
            <a:pPr marL="0" indent="0">
              <a:buNone/>
            </a:pPr>
            <a:r>
              <a:rPr lang="en-US" sz="1100" b="1" dirty="0">
                <a:solidFill>
                  <a:srgbClr val="1E3A5F"/>
                </a:solidFill>
              </a:rPr>
              <a:t>Jira JQL tightening</a:t>
            </a:r>
            <a:endParaRPr lang="en-US" sz="1100" dirty="0"/>
          </a:p>
        </p:txBody>
      </p:sp>
      <p:sp>
        <p:nvSpPr>
          <p:cNvPr id="9" name="Text 6"/>
          <p:cNvSpPr/>
          <p:nvPr/>
        </p:nvSpPr>
        <p:spPr>
          <a:xfrm>
            <a:off x="5532120" y="2130552"/>
            <a:ext cx="3291840" cy="164592"/>
          </a:xfrm>
          <a:prstGeom prst="rect">
            <a:avLst/>
          </a:prstGeom>
          <a:noFill/>
          <a:ln/>
        </p:spPr>
        <p:txBody>
          <a:bodyPr wrap="square" lIns="0" tIns="0" rIns="0" bIns="0" rtlCol="0" anchor="ctr"/>
          <a:lstStyle/>
          <a:p>
            <a:pPr marL="0" indent="0">
              <a:buNone/>
            </a:pPr>
            <a:r>
              <a:rPr lang="en-US" sz="950" dirty="0">
                <a:solidFill>
                  <a:srgbClr val="1E3A5F"/>
                </a:solidFill>
              </a:rPr>
              <a:t>saves ~30,000 tokens</a:t>
            </a:r>
            <a:endParaRPr lang="en-US" sz="950" dirty="0"/>
          </a:p>
        </p:txBody>
      </p:sp>
      <p:sp>
        <p:nvSpPr>
          <p:cNvPr id="10" name="Shape 7"/>
          <p:cNvSpPr/>
          <p:nvPr/>
        </p:nvSpPr>
        <p:spPr>
          <a:xfrm>
            <a:off x="5349240" y="2414016"/>
            <a:ext cx="3566160" cy="438912"/>
          </a:xfrm>
          <a:prstGeom prst="roundRect">
            <a:avLst>
              <a:gd name="adj" fmla="val 12500"/>
            </a:avLst>
          </a:prstGeom>
          <a:solidFill>
            <a:srgbClr val="FFFBEB"/>
          </a:solidFill>
          <a:ln w="12700">
            <a:solidFill>
              <a:srgbClr val="FDE68A"/>
            </a:solidFill>
            <a:prstDash val="solid"/>
          </a:ln>
        </p:spPr>
        <p:txBody>
          <a:bodyPr/>
          <a:lstStyle/>
          <a:p>
            <a:endParaRPr lang="en-US"/>
          </a:p>
        </p:txBody>
      </p:sp>
      <p:sp>
        <p:nvSpPr>
          <p:cNvPr id="11" name="Text 8"/>
          <p:cNvSpPr/>
          <p:nvPr/>
        </p:nvSpPr>
        <p:spPr>
          <a:xfrm>
            <a:off x="5532120" y="2450592"/>
            <a:ext cx="3291840" cy="182880"/>
          </a:xfrm>
          <a:prstGeom prst="rect">
            <a:avLst/>
          </a:prstGeom>
          <a:noFill/>
          <a:ln/>
        </p:spPr>
        <p:txBody>
          <a:bodyPr wrap="square" lIns="0" tIns="0" rIns="0" bIns="0" rtlCol="0" anchor="ctr"/>
          <a:lstStyle/>
          <a:p>
            <a:pPr marL="0" indent="0">
              <a:buNone/>
            </a:pPr>
            <a:r>
              <a:rPr lang="en-US" sz="1100" b="1" dirty="0">
                <a:solidFill>
                  <a:srgbClr val="92400E"/>
                </a:solidFill>
              </a:rPr>
              <a:t>Scribe/Learner context trim</a:t>
            </a:r>
            <a:endParaRPr lang="en-US" sz="1100" dirty="0"/>
          </a:p>
        </p:txBody>
      </p:sp>
      <p:sp>
        <p:nvSpPr>
          <p:cNvPr id="12" name="Text 9"/>
          <p:cNvSpPr/>
          <p:nvPr/>
        </p:nvSpPr>
        <p:spPr>
          <a:xfrm>
            <a:off x="5532120" y="2642616"/>
            <a:ext cx="3291840" cy="164592"/>
          </a:xfrm>
          <a:prstGeom prst="rect">
            <a:avLst/>
          </a:prstGeom>
          <a:noFill/>
          <a:ln/>
        </p:spPr>
        <p:txBody>
          <a:bodyPr wrap="square" lIns="0" tIns="0" rIns="0" bIns="0" rtlCol="0" anchor="ctr"/>
          <a:lstStyle/>
          <a:p>
            <a:pPr marL="0" indent="0">
              <a:buNone/>
            </a:pPr>
            <a:r>
              <a:rPr lang="en-US" sz="950" dirty="0">
                <a:solidFill>
                  <a:srgbClr val="92400E"/>
                </a:solidFill>
              </a:rPr>
              <a:t>saves ~6,000 tokens</a:t>
            </a:r>
            <a:endParaRPr lang="en-US" sz="950" dirty="0"/>
          </a:p>
        </p:txBody>
      </p:sp>
      <p:sp>
        <p:nvSpPr>
          <p:cNvPr id="13" name="Shape 10"/>
          <p:cNvSpPr/>
          <p:nvPr/>
        </p:nvSpPr>
        <p:spPr>
          <a:xfrm>
            <a:off x="5349240" y="2926080"/>
            <a:ext cx="3566160" cy="438912"/>
          </a:xfrm>
          <a:prstGeom prst="roundRect">
            <a:avLst>
              <a:gd name="adj" fmla="val 12500"/>
            </a:avLst>
          </a:prstGeom>
          <a:solidFill>
            <a:srgbClr val="F5F3FF"/>
          </a:solidFill>
          <a:ln w="12700">
            <a:solidFill>
              <a:srgbClr val="DDD6FE"/>
            </a:solidFill>
            <a:prstDash val="solid"/>
          </a:ln>
        </p:spPr>
        <p:txBody>
          <a:bodyPr/>
          <a:lstStyle/>
          <a:p>
            <a:endParaRPr lang="en-US"/>
          </a:p>
        </p:txBody>
      </p:sp>
      <p:sp>
        <p:nvSpPr>
          <p:cNvPr id="14" name="Text 11"/>
          <p:cNvSpPr/>
          <p:nvPr/>
        </p:nvSpPr>
        <p:spPr>
          <a:xfrm>
            <a:off x="5532120" y="2962656"/>
            <a:ext cx="3291840" cy="182880"/>
          </a:xfrm>
          <a:prstGeom prst="rect">
            <a:avLst/>
          </a:prstGeom>
          <a:noFill/>
          <a:ln/>
        </p:spPr>
        <p:txBody>
          <a:bodyPr wrap="square" lIns="0" tIns="0" rIns="0" bIns="0" rtlCol="0" anchor="ctr"/>
          <a:lstStyle/>
          <a:p>
            <a:pPr marL="0" indent="0">
              <a:buNone/>
            </a:pPr>
            <a:r>
              <a:rPr lang="en-US" sz="1100" b="1" dirty="0">
                <a:solidFill>
                  <a:srgbClr val="5B21B6"/>
                </a:solidFill>
              </a:rPr>
              <a:t>Tiered model strategy</a:t>
            </a:r>
            <a:endParaRPr lang="en-US" sz="1100" dirty="0"/>
          </a:p>
        </p:txBody>
      </p:sp>
      <p:sp>
        <p:nvSpPr>
          <p:cNvPr id="15" name="Text 12"/>
          <p:cNvSpPr/>
          <p:nvPr/>
        </p:nvSpPr>
        <p:spPr>
          <a:xfrm>
            <a:off x="5532120" y="3154680"/>
            <a:ext cx="3291840" cy="164592"/>
          </a:xfrm>
          <a:prstGeom prst="rect">
            <a:avLst/>
          </a:prstGeom>
          <a:noFill/>
          <a:ln/>
        </p:spPr>
        <p:txBody>
          <a:bodyPr wrap="square" lIns="0" tIns="0" rIns="0" bIns="0" rtlCol="0" anchor="ctr"/>
          <a:lstStyle/>
          <a:p>
            <a:pPr marL="0" indent="0">
              <a:buNone/>
            </a:pPr>
            <a:r>
              <a:rPr lang="en-US" sz="950" dirty="0">
                <a:solidFill>
                  <a:srgbClr val="5B21B6"/>
                </a:solidFill>
              </a:rPr>
              <a:t>Haiku for Scribe/Learner · Sonnet for specialists</a:t>
            </a:r>
            <a:endParaRPr lang="en-US" sz="950" dirty="0"/>
          </a:p>
        </p:txBody>
      </p:sp>
      <p:sp>
        <p:nvSpPr>
          <p:cNvPr id="16" name="Shape 13"/>
          <p:cNvSpPr/>
          <p:nvPr/>
        </p:nvSpPr>
        <p:spPr>
          <a:xfrm>
            <a:off x="5349240" y="3438144"/>
            <a:ext cx="3566160" cy="438912"/>
          </a:xfrm>
          <a:prstGeom prst="roundRect">
            <a:avLst>
              <a:gd name="adj" fmla="val 12500"/>
            </a:avLst>
          </a:prstGeom>
          <a:solidFill>
            <a:srgbClr val="F0FDF4"/>
          </a:solidFill>
          <a:ln w="12700">
            <a:solidFill>
              <a:srgbClr val="BBF7D0"/>
            </a:solidFill>
            <a:prstDash val="solid"/>
          </a:ln>
        </p:spPr>
        <p:txBody>
          <a:bodyPr/>
          <a:lstStyle/>
          <a:p>
            <a:endParaRPr lang="en-US"/>
          </a:p>
        </p:txBody>
      </p:sp>
      <p:sp>
        <p:nvSpPr>
          <p:cNvPr id="17" name="Text 14"/>
          <p:cNvSpPr/>
          <p:nvPr/>
        </p:nvSpPr>
        <p:spPr>
          <a:xfrm>
            <a:off x="5532120" y="3474720"/>
            <a:ext cx="3291840" cy="182880"/>
          </a:xfrm>
          <a:prstGeom prst="rect">
            <a:avLst/>
          </a:prstGeom>
          <a:noFill/>
          <a:ln/>
        </p:spPr>
        <p:txBody>
          <a:bodyPr wrap="square" lIns="0" tIns="0" rIns="0" bIns="0" rtlCol="0" anchor="ctr"/>
          <a:lstStyle/>
          <a:p>
            <a:pPr marL="0" indent="0">
              <a:buNone/>
            </a:pPr>
            <a:r>
              <a:rPr lang="en-US" sz="1100" b="1" dirty="0">
                <a:solidFill>
                  <a:srgbClr val="14532D"/>
                </a:solidFill>
              </a:rPr>
              <a:t>Shared base prompt dedup</a:t>
            </a:r>
            <a:endParaRPr lang="en-US" sz="1100" dirty="0"/>
          </a:p>
        </p:txBody>
      </p:sp>
      <p:sp>
        <p:nvSpPr>
          <p:cNvPr id="18" name="Text 15"/>
          <p:cNvSpPr/>
          <p:nvPr/>
        </p:nvSpPr>
        <p:spPr>
          <a:xfrm>
            <a:off x="5532120" y="3666744"/>
            <a:ext cx="3291840" cy="164592"/>
          </a:xfrm>
          <a:prstGeom prst="rect">
            <a:avLst/>
          </a:prstGeom>
          <a:noFill/>
          <a:ln/>
        </p:spPr>
        <p:txBody>
          <a:bodyPr wrap="square" lIns="0" tIns="0" rIns="0" bIns="0" rtlCol="0" anchor="ctr"/>
          <a:lstStyle/>
          <a:p>
            <a:pPr marL="0" indent="0">
              <a:buNone/>
            </a:pPr>
            <a:r>
              <a:rPr lang="en-US" sz="950" dirty="0">
                <a:solidFill>
                  <a:srgbClr val="14532D"/>
                </a:solidFill>
              </a:rPr>
              <a:t>saves ~5,000 tokens</a:t>
            </a:r>
            <a:endParaRPr lang="en-US" sz="950" dirty="0"/>
          </a:p>
        </p:txBody>
      </p:sp>
      <p:sp>
        <p:nvSpPr>
          <p:cNvPr id="19" name="Shape 16"/>
          <p:cNvSpPr/>
          <p:nvPr/>
        </p:nvSpPr>
        <p:spPr>
          <a:xfrm>
            <a:off x="5349240" y="3950208"/>
            <a:ext cx="3566160" cy="438912"/>
          </a:xfrm>
          <a:prstGeom prst="roundRect">
            <a:avLst>
              <a:gd name="adj" fmla="val 12500"/>
            </a:avLst>
          </a:prstGeom>
          <a:solidFill>
            <a:srgbClr val="F9FAFB"/>
          </a:solidFill>
          <a:ln w="12700">
            <a:solidFill>
              <a:srgbClr val="E5E7EB"/>
            </a:solidFill>
            <a:prstDash val="solid"/>
          </a:ln>
        </p:spPr>
        <p:txBody>
          <a:bodyPr/>
          <a:lstStyle/>
          <a:p>
            <a:endParaRPr lang="en-US"/>
          </a:p>
        </p:txBody>
      </p:sp>
      <p:sp>
        <p:nvSpPr>
          <p:cNvPr id="20" name="Text 17"/>
          <p:cNvSpPr/>
          <p:nvPr/>
        </p:nvSpPr>
        <p:spPr>
          <a:xfrm>
            <a:off x="5532120" y="3986784"/>
            <a:ext cx="3291840" cy="182880"/>
          </a:xfrm>
          <a:prstGeom prst="rect">
            <a:avLst/>
          </a:prstGeom>
          <a:noFill/>
          <a:ln/>
        </p:spPr>
        <p:txBody>
          <a:bodyPr wrap="square" lIns="0" tIns="0" rIns="0" bIns="0" rtlCol="0" anchor="ctr"/>
          <a:lstStyle/>
          <a:p>
            <a:pPr marL="0" indent="0">
              <a:buNone/>
            </a:pPr>
            <a:r>
              <a:rPr lang="en-US" sz="1100" b="1" dirty="0">
                <a:solidFill>
                  <a:srgbClr val="6B7280"/>
                </a:solidFill>
              </a:rPr>
              <a:t>Prompt caching (planned)</a:t>
            </a:r>
            <a:endParaRPr lang="en-US" sz="1100" dirty="0"/>
          </a:p>
        </p:txBody>
      </p:sp>
      <p:sp>
        <p:nvSpPr>
          <p:cNvPr id="21" name="Text 18"/>
          <p:cNvSpPr/>
          <p:nvPr/>
        </p:nvSpPr>
        <p:spPr>
          <a:xfrm>
            <a:off x="5532120" y="4178808"/>
            <a:ext cx="3291840" cy="164592"/>
          </a:xfrm>
          <a:prstGeom prst="rect">
            <a:avLst/>
          </a:prstGeom>
          <a:noFill/>
          <a:ln/>
        </p:spPr>
        <p:txBody>
          <a:bodyPr wrap="square" lIns="0" tIns="0" rIns="0" bIns="0" rtlCol="0" anchor="ctr"/>
          <a:lstStyle/>
          <a:p>
            <a:pPr marL="0" indent="0">
              <a:buNone/>
            </a:pPr>
            <a:r>
              <a:rPr lang="en-US" sz="950" dirty="0">
                <a:solidFill>
                  <a:srgbClr val="6B7280"/>
                </a:solidFill>
              </a:rPr>
              <a:t>saves 90% on system prompts</a:t>
            </a:r>
            <a:endParaRPr lang="en-US" sz="950" dirty="0"/>
          </a:p>
        </p:txBody>
      </p:sp>
      <p:sp>
        <p:nvSpPr>
          <p:cNvPr id="22" name="Shape 19"/>
          <p:cNvSpPr/>
          <p:nvPr/>
        </p:nvSpPr>
        <p:spPr>
          <a:xfrm>
            <a:off x="457200" y="4572000"/>
            <a:ext cx="8458200" cy="347472"/>
          </a:xfrm>
          <a:prstGeom prst="rect">
            <a:avLst/>
          </a:prstGeom>
          <a:solidFill>
            <a:srgbClr val="F0FDF4"/>
          </a:solidFill>
          <a:ln w="12700">
            <a:solidFill>
              <a:srgbClr val="BBF7D0"/>
            </a:solidFill>
            <a:prstDash val="solid"/>
          </a:ln>
        </p:spPr>
        <p:txBody>
          <a:bodyPr/>
          <a:lstStyle/>
          <a:p>
            <a:endParaRPr lang="en-US"/>
          </a:p>
        </p:txBody>
      </p:sp>
      <p:sp>
        <p:nvSpPr>
          <p:cNvPr id="23" name="Text 20"/>
          <p:cNvSpPr/>
          <p:nvPr/>
        </p:nvSpPr>
        <p:spPr>
          <a:xfrm>
            <a:off x="457200" y="4572000"/>
            <a:ext cx="8458200" cy="347472"/>
          </a:xfrm>
          <a:prstGeom prst="rect">
            <a:avLst/>
          </a:prstGeom>
          <a:noFill/>
          <a:ln/>
        </p:spPr>
        <p:txBody>
          <a:bodyPr wrap="square" lIns="0" tIns="0" rIns="0" bIns="0" rtlCol="0" anchor="ctr"/>
          <a:lstStyle/>
          <a:p>
            <a:pPr marL="0" indent="0" algn="ctr">
              <a:buNone/>
            </a:pPr>
            <a:r>
              <a:rPr lang="en-US" sz="1050" b="1" i="1" dirty="0">
                <a:solidFill>
                  <a:srgbClr val="166534"/>
                </a:solidFill>
              </a:rPr>
              <a:t>Live run (Jul 2026):  55.4k tokens · $0.221 · 1m 37s · 8 agents (Designer skipped)   ·   Tiered model: Sonnet for specialists + Judge, Haiku for Scribe &amp; Learner · Skills library + episodic memory active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82880"/>
            <a:ext cx="8229600" cy="182880"/>
          </a:xfrm>
          <a:prstGeom prst="rect">
            <a:avLst/>
          </a:prstGeom>
          <a:noFill/>
          <a:ln/>
        </p:spPr>
        <p:txBody>
          <a:bodyPr wrap="square" rtlCol="0" anchor="ctr"/>
          <a:lstStyle/>
          <a:p>
            <a:pPr marL="0" indent="0">
              <a:buNone/>
            </a:pPr>
            <a:r>
              <a:rPr lang="en-US" sz="900" b="1" kern="0" spc="300" dirty="0">
                <a:solidFill>
                  <a:srgbClr val="0891B2"/>
                </a:solidFill>
              </a:rPr>
              <a:t>ROADMAP</a:t>
            </a:r>
            <a:endParaRPr lang="en-US" sz="900" dirty="0"/>
          </a:p>
        </p:txBody>
      </p:sp>
      <p:sp>
        <p:nvSpPr>
          <p:cNvPr id="3" name="Text 1"/>
          <p:cNvSpPr/>
          <p:nvPr/>
        </p:nvSpPr>
        <p:spPr>
          <a:xfrm>
            <a:off x="457200" y="384048"/>
            <a:ext cx="8229600" cy="411480"/>
          </a:xfrm>
          <a:prstGeom prst="rect">
            <a:avLst/>
          </a:prstGeom>
          <a:noFill/>
          <a:ln/>
        </p:spPr>
        <p:txBody>
          <a:bodyPr wrap="square" rtlCol="0" anchor="ctr"/>
          <a:lstStyle/>
          <a:p>
            <a:pPr marL="0" indent="0">
              <a:buNone/>
            </a:pPr>
            <a:r>
              <a:rPr lang="en-US" sz="2600" b="1" dirty="0">
                <a:solidFill>
                  <a:srgbClr val="1A1A1A"/>
                </a:solidFill>
              </a:rPr>
              <a:t>Engineered to deepen over time — not a one-shot tool</a:t>
            </a:r>
            <a:endParaRPr lang="en-US" sz="2600" dirty="0"/>
          </a:p>
        </p:txBody>
      </p:sp>
      <p:sp>
        <p:nvSpPr>
          <p:cNvPr id="4" name="Shape 2"/>
          <p:cNvSpPr/>
          <p:nvPr/>
        </p:nvSpPr>
        <p:spPr>
          <a:xfrm>
            <a:off x="274320" y="932688"/>
            <a:ext cx="5486400" cy="292608"/>
          </a:xfrm>
          <a:prstGeom prst="roundRect">
            <a:avLst>
              <a:gd name="adj" fmla="val 15625"/>
            </a:avLst>
          </a:prstGeom>
          <a:solidFill>
            <a:srgbClr val="2E7D32"/>
          </a:solidFill>
          <a:ln w="12700">
            <a:solidFill>
              <a:srgbClr val="2E7D32"/>
            </a:solidFill>
            <a:prstDash val="solid"/>
          </a:ln>
        </p:spPr>
        <p:txBody>
          <a:bodyPr/>
          <a:lstStyle/>
          <a:p>
            <a:endParaRPr lang="en-US"/>
          </a:p>
        </p:txBody>
      </p:sp>
      <p:sp>
        <p:nvSpPr>
          <p:cNvPr id="5" name="Text 3"/>
          <p:cNvSpPr/>
          <p:nvPr/>
        </p:nvSpPr>
        <p:spPr>
          <a:xfrm>
            <a:off x="1508760" y="920496"/>
            <a:ext cx="2651760" cy="292608"/>
          </a:xfrm>
          <a:prstGeom prst="rect">
            <a:avLst/>
          </a:prstGeom>
          <a:noFill/>
          <a:ln/>
        </p:spPr>
        <p:txBody>
          <a:bodyPr wrap="square" rtlCol="0" anchor="ctr"/>
          <a:lstStyle/>
          <a:p>
            <a:pPr marL="0" indent="0" algn="ctr">
              <a:buNone/>
            </a:pPr>
            <a:r>
              <a:rPr lang="en-US" sz="1100" b="1" dirty="0">
                <a:solidFill>
                  <a:srgbClr val="FFFFFF"/>
                </a:solidFill>
              </a:rPr>
              <a:t>Now — done</a:t>
            </a:r>
            <a:endParaRPr lang="en-US" sz="1100" dirty="0"/>
          </a:p>
        </p:txBody>
      </p:sp>
      <p:sp>
        <p:nvSpPr>
          <p:cNvPr id="6" name="Shape 4"/>
          <p:cNvSpPr/>
          <p:nvPr/>
        </p:nvSpPr>
        <p:spPr>
          <a:xfrm>
            <a:off x="274320" y="1316736"/>
            <a:ext cx="265176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7" name="Text 5"/>
          <p:cNvSpPr/>
          <p:nvPr/>
        </p:nvSpPr>
        <p:spPr>
          <a:xfrm>
            <a:off x="365760" y="1316736"/>
            <a:ext cx="2468880" cy="329184"/>
          </a:xfrm>
          <a:prstGeom prst="rect">
            <a:avLst/>
          </a:prstGeom>
          <a:noFill/>
          <a:ln/>
        </p:spPr>
        <p:txBody>
          <a:bodyPr wrap="square" rtlCol="0" anchor="ctr"/>
          <a:lstStyle/>
          <a:p>
            <a:pPr marL="0" indent="0">
              <a:buNone/>
            </a:pPr>
            <a:r>
              <a:rPr lang="en-US" sz="1000" dirty="0">
                <a:solidFill>
                  <a:srgbClr val="1A1A1A"/>
                </a:solidFill>
              </a:rPr>
              <a:t>✓  Cross-session Jira memory</a:t>
            </a:r>
            <a:endParaRPr lang="en-US" sz="1000" dirty="0"/>
          </a:p>
        </p:txBody>
      </p:sp>
      <p:sp>
        <p:nvSpPr>
          <p:cNvPr id="8" name="Shape 6"/>
          <p:cNvSpPr/>
          <p:nvPr/>
        </p:nvSpPr>
        <p:spPr>
          <a:xfrm>
            <a:off x="274320" y="1700784"/>
            <a:ext cx="265176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9" name="Text 7"/>
          <p:cNvSpPr/>
          <p:nvPr/>
        </p:nvSpPr>
        <p:spPr>
          <a:xfrm>
            <a:off x="365760" y="1700784"/>
            <a:ext cx="2468880" cy="329184"/>
          </a:xfrm>
          <a:prstGeom prst="rect">
            <a:avLst/>
          </a:prstGeom>
          <a:noFill/>
          <a:ln/>
        </p:spPr>
        <p:txBody>
          <a:bodyPr wrap="square" rtlCol="0" anchor="ctr"/>
          <a:lstStyle/>
          <a:p>
            <a:pPr marL="0" indent="0">
              <a:buNone/>
            </a:pPr>
            <a:r>
              <a:rPr lang="en-US" sz="1000" dirty="0">
                <a:solidFill>
                  <a:srgbClr val="1A1A1A"/>
                </a:solidFill>
              </a:rPr>
              <a:t>✓  SI failure pattern library</a:t>
            </a:r>
            <a:endParaRPr lang="en-US" sz="1000" dirty="0"/>
          </a:p>
        </p:txBody>
      </p:sp>
      <p:sp>
        <p:nvSpPr>
          <p:cNvPr id="10" name="Shape 8"/>
          <p:cNvSpPr/>
          <p:nvPr/>
        </p:nvSpPr>
        <p:spPr>
          <a:xfrm>
            <a:off x="274320" y="2084832"/>
            <a:ext cx="265176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11" name="Text 9"/>
          <p:cNvSpPr/>
          <p:nvPr/>
        </p:nvSpPr>
        <p:spPr>
          <a:xfrm>
            <a:off x="365760" y="2084832"/>
            <a:ext cx="2468880" cy="329184"/>
          </a:xfrm>
          <a:prstGeom prst="rect">
            <a:avLst/>
          </a:prstGeom>
          <a:noFill/>
          <a:ln/>
        </p:spPr>
        <p:txBody>
          <a:bodyPr wrap="square" rtlCol="0" anchor="ctr"/>
          <a:lstStyle/>
          <a:p>
            <a:pPr marL="0" indent="0">
              <a:buNone/>
            </a:pPr>
            <a:r>
              <a:rPr lang="en-US" sz="1000" dirty="0">
                <a:solidFill>
                  <a:srgbClr val="1A1A1A"/>
                </a:solidFill>
              </a:rPr>
              <a:t>✓  Confidence badges + endorsement</a:t>
            </a:r>
            <a:endParaRPr lang="en-US" sz="1000" dirty="0"/>
          </a:p>
        </p:txBody>
      </p:sp>
      <p:sp>
        <p:nvSpPr>
          <p:cNvPr id="12" name="Shape 10"/>
          <p:cNvSpPr/>
          <p:nvPr/>
        </p:nvSpPr>
        <p:spPr>
          <a:xfrm>
            <a:off x="274320" y="2468880"/>
            <a:ext cx="265176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13" name="Text 11"/>
          <p:cNvSpPr/>
          <p:nvPr/>
        </p:nvSpPr>
        <p:spPr>
          <a:xfrm>
            <a:off x="365760" y="2468880"/>
            <a:ext cx="2468880" cy="329184"/>
          </a:xfrm>
          <a:prstGeom prst="rect">
            <a:avLst/>
          </a:prstGeom>
          <a:noFill/>
          <a:ln/>
        </p:spPr>
        <p:txBody>
          <a:bodyPr wrap="square" rtlCol="0" anchor="ctr"/>
          <a:lstStyle/>
          <a:p>
            <a:pPr marL="0" indent="0">
              <a:buNone/>
            </a:pPr>
            <a:r>
              <a:rPr lang="en-US" sz="1000" dirty="0">
                <a:solidFill>
                  <a:srgbClr val="1A1A1A"/>
                </a:solidFill>
              </a:rPr>
              <a:t>✓  Salesforce org metadata injection</a:t>
            </a:r>
            <a:endParaRPr lang="en-US" sz="1000" dirty="0"/>
          </a:p>
        </p:txBody>
      </p:sp>
      <p:sp>
        <p:nvSpPr>
          <p:cNvPr id="14" name="Shape 12"/>
          <p:cNvSpPr/>
          <p:nvPr/>
        </p:nvSpPr>
        <p:spPr>
          <a:xfrm>
            <a:off x="274320" y="2852928"/>
            <a:ext cx="265176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15" name="Text 13"/>
          <p:cNvSpPr/>
          <p:nvPr/>
        </p:nvSpPr>
        <p:spPr>
          <a:xfrm>
            <a:off x="365760" y="2852928"/>
            <a:ext cx="2468880" cy="329184"/>
          </a:xfrm>
          <a:prstGeom prst="rect">
            <a:avLst/>
          </a:prstGeom>
          <a:noFill/>
          <a:ln/>
        </p:spPr>
        <p:txBody>
          <a:bodyPr wrap="square" rtlCol="0" anchor="ctr"/>
          <a:lstStyle/>
          <a:p>
            <a:pPr marL="0" indent="0">
              <a:buNone/>
            </a:pPr>
            <a:r>
              <a:rPr lang="en-US" sz="1000" dirty="0">
                <a:solidFill>
                  <a:srgbClr val="1A1A1A"/>
                </a:solidFill>
              </a:rPr>
              <a:t>✓  Supabase cost analytics</a:t>
            </a:r>
            <a:endParaRPr lang="en-US" sz="1000" dirty="0"/>
          </a:p>
        </p:txBody>
      </p:sp>
      <p:sp>
        <p:nvSpPr>
          <p:cNvPr id="18" name="Shape 16"/>
          <p:cNvSpPr/>
          <p:nvPr/>
        </p:nvSpPr>
        <p:spPr>
          <a:xfrm>
            <a:off x="3108960" y="1316736"/>
            <a:ext cx="265176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19" name="Text 17"/>
          <p:cNvSpPr/>
          <p:nvPr/>
        </p:nvSpPr>
        <p:spPr>
          <a:xfrm>
            <a:off x="3200400" y="1316736"/>
            <a:ext cx="2468880" cy="329184"/>
          </a:xfrm>
          <a:prstGeom prst="rect">
            <a:avLst/>
          </a:prstGeom>
          <a:noFill/>
          <a:ln/>
        </p:spPr>
        <p:txBody>
          <a:bodyPr wrap="square" rtlCol="0" anchor="ctr"/>
          <a:lstStyle/>
          <a:p>
            <a:pPr marL="0" indent="0">
              <a:buNone/>
            </a:pPr>
            <a:r>
              <a:rPr lang="en-US" sz="1000" dirty="0">
                <a:solidFill>
                  <a:srgbClr val="1A1A1A"/>
                </a:solidFill>
              </a:rPr>
              <a:t>✓  Document review mode</a:t>
            </a:r>
            <a:endParaRPr lang="en-US" sz="1000" dirty="0"/>
          </a:p>
        </p:txBody>
      </p:sp>
      <p:sp>
        <p:nvSpPr>
          <p:cNvPr id="20" name="Shape 18"/>
          <p:cNvSpPr/>
          <p:nvPr/>
        </p:nvSpPr>
        <p:spPr>
          <a:xfrm>
            <a:off x="3108960" y="1700784"/>
            <a:ext cx="265176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21" name="Text 19"/>
          <p:cNvSpPr/>
          <p:nvPr/>
        </p:nvSpPr>
        <p:spPr>
          <a:xfrm>
            <a:off x="3200400" y="1700784"/>
            <a:ext cx="2468880" cy="329184"/>
          </a:xfrm>
          <a:prstGeom prst="rect">
            <a:avLst/>
          </a:prstGeom>
          <a:noFill/>
          <a:ln/>
        </p:spPr>
        <p:txBody>
          <a:bodyPr wrap="square" rtlCol="0" anchor="ctr"/>
          <a:lstStyle/>
          <a:p>
            <a:pPr marL="0" indent="0">
              <a:buNone/>
            </a:pPr>
            <a:r>
              <a:rPr lang="en-US" sz="1000" dirty="0">
                <a:solidFill>
                  <a:srgbClr val="1A1A1A"/>
                </a:solidFill>
              </a:rPr>
              <a:t>✓  Well-Architected principles</a:t>
            </a:r>
            <a:endParaRPr lang="en-US" sz="1000" dirty="0"/>
          </a:p>
        </p:txBody>
      </p:sp>
      <p:sp>
        <p:nvSpPr>
          <p:cNvPr id="22" name="Shape 20"/>
          <p:cNvSpPr/>
          <p:nvPr/>
        </p:nvSpPr>
        <p:spPr>
          <a:xfrm>
            <a:off x="3108960" y="2084832"/>
            <a:ext cx="265176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23" name="Text 21"/>
          <p:cNvSpPr/>
          <p:nvPr/>
        </p:nvSpPr>
        <p:spPr>
          <a:xfrm>
            <a:off x="3200400" y="2084832"/>
            <a:ext cx="2468880" cy="329184"/>
          </a:xfrm>
          <a:prstGeom prst="rect">
            <a:avLst/>
          </a:prstGeom>
          <a:noFill/>
          <a:ln/>
        </p:spPr>
        <p:txBody>
          <a:bodyPr wrap="square" rtlCol="0" anchor="ctr"/>
          <a:lstStyle/>
          <a:p>
            <a:pPr marL="0" indent="0">
              <a:buNone/>
            </a:pPr>
            <a:r>
              <a:rPr lang="en-US" sz="1000" dirty="0">
                <a:solidFill>
                  <a:srgbClr val="1A1A1A"/>
                </a:solidFill>
              </a:rPr>
              <a:t>✓  Token optimisations (3 fixes)</a:t>
            </a:r>
            <a:endParaRPr lang="en-US" sz="1000" dirty="0"/>
          </a:p>
        </p:txBody>
      </p:sp>
      <p:sp>
        <p:nvSpPr>
          <p:cNvPr id="24" name="Shape 22"/>
          <p:cNvSpPr/>
          <p:nvPr/>
        </p:nvSpPr>
        <p:spPr>
          <a:xfrm>
            <a:off x="3108960" y="2468880"/>
            <a:ext cx="265176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25" name="Text 23"/>
          <p:cNvSpPr/>
          <p:nvPr/>
        </p:nvSpPr>
        <p:spPr>
          <a:xfrm>
            <a:off x="3200400" y="2468880"/>
            <a:ext cx="2468880" cy="329184"/>
          </a:xfrm>
          <a:prstGeom prst="rect">
            <a:avLst/>
          </a:prstGeom>
          <a:noFill/>
          <a:ln/>
        </p:spPr>
        <p:txBody>
          <a:bodyPr wrap="square" rtlCol="0" anchor="ctr"/>
          <a:lstStyle/>
          <a:p>
            <a:pPr marL="0" indent="0">
              <a:buNone/>
            </a:pPr>
            <a:r>
              <a:rPr lang="en-US" sz="1000" dirty="0">
                <a:solidFill>
                  <a:srgbClr val="1A1A1A"/>
                </a:solidFill>
              </a:rPr>
              <a:t>✓  Gated endorsement — Jira assign</a:t>
            </a:r>
            <a:endParaRPr lang="en-US" sz="1000" dirty="0"/>
          </a:p>
        </p:txBody>
      </p:sp>
      <p:sp>
        <p:nvSpPr>
          <p:cNvPr id="26" name="Shape 24"/>
          <p:cNvSpPr/>
          <p:nvPr/>
        </p:nvSpPr>
        <p:spPr>
          <a:xfrm>
            <a:off x="3108960" y="2852928"/>
            <a:ext cx="265176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27" name="Text 25"/>
          <p:cNvSpPr/>
          <p:nvPr/>
        </p:nvSpPr>
        <p:spPr>
          <a:xfrm>
            <a:off x="3200400" y="2852928"/>
            <a:ext cx="2468880" cy="329184"/>
          </a:xfrm>
          <a:prstGeom prst="rect">
            <a:avLst/>
          </a:prstGeom>
          <a:noFill/>
          <a:ln/>
        </p:spPr>
        <p:txBody>
          <a:bodyPr wrap="square" rtlCol="0" anchor="ctr"/>
          <a:lstStyle/>
          <a:p>
            <a:pPr marL="0" indent="0">
              <a:buNone/>
            </a:pPr>
            <a:r>
              <a:rPr lang="en-US" sz="1000" dirty="0">
                <a:solidFill>
                  <a:srgbClr val="1A1A1A"/>
                </a:solidFill>
              </a:rPr>
              <a:t>✓  Fix Revision Round + sf-data agent + Skills library + Episodic memory</a:t>
            </a:r>
            <a:endParaRPr lang="en-US" sz="1000" dirty="0"/>
          </a:p>
        </p:txBody>
      </p:sp>
      <p:sp>
        <p:nvSpPr>
          <p:cNvPr id="28" name="Shape 26"/>
          <p:cNvSpPr/>
          <p:nvPr/>
        </p:nvSpPr>
        <p:spPr>
          <a:xfrm>
            <a:off x="5943600" y="932688"/>
            <a:ext cx="2926080" cy="292608"/>
          </a:xfrm>
          <a:prstGeom prst="roundRect">
            <a:avLst>
              <a:gd name="adj" fmla="val 15625"/>
            </a:avLst>
          </a:prstGeom>
          <a:solidFill>
            <a:srgbClr val="BA7517"/>
          </a:solidFill>
          <a:ln w="12700">
            <a:solidFill>
              <a:srgbClr val="BA7517"/>
            </a:solidFill>
            <a:prstDash val="solid"/>
          </a:ln>
        </p:spPr>
        <p:txBody>
          <a:bodyPr/>
          <a:lstStyle/>
          <a:p>
            <a:endParaRPr lang="en-US"/>
          </a:p>
        </p:txBody>
      </p:sp>
      <p:sp>
        <p:nvSpPr>
          <p:cNvPr id="29" name="Text 27"/>
          <p:cNvSpPr/>
          <p:nvPr/>
        </p:nvSpPr>
        <p:spPr>
          <a:xfrm>
            <a:off x="5943600" y="932688"/>
            <a:ext cx="2926080" cy="292608"/>
          </a:xfrm>
          <a:prstGeom prst="rect">
            <a:avLst/>
          </a:prstGeom>
          <a:noFill/>
          <a:ln/>
        </p:spPr>
        <p:txBody>
          <a:bodyPr wrap="square" rtlCol="0" anchor="ctr"/>
          <a:lstStyle/>
          <a:p>
            <a:pPr marL="0" indent="0" algn="ctr">
              <a:buNone/>
            </a:pPr>
            <a:r>
              <a:rPr lang="en-US" sz="1100" b="1" dirty="0">
                <a:solidFill>
                  <a:srgbClr val="FFFFFF"/>
                </a:solidFill>
              </a:rPr>
              <a:t>Planned</a:t>
            </a:r>
            <a:endParaRPr lang="en-US" sz="1100" dirty="0"/>
          </a:p>
        </p:txBody>
      </p:sp>
      <p:sp>
        <p:nvSpPr>
          <p:cNvPr id="30" name="Shape 28"/>
          <p:cNvSpPr/>
          <p:nvPr/>
        </p:nvSpPr>
        <p:spPr>
          <a:xfrm>
            <a:off x="5943600" y="1316736"/>
            <a:ext cx="292608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31" name="Text 29"/>
          <p:cNvSpPr/>
          <p:nvPr/>
        </p:nvSpPr>
        <p:spPr>
          <a:xfrm>
            <a:off x="6035040" y="1316736"/>
            <a:ext cx="2743200" cy="329184"/>
          </a:xfrm>
          <a:prstGeom prst="rect">
            <a:avLst/>
          </a:prstGeom>
          <a:noFill/>
          <a:ln/>
        </p:spPr>
        <p:txBody>
          <a:bodyPr wrap="square" rtlCol="0" anchor="ctr"/>
          <a:lstStyle/>
          <a:p>
            <a:pPr marL="0" indent="0">
              <a:buNone/>
            </a:pPr>
            <a:r>
              <a:rPr lang="en-US" sz="1000" dirty="0">
                <a:solidFill>
                  <a:srgbClr val="1A1A1A"/>
                </a:solidFill>
              </a:rPr>
              <a:t xml:space="preserve">  pgvector — semantic org memory retrieval</a:t>
            </a:r>
            <a:endParaRPr lang="en-US" sz="1000" dirty="0"/>
          </a:p>
        </p:txBody>
      </p:sp>
      <p:sp>
        <p:nvSpPr>
          <p:cNvPr id="32" name="Shape 30"/>
          <p:cNvSpPr/>
          <p:nvPr/>
        </p:nvSpPr>
        <p:spPr>
          <a:xfrm>
            <a:off x="5943600" y="1700784"/>
            <a:ext cx="292608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33" name="Text 31"/>
          <p:cNvSpPr/>
          <p:nvPr/>
        </p:nvSpPr>
        <p:spPr>
          <a:xfrm>
            <a:off x="6035040" y="1700784"/>
            <a:ext cx="2743200" cy="329184"/>
          </a:xfrm>
          <a:prstGeom prst="rect">
            <a:avLst/>
          </a:prstGeom>
          <a:noFill/>
          <a:ln/>
        </p:spPr>
        <p:txBody>
          <a:bodyPr wrap="square" rtlCol="0" anchor="ctr"/>
          <a:lstStyle/>
          <a:p>
            <a:pPr marL="0" indent="0">
              <a:buNone/>
            </a:pPr>
            <a:r>
              <a:rPr lang="en-US" sz="1000" dirty="0">
                <a:solidFill>
                  <a:srgbClr val="1A1A1A"/>
                </a:solidFill>
              </a:rPr>
              <a:t xml:space="preserve"> Round 2 Rebuttal flow</a:t>
            </a:r>
            <a:endParaRPr lang="en-US" sz="1000" dirty="0"/>
          </a:p>
        </p:txBody>
      </p:sp>
      <p:sp>
        <p:nvSpPr>
          <p:cNvPr id="34" name="Shape 32"/>
          <p:cNvSpPr/>
          <p:nvPr/>
        </p:nvSpPr>
        <p:spPr>
          <a:xfrm>
            <a:off x="5943600" y="2084832"/>
            <a:ext cx="292608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35" name="Text 33"/>
          <p:cNvSpPr/>
          <p:nvPr/>
        </p:nvSpPr>
        <p:spPr>
          <a:xfrm>
            <a:off x="6035040" y="2084832"/>
            <a:ext cx="2743200" cy="329184"/>
          </a:xfrm>
          <a:prstGeom prst="rect">
            <a:avLst/>
          </a:prstGeom>
          <a:noFill/>
          <a:ln/>
        </p:spPr>
        <p:txBody>
          <a:bodyPr wrap="square" rtlCol="0" anchor="ctr"/>
          <a:lstStyle/>
          <a:p>
            <a:pPr marL="0" indent="0">
              <a:buNone/>
            </a:pPr>
            <a:r>
              <a:rPr lang="en-US" sz="1000" dirty="0">
                <a:solidFill>
                  <a:srgbClr val="1A1A1A"/>
                </a:solidFill>
              </a:rPr>
              <a:t xml:space="preserve"> Domain-agnostic multi-tenant config</a:t>
            </a:r>
            <a:endParaRPr lang="en-US" sz="1000" dirty="0"/>
          </a:p>
        </p:txBody>
      </p:sp>
      <p:sp>
        <p:nvSpPr>
          <p:cNvPr id="36" name="Shape 34"/>
          <p:cNvSpPr/>
          <p:nvPr/>
        </p:nvSpPr>
        <p:spPr>
          <a:xfrm>
            <a:off x="5943600" y="3275076"/>
            <a:ext cx="292608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37" name="Text 35"/>
          <p:cNvSpPr/>
          <p:nvPr/>
        </p:nvSpPr>
        <p:spPr>
          <a:xfrm>
            <a:off x="5943600" y="3293364"/>
            <a:ext cx="2743200" cy="329184"/>
          </a:xfrm>
          <a:prstGeom prst="rect">
            <a:avLst/>
          </a:prstGeom>
          <a:noFill/>
          <a:ln/>
        </p:spPr>
        <p:txBody>
          <a:bodyPr wrap="square" rtlCol="0" anchor="ctr"/>
          <a:lstStyle/>
          <a:p>
            <a:pPr marL="0" indent="0">
              <a:buNone/>
            </a:pPr>
            <a:r>
              <a:rPr lang="en-US" sz="1000" dirty="0">
                <a:solidFill>
                  <a:srgbClr val="1A1A1A"/>
                </a:solidFill>
              </a:rPr>
              <a:t xml:space="preserve"> Prompt caching (90% cost reduction)</a:t>
            </a:r>
            <a:endParaRPr lang="en-US" sz="1000" dirty="0"/>
          </a:p>
        </p:txBody>
      </p:sp>
      <p:sp>
        <p:nvSpPr>
          <p:cNvPr id="38" name="Shape 36"/>
          <p:cNvSpPr/>
          <p:nvPr/>
        </p:nvSpPr>
        <p:spPr>
          <a:xfrm>
            <a:off x="5943600" y="2852928"/>
            <a:ext cx="292608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39" name="Text 37"/>
          <p:cNvSpPr/>
          <p:nvPr/>
        </p:nvSpPr>
        <p:spPr>
          <a:xfrm>
            <a:off x="6035040" y="2852928"/>
            <a:ext cx="2743200" cy="329184"/>
          </a:xfrm>
          <a:prstGeom prst="rect">
            <a:avLst/>
          </a:prstGeom>
          <a:noFill/>
          <a:ln/>
        </p:spPr>
        <p:txBody>
          <a:bodyPr wrap="square" rtlCol="0" anchor="ctr"/>
          <a:lstStyle/>
          <a:p>
            <a:pPr marL="0" indent="0">
              <a:buNone/>
            </a:pPr>
            <a:r>
              <a:rPr lang="en-US" sz="1000" dirty="0">
                <a:solidFill>
                  <a:srgbClr val="1A1A1A"/>
                </a:solidFill>
              </a:rPr>
              <a:t xml:space="preserve"> Doc section routing per agent</a:t>
            </a:r>
            <a:endParaRPr lang="en-US" sz="1000" dirty="0"/>
          </a:p>
        </p:txBody>
      </p:sp>
      <p:sp>
        <p:nvSpPr>
          <p:cNvPr id="42" name="Shape 40"/>
          <p:cNvSpPr/>
          <p:nvPr/>
        </p:nvSpPr>
        <p:spPr>
          <a:xfrm>
            <a:off x="246888" y="3425952"/>
            <a:ext cx="2834640" cy="804672"/>
          </a:xfrm>
          <a:prstGeom prst="roundRect">
            <a:avLst>
              <a:gd name="adj" fmla="val 9091"/>
            </a:avLst>
          </a:prstGeom>
          <a:solidFill>
            <a:srgbClr val="F8FAFC"/>
          </a:solidFill>
          <a:ln w="12700">
            <a:solidFill>
              <a:srgbClr val="E2E8F0"/>
            </a:solidFill>
            <a:prstDash val="solid"/>
          </a:ln>
        </p:spPr>
        <p:txBody>
          <a:bodyPr/>
          <a:lstStyle/>
          <a:p>
            <a:endParaRPr lang="en-US"/>
          </a:p>
        </p:txBody>
      </p:sp>
      <p:sp>
        <p:nvSpPr>
          <p:cNvPr id="43" name="Text 41"/>
          <p:cNvSpPr/>
          <p:nvPr/>
        </p:nvSpPr>
        <p:spPr>
          <a:xfrm>
            <a:off x="356616" y="3480816"/>
            <a:ext cx="2615184" cy="201168"/>
          </a:xfrm>
          <a:prstGeom prst="rect">
            <a:avLst/>
          </a:prstGeom>
          <a:noFill/>
          <a:ln/>
        </p:spPr>
        <p:txBody>
          <a:bodyPr wrap="square" rtlCol="0" anchor="ctr"/>
          <a:lstStyle/>
          <a:p>
            <a:pPr marL="0" indent="0">
              <a:buNone/>
            </a:pPr>
            <a:r>
              <a:rPr lang="en-US" sz="1000" b="1" dirty="0">
                <a:solidFill>
                  <a:srgbClr val="BA7517"/>
                </a:solidFill>
              </a:rPr>
              <a:t>pgvector / Semantic Memory</a:t>
            </a:r>
            <a:endParaRPr lang="en-US" sz="1000" dirty="0"/>
          </a:p>
        </p:txBody>
      </p:sp>
      <p:sp>
        <p:nvSpPr>
          <p:cNvPr id="44" name="Text 42"/>
          <p:cNvSpPr/>
          <p:nvPr/>
        </p:nvSpPr>
        <p:spPr>
          <a:xfrm>
            <a:off x="356616" y="3700272"/>
            <a:ext cx="2615184" cy="475488"/>
          </a:xfrm>
          <a:prstGeom prst="rect">
            <a:avLst/>
          </a:prstGeom>
          <a:noFill/>
          <a:ln/>
        </p:spPr>
        <p:txBody>
          <a:bodyPr wrap="square" rtlCol="0" anchor="ctr"/>
          <a:lstStyle/>
          <a:p>
            <a:pPr marL="0" indent="0">
              <a:buNone/>
            </a:pPr>
            <a:r>
              <a:rPr lang="en-US" sz="900" dirty="0">
                <a:solidFill>
                  <a:srgbClr val="6B7280"/>
                </a:solidFill>
              </a:rPr>
              <a:t>Instead of retrieving all org learnings by domain filter, use vector embeddings to pull only the most relevant past learnings for this specific design. Like a smart search, not a keyword match.</a:t>
            </a:r>
            <a:endParaRPr lang="en-US" sz="900" dirty="0"/>
          </a:p>
        </p:txBody>
      </p:sp>
      <p:sp>
        <p:nvSpPr>
          <p:cNvPr id="45" name="Shape 43"/>
          <p:cNvSpPr/>
          <p:nvPr/>
        </p:nvSpPr>
        <p:spPr>
          <a:xfrm>
            <a:off x="246888" y="4300728"/>
            <a:ext cx="2834640" cy="804672"/>
          </a:xfrm>
          <a:prstGeom prst="roundRect">
            <a:avLst>
              <a:gd name="adj" fmla="val 9091"/>
            </a:avLst>
          </a:prstGeom>
          <a:solidFill>
            <a:srgbClr val="F8FAFC"/>
          </a:solidFill>
          <a:ln w="12700">
            <a:solidFill>
              <a:srgbClr val="E2E8F0"/>
            </a:solidFill>
            <a:prstDash val="solid"/>
          </a:ln>
        </p:spPr>
        <p:txBody>
          <a:bodyPr/>
          <a:lstStyle/>
          <a:p>
            <a:endParaRPr lang="en-US"/>
          </a:p>
        </p:txBody>
      </p:sp>
      <p:sp>
        <p:nvSpPr>
          <p:cNvPr id="46" name="Text 44"/>
          <p:cNvSpPr/>
          <p:nvPr/>
        </p:nvSpPr>
        <p:spPr>
          <a:xfrm>
            <a:off x="356616" y="4355592"/>
            <a:ext cx="2615184" cy="201168"/>
          </a:xfrm>
          <a:prstGeom prst="rect">
            <a:avLst/>
          </a:prstGeom>
          <a:noFill/>
          <a:ln/>
        </p:spPr>
        <p:txBody>
          <a:bodyPr wrap="square" rtlCol="0" anchor="ctr"/>
          <a:lstStyle/>
          <a:p>
            <a:pPr marL="0" indent="0">
              <a:buNone/>
            </a:pPr>
            <a:r>
              <a:rPr lang="en-US" sz="1000" b="1" dirty="0">
                <a:solidFill>
                  <a:srgbClr val="7C3AED"/>
                </a:solidFill>
              </a:rPr>
              <a:t>Round 2 Rebuttal</a:t>
            </a:r>
            <a:endParaRPr lang="en-US" sz="1000" dirty="0"/>
          </a:p>
        </p:txBody>
      </p:sp>
      <p:sp>
        <p:nvSpPr>
          <p:cNvPr id="47" name="Text 45"/>
          <p:cNvSpPr/>
          <p:nvPr/>
        </p:nvSpPr>
        <p:spPr>
          <a:xfrm>
            <a:off x="356616" y="4575048"/>
            <a:ext cx="2615184" cy="475488"/>
          </a:xfrm>
          <a:prstGeom prst="rect">
            <a:avLst/>
          </a:prstGeom>
          <a:noFill/>
          <a:ln/>
        </p:spPr>
        <p:txBody>
          <a:bodyPr wrap="square" rtlCol="0" anchor="ctr"/>
          <a:lstStyle/>
          <a:p>
            <a:pPr marL="0" indent="0">
              <a:buNone/>
            </a:pPr>
            <a:r>
              <a:rPr lang="en-US" sz="900" dirty="0">
                <a:solidFill>
                  <a:srgbClr val="6B7280"/>
                </a:solidFill>
              </a:rPr>
              <a:t>Design team responds to each must-fix condition from the prior ADR. Agents evaluate whether the response is adequate — ruling per condition: Accepted / Partially Accepted / Still Failing.</a:t>
            </a:r>
            <a:endParaRPr lang="en-US" sz="900" dirty="0"/>
          </a:p>
        </p:txBody>
      </p:sp>
      <p:sp>
        <p:nvSpPr>
          <p:cNvPr id="48" name="Shape 46"/>
          <p:cNvSpPr/>
          <p:nvPr/>
        </p:nvSpPr>
        <p:spPr>
          <a:xfrm>
            <a:off x="3154680" y="4128516"/>
            <a:ext cx="2724912" cy="928116"/>
          </a:xfrm>
          <a:prstGeom prst="roundRect">
            <a:avLst>
              <a:gd name="adj" fmla="val 9091"/>
            </a:avLst>
          </a:prstGeom>
          <a:solidFill>
            <a:srgbClr val="F8FAFC"/>
          </a:solidFill>
          <a:ln w="12700">
            <a:solidFill>
              <a:srgbClr val="E2E8F0"/>
            </a:solidFill>
            <a:prstDash val="solid"/>
          </a:ln>
        </p:spPr>
        <p:txBody>
          <a:bodyPr/>
          <a:lstStyle/>
          <a:p>
            <a:endParaRPr lang="en-US"/>
          </a:p>
        </p:txBody>
      </p:sp>
      <p:sp>
        <p:nvSpPr>
          <p:cNvPr id="49" name="Text 47"/>
          <p:cNvSpPr/>
          <p:nvPr/>
        </p:nvSpPr>
        <p:spPr>
          <a:xfrm>
            <a:off x="3264408" y="4183380"/>
            <a:ext cx="2615184" cy="201168"/>
          </a:xfrm>
          <a:prstGeom prst="rect">
            <a:avLst/>
          </a:prstGeom>
          <a:noFill/>
          <a:ln/>
        </p:spPr>
        <p:txBody>
          <a:bodyPr wrap="square" rtlCol="0" anchor="ctr"/>
          <a:lstStyle/>
          <a:p>
            <a:pPr marL="0" indent="0">
              <a:buNone/>
            </a:pPr>
            <a:r>
              <a:rPr lang="en-US" sz="1000" b="1" dirty="0">
                <a:solidFill>
                  <a:srgbClr val="1B3A6B"/>
                </a:solidFill>
              </a:rPr>
              <a:t>Domain-agnostic Multi-tenant</a:t>
            </a:r>
            <a:endParaRPr lang="en-US" sz="1000" dirty="0"/>
          </a:p>
        </p:txBody>
      </p:sp>
      <p:sp>
        <p:nvSpPr>
          <p:cNvPr id="50" name="Text 48"/>
          <p:cNvSpPr/>
          <p:nvPr/>
        </p:nvSpPr>
        <p:spPr>
          <a:xfrm>
            <a:off x="3264408" y="4448556"/>
            <a:ext cx="2615184" cy="475488"/>
          </a:xfrm>
          <a:prstGeom prst="rect">
            <a:avLst/>
          </a:prstGeom>
          <a:noFill/>
          <a:ln/>
        </p:spPr>
        <p:txBody>
          <a:bodyPr wrap="square" rtlCol="0" anchor="ctr"/>
          <a:lstStyle/>
          <a:p>
            <a:pPr marL="0" indent="0">
              <a:buNone/>
            </a:pPr>
            <a:r>
              <a:rPr lang="en-US" sz="900" dirty="0">
                <a:solidFill>
                  <a:srgbClr val="6B7280"/>
                </a:solidFill>
              </a:rPr>
              <a:t>Same 10-agent engine, different knowledge layers per client/domain. Health Cloud gets aged-care compliance context. Financial Services gets APRA. Each client's org learnings are partitioned separately.</a:t>
            </a:r>
            <a:endParaRPr lang="en-US" sz="900" dirty="0"/>
          </a:p>
        </p:txBody>
      </p:sp>
      <p:sp>
        <p:nvSpPr>
          <p:cNvPr id="51" name="Shape 38">
            <a:extLst>
              <a:ext uri="{FF2B5EF4-FFF2-40B4-BE49-F238E27FC236}">
                <a16:creationId xmlns:a16="http://schemas.microsoft.com/office/drawing/2014/main" id="{8642E643-88E5-47F9-4EF3-BA9FE93253F9}"/>
              </a:ext>
            </a:extLst>
          </p:cNvPr>
          <p:cNvSpPr/>
          <p:nvPr/>
        </p:nvSpPr>
        <p:spPr>
          <a:xfrm>
            <a:off x="5943600" y="2458212"/>
            <a:ext cx="2926080" cy="358140"/>
          </a:xfrm>
          <a:prstGeom prst="roundRect">
            <a:avLst>
              <a:gd name="adj" fmla="val 13889"/>
            </a:avLst>
          </a:prstGeom>
          <a:solidFill>
            <a:srgbClr val="F8FAFC"/>
          </a:solidFill>
          <a:ln w="12700">
            <a:solidFill>
              <a:srgbClr val="E2E8F0"/>
            </a:solidFill>
            <a:prstDash val="solid"/>
          </a:ln>
        </p:spPr>
        <p:txBody>
          <a:bodyPr/>
          <a:lstStyle/>
          <a:p>
            <a:r>
              <a:rPr lang="en-US" sz="1000" dirty="0">
                <a:solidFill>
                  <a:srgbClr val="1A1A1A"/>
                </a:solidFill>
              </a:rPr>
              <a:t xml:space="preserve">   Skills library — DONE</a:t>
            </a:r>
            <a:r>
              <a:rPr lang="en-US" sz="900" dirty="0">
                <a:solidFill>
                  <a:srgbClr val="1A1A1A"/>
                </a:solidFill>
              </a:rPr>
              <a:t xml:space="preserve"> reusable domain knowledge per agent ✓</a:t>
            </a:r>
          </a:p>
        </p:txBody>
      </p:sp>
      <p:sp>
        <p:nvSpPr>
          <p:cNvPr id="52" name="Shape 43">
            <a:extLst>
              <a:ext uri="{FF2B5EF4-FFF2-40B4-BE49-F238E27FC236}">
                <a16:creationId xmlns:a16="http://schemas.microsoft.com/office/drawing/2014/main" id="{09B3AA75-BF50-6949-6B44-957889EB1FCD}"/>
              </a:ext>
            </a:extLst>
          </p:cNvPr>
          <p:cNvSpPr/>
          <p:nvPr/>
        </p:nvSpPr>
        <p:spPr>
          <a:xfrm>
            <a:off x="6062474" y="3922776"/>
            <a:ext cx="2834640" cy="1127760"/>
          </a:xfrm>
          <a:prstGeom prst="roundRect">
            <a:avLst>
              <a:gd name="adj" fmla="val 9091"/>
            </a:avLst>
          </a:prstGeom>
          <a:solidFill>
            <a:srgbClr val="F8FAFC"/>
          </a:solidFill>
          <a:ln w="12700">
            <a:solidFill>
              <a:srgbClr val="E2E8F0"/>
            </a:solidFill>
            <a:prstDash val="solid"/>
          </a:ln>
        </p:spPr>
        <p:txBody>
          <a:bodyPr/>
          <a:lstStyle/>
          <a:p>
            <a:endParaRPr lang="en-US"/>
          </a:p>
        </p:txBody>
      </p:sp>
      <p:sp>
        <p:nvSpPr>
          <p:cNvPr id="53" name="Text 44">
            <a:extLst>
              <a:ext uri="{FF2B5EF4-FFF2-40B4-BE49-F238E27FC236}">
                <a16:creationId xmlns:a16="http://schemas.microsoft.com/office/drawing/2014/main" id="{23AAE547-6BEB-7E3F-D498-689DE5B327C9}"/>
              </a:ext>
            </a:extLst>
          </p:cNvPr>
          <p:cNvSpPr/>
          <p:nvPr/>
        </p:nvSpPr>
        <p:spPr>
          <a:xfrm>
            <a:off x="6172202" y="3977640"/>
            <a:ext cx="2615184" cy="201168"/>
          </a:xfrm>
          <a:prstGeom prst="rect">
            <a:avLst/>
          </a:prstGeom>
          <a:noFill/>
          <a:ln/>
        </p:spPr>
        <p:txBody>
          <a:bodyPr wrap="square" rtlCol="0" anchor="ctr"/>
          <a:lstStyle/>
          <a:p>
            <a:pPr marL="0" indent="0">
              <a:buNone/>
            </a:pPr>
            <a:r>
              <a:rPr lang="en-US" sz="1000" b="1" dirty="0">
                <a:solidFill>
                  <a:srgbClr val="7C3AED"/>
                </a:solidFill>
              </a:rPr>
              <a:t>Skills Library</a:t>
            </a:r>
            <a:endParaRPr lang="en-US" sz="1000" dirty="0"/>
          </a:p>
        </p:txBody>
      </p:sp>
      <p:sp>
        <p:nvSpPr>
          <p:cNvPr id="54" name="Text 45">
            <a:extLst>
              <a:ext uri="{FF2B5EF4-FFF2-40B4-BE49-F238E27FC236}">
                <a16:creationId xmlns:a16="http://schemas.microsoft.com/office/drawing/2014/main" id="{C8B8507A-D3F0-6182-43D3-870BFDB91981}"/>
              </a:ext>
            </a:extLst>
          </p:cNvPr>
          <p:cNvSpPr/>
          <p:nvPr/>
        </p:nvSpPr>
        <p:spPr>
          <a:xfrm>
            <a:off x="6172202" y="4306824"/>
            <a:ext cx="2615184" cy="475488"/>
          </a:xfrm>
          <a:prstGeom prst="rect">
            <a:avLst/>
          </a:prstGeom>
          <a:noFill/>
          <a:ln/>
        </p:spPr>
        <p:txBody>
          <a:bodyPr wrap="square" rtlCol="0" anchor="ctr"/>
          <a:lstStyle/>
          <a:p>
            <a:r>
              <a:rPr lang="en-US" sz="900" dirty="0"/>
              <a:t xml:space="preserve">Agent expertise moves from static prompts to a callable skills library in </a:t>
            </a:r>
            <a:r>
              <a:rPr lang="en-US" sz="900" dirty="0" err="1"/>
              <a:t>Supabase</a:t>
            </a:r>
            <a:r>
              <a:rPr lang="en-US" sz="900" dirty="0"/>
              <a:t xml:space="preserve">. sf-data pulls </a:t>
            </a:r>
            <a:r>
              <a:rPr lang="en-US" sz="900" b="1" dirty="0" err="1"/>
              <a:t>skill:ldv-patterns</a:t>
            </a:r>
            <a:r>
              <a:rPr lang="en-US" sz="900" b="1" dirty="0"/>
              <a:t xml:space="preserve"> or </a:t>
            </a:r>
            <a:r>
              <a:rPr lang="en-US" sz="900" b="1" dirty="0" err="1"/>
              <a:t>skill:fsc-sharing-mode</a:t>
            </a:r>
            <a:r>
              <a:rPr lang="en-US" sz="900" dirty="0" err="1"/>
              <a:t>l</a:t>
            </a:r>
            <a:r>
              <a:rPr lang="en-US" sz="900" dirty="0"/>
              <a:t xml:space="preserve"> at runtime based on document context. New domains added without rewriting agents. Skills are client-partitioned and compound across engagements.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LEARNINGS FOR OTHERS</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What we would do differently — and what surprised us</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37160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Text 4"/>
          <p:cNvSpPr/>
          <p:nvPr/>
        </p:nvSpPr>
        <p:spPr>
          <a:xfrm>
            <a:off x="411480" y="146304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7" name="Text 5"/>
          <p:cNvSpPr/>
          <p:nvPr/>
        </p:nvSpPr>
        <p:spPr>
          <a:xfrm>
            <a:off x="521208" y="182880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Measure before optimising</a:t>
            </a:r>
            <a:endParaRPr lang="en-US" sz="1100" dirty="0"/>
          </a:p>
        </p:txBody>
      </p:sp>
      <p:sp>
        <p:nvSpPr>
          <p:cNvPr id="8" name="Text 6"/>
          <p:cNvSpPr/>
          <p:nvPr/>
        </p:nvSpPr>
        <p:spPr>
          <a:xfrm>
            <a:off x="521208" y="210312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We hit ~$0.29/session baseline. Targeted 3 fixes cut it to ~$0.08. Know your token breakdown before building.</a:t>
            </a:r>
            <a:endParaRPr lang="en-US" sz="950" dirty="0"/>
          </a:p>
        </p:txBody>
      </p:sp>
      <p:sp>
        <p:nvSpPr>
          <p:cNvPr id="9" name="Shape 7"/>
          <p:cNvSpPr/>
          <p:nvPr/>
        </p:nvSpPr>
        <p:spPr>
          <a:xfrm>
            <a:off x="3227832" y="137160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0" name="Text 8"/>
          <p:cNvSpPr/>
          <p:nvPr/>
        </p:nvSpPr>
        <p:spPr>
          <a:xfrm>
            <a:off x="3227832" y="146304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1" name="Text 9"/>
          <p:cNvSpPr/>
          <p:nvPr/>
        </p:nvSpPr>
        <p:spPr>
          <a:xfrm>
            <a:off x="3337560" y="182880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Architecture beats prompt engineering</a:t>
            </a:r>
            <a:endParaRPr lang="en-US" sz="1100" dirty="0"/>
          </a:p>
        </p:txBody>
      </p:sp>
      <p:sp>
        <p:nvSpPr>
          <p:cNvPr id="12" name="Text 10"/>
          <p:cNvSpPr/>
          <p:nvPr/>
        </p:nvSpPr>
        <p:spPr>
          <a:xfrm>
            <a:off x="3337560" y="210312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The biggest quality gains came from structured grounding (memory, patterns, principles) — not tweaking prompts.</a:t>
            </a:r>
            <a:endParaRPr lang="en-US" sz="950" dirty="0"/>
          </a:p>
        </p:txBody>
      </p:sp>
      <p:sp>
        <p:nvSpPr>
          <p:cNvPr id="13" name="Shape 11"/>
          <p:cNvSpPr/>
          <p:nvPr/>
        </p:nvSpPr>
        <p:spPr>
          <a:xfrm>
            <a:off x="6044184" y="137160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4" name="Text 12"/>
          <p:cNvSpPr/>
          <p:nvPr/>
        </p:nvSpPr>
        <p:spPr>
          <a:xfrm>
            <a:off x="6044184" y="146304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5" name="Text 13"/>
          <p:cNvSpPr/>
          <p:nvPr/>
        </p:nvSpPr>
        <p:spPr>
          <a:xfrm>
            <a:off x="6153912" y="182880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Fail gracefully everywhere</a:t>
            </a:r>
            <a:endParaRPr lang="en-US" sz="1100" dirty="0"/>
          </a:p>
        </p:txBody>
      </p:sp>
      <p:sp>
        <p:nvSpPr>
          <p:cNvPr id="16" name="Text 14"/>
          <p:cNvSpPr/>
          <p:nvPr/>
        </p:nvSpPr>
        <p:spPr>
          <a:xfrm>
            <a:off x="6153912" y="210312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Every external call (Jira, Supabase, MCP) must be try/catch with fallback. A broken integration cannot kill a session.</a:t>
            </a:r>
            <a:endParaRPr lang="en-US" sz="950" dirty="0"/>
          </a:p>
        </p:txBody>
      </p:sp>
      <p:sp>
        <p:nvSpPr>
          <p:cNvPr id="17" name="Shape 15"/>
          <p:cNvSpPr/>
          <p:nvPr/>
        </p:nvSpPr>
        <p:spPr>
          <a:xfrm>
            <a:off x="411480" y="278892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8" name="Text 16"/>
          <p:cNvSpPr/>
          <p:nvPr/>
        </p:nvSpPr>
        <p:spPr>
          <a:xfrm>
            <a:off x="411480" y="288036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9" name="Text 17"/>
          <p:cNvSpPr/>
          <p:nvPr/>
        </p:nvSpPr>
        <p:spPr>
          <a:xfrm>
            <a:off x="521208" y="324612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Separate content from ops</a:t>
            </a:r>
            <a:endParaRPr lang="en-US" sz="1100" dirty="0"/>
          </a:p>
        </p:txBody>
      </p:sp>
      <p:sp>
        <p:nvSpPr>
          <p:cNvPr id="20" name="Text 18"/>
          <p:cNvSpPr/>
          <p:nvPr/>
        </p:nvSpPr>
        <p:spPr>
          <a:xfrm>
            <a:off x="521208" y="352044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Jira owns ADR content. Supabase owns operational data. Never duplicate. This decision made memory retrieval trivial.</a:t>
            </a:r>
            <a:endParaRPr lang="en-US" sz="950" dirty="0"/>
          </a:p>
        </p:txBody>
      </p:sp>
      <p:sp>
        <p:nvSpPr>
          <p:cNvPr id="21" name="Shape 19"/>
          <p:cNvSpPr/>
          <p:nvPr/>
        </p:nvSpPr>
        <p:spPr>
          <a:xfrm>
            <a:off x="3227832" y="278892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2" name="Text 20"/>
          <p:cNvSpPr/>
          <p:nvPr/>
        </p:nvSpPr>
        <p:spPr>
          <a:xfrm>
            <a:off x="3227832" y="288036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23" name="Text 21"/>
          <p:cNvSpPr/>
          <p:nvPr/>
        </p:nvSpPr>
        <p:spPr>
          <a:xfrm>
            <a:off x="3337560" y="324612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Mock mode is not optional</a:t>
            </a:r>
            <a:endParaRPr lang="en-US" sz="1100" dirty="0"/>
          </a:p>
        </p:txBody>
      </p:sp>
      <p:sp>
        <p:nvSpPr>
          <p:cNvPr id="24" name="Text 22"/>
          <p:cNvSpPr/>
          <p:nvPr/>
        </p:nvSpPr>
        <p:spPr>
          <a:xfrm>
            <a:off x="3337560" y="352044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ANTHROPIC_API_KEY=mock saved significant cost during build. Reserve real API calls for quality validation only.</a:t>
            </a:r>
            <a:endParaRPr lang="en-US" sz="950" dirty="0"/>
          </a:p>
        </p:txBody>
      </p:sp>
      <p:sp>
        <p:nvSpPr>
          <p:cNvPr id="25" name="Shape 23"/>
          <p:cNvSpPr/>
          <p:nvPr/>
        </p:nvSpPr>
        <p:spPr>
          <a:xfrm>
            <a:off x="6044184" y="278892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6" name="Text 24"/>
          <p:cNvSpPr/>
          <p:nvPr/>
        </p:nvSpPr>
        <p:spPr>
          <a:xfrm>
            <a:off x="6044184" y="288036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27" name="Text 25"/>
          <p:cNvSpPr/>
          <p:nvPr/>
        </p:nvSpPr>
        <p:spPr>
          <a:xfrm>
            <a:off x="6153912" y="324612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The IP is the reasoning layer</a:t>
            </a:r>
            <a:endParaRPr lang="en-US" sz="1100" dirty="0"/>
          </a:p>
        </p:txBody>
      </p:sp>
      <p:sp>
        <p:nvSpPr>
          <p:cNvPr id="28" name="Text 26"/>
          <p:cNvSpPr/>
          <p:nvPr/>
        </p:nvSpPr>
        <p:spPr>
          <a:xfrm>
            <a:off x="6153912" y="352044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Anyone can wire MCP to Claude. The defensible moat is the accumulated prompt engineering and pattern library.</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0F1E3C"/>
        </a:solidFill>
        <a:effectLst/>
      </p:bgPr>
    </p:bg>
    <p:spTree>
      <p:nvGrpSpPr>
        <p:cNvPr id="1" name=""/>
        <p:cNvGrpSpPr/>
        <p:nvPr/>
      </p:nvGrpSpPr>
      <p:grpSpPr>
        <a:xfrm>
          <a:off x="0" y="0"/>
          <a:ext cx="0" cy="0"/>
          <a:chOff x="0" y="0"/>
          <a:chExt cx="0" cy="0"/>
        </a:xfrm>
      </p:grpSpPr>
      <p:sp>
        <p:nvSpPr>
          <p:cNvPr id="2" name="Text 0"/>
          <p:cNvSpPr/>
          <p:nvPr/>
        </p:nvSpPr>
        <p:spPr>
          <a:xfrm>
            <a:off x="502920" y="1371600"/>
            <a:ext cx="8138160" cy="822960"/>
          </a:xfrm>
          <a:prstGeom prst="rect">
            <a:avLst/>
          </a:prstGeom>
          <a:noFill/>
          <a:ln/>
        </p:spPr>
        <p:txBody>
          <a:bodyPr wrap="square" rtlCol="0" anchor="ctr"/>
          <a:lstStyle/>
          <a:p>
            <a:pPr marL="0" indent="0" algn="ctr">
              <a:buNone/>
            </a:pPr>
            <a:r>
              <a:rPr lang="en-US" sz="3800" b="1" dirty="0">
                <a:solidFill>
                  <a:srgbClr val="FFFFFF"/>
                </a:solidFill>
                <a:latin typeface="Arial" pitchFamily="34" charset="0"/>
                <a:ea typeface="Arial" pitchFamily="34" charset="-122"/>
                <a:cs typeface="Arial" pitchFamily="34" charset="-120"/>
              </a:rPr>
              <a:t>The Review Board is open.</a:t>
            </a:r>
            <a:endParaRPr lang="en-US" sz="3800" dirty="0"/>
          </a:p>
        </p:txBody>
      </p:sp>
      <p:sp>
        <p:nvSpPr>
          <p:cNvPr id="3" name="Text 1"/>
          <p:cNvSpPr/>
          <p:nvPr/>
        </p:nvSpPr>
        <p:spPr>
          <a:xfrm>
            <a:off x="502920" y="2331720"/>
            <a:ext cx="8138160" cy="411480"/>
          </a:xfrm>
          <a:prstGeom prst="rect">
            <a:avLst/>
          </a:prstGeom>
          <a:noFill/>
          <a:ln/>
        </p:spPr>
        <p:txBody>
          <a:bodyPr wrap="square" rtlCol="0" anchor="ctr"/>
          <a:lstStyle/>
          <a:p>
            <a:pPr marL="0" indent="0" algn="ctr">
              <a:buNone/>
            </a:pPr>
            <a:r>
              <a:rPr lang="en-US" sz="1800" dirty="0">
                <a:solidFill>
                  <a:srgbClr val="6A84A8"/>
                </a:solidFill>
                <a:latin typeface="Arial" pitchFamily="34" charset="0"/>
                <a:ea typeface="Arial" pitchFamily="34" charset="-122"/>
                <a:cs typeface="Arial" pitchFamily="34" charset="-120"/>
              </a:rPr>
              <a:t>arboard.vercel.app</a:t>
            </a:r>
            <a:endParaRPr lang="en-US" sz="1800" dirty="0"/>
          </a:p>
        </p:txBody>
      </p:sp>
      <p:sp>
        <p:nvSpPr>
          <p:cNvPr id="4" name="Shape 2"/>
          <p:cNvSpPr/>
          <p:nvPr/>
        </p:nvSpPr>
        <p:spPr>
          <a:xfrm>
            <a:off x="2743200" y="2834640"/>
            <a:ext cx="3657600" cy="0"/>
          </a:xfrm>
          <a:prstGeom prst="line">
            <a:avLst/>
          </a:prstGeom>
          <a:noFill/>
          <a:ln w="12700">
            <a:solidFill>
              <a:srgbClr val="2E6DA4"/>
            </a:solidFill>
            <a:prstDash val="solid"/>
          </a:ln>
        </p:spPr>
        <p:txBody>
          <a:bodyPr/>
          <a:lstStyle/>
          <a:p>
            <a:endParaRPr lang="en-US"/>
          </a:p>
        </p:txBody>
      </p:sp>
      <p:sp>
        <p:nvSpPr>
          <p:cNvPr id="5" name="Text 3"/>
          <p:cNvSpPr/>
          <p:nvPr/>
        </p:nvSpPr>
        <p:spPr>
          <a:xfrm>
            <a:off x="914400" y="3017520"/>
            <a:ext cx="1828800" cy="5029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10</a:t>
            </a:r>
            <a:endParaRPr lang="en-US" sz="2800" dirty="0"/>
          </a:p>
        </p:txBody>
      </p:sp>
      <p:sp>
        <p:nvSpPr>
          <p:cNvPr id="6" name="Text 4"/>
          <p:cNvSpPr/>
          <p:nvPr/>
        </p:nvSpPr>
        <p:spPr>
          <a:xfrm>
            <a:off x="914400" y="3520440"/>
            <a:ext cx="1828800" cy="274320"/>
          </a:xfrm>
          <a:prstGeom prst="rect">
            <a:avLst/>
          </a:prstGeom>
          <a:noFill/>
          <a:ln/>
        </p:spPr>
        <p:txBody>
          <a:bodyPr wrap="square" rtlCol="0" anchor="ctr"/>
          <a:lstStyle/>
          <a:p>
            <a:pPr marL="0" indent="0" algn="ctr">
              <a:buNone/>
            </a:pPr>
            <a:r>
              <a:rPr lang="en-US" sz="1000" dirty="0">
                <a:solidFill>
                  <a:srgbClr val="6A84A8"/>
                </a:solidFill>
                <a:latin typeface="Arial" pitchFamily="34" charset="0"/>
                <a:ea typeface="Arial" pitchFamily="34" charset="-122"/>
                <a:cs typeface="Arial" pitchFamily="34" charset="-120"/>
              </a:rPr>
              <a:t>specialist agents</a:t>
            </a:r>
            <a:endParaRPr lang="en-US" sz="1000" dirty="0"/>
          </a:p>
        </p:txBody>
      </p:sp>
      <p:sp>
        <p:nvSpPr>
          <p:cNvPr id="7" name="Text 5"/>
          <p:cNvSpPr/>
          <p:nvPr/>
        </p:nvSpPr>
        <p:spPr>
          <a:xfrm>
            <a:off x="2834640" y="3017520"/>
            <a:ext cx="1828800" cy="5029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9</a:t>
            </a:r>
            <a:endParaRPr lang="en-US" sz="2800" dirty="0"/>
          </a:p>
        </p:txBody>
      </p:sp>
      <p:sp>
        <p:nvSpPr>
          <p:cNvPr id="8" name="Text 6"/>
          <p:cNvSpPr/>
          <p:nvPr/>
        </p:nvSpPr>
        <p:spPr>
          <a:xfrm>
            <a:off x="2834640" y="3520440"/>
            <a:ext cx="1828800" cy="274320"/>
          </a:xfrm>
          <a:prstGeom prst="rect">
            <a:avLst/>
          </a:prstGeom>
          <a:noFill/>
          <a:ln/>
        </p:spPr>
        <p:txBody>
          <a:bodyPr wrap="square" rtlCol="0" anchor="ctr"/>
          <a:lstStyle/>
          <a:p>
            <a:pPr marL="0" indent="0" algn="ctr">
              <a:buNone/>
            </a:pPr>
            <a:r>
              <a:rPr lang="en-US" sz="1000" dirty="0">
                <a:solidFill>
                  <a:srgbClr val="6A84A8"/>
                </a:solidFill>
                <a:latin typeface="Arial" pitchFamily="34" charset="0"/>
                <a:ea typeface="Arial" pitchFamily="34" charset="-122"/>
                <a:cs typeface="Arial" pitchFamily="34" charset="-120"/>
              </a:rPr>
              <a:t>grounding layers</a:t>
            </a:r>
            <a:endParaRPr lang="en-US" sz="1000" dirty="0"/>
          </a:p>
        </p:txBody>
      </p:sp>
      <p:sp>
        <p:nvSpPr>
          <p:cNvPr id="9" name="Text 7"/>
          <p:cNvSpPr/>
          <p:nvPr/>
        </p:nvSpPr>
        <p:spPr>
          <a:xfrm>
            <a:off x="4754880" y="3017520"/>
            <a:ext cx="1828800" cy="5029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~$0.08</a:t>
            </a:r>
            <a:endParaRPr lang="en-US" sz="2800" dirty="0"/>
          </a:p>
        </p:txBody>
      </p:sp>
      <p:sp>
        <p:nvSpPr>
          <p:cNvPr id="10" name="Text 8"/>
          <p:cNvSpPr/>
          <p:nvPr/>
        </p:nvSpPr>
        <p:spPr>
          <a:xfrm>
            <a:off x="4754880" y="3520440"/>
            <a:ext cx="1828800" cy="274320"/>
          </a:xfrm>
          <a:prstGeom prst="rect">
            <a:avLst/>
          </a:prstGeom>
          <a:noFill/>
          <a:ln/>
        </p:spPr>
        <p:txBody>
          <a:bodyPr wrap="square" rtlCol="0" anchor="ctr"/>
          <a:lstStyle/>
          <a:p>
            <a:pPr marL="0" indent="0" algn="ctr">
              <a:buNone/>
            </a:pPr>
            <a:r>
              <a:rPr lang="en-US" sz="1000" dirty="0">
                <a:solidFill>
                  <a:srgbClr val="6A84A8"/>
                </a:solidFill>
                <a:latin typeface="Arial" pitchFamily="34" charset="0"/>
                <a:ea typeface="Arial" pitchFamily="34" charset="-122"/>
                <a:cs typeface="Arial" pitchFamily="34" charset="-120"/>
              </a:rPr>
              <a:t>per session (optimised)</a:t>
            </a:r>
            <a:endParaRPr lang="en-US" sz="1000" dirty="0"/>
          </a:p>
        </p:txBody>
      </p:sp>
      <p:sp>
        <p:nvSpPr>
          <p:cNvPr id="11" name="Text 9"/>
          <p:cNvSpPr/>
          <p:nvPr/>
        </p:nvSpPr>
        <p:spPr>
          <a:xfrm>
            <a:off x="6675120" y="3017520"/>
            <a:ext cx="1828800" cy="5029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a:t>
            </a:r>
            <a:endParaRPr lang="en-US" sz="2800" dirty="0"/>
          </a:p>
        </p:txBody>
      </p:sp>
      <p:sp>
        <p:nvSpPr>
          <p:cNvPr id="12" name="Text 10"/>
          <p:cNvSpPr/>
          <p:nvPr/>
        </p:nvSpPr>
        <p:spPr>
          <a:xfrm>
            <a:off x="6675120" y="3520440"/>
            <a:ext cx="1828800" cy="274320"/>
          </a:xfrm>
          <a:prstGeom prst="rect">
            <a:avLst/>
          </a:prstGeom>
          <a:noFill/>
          <a:ln/>
        </p:spPr>
        <p:txBody>
          <a:bodyPr wrap="square" rtlCol="0" anchor="ctr"/>
          <a:lstStyle/>
          <a:p>
            <a:pPr marL="0" indent="0" algn="ctr">
              <a:buNone/>
            </a:pPr>
            <a:r>
              <a:rPr lang="en-US" sz="1000" dirty="0">
                <a:solidFill>
                  <a:srgbClr val="6A84A8"/>
                </a:solidFill>
                <a:latin typeface="Arial" pitchFamily="34" charset="0"/>
                <a:ea typeface="Arial" pitchFamily="34" charset="-122"/>
                <a:cs typeface="Arial" pitchFamily="34" charset="-120"/>
              </a:rPr>
              <a:t>institutional memory</a:t>
            </a:r>
            <a:endParaRPr lang="en-US" sz="1000" dirty="0"/>
          </a:p>
        </p:txBody>
      </p:sp>
      <p:sp>
        <p:nvSpPr>
          <p:cNvPr id="13" name="Text 11"/>
          <p:cNvSpPr/>
          <p:nvPr/>
        </p:nvSpPr>
        <p:spPr>
          <a:xfrm>
            <a:off x="502920" y="4480560"/>
            <a:ext cx="8138160" cy="256032"/>
          </a:xfrm>
          <a:prstGeom prst="rect">
            <a:avLst/>
          </a:prstGeom>
          <a:noFill/>
          <a:ln/>
        </p:spPr>
        <p:txBody>
          <a:bodyPr wrap="square" rtlCol="0" anchor="ctr"/>
          <a:lstStyle/>
          <a:p>
            <a:pPr marL="0" indent="0" algn="ctr">
              <a:buNone/>
            </a:pPr>
            <a:r>
              <a:rPr lang="en-US" sz="950" dirty="0">
                <a:solidFill>
                  <a:srgbClr val="445566"/>
                </a:solidFill>
                <a:latin typeface="Arial" pitchFamily="34" charset="0"/>
                <a:ea typeface="Arial" pitchFamily="34" charset="-122"/>
                <a:cs typeface="Arial" pitchFamily="34" charset="-120"/>
              </a:rPr>
              <a:t>Built on Claude API · Next.js 14 · Supabase · Vercel · Jira · Salesforce MCP</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1645920"/>
            <a:ext cx="8138160" cy="731520"/>
          </a:xfrm>
          <a:prstGeom prst="rect">
            <a:avLst/>
          </a:prstGeom>
          <a:noFill/>
          <a:ln/>
        </p:spPr>
        <p:txBody>
          <a:bodyPr wrap="square" rtlCol="0" anchor="ctr"/>
          <a:lstStyle/>
          <a:p>
            <a:pPr marL="0" indent="0" algn="ctr">
              <a:buNone/>
            </a:pPr>
            <a:r>
              <a:rPr lang="en-US" sz="4200" b="1" dirty="0">
                <a:solidFill>
                  <a:srgbClr val="FFFFFF"/>
                </a:solidFill>
                <a:latin typeface="Arial" pitchFamily="34" charset="0"/>
                <a:ea typeface="Arial" pitchFamily="34" charset="-122"/>
                <a:cs typeface="Arial" pitchFamily="34" charset="-120"/>
              </a:rPr>
              <a:t>Technical Appendix</a:t>
            </a:r>
            <a:endParaRPr lang="en-US" sz="4200" dirty="0"/>
          </a:p>
        </p:txBody>
      </p:sp>
      <p:sp>
        <p:nvSpPr>
          <p:cNvPr id="3" name="Text 1"/>
          <p:cNvSpPr/>
          <p:nvPr/>
        </p:nvSpPr>
        <p:spPr>
          <a:xfrm>
            <a:off x="502920" y="2468880"/>
            <a:ext cx="8138160" cy="365760"/>
          </a:xfrm>
          <a:prstGeom prst="rect">
            <a:avLst/>
          </a:prstGeom>
          <a:noFill/>
          <a:ln/>
        </p:spPr>
        <p:txBody>
          <a:bodyPr wrap="square" rtlCol="0" anchor="ctr"/>
          <a:lstStyle/>
          <a:p>
            <a:pPr marL="0" indent="0" algn="ctr">
              <a:buNone/>
            </a:pPr>
            <a:r>
              <a:rPr lang="en-US" sz="1400" dirty="0">
                <a:solidFill>
                  <a:srgbClr val="6A84A8"/>
                </a:solidFill>
                <a:latin typeface="Arial" pitchFamily="34" charset="0"/>
                <a:ea typeface="Arial" pitchFamily="34" charset="-122"/>
                <a:cs typeface="Arial" pitchFamily="34" charset="-120"/>
              </a:rPr>
              <a:t>Codebase architecture · File map · Sequence flows · Prompt anatomy</a:t>
            </a:r>
            <a:endParaRPr lang="en-US" sz="1400" dirty="0"/>
          </a:p>
        </p:txBody>
      </p:sp>
      <p:sp>
        <p:nvSpPr>
          <p:cNvPr id="4" name="Shape 2"/>
          <p:cNvSpPr/>
          <p:nvPr/>
        </p:nvSpPr>
        <p:spPr>
          <a:xfrm>
            <a:off x="2286000" y="2423160"/>
            <a:ext cx="4572000" cy="0"/>
          </a:xfrm>
          <a:prstGeom prst="line">
            <a:avLst/>
          </a:prstGeom>
          <a:noFill/>
          <a:ln w="19050">
            <a:solidFill>
              <a:srgbClr val="2E6DA4"/>
            </a:solidFill>
            <a:prstDash val="solid"/>
          </a:ln>
        </p:spPr>
        <p:txBody>
          <a:bodyPr/>
          <a:lstStyle/>
          <a:p>
            <a:endParaRPr lang="en-US"/>
          </a:p>
        </p:txBody>
      </p:sp>
      <p:sp>
        <p:nvSpPr>
          <p:cNvPr id="5" name="Text 3"/>
          <p:cNvSpPr/>
          <p:nvPr/>
        </p:nvSpPr>
        <p:spPr>
          <a:xfrm>
            <a:off x="502920" y="4480560"/>
            <a:ext cx="8138160" cy="256032"/>
          </a:xfrm>
          <a:prstGeom prst="rect">
            <a:avLst/>
          </a:prstGeom>
          <a:noFill/>
          <a:ln/>
        </p:spPr>
        <p:txBody>
          <a:bodyPr wrap="square" rtlCol="0" anchor="ctr"/>
          <a:lstStyle/>
          <a:p>
            <a:pPr marL="0" indent="0" algn="ctr">
              <a:buNone/>
            </a:pPr>
            <a:r>
              <a:rPr lang="en-US" sz="1000" i="1" dirty="0">
                <a:solidFill>
                  <a:srgbClr val="445566"/>
                </a:solidFill>
                <a:latin typeface="Arial" pitchFamily="34" charset="0"/>
                <a:ea typeface="Arial" pitchFamily="34" charset="-122"/>
                <a:cs typeface="Arial" pitchFamily="34" charset="-120"/>
              </a:rPr>
              <a:t>For technical audiences — architects, leads, and developers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CODEBASE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600" b="1" dirty="0">
                <a:solidFill>
                  <a:srgbClr val="1A1A1A"/>
                </a:solidFill>
                <a:latin typeface="Arial" pitchFamily="34" charset="0"/>
                <a:ea typeface="Arial" pitchFamily="34" charset="-122"/>
                <a:cs typeface="Arial" pitchFamily="34" charset="-120"/>
              </a:rPr>
              <a:t>Every key file and what it owns</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298448"/>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6" name="Shape 4"/>
          <p:cNvSpPr/>
          <p:nvPr/>
        </p:nvSpPr>
        <p:spPr>
          <a:xfrm>
            <a:off x="411480" y="1298448"/>
            <a:ext cx="1005840" cy="640080"/>
          </a:xfrm>
          <a:prstGeom prst="roundRect">
            <a:avLst>
              <a:gd name="adj" fmla="val 11429"/>
            </a:avLst>
          </a:prstGeom>
          <a:solidFill>
            <a:srgbClr val="0F1E3C"/>
          </a:solidFill>
          <a:ln w="12700">
            <a:solidFill>
              <a:srgbClr val="0F1E3C"/>
            </a:solidFill>
            <a:prstDash val="solid"/>
          </a:ln>
        </p:spPr>
        <p:txBody>
          <a:bodyPr/>
          <a:lstStyle/>
          <a:p>
            <a:endParaRPr lang="en-US"/>
          </a:p>
        </p:txBody>
      </p:sp>
      <p:sp>
        <p:nvSpPr>
          <p:cNvPr id="7" name="Text 5"/>
          <p:cNvSpPr/>
          <p:nvPr/>
        </p:nvSpPr>
        <p:spPr>
          <a:xfrm>
            <a:off x="411480" y="1344168"/>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Orchestration</a:t>
            </a:r>
            <a:endParaRPr lang="en-US" sz="800" dirty="0"/>
          </a:p>
        </p:txBody>
      </p:sp>
      <p:sp>
        <p:nvSpPr>
          <p:cNvPr id="8" name="Text 6"/>
          <p:cNvSpPr/>
          <p:nvPr/>
        </p:nvSpPr>
        <p:spPr>
          <a:xfrm>
            <a:off x="1490472" y="1353312"/>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ForumOrchestrator.ts</a:t>
            </a:r>
            <a:endParaRPr lang="en-US" sz="1000" dirty="0"/>
          </a:p>
        </p:txBody>
      </p:sp>
      <p:sp>
        <p:nvSpPr>
          <p:cNvPr id="9" name="Text 7"/>
          <p:cNvSpPr/>
          <p:nvPr/>
        </p:nvSpPr>
        <p:spPr>
          <a:xfrm>
            <a:off x="1490472" y="1572768"/>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Runs the 3-phase pipeline. Coordinates memory retrieval, agent execution, and result assembly.</a:t>
            </a:r>
            <a:endParaRPr lang="en-US" sz="850" dirty="0"/>
          </a:p>
        </p:txBody>
      </p:sp>
      <p:sp>
        <p:nvSpPr>
          <p:cNvPr id="10" name="Shape 8"/>
          <p:cNvSpPr/>
          <p:nvPr/>
        </p:nvSpPr>
        <p:spPr>
          <a:xfrm>
            <a:off x="4663440" y="1298448"/>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1" name="Shape 9"/>
          <p:cNvSpPr/>
          <p:nvPr/>
        </p:nvSpPr>
        <p:spPr>
          <a:xfrm>
            <a:off x="4663440" y="1298448"/>
            <a:ext cx="1005840" cy="640080"/>
          </a:xfrm>
          <a:prstGeom prst="roundRect">
            <a:avLst>
              <a:gd name="adj" fmla="val 11429"/>
            </a:avLst>
          </a:prstGeom>
          <a:solidFill>
            <a:srgbClr val="1B4F9B"/>
          </a:solidFill>
          <a:ln w="12700">
            <a:solidFill>
              <a:srgbClr val="1B4F9B"/>
            </a:solidFill>
            <a:prstDash val="solid"/>
          </a:ln>
        </p:spPr>
        <p:txBody>
          <a:bodyPr/>
          <a:lstStyle/>
          <a:p>
            <a:endParaRPr lang="en-US"/>
          </a:p>
        </p:txBody>
      </p:sp>
      <p:sp>
        <p:nvSpPr>
          <p:cNvPr id="12" name="Text 10"/>
          <p:cNvSpPr/>
          <p:nvPr/>
        </p:nvSpPr>
        <p:spPr>
          <a:xfrm>
            <a:off x="4663440" y="1344168"/>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Agent runtime</a:t>
            </a:r>
            <a:endParaRPr lang="en-US" sz="800" dirty="0"/>
          </a:p>
        </p:txBody>
      </p:sp>
      <p:sp>
        <p:nvSpPr>
          <p:cNvPr id="13" name="Text 11"/>
          <p:cNvSpPr/>
          <p:nvPr/>
        </p:nvSpPr>
        <p:spPr>
          <a:xfrm>
            <a:off x="5742432" y="1353312"/>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AgentRunner.ts</a:t>
            </a:r>
            <a:endParaRPr lang="en-US" sz="1000" dirty="0"/>
          </a:p>
        </p:txBody>
      </p:sp>
      <p:sp>
        <p:nvSpPr>
          <p:cNvPr id="14" name="Text 12"/>
          <p:cNvSpPr/>
          <p:nvPr/>
        </p:nvSpPr>
        <p:spPr>
          <a:xfrm>
            <a:off x="5742432" y="1572768"/>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Builds each agent's final system prompt (base + WA principles + memory + org context) and calls Anthropic API.</a:t>
            </a:r>
            <a:endParaRPr lang="en-US" sz="850" dirty="0"/>
          </a:p>
        </p:txBody>
      </p:sp>
      <p:sp>
        <p:nvSpPr>
          <p:cNvPr id="15" name="Shape 13"/>
          <p:cNvSpPr/>
          <p:nvPr/>
        </p:nvSpPr>
        <p:spPr>
          <a:xfrm>
            <a:off x="411480" y="2048256"/>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6" name="Shape 14"/>
          <p:cNvSpPr/>
          <p:nvPr/>
        </p:nvSpPr>
        <p:spPr>
          <a:xfrm>
            <a:off x="411480" y="2048256"/>
            <a:ext cx="1005840" cy="640080"/>
          </a:xfrm>
          <a:prstGeom prst="roundRect">
            <a:avLst>
              <a:gd name="adj" fmla="val 11429"/>
            </a:avLst>
          </a:prstGeom>
          <a:solidFill>
            <a:srgbClr val="0F6E56"/>
          </a:solidFill>
          <a:ln w="12700">
            <a:solidFill>
              <a:srgbClr val="0F6E56"/>
            </a:solidFill>
            <a:prstDash val="solid"/>
          </a:ln>
        </p:spPr>
        <p:txBody>
          <a:bodyPr/>
          <a:lstStyle/>
          <a:p>
            <a:endParaRPr lang="en-US"/>
          </a:p>
        </p:txBody>
      </p:sp>
      <p:sp>
        <p:nvSpPr>
          <p:cNvPr id="17" name="Text 15"/>
          <p:cNvSpPr/>
          <p:nvPr/>
        </p:nvSpPr>
        <p:spPr>
          <a:xfrm>
            <a:off x="411480" y="2093976"/>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Memory</a:t>
            </a:r>
            <a:endParaRPr lang="en-US" sz="800" dirty="0"/>
          </a:p>
        </p:txBody>
      </p:sp>
      <p:sp>
        <p:nvSpPr>
          <p:cNvPr id="18" name="Text 16"/>
          <p:cNvSpPr/>
          <p:nvPr/>
        </p:nvSpPr>
        <p:spPr>
          <a:xfrm>
            <a:off x="1490472" y="2103120"/>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jiraMemoryRetriever.ts</a:t>
            </a:r>
            <a:endParaRPr lang="en-US" sz="1000" dirty="0"/>
          </a:p>
        </p:txBody>
      </p:sp>
      <p:sp>
        <p:nvSpPr>
          <p:cNvPr id="19" name="Text 17"/>
          <p:cNvSpPr/>
          <p:nvPr/>
        </p:nvSpPr>
        <p:spPr>
          <a:xfrm>
            <a:off x="1490472" y="2322576"/>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Queries ARBOARD Jira project for past ADRs. Scores by domain keyword overlap. Returns top 5 relevant decisions.</a:t>
            </a:r>
            <a:endParaRPr lang="en-US" sz="850" dirty="0"/>
          </a:p>
        </p:txBody>
      </p:sp>
      <p:sp>
        <p:nvSpPr>
          <p:cNvPr id="20" name="Shape 18"/>
          <p:cNvSpPr/>
          <p:nvPr/>
        </p:nvSpPr>
        <p:spPr>
          <a:xfrm>
            <a:off x="4663440" y="2048256"/>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1" name="Shape 19"/>
          <p:cNvSpPr/>
          <p:nvPr/>
        </p:nvSpPr>
        <p:spPr>
          <a:xfrm>
            <a:off x="4663440" y="2048256"/>
            <a:ext cx="1005840" cy="640080"/>
          </a:xfrm>
          <a:prstGeom prst="roundRect">
            <a:avLst>
              <a:gd name="adj" fmla="val 11429"/>
            </a:avLst>
          </a:prstGeom>
          <a:solidFill>
            <a:srgbClr val="0F6E56"/>
          </a:solidFill>
          <a:ln w="12700">
            <a:solidFill>
              <a:srgbClr val="0F6E56"/>
            </a:solidFill>
            <a:prstDash val="solid"/>
          </a:ln>
        </p:spPr>
        <p:txBody>
          <a:bodyPr/>
          <a:lstStyle/>
          <a:p>
            <a:endParaRPr lang="en-US"/>
          </a:p>
        </p:txBody>
      </p:sp>
      <p:sp>
        <p:nvSpPr>
          <p:cNvPr id="22" name="Text 20"/>
          <p:cNvSpPr/>
          <p:nvPr/>
        </p:nvSpPr>
        <p:spPr>
          <a:xfrm>
            <a:off x="4663440" y="2093976"/>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Memory</a:t>
            </a:r>
            <a:endParaRPr lang="en-US" sz="800" dirty="0"/>
          </a:p>
        </p:txBody>
      </p:sp>
      <p:sp>
        <p:nvSpPr>
          <p:cNvPr id="23" name="Text 21"/>
          <p:cNvSpPr/>
          <p:nvPr/>
        </p:nvSpPr>
        <p:spPr>
          <a:xfrm>
            <a:off x="5742432" y="2103120"/>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contextInjector.ts</a:t>
            </a:r>
            <a:endParaRPr lang="en-US" sz="1000" dirty="0"/>
          </a:p>
        </p:txBody>
      </p:sp>
      <p:sp>
        <p:nvSpPr>
          <p:cNvPr id="24" name="Text 22"/>
          <p:cNvSpPr/>
          <p:nvPr/>
        </p:nvSpPr>
        <p:spPr>
          <a:xfrm>
            <a:off x="5742432" y="2322576"/>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Formats past ADRs into per-agent memory blocks. Filters by agent domain. Adds conflict warnings where applicable.</a:t>
            </a:r>
            <a:endParaRPr lang="en-US" sz="850" dirty="0"/>
          </a:p>
        </p:txBody>
      </p:sp>
      <p:sp>
        <p:nvSpPr>
          <p:cNvPr id="25" name="Shape 23"/>
          <p:cNvSpPr/>
          <p:nvPr/>
        </p:nvSpPr>
        <p:spPr>
          <a:xfrm>
            <a:off x="411480" y="2798064"/>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6" name="Shape 24"/>
          <p:cNvSpPr/>
          <p:nvPr/>
        </p:nvSpPr>
        <p:spPr>
          <a:xfrm>
            <a:off x="411480" y="2798064"/>
            <a:ext cx="1005840" cy="640080"/>
          </a:xfrm>
          <a:prstGeom prst="roundRect">
            <a:avLst>
              <a:gd name="adj" fmla="val 11429"/>
            </a:avLst>
          </a:prstGeom>
          <a:solidFill>
            <a:srgbClr val="534AB7"/>
          </a:solidFill>
          <a:ln w="12700">
            <a:solidFill>
              <a:srgbClr val="534AB7"/>
            </a:solidFill>
            <a:prstDash val="solid"/>
          </a:ln>
        </p:spPr>
        <p:txBody>
          <a:bodyPr/>
          <a:lstStyle/>
          <a:p>
            <a:endParaRPr lang="en-US"/>
          </a:p>
        </p:txBody>
      </p:sp>
      <p:sp>
        <p:nvSpPr>
          <p:cNvPr id="27" name="Text 25"/>
          <p:cNvSpPr/>
          <p:nvPr/>
        </p:nvSpPr>
        <p:spPr>
          <a:xfrm>
            <a:off x="411480" y="2843784"/>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Grounding</a:t>
            </a:r>
            <a:endParaRPr lang="en-US" sz="800" dirty="0"/>
          </a:p>
        </p:txBody>
      </p:sp>
      <p:sp>
        <p:nvSpPr>
          <p:cNvPr id="28" name="Text 26"/>
          <p:cNvSpPr/>
          <p:nvPr/>
        </p:nvSpPr>
        <p:spPr>
          <a:xfrm>
            <a:off x="1490472" y="2852928"/>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wellArchitectedPrinciples.ts</a:t>
            </a:r>
            <a:endParaRPr lang="en-US" sz="1000" dirty="0"/>
          </a:p>
        </p:txBody>
      </p:sp>
      <p:sp>
        <p:nvSpPr>
          <p:cNvPr id="29" name="Text 27"/>
          <p:cNvSpPr/>
          <p:nvPr/>
        </p:nvSpPr>
        <p:spPr>
          <a:xfrm>
            <a:off x="1490472" y="3072384"/>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9 agent-keyed principle sets. Injected into system prompt after memory. Grounds agents in SF Well-Architected Framework.</a:t>
            </a:r>
            <a:endParaRPr lang="en-US" sz="850" dirty="0"/>
          </a:p>
        </p:txBody>
      </p:sp>
      <p:sp>
        <p:nvSpPr>
          <p:cNvPr id="30" name="Shape 28"/>
          <p:cNvSpPr/>
          <p:nvPr/>
        </p:nvSpPr>
        <p:spPr>
          <a:xfrm>
            <a:off x="4663440" y="2798064"/>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1" name="Shape 29"/>
          <p:cNvSpPr/>
          <p:nvPr/>
        </p:nvSpPr>
        <p:spPr>
          <a:xfrm>
            <a:off x="4663440" y="2798064"/>
            <a:ext cx="1005840" cy="640080"/>
          </a:xfrm>
          <a:prstGeom prst="roundRect">
            <a:avLst>
              <a:gd name="adj" fmla="val 11429"/>
            </a:avLst>
          </a:prstGeom>
          <a:solidFill>
            <a:srgbClr val="534AB7"/>
          </a:solidFill>
          <a:ln w="12700">
            <a:solidFill>
              <a:srgbClr val="534AB7"/>
            </a:solidFill>
            <a:prstDash val="solid"/>
          </a:ln>
        </p:spPr>
        <p:txBody>
          <a:bodyPr/>
          <a:lstStyle/>
          <a:p>
            <a:endParaRPr lang="en-US"/>
          </a:p>
        </p:txBody>
      </p:sp>
      <p:sp>
        <p:nvSpPr>
          <p:cNvPr id="32" name="Text 30"/>
          <p:cNvSpPr/>
          <p:nvPr/>
        </p:nvSpPr>
        <p:spPr>
          <a:xfrm>
            <a:off x="4663440" y="2843784"/>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Grounding</a:t>
            </a:r>
            <a:endParaRPr lang="en-US" sz="800" dirty="0"/>
          </a:p>
        </p:txBody>
      </p:sp>
      <p:sp>
        <p:nvSpPr>
          <p:cNvPr id="33" name="Text 31"/>
          <p:cNvSpPr/>
          <p:nvPr/>
        </p:nvSpPr>
        <p:spPr>
          <a:xfrm>
            <a:off x="5742432" y="2852928"/>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patternRetrieval.ts</a:t>
            </a:r>
            <a:endParaRPr lang="en-US" sz="1000" dirty="0"/>
          </a:p>
        </p:txBody>
      </p:sp>
      <p:sp>
        <p:nvSpPr>
          <p:cNvPr id="34" name="Text 32"/>
          <p:cNvSpPr/>
          <p:nvPr/>
        </p:nvSpPr>
        <p:spPr>
          <a:xfrm>
            <a:off x="5742432" y="3072384"/>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Retrieves SI failure patterns from Supabase. Agents cite FP-xxx IDs in their analysis when patterns are matched.</a:t>
            </a:r>
            <a:endParaRPr lang="en-US" sz="850" dirty="0"/>
          </a:p>
        </p:txBody>
      </p:sp>
      <p:sp>
        <p:nvSpPr>
          <p:cNvPr id="35" name="Shape 33"/>
          <p:cNvSpPr/>
          <p:nvPr/>
        </p:nvSpPr>
        <p:spPr>
          <a:xfrm>
            <a:off x="411480" y="3547872"/>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6" name="Shape 34"/>
          <p:cNvSpPr/>
          <p:nvPr/>
        </p:nvSpPr>
        <p:spPr>
          <a:xfrm>
            <a:off x="411480" y="3547872"/>
            <a:ext cx="1005840" cy="640080"/>
          </a:xfrm>
          <a:prstGeom prst="roundRect">
            <a:avLst>
              <a:gd name="adj" fmla="val 11429"/>
            </a:avLst>
          </a:prstGeom>
          <a:solidFill>
            <a:srgbClr val="BA7517"/>
          </a:solidFill>
          <a:ln w="12700">
            <a:solidFill>
              <a:srgbClr val="BA7517"/>
            </a:solidFill>
            <a:prstDash val="solid"/>
          </a:ln>
        </p:spPr>
        <p:txBody>
          <a:bodyPr/>
          <a:lstStyle/>
          <a:p>
            <a:endParaRPr lang="en-US"/>
          </a:p>
        </p:txBody>
      </p:sp>
      <p:sp>
        <p:nvSpPr>
          <p:cNvPr id="37" name="Text 35"/>
          <p:cNvSpPr/>
          <p:nvPr/>
        </p:nvSpPr>
        <p:spPr>
          <a:xfrm>
            <a:off x="411480" y="3593592"/>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Integration</a:t>
            </a:r>
            <a:endParaRPr lang="en-US" sz="800" dirty="0"/>
          </a:p>
        </p:txBody>
      </p:sp>
      <p:sp>
        <p:nvSpPr>
          <p:cNvPr id="38" name="Text 36"/>
          <p:cNvSpPr/>
          <p:nvPr/>
        </p:nvSpPr>
        <p:spPr>
          <a:xfrm>
            <a:off x="1490472" y="3602736"/>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jira.ts</a:t>
            </a:r>
            <a:endParaRPr lang="en-US" sz="1000" dirty="0"/>
          </a:p>
        </p:txBody>
      </p:sp>
      <p:sp>
        <p:nvSpPr>
          <p:cNvPr id="39" name="Text 37"/>
          <p:cNvSpPr/>
          <p:nvPr/>
        </p:nvSpPr>
        <p:spPr>
          <a:xfrm>
            <a:off x="1490472" y="3822192"/>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Creates ADR tickets in ARBOARD project. Assigns reviewers. Posts human judgement comments. Manages arboard-adr/signed labels.</a:t>
            </a:r>
            <a:endParaRPr lang="en-US" sz="850" dirty="0"/>
          </a:p>
        </p:txBody>
      </p:sp>
      <p:sp>
        <p:nvSpPr>
          <p:cNvPr id="40" name="Shape 38"/>
          <p:cNvSpPr/>
          <p:nvPr/>
        </p:nvSpPr>
        <p:spPr>
          <a:xfrm>
            <a:off x="4663440" y="3547872"/>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1" name="Shape 39"/>
          <p:cNvSpPr/>
          <p:nvPr/>
        </p:nvSpPr>
        <p:spPr>
          <a:xfrm>
            <a:off x="4663440" y="3547872"/>
            <a:ext cx="1005840" cy="640080"/>
          </a:xfrm>
          <a:prstGeom prst="roundRect">
            <a:avLst>
              <a:gd name="adj" fmla="val 11429"/>
            </a:avLst>
          </a:prstGeom>
          <a:solidFill>
            <a:srgbClr val="BA7517"/>
          </a:solidFill>
          <a:ln w="12700">
            <a:solidFill>
              <a:srgbClr val="BA7517"/>
            </a:solidFill>
            <a:prstDash val="solid"/>
          </a:ln>
        </p:spPr>
        <p:txBody>
          <a:bodyPr/>
          <a:lstStyle/>
          <a:p>
            <a:endParaRPr lang="en-US"/>
          </a:p>
        </p:txBody>
      </p:sp>
      <p:sp>
        <p:nvSpPr>
          <p:cNvPr id="42" name="Text 40"/>
          <p:cNvSpPr/>
          <p:nvPr/>
        </p:nvSpPr>
        <p:spPr>
          <a:xfrm>
            <a:off x="4663440" y="3593592"/>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Integration</a:t>
            </a:r>
            <a:endParaRPr lang="en-US" sz="800" dirty="0"/>
          </a:p>
        </p:txBody>
      </p:sp>
      <p:sp>
        <p:nvSpPr>
          <p:cNvPr id="43" name="Text 41"/>
          <p:cNvSpPr/>
          <p:nvPr/>
        </p:nvSpPr>
        <p:spPr>
          <a:xfrm>
            <a:off x="5742432" y="3602736"/>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OrgMetadataCollector.ts</a:t>
            </a:r>
            <a:endParaRPr lang="en-US" sz="1000" dirty="0"/>
          </a:p>
        </p:txBody>
      </p:sp>
      <p:sp>
        <p:nvSpPr>
          <p:cNvPr id="44" name="Text 42"/>
          <p:cNvSpPr/>
          <p:nvPr/>
        </p:nvSpPr>
        <p:spPr>
          <a:xfrm>
            <a:off x="5742432" y="3822192"/>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Collects live Salesforce org metadata via MCP or jsforce fallback. Feeds object/trigger/flow context to agents.</a:t>
            </a:r>
            <a:endParaRPr lang="en-US" sz="850" dirty="0"/>
          </a:p>
        </p:txBody>
      </p:sp>
      <p:sp>
        <p:nvSpPr>
          <p:cNvPr id="45" name="Shape 43"/>
          <p:cNvSpPr/>
          <p:nvPr/>
        </p:nvSpPr>
        <p:spPr>
          <a:xfrm>
            <a:off x="411480" y="4297680"/>
            <a:ext cx="832104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6" name="Shape 44"/>
          <p:cNvSpPr/>
          <p:nvPr/>
        </p:nvSpPr>
        <p:spPr>
          <a:xfrm>
            <a:off x="411480" y="4297680"/>
            <a:ext cx="1005840" cy="640080"/>
          </a:xfrm>
          <a:prstGeom prst="roundRect">
            <a:avLst>
              <a:gd name="adj" fmla="val 11429"/>
            </a:avLst>
          </a:prstGeom>
          <a:solidFill>
            <a:srgbClr val="993C1D"/>
          </a:solidFill>
          <a:ln w="12700">
            <a:solidFill>
              <a:srgbClr val="993C1D"/>
            </a:solidFill>
            <a:prstDash val="solid"/>
          </a:ln>
        </p:spPr>
        <p:txBody>
          <a:bodyPr/>
          <a:lstStyle/>
          <a:p>
            <a:endParaRPr lang="en-US"/>
          </a:p>
        </p:txBody>
      </p:sp>
      <p:sp>
        <p:nvSpPr>
          <p:cNvPr id="47" name="Text 45"/>
          <p:cNvSpPr/>
          <p:nvPr/>
        </p:nvSpPr>
        <p:spPr>
          <a:xfrm>
            <a:off x="411480" y="4343400"/>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Analysis</a:t>
            </a:r>
            <a:endParaRPr lang="en-US" sz="800" dirty="0"/>
          </a:p>
        </p:txBody>
      </p:sp>
      <p:sp>
        <p:nvSpPr>
          <p:cNvPr id="48" name="Text 46"/>
          <p:cNvSpPr/>
          <p:nvPr/>
        </p:nvSpPr>
        <p:spPr>
          <a:xfrm>
            <a:off x="1490472" y="4352544"/>
            <a:ext cx="717804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ImpactAnalyser.ts</a:t>
            </a:r>
            <a:endParaRPr lang="en-US" sz="1000" dirty="0"/>
          </a:p>
        </p:txBody>
      </p:sp>
      <p:sp>
        <p:nvSpPr>
          <p:cNvPr id="49" name="Text 47"/>
          <p:cNvSpPr/>
          <p:nvPr/>
        </p:nvSpPr>
        <p:spPr>
          <a:xfrm>
            <a:off x="1490472" y="4572000"/>
            <a:ext cx="717804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Analyses the requirement to determine which specialist agents are relevant. Avoids running all 9 agents when unnecessary.</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SEQUENCE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600" b="1" dirty="0">
                <a:solidFill>
                  <a:srgbClr val="1A1A1A"/>
                </a:solidFill>
                <a:latin typeface="Arial" pitchFamily="34" charset="0"/>
                <a:ea typeface="Arial" pitchFamily="34" charset="-122"/>
                <a:cs typeface="Arial" pitchFamily="34" charset="-120"/>
              </a:rPr>
              <a:t>End-to-end: from doc upload to Jira ticket</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325880"/>
            <a:ext cx="2011680" cy="1353312"/>
          </a:xfrm>
          <a:prstGeom prst="roundRect">
            <a:avLst>
              <a:gd name="adj" fmla="val 5405"/>
            </a:avLst>
          </a:prstGeom>
          <a:solidFill>
            <a:srgbClr val="EB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6" name="Shape 4"/>
          <p:cNvSpPr/>
          <p:nvPr/>
        </p:nvSpPr>
        <p:spPr>
          <a:xfrm>
            <a:off x="1170432" y="1417320"/>
            <a:ext cx="475488" cy="475488"/>
          </a:xfrm>
          <a:prstGeom prst="ellipse">
            <a:avLst/>
          </a:prstGeom>
          <a:solidFill>
            <a:srgbClr val="0F1E3C"/>
          </a:solidFill>
          <a:ln w="12700">
            <a:solidFill>
              <a:srgbClr val="0F1E3C"/>
            </a:solidFill>
            <a:prstDash val="solid"/>
          </a:ln>
        </p:spPr>
        <p:txBody>
          <a:bodyPr/>
          <a:lstStyle/>
          <a:p>
            <a:endParaRPr lang="en-US"/>
          </a:p>
        </p:txBody>
      </p:sp>
      <p:sp>
        <p:nvSpPr>
          <p:cNvPr id="7" name="Text 5"/>
          <p:cNvSpPr/>
          <p:nvPr/>
        </p:nvSpPr>
        <p:spPr>
          <a:xfrm>
            <a:off x="1170432" y="141732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411480" y="194767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Upload &amp; extract</a:t>
            </a:r>
            <a:endParaRPr lang="en-US" sz="1100" dirty="0"/>
          </a:p>
        </p:txBody>
      </p:sp>
      <p:sp>
        <p:nvSpPr>
          <p:cNvPr id="9" name="Text 7"/>
          <p:cNvSpPr/>
          <p:nvPr/>
        </p:nvSpPr>
        <p:spPr>
          <a:xfrm>
            <a:off x="411480" y="2203704"/>
            <a:ext cx="2011680" cy="201168"/>
          </a:xfrm>
          <a:prstGeom prst="rect">
            <a:avLst/>
          </a:prstGeom>
          <a:noFill/>
          <a:ln/>
        </p:spPr>
        <p:txBody>
          <a:bodyPr wrap="square" rtlCol="0" anchor="ctr"/>
          <a:lstStyle/>
          <a:p>
            <a:pPr marL="0" indent="0" algn="ctr">
              <a:buNone/>
            </a:pPr>
            <a:r>
              <a:rPr lang="en-US" sz="850" b="1" dirty="0">
                <a:solidFill>
                  <a:srgbClr val="0F1E3C"/>
                </a:solidFill>
                <a:latin typeface="Arial" pitchFamily="34" charset="0"/>
                <a:ea typeface="Arial" pitchFamily="34" charset="-122"/>
                <a:cs typeface="Arial" pitchFamily="34" charset="-120"/>
              </a:rPr>
              <a:t>api/upload/route.ts</a:t>
            </a:r>
            <a:endParaRPr lang="en-US" sz="850" dirty="0"/>
          </a:p>
        </p:txBody>
      </p:sp>
      <p:sp>
        <p:nvSpPr>
          <p:cNvPr id="10" name="Text 8"/>
          <p:cNvSpPr/>
          <p:nvPr/>
        </p:nvSpPr>
        <p:spPr>
          <a:xfrm>
            <a:off x="411480" y="240487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PDF/Word → text extracted</a:t>
            </a:r>
            <a:endParaRPr lang="en-US" sz="850" dirty="0"/>
          </a:p>
        </p:txBody>
      </p:sp>
      <p:sp>
        <p:nvSpPr>
          <p:cNvPr id="11" name="Text 9"/>
          <p:cNvSpPr/>
          <p:nvPr/>
        </p:nvSpPr>
        <p:spPr>
          <a:xfrm>
            <a:off x="2423160" y="174650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12" name="Shape 10"/>
          <p:cNvSpPr/>
          <p:nvPr/>
        </p:nvSpPr>
        <p:spPr>
          <a:xfrm>
            <a:off x="2560320" y="1325880"/>
            <a:ext cx="2011680" cy="1353312"/>
          </a:xfrm>
          <a:prstGeom prst="roundRect">
            <a:avLst>
              <a:gd name="adj" fmla="val 5405"/>
            </a:avLst>
          </a:prstGeom>
          <a:solidFill>
            <a:srgbClr val="E1F5E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3" name="Shape 11"/>
          <p:cNvSpPr/>
          <p:nvPr/>
        </p:nvSpPr>
        <p:spPr>
          <a:xfrm>
            <a:off x="3319272" y="1417320"/>
            <a:ext cx="475488" cy="475488"/>
          </a:xfrm>
          <a:prstGeom prst="ellipse">
            <a:avLst/>
          </a:prstGeom>
          <a:solidFill>
            <a:srgbClr val="0F6E56"/>
          </a:solidFill>
          <a:ln w="12700">
            <a:solidFill>
              <a:srgbClr val="0F6E56"/>
            </a:solidFill>
            <a:prstDash val="solid"/>
          </a:ln>
        </p:spPr>
        <p:txBody>
          <a:bodyPr/>
          <a:lstStyle/>
          <a:p>
            <a:endParaRPr lang="en-US"/>
          </a:p>
        </p:txBody>
      </p:sp>
      <p:sp>
        <p:nvSpPr>
          <p:cNvPr id="14" name="Text 12"/>
          <p:cNvSpPr/>
          <p:nvPr/>
        </p:nvSpPr>
        <p:spPr>
          <a:xfrm>
            <a:off x="3319272" y="141732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p:nvPr/>
        </p:nvSpPr>
        <p:spPr>
          <a:xfrm>
            <a:off x="2560320" y="194767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Memory retrieval</a:t>
            </a:r>
            <a:endParaRPr lang="en-US" sz="1100" dirty="0"/>
          </a:p>
        </p:txBody>
      </p:sp>
      <p:sp>
        <p:nvSpPr>
          <p:cNvPr id="16" name="Text 14"/>
          <p:cNvSpPr/>
          <p:nvPr/>
        </p:nvSpPr>
        <p:spPr>
          <a:xfrm>
            <a:off x="2560320" y="2203704"/>
            <a:ext cx="2011680" cy="201168"/>
          </a:xfrm>
          <a:prstGeom prst="rect">
            <a:avLst/>
          </a:prstGeom>
          <a:noFill/>
          <a:ln/>
        </p:spPr>
        <p:txBody>
          <a:bodyPr wrap="square" rtlCol="0" anchor="ctr"/>
          <a:lstStyle/>
          <a:p>
            <a:pPr marL="0" indent="0" algn="ctr">
              <a:buNone/>
            </a:pPr>
            <a:r>
              <a:rPr lang="en-US" sz="850" b="1" dirty="0">
                <a:solidFill>
                  <a:srgbClr val="0F6E56"/>
                </a:solidFill>
                <a:latin typeface="Arial" pitchFamily="34" charset="0"/>
                <a:ea typeface="Arial" pitchFamily="34" charset="-122"/>
                <a:cs typeface="Arial" pitchFamily="34" charset="-120"/>
              </a:rPr>
              <a:t>jiraMemoryRetriever.ts</a:t>
            </a:r>
            <a:endParaRPr lang="en-US" sz="850" dirty="0"/>
          </a:p>
        </p:txBody>
      </p:sp>
      <p:sp>
        <p:nvSpPr>
          <p:cNvPr id="17" name="Text 15"/>
          <p:cNvSpPr/>
          <p:nvPr/>
        </p:nvSpPr>
        <p:spPr>
          <a:xfrm>
            <a:off x="2560320" y="240487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Past ADRs scored + ranked</a:t>
            </a:r>
            <a:endParaRPr lang="en-US" sz="850" dirty="0"/>
          </a:p>
        </p:txBody>
      </p:sp>
      <p:sp>
        <p:nvSpPr>
          <p:cNvPr id="18" name="Text 16"/>
          <p:cNvSpPr/>
          <p:nvPr/>
        </p:nvSpPr>
        <p:spPr>
          <a:xfrm>
            <a:off x="4572000" y="174650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19" name="Shape 17"/>
          <p:cNvSpPr/>
          <p:nvPr/>
        </p:nvSpPr>
        <p:spPr>
          <a:xfrm>
            <a:off x="4709160" y="1325880"/>
            <a:ext cx="2011680" cy="1353312"/>
          </a:xfrm>
          <a:prstGeom prst="roundRect">
            <a:avLst>
              <a:gd name="adj" fmla="val 5405"/>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0" name="Shape 18"/>
          <p:cNvSpPr/>
          <p:nvPr/>
        </p:nvSpPr>
        <p:spPr>
          <a:xfrm>
            <a:off x="5468112" y="1417320"/>
            <a:ext cx="475488" cy="475488"/>
          </a:xfrm>
          <a:prstGeom prst="ellipse">
            <a:avLst/>
          </a:prstGeom>
          <a:solidFill>
            <a:srgbClr val="1B4F9B"/>
          </a:solidFill>
          <a:ln w="12700">
            <a:solidFill>
              <a:srgbClr val="1B4F9B"/>
            </a:solidFill>
            <a:prstDash val="solid"/>
          </a:ln>
        </p:spPr>
        <p:txBody>
          <a:bodyPr/>
          <a:lstStyle/>
          <a:p>
            <a:endParaRPr lang="en-US"/>
          </a:p>
        </p:txBody>
      </p:sp>
      <p:sp>
        <p:nvSpPr>
          <p:cNvPr id="21" name="Text 19"/>
          <p:cNvSpPr/>
          <p:nvPr/>
        </p:nvSpPr>
        <p:spPr>
          <a:xfrm>
            <a:off x="5468112" y="141732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4709160" y="194767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Phase 1 — Design</a:t>
            </a:r>
            <a:endParaRPr lang="en-US" sz="1100" dirty="0"/>
          </a:p>
        </p:txBody>
      </p:sp>
      <p:sp>
        <p:nvSpPr>
          <p:cNvPr id="23" name="Text 21"/>
          <p:cNvSpPr/>
          <p:nvPr/>
        </p:nvSpPr>
        <p:spPr>
          <a:xfrm>
            <a:off x="4709160" y="2203704"/>
            <a:ext cx="2011680" cy="201168"/>
          </a:xfrm>
          <a:prstGeom prst="rect">
            <a:avLst/>
          </a:prstGeom>
          <a:noFill/>
          <a:ln/>
        </p:spPr>
        <p:txBody>
          <a:bodyPr wrap="square" rtlCol="0" anchor="ctr"/>
          <a:lstStyle/>
          <a:p>
            <a:pPr marL="0" indent="0" algn="ctr">
              <a:buNone/>
            </a:pPr>
            <a:r>
              <a:rPr lang="en-US" sz="850" b="1" dirty="0">
                <a:solidFill>
                  <a:srgbClr val="1B4F9B"/>
                </a:solidFill>
                <a:latin typeface="Arial" pitchFamily="34" charset="0"/>
                <a:ea typeface="Arial" pitchFamily="34" charset="-122"/>
                <a:cs typeface="Arial" pitchFamily="34" charset="-120"/>
              </a:rPr>
              <a:t>ForumOrchestrator.ts</a:t>
            </a:r>
            <a:endParaRPr lang="en-US" sz="850" dirty="0"/>
          </a:p>
        </p:txBody>
      </p:sp>
      <p:sp>
        <p:nvSpPr>
          <p:cNvPr id="24" name="Text 22"/>
          <p:cNvSpPr/>
          <p:nvPr/>
        </p:nvSpPr>
        <p:spPr>
          <a:xfrm>
            <a:off x="4709160" y="240487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Designer agent (skipped in doc review mode)</a:t>
            </a:r>
            <a:endParaRPr lang="en-US" sz="850" dirty="0"/>
          </a:p>
        </p:txBody>
      </p:sp>
      <p:sp>
        <p:nvSpPr>
          <p:cNvPr id="25" name="Text 23"/>
          <p:cNvSpPr/>
          <p:nvPr/>
        </p:nvSpPr>
        <p:spPr>
          <a:xfrm>
            <a:off x="6720840" y="174650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26" name="Shape 24"/>
          <p:cNvSpPr/>
          <p:nvPr/>
        </p:nvSpPr>
        <p:spPr>
          <a:xfrm>
            <a:off x="6858000" y="1325880"/>
            <a:ext cx="2011680" cy="1353312"/>
          </a:xfrm>
          <a:prstGeom prst="roundRect">
            <a:avLst>
              <a:gd name="adj" fmla="val 5405"/>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7" name="Shape 25"/>
          <p:cNvSpPr/>
          <p:nvPr/>
        </p:nvSpPr>
        <p:spPr>
          <a:xfrm>
            <a:off x="7616952" y="1417320"/>
            <a:ext cx="475488" cy="475488"/>
          </a:xfrm>
          <a:prstGeom prst="ellipse">
            <a:avLst/>
          </a:prstGeom>
          <a:solidFill>
            <a:srgbClr val="1B4F9B"/>
          </a:solidFill>
          <a:ln w="12700">
            <a:solidFill>
              <a:srgbClr val="1B4F9B"/>
            </a:solidFill>
            <a:prstDash val="solid"/>
          </a:ln>
        </p:spPr>
        <p:txBody>
          <a:bodyPr/>
          <a:lstStyle/>
          <a:p>
            <a:endParaRPr lang="en-US"/>
          </a:p>
        </p:txBody>
      </p:sp>
      <p:sp>
        <p:nvSpPr>
          <p:cNvPr id="28" name="Text 26"/>
          <p:cNvSpPr/>
          <p:nvPr/>
        </p:nvSpPr>
        <p:spPr>
          <a:xfrm>
            <a:off x="7616952" y="141732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9" name="Text 27"/>
          <p:cNvSpPr/>
          <p:nvPr/>
        </p:nvSpPr>
        <p:spPr>
          <a:xfrm>
            <a:off x="6858000" y="194767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Phase 2 — Debate</a:t>
            </a:r>
            <a:endParaRPr lang="en-US" sz="1100" dirty="0"/>
          </a:p>
        </p:txBody>
      </p:sp>
      <p:sp>
        <p:nvSpPr>
          <p:cNvPr id="30" name="Text 28"/>
          <p:cNvSpPr/>
          <p:nvPr/>
        </p:nvSpPr>
        <p:spPr>
          <a:xfrm>
            <a:off x="6858000" y="2203704"/>
            <a:ext cx="2011680" cy="201168"/>
          </a:xfrm>
          <a:prstGeom prst="rect">
            <a:avLst/>
          </a:prstGeom>
          <a:noFill/>
          <a:ln/>
        </p:spPr>
        <p:txBody>
          <a:bodyPr wrap="square" rtlCol="0" anchor="ctr"/>
          <a:lstStyle/>
          <a:p>
            <a:pPr marL="0" indent="0" algn="ctr">
              <a:buNone/>
            </a:pPr>
            <a:r>
              <a:rPr lang="en-US" sz="850" b="1" dirty="0">
                <a:solidFill>
                  <a:srgbClr val="1B4F9B"/>
                </a:solidFill>
                <a:latin typeface="Arial" pitchFamily="34" charset="0"/>
                <a:ea typeface="Arial" pitchFamily="34" charset="-122"/>
                <a:cs typeface="Arial" pitchFamily="34" charset="-120"/>
              </a:rPr>
              <a:t>7 specialist agents</a:t>
            </a:r>
            <a:endParaRPr lang="en-US" sz="850" dirty="0"/>
          </a:p>
        </p:txBody>
      </p:sp>
      <p:sp>
        <p:nvSpPr>
          <p:cNvPr id="31" name="Text 29"/>
          <p:cNvSpPr/>
          <p:nvPr/>
        </p:nvSpPr>
        <p:spPr>
          <a:xfrm>
            <a:off x="6858000" y="240487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Sequential, building on prior context</a:t>
            </a:r>
            <a:endParaRPr lang="en-US" sz="850" dirty="0"/>
          </a:p>
        </p:txBody>
      </p:sp>
      <p:sp>
        <p:nvSpPr>
          <p:cNvPr id="32" name="Shape 30"/>
          <p:cNvSpPr/>
          <p:nvPr/>
        </p:nvSpPr>
        <p:spPr>
          <a:xfrm>
            <a:off x="411480" y="2834640"/>
            <a:ext cx="2011680" cy="1353312"/>
          </a:xfrm>
          <a:prstGeom prst="roundRect">
            <a:avLst>
              <a:gd name="adj" fmla="val 5405"/>
            </a:avLst>
          </a:prstGeom>
          <a:solidFill>
            <a:srgbClr val="EEEDF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3" name="Shape 31"/>
          <p:cNvSpPr/>
          <p:nvPr/>
        </p:nvSpPr>
        <p:spPr>
          <a:xfrm>
            <a:off x="1170432" y="2926080"/>
            <a:ext cx="475488" cy="475488"/>
          </a:xfrm>
          <a:prstGeom prst="ellipse">
            <a:avLst/>
          </a:prstGeom>
          <a:solidFill>
            <a:srgbClr val="534AB7"/>
          </a:solidFill>
          <a:ln w="12700">
            <a:solidFill>
              <a:srgbClr val="534AB7"/>
            </a:solidFill>
            <a:prstDash val="solid"/>
          </a:ln>
        </p:spPr>
        <p:txBody>
          <a:bodyPr/>
          <a:lstStyle/>
          <a:p>
            <a:endParaRPr lang="en-US"/>
          </a:p>
        </p:txBody>
      </p:sp>
      <p:sp>
        <p:nvSpPr>
          <p:cNvPr id="34" name="Text 32"/>
          <p:cNvSpPr/>
          <p:nvPr/>
        </p:nvSpPr>
        <p:spPr>
          <a:xfrm>
            <a:off x="1170432" y="292608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5" name="Text 33"/>
          <p:cNvSpPr/>
          <p:nvPr/>
        </p:nvSpPr>
        <p:spPr>
          <a:xfrm>
            <a:off x="411480" y="345643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Phase 3 — Judge</a:t>
            </a:r>
            <a:endParaRPr lang="en-US" sz="1100" dirty="0"/>
          </a:p>
        </p:txBody>
      </p:sp>
      <p:sp>
        <p:nvSpPr>
          <p:cNvPr id="36" name="Text 34"/>
          <p:cNvSpPr/>
          <p:nvPr/>
        </p:nvSpPr>
        <p:spPr>
          <a:xfrm>
            <a:off x="411480" y="3712464"/>
            <a:ext cx="2011680" cy="201168"/>
          </a:xfrm>
          <a:prstGeom prst="rect">
            <a:avLst/>
          </a:prstGeom>
          <a:noFill/>
          <a:ln/>
        </p:spPr>
        <p:txBody>
          <a:bodyPr wrap="square" rtlCol="0" anchor="ctr"/>
          <a:lstStyle/>
          <a:p>
            <a:pPr marL="0" indent="0" algn="ctr">
              <a:buNone/>
            </a:pPr>
            <a:r>
              <a:rPr lang="en-US" sz="850" b="1" dirty="0">
                <a:solidFill>
                  <a:srgbClr val="534AB7"/>
                </a:solidFill>
                <a:latin typeface="Arial" pitchFamily="34" charset="0"/>
                <a:ea typeface="Arial" pitchFamily="34" charset="-122"/>
                <a:cs typeface="Arial" pitchFamily="34" charset="-120"/>
              </a:rPr>
              <a:t>AgentRunner.ts</a:t>
            </a:r>
            <a:endParaRPr lang="en-US" sz="850" dirty="0"/>
          </a:p>
        </p:txBody>
      </p:sp>
      <p:sp>
        <p:nvSpPr>
          <p:cNvPr id="37" name="Text 35"/>
          <p:cNvSpPr/>
          <p:nvPr/>
        </p:nvSpPr>
        <p:spPr>
          <a:xfrm>
            <a:off x="411480" y="391363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Arbitrates, confidence score</a:t>
            </a:r>
            <a:endParaRPr lang="en-US" sz="850" dirty="0"/>
          </a:p>
        </p:txBody>
      </p:sp>
      <p:sp>
        <p:nvSpPr>
          <p:cNvPr id="38" name="Text 36"/>
          <p:cNvSpPr/>
          <p:nvPr/>
        </p:nvSpPr>
        <p:spPr>
          <a:xfrm>
            <a:off x="2423160" y="325526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39" name="Shape 37"/>
          <p:cNvSpPr/>
          <p:nvPr/>
        </p:nvSpPr>
        <p:spPr>
          <a:xfrm>
            <a:off x="2560320" y="2834640"/>
            <a:ext cx="2011680" cy="1353312"/>
          </a:xfrm>
          <a:prstGeom prst="roundRect">
            <a:avLst>
              <a:gd name="adj" fmla="val 5405"/>
            </a:avLst>
          </a:prstGeom>
          <a:solidFill>
            <a:srgbClr val="FAEED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0" name="Shape 38"/>
          <p:cNvSpPr/>
          <p:nvPr/>
        </p:nvSpPr>
        <p:spPr>
          <a:xfrm>
            <a:off x="3319272" y="2926080"/>
            <a:ext cx="475488" cy="475488"/>
          </a:xfrm>
          <a:prstGeom prst="ellipse">
            <a:avLst/>
          </a:prstGeom>
          <a:solidFill>
            <a:srgbClr val="BA7517"/>
          </a:solidFill>
          <a:ln w="12700">
            <a:solidFill>
              <a:srgbClr val="BA7517"/>
            </a:solidFill>
            <a:prstDash val="solid"/>
          </a:ln>
        </p:spPr>
        <p:txBody>
          <a:bodyPr/>
          <a:lstStyle/>
          <a:p>
            <a:endParaRPr lang="en-US"/>
          </a:p>
        </p:txBody>
      </p:sp>
      <p:sp>
        <p:nvSpPr>
          <p:cNvPr id="41" name="Text 39"/>
          <p:cNvSpPr/>
          <p:nvPr/>
        </p:nvSpPr>
        <p:spPr>
          <a:xfrm>
            <a:off x="3319272" y="292608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42" name="Text 40"/>
          <p:cNvSpPr/>
          <p:nvPr/>
        </p:nvSpPr>
        <p:spPr>
          <a:xfrm>
            <a:off x="2560320" y="345643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Endorsement</a:t>
            </a:r>
            <a:endParaRPr lang="en-US" sz="1100" dirty="0"/>
          </a:p>
        </p:txBody>
      </p:sp>
      <p:sp>
        <p:nvSpPr>
          <p:cNvPr id="43" name="Text 41"/>
          <p:cNvSpPr/>
          <p:nvPr/>
        </p:nvSpPr>
        <p:spPr>
          <a:xfrm>
            <a:off x="2560320" y="3712464"/>
            <a:ext cx="2011680" cy="201168"/>
          </a:xfrm>
          <a:prstGeom prst="rect">
            <a:avLst/>
          </a:prstGeom>
          <a:noFill/>
          <a:ln/>
        </p:spPr>
        <p:txBody>
          <a:bodyPr wrap="square" rtlCol="0" anchor="ctr"/>
          <a:lstStyle/>
          <a:p>
            <a:pPr marL="0" indent="0" algn="ctr">
              <a:buNone/>
            </a:pPr>
            <a:r>
              <a:rPr lang="en-US" sz="850" b="1" dirty="0">
                <a:solidFill>
                  <a:srgbClr val="BA7517"/>
                </a:solidFill>
                <a:latin typeface="Arial" pitchFamily="34" charset="0"/>
                <a:ea typeface="Arial" pitchFamily="34" charset="-122"/>
                <a:cs typeface="Arial" pitchFamily="34" charset="-120"/>
              </a:rPr>
              <a:t>EndorsementPanel.tsx</a:t>
            </a:r>
            <a:endParaRPr lang="en-US" sz="850" dirty="0"/>
          </a:p>
        </p:txBody>
      </p:sp>
      <p:sp>
        <p:nvSpPr>
          <p:cNvPr id="44" name="Text 42"/>
          <p:cNvSpPr/>
          <p:nvPr/>
        </p:nvSpPr>
        <p:spPr>
          <a:xfrm>
            <a:off x="2560320" y="391363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Admin countersigns or assigns</a:t>
            </a:r>
            <a:endParaRPr lang="en-US" sz="850" dirty="0"/>
          </a:p>
        </p:txBody>
      </p:sp>
      <p:sp>
        <p:nvSpPr>
          <p:cNvPr id="45" name="Text 43"/>
          <p:cNvSpPr/>
          <p:nvPr/>
        </p:nvSpPr>
        <p:spPr>
          <a:xfrm>
            <a:off x="4572000" y="325526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46" name="Shape 44"/>
          <p:cNvSpPr/>
          <p:nvPr/>
        </p:nvSpPr>
        <p:spPr>
          <a:xfrm>
            <a:off x="4709160" y="2834640"/>
            <a:ext cx="2011680" cy="1353312"/>
          </a:xfrm>
          <a:prstGeom prst="roundRect">
            <a:avLst>
              <a:gd name="adj" fmla="val 5405"/>
            </a:avLst>
          </a:prstGeom>
          <a:solidFill>
            <a:srgbClr val="FAECE7"/>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7" name="Shape 45"/>
          <p:cNvSpPr/>
          <p:nvPr/>
        </p:nvSpPr>
        <p:spPr>
          <a:xfrm>
            <a:off x="5468112" y="2926080"/>
            <a:ext cx="475488" cy="475488"/>
          </a:xfrm>
          <a:prstGeom prst="ellipse">
            <a:avLst/>
          </a:prstGeom>
          <a:solidFill>
            <a:srgbClr val="993C1D"/>
          </a:solidFill>
          <a:ln w="12700">
            <a:solidFill>
              <a:srgbClr val="993C1D"/>
            </a:solidFill>
            <a:prstDash val="solid"/>
          </a:ln>
        </p:spPr>
        <p:txBody>
          <a:bodyPr/>
          <a:lstStyle/>
          <a:p>
            <a:endParaRPr lang="en-US"/>
          </a:p>
        </p:txBody>
      </p:sp>
      <p:sp>
        <p:nvSpPr>
          <p:cNvPr id="48" name="Text 46"/>
          <p:cNvSpPr/>
          <p:nvPr/>
        </p:nvSpPr>
        <p:spPr>
          <a:xfrm>
            <a:off x="5468112" y="292608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49" name="Text 47"/>
          <p:cNvSpPr/>
          <p:nvPr/>
        </p:nvSpPr>
        <p:spPr>
          <a:xfrm>
            <a:off x="4709160" y="345643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Jira write</a:t>
            </a:r>
            <a:endParaRPr lang="en-US" sz="1100" dirty="0"/>
          </a:p>
        </p:txBody>
      </p:sp>
      <p:sp>
        <p:nvSpPr>
          <p:cNvPr id="50" name="Text 48"/>
          <p:cNvSpPr/>
          <p:nvPr/>
        </p:nvSpPr>
        <p:spPr>
          <a:xfrm>
            <a:off x="4709160" y="3712464"/>
            <a:ext cx="2011680" cy="201168"/>
          </a:xfrm>
          <a:prstGeom prst="rect">
            <a:avLst/>
          </a:prstGeom>
          <a:noFill/>
          <a:ln/>
        </p:spPr>
        <p:txBody>
          <a:bodyPr wrap="square" rtlCol="0" anchor="ctr"/>
          <a:lstStyle/>
          <a:p>
            <a:pPr marL="0" indent="0" algn="ctr">
              <a:buNone/>
            </a:pPr>
            <a:r>
              <a:rPr lang="en-US" sz="850" b="1" dirty="0">
                <a:solidFill>
                  <a:srgbClr val="993C1D"/>
                </a:solidFill>
                <a:latin typeface="Arial" pitchFamily="34" charset="0"/>
                <a:ea typeface="Arial" pitchFamily="34" charset="-122"/>
                <a:cs typeface="Arial" pitchFamily="34" charset="-120"/>
              </a:rPr>
              <a:t>jira.ts</a:t>
            </a:r>
            <a:endParaRPr lang="en-US" sz="850" dirty="0"/>
          </a:p>
        </p:txBody>
      </p:sp>
      <p:sp>
        <p:nvSpPr>
          <p:cNvPr id="51" name="Text 49"/>
          <p:cNvSpPr/>
          <p:nvPr/>
        </p:nvSpPr>
        <p:spPr>
          <a:xfrm>
            <a:off x="4709160" y="391363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ADR ticket + assignee + comment</a:t>
            </a:r>
            <a:endParaRPr lang="en-US" sz="850" dirty="0"/>
          </a:p>
        </p:txBody>
      </p:sp>
      <p:sp>
        <p:nvSpPr>
          <p:cNvPr id="52" name="Text 50"/>
          <p:cNvSpPr/>
          <p:nvPr/>
        </p:nvSpPr>
        <p:spPr>
          <a:xfrm>
            <a:off x="6720840" y="325526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53" name="Shape 51"/>
          <p:cNvSpPr/>
          <p:nvPr/>
        </p:nvSpPr>
        <p:spPr>
          <a:xfrm>
            <a:off x="6858000" y="2834640"/>
            <a:ext cx="2011680" cy="1353312"/>
          </a:xfrm>
          <a:prstGeom prst="roundRect">
            <a:avLst>
              <a:gd name="adj" fmla="val 5405"/>
            </a:avLst>
          </a:prstGeom>
          <a:solidFill>
            <a:srgbClr val="EB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54" name="Shape 52"/>
          <p:cNvSpPr/>
          <p:nvPr/>
        </p:nvSpPr>
        <p:spPr>
          <a:xfrm>
            <a:off x="7616952" y="2926080"/>
            <a:ext cx="475488" cy="475488"/>
          </a:xfrm>
          <a:prstGeom prst="ellipse">
            <a:avLst/>
          </a:prstGeom>
          <a:solidFill>
            <a:srgbClr val="0F1E3C"/>
          </a:solidFill>
          <a:ln w="12700">
            <a:solidFill>
              <a:srgbClr val="0F1E3C"/>
            </a:solidFill>
            <a:prstDash val="solid"/>
          </a:ln>
        </p:spPr>
        <p:txBody>
          <a:bodyPr/>
          <a:lstStyle/>
          <a:p>
            <a:endParaRPr lang="en-US"/>
          </a:p>
        </p:txBody>
      </p:sp>
      <p:sp>
        <p:nvSpPr>
          <p:cNvPr id="55" name="Text 53"/>
          <p:cNvSpPr/>
          <p:nvPr/>
        </p:nvSpPr>
        <p:spPr>
          <a:xfrm>
            <a:off x="7616952" y="292608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56" name="Text 54"/>
          <p:cNvSpPr/>
          <p:nvPr/>
        </p:nvSpPr>
        <p:spPr>
          <a:xfrm>
            <a:off x="6858000" y="345643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Supabase log</a:t>
            </a:r>
            <a:endParaRPr lang="en-US" sz="1100" dirty="0"/>
          </a:p>
        </p:txBody>
      </p:sp>
      <p:sp>
        <p:nvSpPr>
          <p:cNvPr id="57" name="Text 55"/>
          <p:cNvSpPr/>
          <p:nvPr/>
        </p:nvSpPr>
        <p:spPr>
          <a:xfrm>
            <a:off x="6858000" y="3712464"/>
            <a:ext cx="2011680" cy="201168"/>
          </a:xfrm>
          <a:prstGeom prst="rect">
            <a:avLst/>
          </a:prstGeom>
          <a:noFill/>
          <a:ln/>
        </p:spPr>
        <p:txBody>
          <a:bodyPr wrap="square" rtlCol="0" anchor="ctr"/>
          <a:lstStyle/>
          <a:p>
            <a:pPr marL="0" indent="0" algn="ctr">
              <a:buNone/>
            </a:pPr>
            <a:r>
              <a:rPr lang="en-US" sz="850" b="1" dirty="0">
                <a:solidFill>
                  <a:srgbClr val="0F1E3C"/>
                </a:solidFill>
                <a:latin typeface="Arial" pitchFamily="34" charset="0"/>
                <a:ea typeface="Arial" pitchFamily="34" charset="-122"/>
                <a:cs typeface="Arial" pitchFamily="34" charset="-120"/>
              </a:rPr>
              <a:t>session.ts</a:t>
            </a:r>
            <a:endParaRPr lang="en-US" sz="850" dirty="0"/>
          </a:p>
        </p:txBody>
      </p:sp>
      <p:sp>
        <p:nvSpPr>
          <p:cNvPr id="58" name="Text 56"/>
          <p:cNvSpPr/>
          <p:nvPr/>
        </p:nvSpPr>
        <p:spPr>
          <a:xfrm>
            <a:off x="6858000" y="391363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Metadata + cost + audit trail</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PROMPT ENGINEERING</a:t>
            </a:r>
            <a:endParaRPr lang="en-US" sz="900" dirty="0"/>
          </a:p>
        </p:txBody>
      </p:sp>
      <p:sp>
        <p:nvSpPr>
          <p:cNvPr id="3" name="Text 1"/>
          <p:cNvSpPr/>
          <p:nvPr/>
        </p:nvSpPr>
        <p:spPr>
          <a:xfrm>
            <a:off x="502920" y="594360"/>
            <a:ext cx="8138160" cy="50292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What a final agent system prompt actually looks like</a:t>
            </a:r>
            <a:endParaRPr lang="en-US" sz="2200" dirty="0"/>
          </a:p>
        </p:txBody>
      </p:sp>
      <p:sp>
        <p:nvSpPr>
          <p:cNvPr id="4" name="Shape 2"/>
          <p:cNvSpPr/>
          <p:nvPr/>
        </p:nvSpPr>
        <p:spPr>
          <a:xfrm>
            <a:off x="502920" y="1115568"/>
            <a:ext cx="8138160" cy="0"/>
          </a:xfrm>
          <a:prstGeom prst="line">
            <a:avLst/>
          </a:prstGeom>
          <a:noFill/>
          <a:ln w="10160">
            <a:solidFill>
              <a:srgbClr val="3D3D5C"/>
            </a:solidFill>
            <a:prstDash val="solid"/>
          </a:ln>
        </p:spPr>
        <p:txBody>
          <a:bodyPr/>
          <a:lstStyle/>
          <a:p>
            <a:endParaRPr lang="en-US"/>
          </a:p>
        </p:txBody>
      </p:sp>
      <p:sp>
        <p:nvSpPr>
          <p:cNvPr id="5" name="Shape 3"/>
          <p:cNvSpPr/>
          <p:nvPr/>
        </p:nvSpPr>
        <p:spPr>
          <a:xfrm>
            <a:off x="411480" y="1207008"/>
            <a:ext cx="8321040" cy="822960"/>
          </a:xfrm>
          <a:prstGeom prst="roundRect">
            <a:avLst>
              <a:gd name="adj" fmla="val 6667"/>
            </a:avLst>
          </a:prstGeom>
          <a:solidFill>
            <a:srgbClr val="3A3A6A"/>
          </a:solidFill>
          <a:ln w="6350">
            <a:solidFill>
              <a:srgbClr val="3D3D5C"/>
            </a:solidFill>
            <a:prstDash val="solid"/>
          </a:ln>
        </p:spPr>
        <p:txBody>
          <a:bodyPr/>
          <a:lstStyle/>
          <a:p>
            <a:endParaRPr lang="en-US"/>
          </a:p>
        </p:txBody>
      </p:sp>
      <p:sp>
        <p:nvSpPr>
          <p:cNvPr id="6" name="Text 4"/>
          <p:cNvSpPr/>
          <p:nvPr/>
        </p:nvSpPr>
        <p:spPr>
          <a:xfrm>
            <a:off x="566928" y="1261872"/>
            <a:ext cx="4114800" cy="201168"/>
          </a:xfrm>
          <a:prstGeom prst="rect">
            <a:avLst/>
          </a:prstGeom>
          <a:noFill/>
          <a:ln/>
        </p:spPr>
        <p:txBody>
          <a:bodyPr wrap="square" rtlCol="0" anchor="ctr"/>
          <a:lstStyle/>
          <a:p>
            <a:pPr marL="0" indent="0">
              <a:buNone/>
            </a:pPr>
            <a:r>
              <a:rPr lang="en-US" sz="950" b="1" dirty="0">
                <a:solidFill>
                  <a:srgbClr val="A0A8D8"/>
                </a:solidFill>
                <a:latin typeface="Courier New" pitchFamily="34" charset="0"/>
                <a:ea typeface="Courier New" pitchFamily="34" charset="-122"/>
                <a:cs typeface="Courier New" pitchFamily="34" charset="-120"/>
              </a:rPr>
              <a:t>Layer 1 — Base agent prompt</a:t>
            </a:r>
            <a:endParaRPr lang="en-US" sz="950" dirty="0"/>
          </a:p>
        </p:txBody>
      </p:sp>
      <p:sp>
        <p:nvSpPr>
          <p:cNvPr id="7" name="Text 5"/>
          <p:cNvSpPr/>
          <p:nvPr/>
        </p:nvSpPr>
        <p:spPr>
          <a:xfrm>
            <a:off x="4709160" y="1261872"/>
            <a:ext cx="3840480" cy="201168"/>
          </a:xfrm>
          <a:prstGeom prst="rect">
            <a:avLst/>
          </a:prstGeom>
          <a:noFill/>
          <a:ln/>
        </p:spPr>
        <p:txBody>
          <a:bodyPr wrap="square" rtlCol="0" anchor="ctr"/>
          <a:lstStyle/>
          <a:p>
            <a:pPr marL="0" indent="0" algn="r">
              <a:buNone/>
            </a:pPr>
            <a:r>
              <a:rPr lang="en-US" sz="800" dirty="0">
                <a:solidFill>
                  <a:srgbClr val="555570"/>
                </a:solidFill>
                <a:latin typeface="Courier New" pitchFamily="34" charset="0"/>
                <a:ea typeface="Courier New" pitchFamily="34" charset="-122"/>
                <a:cs typeface="Courier New" pitchFamily="34" charset="-120"/>
              </a:rPr>
              <a:t>← src/lib/domains/salesforce/agents/apex.ts</a:t>
            </a:r>
            <a:endParaRPr lang="en-US" sz="800" dirty="0"/>
          </a:p>
        </p:txBody>
      </p:sp>
      <p:sp>
        <p:nvSpPr>
          <p:cNvPr id="8" name="Text 6"/>
          <p:cNvSpPr/>
          <p:nvPr/>
        </p:nvSpPr>
        <p:spPr>
          <a:xfrm>
            <a:off x="566928" y="1499616"/>
            <a:ext cx="8010144" cy="475488"/>
          </a:xfrm>
          <a:prstGeom prst="rect">
            <a:avLst/>
          </a:prstGeom>
          <a:noFill/>
          <a:ln/>
        </p:spPr>
        <p:txBody>
          <a:bodyPr wrap="square" rtlCol="0" anchor="ctr"/>
          <a:lstStyle/>
          <a:p>
            <a:pPr marL="0" indent="0">
              <a:buNone/>
            </a:pPr>
            <a:r>
              <a:rPr lang="en-US" sz="800" dirty="0">
                <a:solidFill>
                  <a:srgbClr val="C8C8D8"/>
                </a:solidFill>
                <a:latin typeface="Courier New" pitchFamily="34" charset="0"/>
                <a:ea typeface="Courier New" pitchFamily="34" charset="-122"/>
                <a:cs typeface="Courier New" pitchFamily="34" charset="-120"/>
              </a:rPr>
              <a:t>You are the Apex specialist agent on the ARBoard Architecture Review Board. Your role is to assess Salesforce Apex code quality, governor limit exposure, trigger design, async patterns, and bulk data handling...</a:t>
            </a:r>
            <a:endParaRPr lang="en-US" sz="800" dirty="0"/>
          </a:p>
        </p:txBody>
      </p:sp>
      <p:sp>
        <p:nvSpPr>
          <p:cNvPr id="9" name="Shape 7"/>
          <p:cNvSpPr/>
          <p:nvPr/>
        </p:nvSpPr>
        <p:spPr>
          <a:xfrm>
            <a:off x="411480" y="2103120"/>
            <a:ext cx="8321040" cy="822960"/>
          </a:xfrm>
          <a:prstGeom prst="roundRect">
            <a:avLst>
              <a:gd name="adj" fmla="val 6667"/>
            </a:avLst>
          </a:prstGeom>
          <a:solidFill>
            <a:srgbClr val="1E3A2F"/>
          </a:solidFill>
          <a:ln w="6350">
            <a:solidFill>
              <a:srgbClr val="3D3D5C"/>
            </a:solidFill>
            <a:prstDash val="solid"/>
          </a:ln>
        </p:spPr>
        <p:txBody>
          <a:bodyPr/>
          <a:lstStyle/>
          <a:p>
            <a:endParaRPr lang="en-US"/>
          </a:p>
        </p:txBody>
      </p:sp>
      <p:sp>
        <p:nvSpPr>
          <p:cNvPr id="10" name="Text 8"/>
          <p:cNvSpPr/>
          <p:nvPr/>
        </p:nvSpPr>
        <p:spPr>
          <a:xfrm>
            <a:off x="566928" y="2157984"/>
            <a:ext cx="4114800" cy="201168"/>
          </a:xfrm>
          <a:prstGeom prst="rect">
            <a:avLst/>
          </a:prstGeom>
          <a:noFill/>
          <a:ln/>
        </p:spPr>
        <p:txBody>
          <a:bodyPr wrap="square" rtlCol="0" anchor="ctr"/>
          <a:lstStyle/>
          <a:p>
            <a:pPr marL="0" indent="0">
              <a:buNone/>
            </a:pPr>
            <a:r>
              <a:rPr lang="en-US" sz="950" b="1" dirty="0">
                <a:solidFill>
                  <a:srgbClr val="5DCAA5"/>
                </a:solidFill>
                <a:latin typeface="Courier New" pitchFamily="34" charset="0"/>
                <a:ea typeface="Courier New" pitchFamily="34" charset="-122"/>
                <a:cs typeface="Courier New" pitchFamily="34" charset="-120"/>
              </a:rPr>
              <a:t>Layer 2 — Well-Architected principles</a:t>
            </a:r>
            <a:endParaRPr lang="en-US" sz="950" dirty="0"/>
          </a:p>
        </p:txBody>
      </p:sp>
      <p:sp>
        <p:nvSpPr>
          <p:cNvPr id="11" name="Text 9"/>
          <p:cNvSpPr/>
          <p:nvPr/>
        </p:nvSpPr>
        <p:spPr>
          <a:xfrm>
            <a:off x="4709160" y="2157984"/>
            <a:ext cx="3840480" cy="201168"/>
          </a:xfrm>
          <a:prstGeom prst="rect">
            <a:avLst/>
          </a:prstGeom>
          <a:noFill/>
          <a:ln/>
        </p:spPr>
        <p:txBody>
          <a:bodyPr wrap="square" rtlCol="0" anchor="ctr"/>
          <a:lstStyle/>
          <a:p>
            <a:pPr marL="0" indent="0" algn="r">
              <a:buNone/>
            </a:pPr>
            <a:r>
              <a:rPr lang="en-US" sz="800" dirty="0">
                <a:solidFill>
                  <a:srgbClr val="555570"/>
                </a:solidFill>
                <a:latin typeface="Courier New" pitchFamily="34" charset="0"/>
                <a:ea typeface="Courier New" pitchFamily="34" charset="-122"/>
                <a:cs typeface="Courier New" pitchFamily="34" charset="-120"/>
              </a:rPr>
              <a:t>← wellArchitectedPrinciples.ts → WELL_ARCHITECTED_BY_AGENT[apex]</a:t>
            </a:r>
            <a:endParaRPr lang="en-US" sz="800" dirty="0"/>
          </a:p>
        </p:txBody>
      </p:sp>
      <p:sp>
        <p:nvSpPr>
          <p:cNvPr id="12" name="Text 10"/>
          <p:cNvSpPr/>
          <p:nvPr/>
        </p:nvSpPr>
        <p:spPr>
          <a:xfrm>
            <a:off x="566928" y="2395728"/>
            <a:ext cx="8010144" cy="475488"/>
          </a:xfrm>
          <a:prstGeom prst="rect">
            <a:avLst/>
          </a:prstGeom>
          <a:noFill/>
          <a:ln/>
        </p:spPr>
        <p:txBody>
          <a:bodyPr wrap="square" rtlCol="0" anchor="ctr"/>
          <a:lstStyle/>
          <a:p>
            <a:pPr marL="0" indent="0">
              <a:buNone/>
            </a:pPr>
            <a:r>
              <a:rPr lang="en-US" sz="800" dirty="0">
                <a:solidFill>
                  <a:srgbClr val="C8C8D8"/>
                </a:solidFill>
                <a:latin typeface="Courier New" pitchFamily="34" charset="0"/>
                <a:ea typeface="Courier New" pitchFamily="34" charset="-122"/>
                <a:cs typeface="Courier New" pitchFamily="34" charset="-120"/>
              </a:rPr>
              <a:t>## Salesforce Well-Architected — Apex &amp; Automation</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Triggers must be bulkified: never SOQL/DML inside loops</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One trigger per object. Handler class pattern.</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Avoid synchronous callouts from triggers at volume...</a:t>
            </a:r>
            <a:endParaRPr lang="en-US" sz="800" dirty="0"/>
          </a:p>
        </p:txBody>
      </p:sp>
      <p:sp>
        <p:nvSpPr>
          <p:cNvPr id="13" name="Shape 11"/>
          <p:cNvSpPr/>
          <p:nvPr/>
        </p:nvSpPr>
        <p:spPr>
          <a:xfrm>
            <a:off x="411480" y="2999232"/>
            <a:ext cx="8321040" cy="822960"/>
          </a:xfrm>
          <a:prstGeom prst="roundRect">
            <a:avLst>
              <a:gd name="adj" fmla="val 6667"/>
            </a:avLst>
          </a:prstGeom>
          <a:solidFill>
            <a:srgbClr val="2A2A1A"/>
          </a:solidFill>
          <a:ln w="6350">
            <a:solidFill>
              <a:srgbClr val="3D3D5C"/>
            </a:solidFill>
            <a:prstDash val="solid"/>
          </a:ln>
        </p:spPr>
        <p:txBody>
          <a:bodyPr/>
          <a:lstStyle/>
          <a:p>
            <a:endParaRPr lang="en-US"/>
          </a:p>
        </p:txBody>
      </p:sp>
      <p:sp>
        <p:nvSpPr>
          <p:cNvPr id="14" name="Text 12"/>
          <p:cNvSpPr/>
          <p:nvPr/>
        </p:nvSpPr>
        <p:spPr>
          <a:xfrm>
            <a:off x="566928" y="3054096"/>
            <a:ext cx="4114800" cy="201168"/>
          </a:xfrm>
          <a:prstGeom prst="rect">
            <a:avLst/>
          </a:prstGeom>
          <a:noFill/>
          <a:ln/>
        </p:spPr>
        <p:txBody>
          <a:bodyPr wrap="square" rtlCol="0" anchor="ctr"/>
          <a:lstStyle/>
          <a:p>
            <a:pPr marL="0" indent="0">
              <a:buNone/>
            </a:pPr>
            <a:r>
              <a:rPr lang="en-US" sz="950" b="1" dirty="0">
                <a:solidFill>
                  <a:srgbClr val="EF9F27"/>
                </a:solidFill>
                <a:latin typeface="Courier New" pitchFamily="34" charset="0"/>
                <a:ea typeface="Courier New" pitchFamily="34" charset="-122"/>
                <a:cs typeface="Courier New" pitchFamily="34" charset="-120"/>
              </a:rPr>
              <a:t>Layer 3 — Cross-session memory</a:t>
            </a:r>
            <a:endParaRPr lang="en-US" sz="950" dirty="0"/>
          </a:p>
        </p:txBody>
      </p:sp>
      <p:sp>
        <p:nvSpPr>
          <p:cNvPr id="15" name="Text 13"/>
          <p:cNvSpPr/>
          <p:nvPr/>
        </p:nvSpPr>
        <p:spPr>
          <a:xfrm>
            <a:off x="4709160" y="3054096"/>
            <a:ext cx="3840480" cy="201168"/>
          </a:xfrm>
          <a:prstGeom prst="rect">
            <a:avLst/>
          </a:prstGeom>
          <a:noFill/>
          <a:ln/>
        </p:spPr>
        <p:txBody>
          <a:bodyPr wrap="square" rtlCol="0" anchor="ctr"/>
          <a:lstStyle/>
          <a:p>
            <a:pPr marL="0" indent="0" algn="r">
              <a:buNone/>
            </a:pPr>
            <a:r>
              <a:rPr lang="en-US" sz="800" dirty="0">
                <a:solidFill>
                  <a:srgbClr val="555570"/>
                </a:solidFill>
                <a:latin typeface="Courier New" pitchFamily="34" charset="0"/>
                <a:ea typeface="Courier New" pitchFamily="34" charset="-122"/>
                <a:cs typeface="Courier New" pitchFamily="34" charset="-120"/>
              </a:rPr>
              <a:t>← jiraMemoryRetriever.ts + contextInjector.ts</a:t>
            </a:r>
            <a:endParaRPr lang="en-US" sz="800" dirty="0"/>
          </a:p>
        </p:txBody>
      </p:sp>
      <p:sp>
        <p:nvSpPr>
          <p:cNvPr id="16" name="Text 14"/>
          <p:cNvSpPr/>
          <p:nvPr/>
        </p:nvSpPr>
        <p:spPr>
          <a:xfrm>
            <a:off x="566928" y="3291840"/>
            <a:ext cx="8010144" cy="475488"/>
          </a:xfrm>
          <a:prstGeom prst="rect">
            <a:avLst/>
          </a:prstGeom>
          <a:noFill/>
          <a:ln/>
        </p:spPr>
        <p:txBody>
          <a:bodyPr wrap="square" rtlCol="0" anchor="ctr"/>
          <a:lstStyle/>
          <a:p>
            <a:pPr marL="0" indent="0">
              <a:buNone/>
            </a:pPr>
            <a:r>
              <a:rPr lang="en-US" sz="800" dirty="0">
                <a:solidFill>
                  <a:srgbClr val="C8C8D8"/>
                </a:solidFill>
                <a:latin typeface="Courier New" pitchFamily="34" charset="0"/>
                <a:ea typeface="Courier New" pitchFamily="34" charset="-122"/>
                <a:cs typeface="Courier New" pitchFamily="34" charset="-120"/>
              </a:rPr>
              <a:t>PRIOR REVIEW CONTEXT — reconciliation required</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ARBOARD-009 [APPROVED] — Jun 2026</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xml:space="preserve">  Requirement: Bulk case update via API</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xml:space="preserve">  Decision: Use Platform Events not direct DML...</a:t>
            </a:r>
            <a:endParaRPr lang="en-US" sz="800" dirty="0"/>
          </a:p>
        </p:txBody>
      </p:sp>
      <p:sp>
        <p:nvSpPr>
          <p:cNvPr id="17" name="Shape 15"/>
          <p:cNvSpPr/>
          <p:nvPr/>
        </p:nvSpPr>
        <p:spPr>
          <a:xfrm>
            <a:off x="411480" y="3895344"/>
            <a:ext cx="8321040" cy="822960"/>
          </a:xfrm>
          <a:prstGeom prst="roundRect">
            <a:avLst>
              <a:gd name="adj" fmla="val 6667"/>
            </a:avLst>
          </a:prstGeom>
          <a:solidFill>
            <a:srgbClr val="1A2A3A"/>
          </a:solidFill>
          <a:ln w="6350">
            <a:solidFill>
              <a:srgbClr val="3D3D5C"/>
            </a:solidFill>
            <a:prstDash val="solid"/>
          </a:ln>
        </p:spPr>
        <p:txBody>
          <a:bodyPr/>
          <a:lstStyle/>
          <a:p>
            <a:endParaRPr lang="en-US"/>
          </a:p>
        </p:txBody>
      </p:sp>
      <p:sp>
        <p:nvSpPr>
          <p:cNvPr id="18" name="Text 16"/>
          <p:cNvSpPr/>
          <p:nvPr/>
        </p:nvSpPr>
        <p:spPr>
          <a:xfrm>
            <a:off x="566928" y="3950208"/>
            <a:ext cx="4114800" cy="201168"/>
          </a:xfrm>
          <a:prstGeom prst="rect">
            <a:avLst/>
          </a:prstGeom>
          <a:noFill/>
          <a:ln/>
        </p:spPr>
        <p:txBody>
          <a:bodyPr wrap="square" rtlCol="0" anchor="ctr"/>
          <a:lstStyle/>
          <a:p>
            <a:pPr marL="0" indent="0">
              <a:buNone/>
            </a:pPr>
            <a:r>
              <a:rPr lang="en-US" sz="950" b="1" dirty="0">
                <a:solidFill>
                  <a:srgbClr val="85B7EB"/>
                </a:solidFill>
                <a:latin typeface="Courier New" pitchFamily="34" charset="0"/>
                <a:ea typeface="Courier New" pitchFamily="34" charset="-122"/>
                <a:cs typeface="Courier New" pitchFamily="34" charset="-120"/>
              </a:rPr>
              <a:t>Layer 4 — Live org context (when connected)</a:t>
            </a:r>
            <a:endParaRPr lang="en-US" sz="950" dirty="0"/>
          </a:p>
        </p:txBody>
      </p:sp>
      <p:sp>
        <p:nvSpPr>
          <p:cNvPr id="19" name="Text 17"/>
          <p:cNvSpPr/>
          <p:nvPr/>
        </p:nvSpPr>
        <p:spPr>
          <a:xfrm>
            <a:off x="4709160" y="3950208"/>
            <a:ext cx="3840480" cy="201168"/>
          </a:xfrm>
          <a:prstGeom prst="rect">
            <a:avLst/>
          </a:prstGeom>
          <a:noFill/>
          <a:ln/>
        </p:spPr>
        <p:txBody>
          <a:bodyPr wrap="square" rtlCol="0" anchor="ctr"/>
          <a:lstStyle/>
          <a:p>
            <a:pPr marL="0" indent="0" algn="r">
              <a:buNone/>
            </a:pPr>
            <a:r>
              <a:rPr lang="en-US" sz="800" dirty="0">
                <a:solidFill>
                  <a:srgbClr val="555570"/>
                </a:solidFill>
                <a:latin typeface="Courier New" pitchFamily="34" charset="0"/>
                <a:ea typeface="Courier New" pitchFamily="34" charset="-122"/>
                <a:cs typeface="Courier New" pitchFamily="34" charset="-120"/>
              </a:rPr>
              <a:t>← OrgMetadataCollector.ts / mcpMetadataCollector.ts</a:t>
            </a:r>
            <a:endParaRPr lang="en-US" sz="800" dirty="0"/>
          </a:p>
        </p:txBody>
      </p:sp>
      <p:sp>
        <p:nvSpPr>
          <p:cNvPr id="20" name="Text 18"/>
          <p:cNvSpPr/>
          <p:nvPr/>
        </p:nvSpPr>
        <p:spPr>
          <a:xfrm>
            <a:off x="566928" y="4187952"/>
            <a:ext cx="8010144" cy="475488"/>
          </a:xfrm>
          <a:prstGeom prst="rect">
            <a:avLst/>
          </a:prstGeom>
          <a:noFill/>
          <a:ln/>
        </p:spPr>
        <p:txBody>
          <a:bodyPr wrap="square" rtlCol="0" anchor="ctr"/>
          <a:lstStyle/>
          <a:p>
            <a:pPr marL="0" indent="0">
              <a:buNone/>
            </a:pPr>
            <a:r>
              <a:rPr lang="en-US" sz="800" dirty="0">
                <a:solidFill>
                  <a:srgbClr val="C8C8D8"/>
                </a:solidFill>
                <a:latin typeface="Courier New" pitchFamily="34" charset="0"/>
                <a:ea typeface="Courier New" pitchFamily="34" charset="-122"/>
                <a:cs typeface="Courier New" pitchFamily="34" charset="-120"/>
              </a:rPr>
              <a:t>LIVE ORG CONTEXT</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Triggers deployed: CaseTrigger, AccountTrigger (2 triggers on Case — FP-007 risk flagged)</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Async jobs: PMSSyncBatch, SLAMonitorScheduler</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API version: 61.0...</a:t>
            </a:r>
            <a:endParaRPr lang="en-US" sz="800" dirty="0"/>
          </a:p>
        </p:txBody>
      </p:sp>
      <p:sp>
        <p:nvSpPr>
          <p:cNvPr id="21" name="Text 19"/>
          <p:cNvSpPr/>
          <p:nvPr/>
        </p:nvSpPr>
        <p:spPr>
          <a:xfrm>
            <a:off x="502920" y="4736592"/>
            <a:ext cx="8138160" cy="228600"/>
          </a:xfrm>
          <a:prstGeom prst="rect">
            <a:avLst/>
          </a:prstGeom>
          <a:noFill/>
          <a:ln/>
        </p:spPr>
        <p:txBody>
          <a:bodyPr wrap="square" rtlCol="0" anchor="ctr"/>
          <a:lstStyle/>
          <a:p>
            <a:pPr marL="0" indent="0" algn="ctr">
              <a:buNone/>
            </a:pPr>
            <a:r>
              <a:rPr lang="en-US" sz="950" i="1" dirty="0">
                <a:solidFill>
                  <a:srgbClr val="6A84A8"/>
                </a:solidFill>
                <a:latin typeface="Arial" pitchFamily="34" charset="0"/>
                <a:ea typeface="Arial" pitchFamily="34" charset="-122"/>
                <a:cs typeface="Arial" pitchFamily="34" charset="-120"/>
              </a:rPr>
              <a:t>AgentRunner.ts assembles these 4 layers in sequence before every Anthropic API call</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IP ARCHITECTURE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600" b="1" dirty="0">
                <a:solidFill>
                  <a:srgbClr val="1A1A1A"/>
                </a:solidFill>
                <a:latin typeface="Arial" pitchFamily="34" charset="0"/>
                <a:ea typeface="Arial" pitchFamily="34" charset="-122"/>
                <a:cs typeface="Arial" pitchFamily="34" charset="-120"/>
              </a:rPr>
              <a:t>Where the defensible IP sits across the stack</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3246120" y="1325880"/>
            <a:ext cx="2651760" cy="3474720"/>
          </a:xfrm>
          <a:prstGeom prst="roundRect">
            <a:avLst>
              <a:gd name="adj" fmla="val 2759"/>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6" name="Shape 4"/>
          <p:cNvSpPr/>
          <p:nvPr/>
        </p:nvSpPr>
        <p:spPr>
          <a:xfrm>
            <a:off x="3246120" y="1325880"/>
            <a:ext cx="2651760" cy="329184"/>
          </a:xfrm>
          <a:prstGeom prst="roundRect">
            <a:avLst>
              <a:gd name="adj" fmla="val 22222"/>
            </a:avLst>
          </a:prstGeom>
          <a:solidFill>
            <a:srgbClr val="1B4F9B"/>
          </a:solidFill>
          <a:ln w="12700">
            <a:solidFill>
              <a:srgbClr val="1B4F9B"/>
            </a:solidFill>
            <a:prstDash val="solid"/>
          </a:ln>
        </p:spPr>
        <p:txBody>
          <a:bodyPr/>
          <a:lstStyle/>
          <a:p>
            <a:endParaRPr lang="en-US"/>
          </a:p>
        </p:txBody>
      </p:sp>
      <p:sp>
        <p:nvSpPr>
          <p:cNvPr id="7" name="Text 5"/>
          <p:cNvSpPr/>
          <p:nvPr/>
        </p:nvSpPr>
        <p:spPr>
          <a:xfrm>
            <a:off x="3246120" y="1335024"/>
            <a:ext cx="26517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Agent system prompt</a:t>
            </a:r>
            <a:endParaRPr lang="en-US" sz="1100" dirty="0"/>
          </a:p>
        </p:txBody>
      </p:sp>
      <p:sp>
        <p:nvSpPr>
          <p:cNvPr id="8" name="Shape 6"/>
          <p:cNvSpPr/>
          <p:nvPr/>
        </p:nvSpPr>
        <p:spPr>
          <a:xfrm>
            <a:off x="3383280" y="1737360"/>
            <a:ext cx="2377440" cy="402336"/>
          </a:xfrm>
          <a:prstGeom prst="roundRect">
            <a:avLst>
              <a:gd name="adj" fmla="val 13636"/>
            </a:avLst>
          </a:prstGeom>
          <a:solidFill>
            <a:srgbClr val="FFFFFF"/>
          </a:solidFill>
          <a:ln w="12700">
            <a:solidFill>
              <a:srgbClr val="1B4F9B"/>
            </a:solidFill>
            <a:prstDash val="solid"/>
          </a:ln>
        </p:spPr>
        <p:txBody>
          <a:bodyPr/>
          <a:lstStyle/>
          <a:p>
            <a:endParaRPr lang="en-US"/>
          </a:p>
        </p:txBody>
      </p:sp>
      <p:sp>
        <p:nvSpPr>
          <p:cNvPr id="9" name="Shape 7"/>
          <p:cNvSpPr/>
          <p:nvPr/>
        </p:nvSpPr>
        <p:spPr>
          <a:xfrm>
            <a:off x="3447288" y="1828800"/>
            <a:ext cx="219456" cy="219456"/>
          </a:xfrm>
          <a:prstGeom prst="ellipse">
            <a:avLst/>
          </a:prstGeom>
          <a:solidFill>
            <a:srgbClr val="1B4F9B"/>
          </a:solidFill>
          <a:ln w="12700">
            <a:solidFill>
              <a:srgbClr val="1B4F9B"/>
            </a:solidFill>
            <a:prstDash val="solid"/>
          </a:ln>
        </p:spPr>
        <p:txBody>
          <a:bodyPr/>
          <a:lstStyle/>
          <a:p>
            <a:endParaRPr lang="en-US"/>
          </a:p>
        </p:txBody>
      </p:sp>
      <p:sp>
        <p:nvSpPr>
          <p:cNvPr id="10" name="Text 8"/>
          <p:cNvSpPr/>
          <p:nvPr/>
        </p:nvSpPr>
        <p:spPr>
          <a:xfrm>
            <a:off x="3749040" y="1810512"/>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Base domain expertise</a:t>
            </a:r>
            <a:endParaRPr lang="en-US" sz="950" dirty="0"/>
          </a:p>
        </p:txBody>
      </p:sp>
      <p:sp>
        <p:nvSpPr>
          <p:cNvPr id="11" name="Shape 9"/>
          <p:cNvSpPr/>
          <p:nvPr/>
        </p:nvSpPr>
        <p:spPr>
          <a:xfrm>
            <a:off x="3383280" y="2249424"/>
            <a:ext cx="2377440" cy="402336"/>
          </a:xfrm>
          <a:prstGeom prst="roundRect">
            <a:avLst>
              <a:gd name="adj" fmla="val 13636"/>
            </a:avLst>
          </a:prstGeom>
          <a:solidFill>
            <a:srgbClr val="FFFFFF"/>
          </a:solidFill>
          <a:ln w="12700">
            <a:solidFill>
              <a:srgbClr val="534AB7"/>
            </a:solidFill>
            <a:prstDash val="solid"/>
          </a:ln>
        </p:spPr>
        <p:txBody>
          <a:bodyPr/>
          <a:lstStyle/>
          <a:p>
            <a:endParaRPr lang="en-US"/>
          </a:p>
        </p:txBody>
      </p:sp>
      <p:sp>
        <p:nvSpPr>
          <p:cNvPr id="12" name="Shape 10"/>
          <p:cNvSpPr/>
          <p:nvPr/>
        </p:nvSpPr>
        <p:spPr>
          <a:xfrm>
            <a:off x="3447288" y="2340864"/>
            <a:ext cx="219456" cy="219456"/>
          </a:xfrm>
          <a:prstGeom prst="ellipse">
            <a:avLst/>
          </a:prstGeom>
          <a:solidFill>
            <a:srgbClr val="534AB7"/>
          </a:solidFill>
          <a:ln w="12700">
            <a:solidFill>
              <a:srgbClr val="534AB7"/>
            </a:solidFill>
            <a:prstDash val="solid"/>
          </a:ln>
        </p:spPr>
        <p:txBody>
          <a:bodyPr/>
          <a:lstStyle/>
          <a:p>
            <a:endParaRPr lang="en-US"/>
          </a:p>
        </p:txBody>
      </p:sp>
      <p:sp>
        <p:nvSpPr>
          <p:cNvPr id="13" name="Text 11"/>
          <p:cNvSpPr/>
          <p:nvPr/>
        </p:nvSpPr>
        <p:spPr>
          <a:xfrm>
            <a:off x="3749040" y="2322576"/>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Well-Architected principles</a:t>
            </a:r>
            <a:endParaRPr lang="en-US" sz="950" dirty="0"/>
          </a:p>
        </p:txBody>
      </p:sp>
      <p:sp>
        <p:nvSpPr>
          <p:cNvPr id="14" name="Shape 12"/>
          <p:cNvSpPr/>
          <p:nvPr/>
        </p:nvSpPr>
        <p:spPr>
          <a:xfrm>
            <a:off x="3383280" y="2761488"/>
            <a:ext cx="2377440" cy="402336"/>
          </a:xfrm>
          <a:prstGeom prst="roundRect">
            <a:avLst>
              <a:gd name="adj" fmla="val 13636"/>
            </a:avLst>
          </a:prstGeom>
          <a:solidFill>
            <a:srgbClr val="FFFFFF"/>
          </a:solidFill>
          <a:ln w="12700">
            <a:solidFill>
              <a:srgbClr val="0F6E56"/>
            </a:solidFill>
            <a:prstDash val="solid"/>
          </a:ln>
        </p:spPr>
        <p:txBody>
          <a:bodyPr/>
          <a:lstStyle/>
          <a:p>
            <a:endParaRPr lang="en-US"/>
          </a:p>
        </p:txBody>
      </p:sp>
      <p:sp>
        <p:nvSpPr>
          <p:cNvPr id="15" name="Shape 13"/>
          <p:cNvSpPr/>
          <p:nvPr/>
        </p:nvSpPr>
        <p:spPr>
          <a:xfrm>
            <a:off x="3447288" y="2852928"/>
            <a:ext cx="219456" cy="219456"/>
          </a:xfrm>
          <a:prstGeom prst="ellipse">
            <a:avLst/>
          </a:prstGeom>
          <a:solidFill>
            <a:srgbClr val="0F6E56"/>
          </a:solidFill>
          <a:ln w="12700">
            <a:solidFill>
              <a:srgbClr val="0F6E56"/>
            </a:solidFill>
            <a:prstDash val="solid"/>
          </a:ln>
        </p:spPr>
        <p:txBody>
          <a:bodyPr/>
          <a:lstStyle/>
          <a:p>
            <a:endParaRPr lang="en-US"/>
          </a:p>
        </p:txBody>
      </p:sp>
      <p:sp>
        <p:nvSpPr>
          <p:cNvPr id="16" name="Text 14"/>
          <p:cNvSpPr/>
          <p:nvPr/>
        </p:nvSpPr>
        <p:spPr>
          <a:xfrm>
            <a:off x="3749040" y="2834640"/>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SI failure pattern library</a:t>
            </a:r>
            <a:endParaRPr lang="en-US" sz="950" dirty="0"/>
          </a:p>
        </p:txBody>
      </p:sp>
      <p:sp>
        <p:nvSpPr>
          <p:cNvPr id="17" name="Shape 15"/>
          <p:cNvSpPr/>
          <p:nvPr/>
        </p:nvSpPr>
        <p:spPr>
          <a:xfrm>
            <a:off x="3383280" y="3273552"/>
            <a:ext cx="2377440" cy="402336"/>
          </a:xfrm>
          <a:prstGeom prst="roundRect">
            <a:avLst>
              <a:gd name="adj" fmla="val 13636"/>
            </a:avLst>
          </a:prstGeom>
          <a:solidFill>
            <a:srgbClr val="FFFFFF"/>
          </a:solidFill>
          <a:ln w="12700">
            <a:solidFill>
              <a:srgbClr val="BA7517"/>
            </a:solidFill>
            <a:prstDash val="solid"/>
          </a:ln>
        </p:spPr>
        <p:txBody>
          <a:bodyPr/>
          <a:lstStyle/>
          <a:p>
            <a:endParaRPr lang="en-US"/>
          </a:p>
        </p:txBody>
      </p:sp>
      <p:sp>
        <p:nvSpPr>
          <p:cNvPr id="18" name="Shape 16"/>
          <p:cNvSpPr/>
          <p:nvPr/>
        </p:nvSpPr>
        <p:spPr>
          <a:xfrm>
            <a:off x="3447288" y="3364992"/>
            <a:ext cx="219456" cy="219456"/>
          </a:xfrm>
          <a:prstGeom prst="ellipse">
            <a:avLst/>
          </a:prstGeom>
          <a:solidFill>
            <a:srgbClr val="BA7517"/>
          </a:solidFill>
          <a:ln w="12700">
            <a:solidFill>
              <a:srgbClr val="BA7517"/>
            </a:solidFill>
            <a:prstDash val="solid"/>
          </a:ln>
        </p:spPr>
        <p:txBody>
          <a:bodyPr/>
          <a:lstStyle/>
          <a:p>
            <a:endParaRPr lang="en-US"/>
          </a:p>
        </p:txBody>
      </p:sp>
      <p:sp>
        <p:nvSpPr>
          <p:cNvPr id="19" name="Text 17"/>
          <p:cNvSpPr/>
          <p:nvPr/>
        </p:nvSpPr>
        <p:spPr>
          <a:xfrm>
            <a:off x="3749040" y="3346704"/>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Cross-session Jira memory</a:t>
            </a:r>
            <a:endParaRPr lang="en-US" sz="950" dirty="0"/>
          </a:p>
        </p:txBody>
      </p:sp>
      <p:sp>
        <p:nvSpPr>
          <p:cNvPr id="20" name="Shape 18"/>
          <p:cNvSpPr/>
          <p:nvPr/>
        </p:nvSpPr>
        <p:spPr>
          <a:xfrm>
            <a:off x="3383280" y="3785616"/>
            <a:ext cx="2377440" cy="402336"/>
          </a:xfrm>
          <a:prstGeom prst="roundRect">
            <a:avLst>
              <a:gd name="adj" fmla="val 13636"/>
            </a:avLst>
          </a:prstGeom>
          <a:solidFill>
            <a:srgbClr val="FFFFFF"/>
          </a:solidFill>
          <a:ln w="12700">
            <a:solidFill>
              <a:srgbClr val="993C1D"/>
            </a:solidFill>
            <a:prstDash val="solid"/>
          </a:ln>
        </p:spPr>
        <p:txBody>
          <a:bodyPr/>
          <a:lstStyle/>
          <a:p>
            <a:endParaRPr lang="en-US"/>
          </a:p>
        </p:txBody>
      </p:sp>
      <p:sp>
        <p:nvSpPr>
          <p:cNvPr id="21" name="Shape 19"/>
          <p:cNvSpPr/>
          <p:nvPr/>
        </p:nvSpPr>
        <p:spPr>
          <a:xfrm>
            <a:off x="3447288" y="3877056"/>
            <a:ext cx="219456" cy="219456"/>
          </a:xfrm>
          <a:prstGeom prst="ellipse">
            <a:avLst/>
          </a:prstGeom>
          <a:solidFill>
            <a:srgbClr val="993C1D"/>
          </a:solidFill>
          <a:ln w="12700">
            <a:solidFill>
              <a:srgbClr val="993C1D"/>
            </a:solidFill>
            <a:prstDash val="solid"/>
          </a:ln>
        </p:spPr>
        <p:txBody>
          <a:bodyPr/>
          <a:lstStyle/>
          <a:p>
            <a:endParaRPr lang="en-US"/>
          </a:p>
        </p:txBody>
      </p:sp>
      <p:sp>
        <p:nvSpPr>
          <p:cNvPr id="22" name="Text 20"/>
          <p:cNvSpPr/>
          <p:nvPr/>
        </p:nvSpPr>
        <p:spPr>
          <a:xfrm>
            <a:off x="3749040" y="3858768"/>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Live org context (MCP)</a:t>
            </a:r>
            <a:endParaRPr lang="en-US" sz="950" dirty="0"/>
          </a:p>
        </p:txBody>
      </p:sp>
      <p:sp>
        <p:nvSpPr>
          <p:cNvPr id="23" name="Shape 21"/>
          <p:cNvSpPr/>
          <p:nvPr/>
        </p:nvSpPr>
        <p:spPr>
          <a:xfrm>
            <a:off x="320040" y="1508760"/>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4" name="Text 22"/>
          <p:cNvSpPr/>
          <p:nvPr/>
        </p:nvSpPr>
        <p:spPr>
          <a:xfrm>
            <a:off x="457200" y="1581912"/>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Agent domain files</a:t>
            </a:r>
            <a:endParaRPr lang="en-US" sz="950" dirty="0"/>
          </a:p>
        </p:txBody>
      </p:sp>
      <p:sp>
        <p:nvSpPr>
          <p:cNvPr id="25" name="Text 23"/>
          <p:cNvSpPr/>
          <p:nvPr/>
        </p:nvSpPr>
        <p:spPr>
          <a:xfrm>
            <a:off x="457200" y="1837944"/>
            <a:ext cx="2331720" cy="201168"/>
          </a:xfrm>
          <a:prstGeom prst="rect">
            <a:avLst/>
          </a:prstGeom>
          <a:noFill/>
          <a:ln/>
        </p:spPr>
        <p:txBody>
          <a:bodyPr wrap="square" rtlCol="0" anchor="ctr"/>
          <a:lstStyle/>
          <a:p>
            <a:pPr marL="0" indent="0">
              <a:buNone/>
            </a:pPr>
            <a:r>
              <a:rPr lang="en-US" sz="800" dirty="0">
                <a:solidFill>
                  <a:srgbClr val="1B4F9B"/>
                </a:solidFill>
                <a:latin typeface="Courier New" pitchFamily="34" charset="0"/>
                <a:ea typeface="Courier New" pitchFamily="34" charset="-122"/>
                <a:cs typeface="Courier New" pitchFamily="34" charset="-120"/>
              </a:rPr>
              <a:t>src/lib/domains/salesforce/agents/</a:t>
            </a:r>
            <a:endParaRPr lang="en-US" sz="800" dirty="0"/>
          </a:p>
        </p:txBody>
      </p:sp>
      <p:sp>
        <p:nvSpPr>
          <p:cNvPr id="26" name="Shape 24"/>
          <p:cNvSpPr/>
          <p:nvPr/>
        </p:nvSpPr>
        <p:spPr>
          <a:xfrm>
            <a:off x="2926080" y="1837944"/>
            <a:ext cx="320040" cy="0"/>
          </a:xfrm>
          <a:prstGeom prst="line">
            <a:avLst/>
          </a:prstGeom>
          <a:noFill/>
          <a:ln w="12700">
            <a:solidFill>
              <a:srgbClr val="1B4F9B"/>
            </a:solidFill>
            <a:prstDash val="solid"/>
          </a:ln>
        </p:spPr>
        <p:txBody>
          <a:bodyPr/>
          <a:lstStyle/>
          <a:p>
            <a:endParaRPr lang="en-US"/>
          </a:p>
        </p:txBody>
      </p:sp>
      <p:sp>
        <p:nvSpPr>
          <p:cNvPr id="27" name="Text 25"/>
          <p:cNvSpPr/>
          <p:nvPr/>
        </p:nvSpPr>
        <p:spPr>
          <a:xfrm>
            <a:off x="3127248" y="1728216"/>
            <a:ext cx="164592" cy="228600"/>
          </a:xfrm>
          <a:prstGeom prst="rect">
            <a:avLst/>
          </a:prstGeom>
          <a:noFill/>
          <a:ln/>
        </p:spPr>
        <p:txBody>
          <a:bodyPr wrap="square" rtlCol="0" anchor="ctr"/>
          <a:lstStyle/>
          <a:p>
            <a:pPr marL="0" indent="0" algn="ctr">
              <a:buNone/>
            </a:pPr>
            <a:r>
              <a:rPr lang="en-US" sz="1300" b="1" dirty="0">
                <a:solidFill>
                  <a:srgbClr val="1B4F9B"/>
                </a:solidFill>
                <a:latin typeface="Arial" pitchFamily="34" charset="0"/>
                <a:ea typeface="Arial" pitchFamily="34" charset="-122"/>
                <a:cs typeface="Arial" pitchFamily="34" charset="-120"/>
              </a:rPr>
              <a:t>›</a:t>
            </a:r>
            <a:endParaRPr lang="en-US" sz="1300" dirty="0"/>
          </a:p>
        </p:txBody>
      </p:sp>
      <p:sp>
        <p:nvSpPr>
          <p:cNvPr id="28" name="Shape 26"/>
          <p:cNvSpPr/>
          <p:nvPr/>
        </p:nvSpPr>
        <p:spPr>
          <a:xfrm>
            <a:off x="320040" y="2532888"/>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9" name="Text 27"/>
          <p:cNvSpPr/>
          <p:nvPr/>
        </p:nvSpPr>
        <p:spPr>
          <a:xfrm>
            <a:off x="457200" y="2606040"/>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wellArchitectedPrinciples.ts</a:t>
            </a:r>
            <a:endParaRPr lang="en-US" sz="950" dirty="0"/>
          </a:p>
        </p:txBody>
      </p:sp>
      <p:sp>
        <p:nvSpPr>
          <p:cNvPr id="30" name="Text 28"/>
          <p:cNvSpPr/>
          <p:nvPr/>
        </p:nvSpPr>
        <p:spPr>
          <a:xfrm>
            <a:off x="457200" y="2862072"/>
            <a:ext cx="2331720" cy="201168"/>
          </a:xfrm>
          <a:prstGeom prst="rect">
            <a:avLst/>
          </a:prstGeom>
          <a:noFill/>
          <a:ln/>
        </p:spPr>
        <p:txBody>
          <a:bodyPr wrap="square" rtlCol="0" anchor="ctr"/>
          <a:lstStyle/>
          <a:p>
            <a:pPr marL="0" indent="0">
              <a:buNone/>
            </a:pPr>
            <a:r>
              <a:rPr lang="en-US" sz="800" dirty="0">
                <a:solidFill>
                  <a:srgbClr val="534AB7"/>
                </a:solidFill>
                <a:latin typeface="Courier New" pitchFamily="34" charset="0"/>
                <a:ea typeface="Courier New" pitchFamily="34" charset="-122"/>
                <a:cs typeface="Courier New" pitchFamily="34" charset="-120"/>
              </a:rPr>
              <a:t>src/lib/prompt/</a:t>
            </a:r>
            <a:endParaRPr lang="en-US" sz="800" dirty="0"/>
          </a:p>
        </p:txBody>
      </p:sp>
      <p:sp>
        <p:nvSpPr>
          <p:cNvPr id="31" name="Shape 29"/>
          <p:cNvSpPr/>
          <p:nvPr/>
        </p:nvSpPr>
        <p:spPr>
          <a:xfrm>
            <a:off x="2926080" y="2862072"/>
            <a:ext cx="320040" cy="0"/>
          </a:xfrm>
          <a:prstGeom prst="line">
            <a:avLst/>
          </a:prstGeom>
          <a:noFill/>
          <a:ln w="12700">
            <a:solidFill>
              <a:srgbClr val="534AB7"/>
            </a:solidFill>
            <a:prstDash val="solid"/>
          </a:ln>
        </p:spPr>
        <p:txBody>
          <a:bodyPr/>
          <a:lstStyle/>
          <a:p>
            <a:endParaRPr lang="en-US"/>
          </a:p>
        </p:txBody>
      </p:sp>
      <p:sp>
        <p:nvSpPr>
          <p:cNvPr id="32" name="Text 30"/>
          <p:cNvSpPr/>
          <p:nvPr/>
        </p:nvSpPr>
        <p:spPr>
          <a:xfrm>
            <a:off x="3127248" y="2752344"/>
            <a:ext cx="164592" cy="228600"/>
          </a:xfrm>
          <a:prstGeom prst="rect">
            <a:avLst/>
          </a:prstGeom>
          <a:noFill/>
          <a:ln/>
        </p:spPr>
        <p:txBody>
          <a:bodyPr wrap="square" rtlCol="0" anchor="ctr"/>
          <a:lstStyle/>
          <a:p>
            <a:pPr marL="0" indent="0" algn="ctr">
              <a:buNone/>
            </a:pPr>
            <a:r>
              <a:rPr lang="en-US" sz="1300" b="1" dirty="0">
                <a:solidFill>
                  <a:srgbClr val="534AB7"/>
                </a:solidFill>
                <a:latin typeface="Arial" pitchFamily="34" charset="0"/>
                <a:ea typeface="Arial" pitchFamily="34" charset="-122"/>
                <a:cs typeface="Arial" pitchFamily="34" charset="-120"/>
              </a:rPr>
              <a:t>›</a:t>
            </a:r>
            <a:endParaRPr lang="en-US" sz="1300" dirty="0"/>
          </a:p>
        </p:txBody>
      </p:sp>
      <p:sp>
        <p:nvSpPr>
          <p:cNvPr id="33" name="Shape 31"/>
          <p:cNvSpPr/>
          <p:nvPr/>
        </p:nvSpPr>
        <p:spPr>
          <a:xfrm>
            <a:off x="320040" y="3557016"/>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4" name="Text 32"/>
          <p:cNvSpPr/>
          <p:nvPr/>
        </p:nvSpPr>
        <p:spPr>
          <a:xfrm>
            <a:off x="457200" y="3630168"/>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Supabase — failure_patterns</a:t>
            </a:r>
            <a:endParaRPr lang="en-US" sz="950" dirty="0"/>
          </a:p>
        </p:txBody>
      </p:sp>
      <p:sp>
        <p:nvSpPr>
          <p:cNvPr id="35" name="Text 33"/>
          <p:cNvSpPr/>
          <p:nvPr/>
        </p:nvSpPr>
        <p:spPr>
          <a:xfrm>
            <a:off x="457200" y="3886200"/>
            <a:ext cx="2331720" cy="201168"/>
          </a:xfrm>
          <a:prstGeom prst="rect">
            <a:avLst/>
          </a:prstGeom>
          <a:noFill/>
          <a:ln/>
        </p:spPr>
        <p:txBody>
          <a:bodyPr wrap="square" rtlCol="0" anchor="ctr"/>
          <a:lstStyle/>
          <a:p>
            <a:pPr marL="0" indent="0">
              <a:buNone/>
            </a:pPr>
            <a:r>
              <a:rPr lang="en-US" sz="800" dirty="0">
                <a:solidFill>
                  <a:srgbClr val="0F6E56"/>
                </a:solidFill>
                <a:latin typeface="Courier New" pitchFamily="34" charset="0"/>
                <a:ea typeface="Courier New" pitchFamily="34" charset="-122"/>
                <a:cs typeface="Courier New" pitchFamily="34" charset="-120"/>
              </a:rPr>
              <a:t>patternRetrieval.ts</a:t>
            </a:r>
            <a:endParaRPr lang="en-US" sz="800" dirty="0"/>
          </a:p>
        </p:txBody>
      </p:sp>
      <p:sp>
        <p:nvSpPr>
          <p:cNvPr id="36" name="Shape 34"/>
          <p:cNvSpPr/>
          <p:nvPr/>
        </p:nvSpPr>
        <p:spPr>
          <a:xfrm>
            <a:off x="2926080" y="3886200"/>
            <a:ext cx="320040" cy="0"/>
          </a:xfrm>
          <a:prstGeom prst="line">
            <a:avLst/>
          </a:prstGeom>
          <a:noFill/>
          <a:ln w="12700">
            <a:solidFill>
              <a:srgbClr val="0F6E56"/>
            </a:solidFill>
            <a:prstDash val="solid"/>
          </a:ln>
        </p:spPr>
        <p:txBody>
          <a:bodyPr/>
          <a:lstStyle/>
          <a:p>
            <a:endParaRPr lang="en-US"/>
          </a:p>
        </p:txBody>
      </p:sp>
      <p:sp>
        <p:nvSpPr>
          <p:cNvPr id="37" name="Text 35"/>
          <p:cNvSpPr/>
          <p:nvPr/>
        </p:nvSpPr>
        <p:spPr>
          <a:xfrm>
            <a:off x="3127248" y="3776472"/>
            <a:ext cx="164592" cy="228600"/>
          </a:xfrm>
          <a:prstGeom prst="rect">
            <a:avLst/>
          </a:prstGeom>
          <a:noFill/>
          <a:ln/>
        </p:spPr>
        <p:txBody>
          <a:bodyPr wrap="square" rtlCol="0" anchor="ctr"/>
          <a:lstStyle/>
          <a:p>
            <a:pPr marL="0" indent="0" algn="ctr">
              <a:buNone/>
            </a:pPr>
            <a:r>
              <a:rPr lang="en-US" sz="1300" b="1" dirty="0">
                <a:solidFill>
                  <a:srgbClr val="0F6E56"/>
                </a:solidFill>
                <a:latin typeface="Arial" pitchFamily="34" charset="0"/>
                <a:ea typeface="Arial" pitchFamily="34" charset="-122"/>
                <a:cs typeface="Arial" pitchFamily="34" charset="-120"/>
              </a:rPr>
              <a:t>›</a:t>
            </a:r>
            <a:endParaRPr lang="en-US" sz="1300" dirty="0"/>
          </a:p>
        </p:txBody>
      </p:sp>
      <p:sp>
        <p:nvSpPr>
          <p:cNvPr id="38" name="Shape 36"/>
          <p:cNvSpPr/>
          <p:nvPr/>
        </p:nvSpPr>
        <p:spPr>
          <a:xfrm>
            <a:off x="6217920" y="1920240"/>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9" name="Text 37"/>
          <p:cNvSpPr/>
          <p:nvPr/>
        </p:nvSpPr>
        <p:spPr>
          <a:xfrm>
            <a:off x="6355080" y="1993392"/>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Jira ARBOARD project</a:t>
            </a:r>
            <a:endParaRPr lang="en-US" sz="950" dirty="0"/>
          </a:p>
        </p:txBody>
      </p:sp>
      <p:sp>
        <p:nvSpPr>
          <p:cNvPr id="40" name="Text 38"/>
          <p:cNvSpPr/>
          <p:nvPr/>
        </p:nvSpPr>
        <p:spPr>
          <a:xfrm>
            <a:off x="6355080" y="2249424"/>
            <a:ext cx="2331720" cy="201168"/>
          </a:xfrm>
          <a:prstGeom prst="rect">
            <a:avLst/>
          </a:prstGeom>
          <a:noFill/>
          <a:ln/>
        </p:spPr>
        <p:txBody>
          <a:bodyPr wrap="square" rtlCol="0" anchor="ctr"/>
          <a:lstStyle/>
          <a:p>
            <a:pPr marL="0" indent="0">
              <a:buNone/>
            </a:pPr>
            <a:r>
              <a:rPr lang="en-US" sz="800" dirty="0">
                <a:solidFill>
                  <a:srgbClr val="BA7517"/>
                </a:solidFill>
                <a:latin typeface="Courier New" pitchFamily="34" charset="0"/>
                <a:ea typeface="Courier New" pitchFamily="34" charset="-122"/>
                <a:cs typeface="Courier New" pitchFamily="34" charset="-120"/>
              </a:rPr>
              <a:t>jiraMemoryRetriever.ts</a:t>
            </a:r>
            <a:endParaRPr lang="en-US" sz="800" dirty="0"/>
          </a:p>
        </p:txBody>
      </p:sp>
      <p:sp>
        <p:nvSpPr>
          <p:cNvPr id="41" name="Shape 39"/>
          <p:cNvSpPr/>
          <p:nvPr/>
        </p:nvSpPr>
        <p:spPr>
          <a:xfrm>
            <a:off x="5897880" y="2249424"/>
            <a:ext cx="320040" cy="0"/>
          </a:xfrm>
          <a:prstGeom prst="line">
            <a:avLst/>
          </a:prstGeom>
          <a:noFill/>
          <a:ln w="12700">
            <a:solidFill>
              <a:srgbClr val="BA7517"/>
            </a:solidFill>
            <a:prstDash val="solid"/>
          </a:ln>
        </p:spPr>
        <p:txBody>
          <a:bodyPr/>
          <a:lstStyle/>
          <a:p>
            <a:endParaRPr lang="en-US"/>
          </a:p>
        </p:txBody>
      </p:sp>
      <p:sp>
        <p:nvSpPr>
          <p:cNvPr id="42" name="Text 40"/>
          <p:cNvSpPr/>
          <p:nvPr/>
        </p:nvSpPr>
        <p:spPr>
          <a:xfrm>
            <a:off x="5733288" y="2139696"/>
            <a:ext cx="182880" cy="228600"/>
          </a:xfrm>
          <a:prstGeom prst="rect">
            <a:avLst/>
          </a:prstGeom>
          <a:noFill/>
          <a:ln/>
        </p:spPr>
        <p:txBody>
          <a:bodyPr wrap="square" rtlCol="0" anchor="ctr"/>
          <a:lstStyle/>
          <a:p>
            <a:pPr marL="0" indent="0" algn="ctr">
              <a:buNone/>
            </a:pPr>
            <a:r>
              <a:rPr lang="en-US" sz="1300" b="1" dirty="0">
                <a:solidFill>
                  <a:srgbClr val="BA7517"/>
                </a:solidFill>
                <a:latin typeface="Arial" pitchFamily="34" charset="0"/>
                <a:ea typeface="Arial" pitchFamily="34" charset="-122"/>
                <a:cs typeface="Arial" pitchFamily="34" charset="-120"/>
              </a:rPr>
              <a:t>‹</a:t>
            </a:r>
            <a:endParaRPr lang="en-US" sz="1300" dirty="0"/>
          </a:p>
        </p:txBody>
      </p:sp>
      <p:sp>
        <p:nvSpPr>
          <p:cNvPr id="43" name="Shape 41"/>
          <p:cNvSpPr/>
          <p:nvPr/>
        </p:nvSpPr>
        <p:spPr>
          <a:xfrm>
            <a:off x="6217920" y="3108960"/>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4" name="Text 42"/>
          <p:cNvSpPr/>
          <p:nvPr/>
        </p:nvSpPr>
        <p:spPr>
          <a:xfrm>
            <a:off x="6355080" y="3182112"/>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Salesforce org metadata</a:t>
            </a:r>
            <a:endParaRPr lang="en-US" sz="950" dirty="0"/>
          </a:p>
        </p:txBody>
      </p:sp>
      <p:sp>
        <p:nvSpPr>
          <p:cNvPr id="45" name="Text 43"/>
          <p:cNvSpPr/>
          <p:nvPr/>
        </p:nvSpPr>
        <p:spPr>
          <a:xfrm>
            <a:off x="6355080" y="3438144"/>
            <a:ext cx="2331720" cy="201168"/>
          </a:xfrm>
          <a:prstGeom prst="rect">
            <a:avLst/>
          </a:prstGeom>
          <a:noFill/>
          <a:ln/>
        </p:spPr>
        <p:txBody>
          <a:bodyPr wrap="square" rtlCol="0" anchor="ctr"/>
          <a:lstStyle/>
          <a:p>
            <a:pPr marL="0" indent="0">
              <a:buNone/>
            </a:pPr>
            <a:r>
              <a:rPr lang="en-US" sz="800" dirty="0">
                <a:solidFill>
                  <a:srgbClr val="993C1D"/>
                </a:solidFill>
                <a:latin typeface="Courier New" pitchFamily="34" charset="0"/>
                <a:ea typeface="Courier New" pitchFamily="34" charset="-122"/>
                <a:cs typeface="Courier New" pitchFamily="34" charset="-120"/>
              </a:rPr>
              <a:t>OrgMetadataCollector.ts</a:t>
            </a:r>
            <a:endParaRPr lang="en-US" sz="800" dirty="0"/>
          </a:p>
        </p:txBody>
      </p:sp>
      <p:sp>
        <p:nvSpPr>
          <p:cNvPr id="46" name="Shape 44"/>
          <p:cNvSpPr/>
          <p:nvPr/>
        </p:nvSpPr>
        <p:spPr>
          <a:xfrm>
            <a:off x="5897880" y="3438144"/>
            <a:ext cx="320040" cy="0"/>
          </a:xfrm>
          <a:prstGeom prst="line">
            <a:avLst/>
          </a:prstGeom>
          <a:noFill/>
          <a:ln w="12700">
            <a:solidFill>
              <a:srgbClr val="993C1D"/>
            </a:solidFill>
            <a:prstDash val="solid"/>
          </a:ln>
        </p:spPr>
        <p:txBody>
          <a:bodyPr/>
          <a:lstStyle/>
          <a:p>
            <a:endParaRPr lang="en-US"/>
          </a:p>
        </p:txBody>
      </p:sp>
      <p:sp>
        <p:nvSpPr>
          <p:cNvPr id="47" name="Text 45"/>
          <p:cNvSpPr/>
          <p:nvPr/>
        </p:nvSpPr>
        <p:spPr>
          <a:xfrm>
            <a:off x="5733288" y="3328416"/>
            <a:ext cx="182880" cy="228600"/>
          </a:xfrm>
          <a:prstGeom prst="rect">
            <a:avLst/>
          </a:prstGeom>
          <a:noFill/>
          <a:ln/>
        </p:spPr>
        <p:txBody>
          <a:bodyPr wrap="square" rtlCol="0" anchor="ctr"/>
          <a:lstStyle/>
          <a:p>
            <a:pPr marL="0" indent="0" algn="ctr">
              <a:buNone/>
            </a:pPr>
            <a:r>
              <a:rPr lang="en-US" sz="1300" b="1" dirty="0">
                <a:solidFill>
                  <a:srgbClr val="993C1D"/>
                </a:solidFill>
                <a:latin typeface="Arial" pitchFamily="34" charset="0"/>
                <a:ea typeface="Arial" pitchFamily="34" charset="-122"/>
                <a:cs typeface="Arial" pitchFamily="34" charset="-120"/>
              </a:rPr>
              <a:t>‹</a:t>
            </a:r>
            <a:endParaRPr lang="en-US" sz="1300" dirty="0"/>
          </a:p>
        </p:txBody>
      </p:sp>
      <p:sp>
        <p:nvSpPr>
          <p:cNvPr id="48" name="Text 46"/>
          <p:cNvSpPr/>
          <p:nvPr/>
        </p:nvSpPr>
        <p:spPr>
          <a:xfrm>
            <a:off x="411480" y="4617720"/>
            <a:ext cx="8321040" cy="256032"/>
          </a:xfrm>
          <a:prstGeom prst="rect">
            <a:avLst/>
          </a:prstGeom>
          <a:noFill/>
          <a:ln/>
        </p:spPr>
        <p:txBody>
          <a:bodyPr wrap="square" rtlCol="0" anchor="ctr"/>
          <a:lstStyle/>
          <a:p>
            <a:pPr marL="0" indent="0" algn="ctr">
              <a:buNone/>
            </a:pPr>
            <a:r>
              <a:rPr lang="en-US" sz="1000" i="1" dirty="0">
                <a:solidFill>
                  <a:srgbClr val="64635E"/>
                </a:solidFill>
                <a:latin typeface="Arial" pitchFamily="34" charset="0"/>
                <a:ea typeface="Arial" pitchFamily="34" charset="-122"/>
                <a:cs typeface="Arial" pitchFamily="34" charset="-120"/>
              </a:rPr>
              <a:t>Static knowledge (left) + Live retrieval (right) = full grounding for every agent on every session</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EXTENSIBILITY</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600" b="1" dirty="0">
                <a:solidFill>
                  <a:srgbClr val="1A1A1A"/>
                </a:solidFill>
                <a:latin typeface="Arial" pitchFamily="34" charset="0"/>
                <a:ea typeface="Arial" pitchFamily="34" charset="-122"/>
                <a:cs typeface="Arial" pitchFamily="34" charset="-120"/>
              </a:rPr>
              <a:t>How to extend ARBoard for a new engagement</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298448"/>
            <a:ext cx="4160520" cy="1691640"/>
          </a:xfrm>
          <a:prstGeom prst="roundRect">
            <a:avLst>
              <a:gd name="adj" fmla="val 4324"/>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6" name="Shape 4"/>
          <p:cNvSpPr/>
          <p:nvPr/>
        </p:nvSpPr>
        <p:spPr>
          <a:xfrm>
            <a:off x="411480" y="1298448"/>
            <a:ext cx="4160520" cy="329184"/>
          </a:xfrm>
          <a:prstGeom prst="roundRect">
            <a:avLst>
              <a:gd name="adj" fmla="val 22222"/>
            </a:avLst>
          </a:prstGeom>
          <a:solidFill>
            <a:srgbClr val="E1F5EE"/>
          </a:solidFill>
          <a:ln w="12700">
            <a:solidFill>
              <a:srgbClr val="E1F5EE"/>
            </a:solidFill>
            <a:prstDash val="solid"/>
          </a:ln>
        </p:spPr>
        <p:txBody>
          <a:bodyPr/>
          <a:lstStyle/>
          <a:p>
            <a:endParaRPr lang="en-US"/>
          </a:p>
        </p:txBody>
      </p:sp>
      <p:sp>
        <p:nvSpPr>
          <p:cNvPr id="7" name="Text 5"/>
          <p:cNvSpPr/>
          <p:nvPr/>
        </p:nvSpPr>
        <p:spPr>
          <a:xfrm>
            <a:off x="548640" y="1335024"/>
            <a:ext cx="3886200" cy="256032"/>
          </a:xfrm>
          <a:prstGeom prst="rect">
            <a:avLst/>
          </a:prstGeom>
          <a:noFill/>
          <a:ln/>
        </p:spPr>
        <p:txBody>
          <a:bodyPr wrap="square" rtlCol="0" anchor="ctr"/>
          <a:lstStyle/>
          <a:p>
            <a:pPr marL="0" indent="0">
              <a:buNone/>
            </a:pPr>
            <a:r>
              <a:rPr lang="en-US" sz="1100" b="1" dirty="0">
                <a:solidFill>
                  <a:srgbClr val="0F6E56"/>
                </a:solidFill>
                <a:latin typeface="Arial" pitchFamily="34" charset="0"/>
                <a:ea typeface="Arial" pitchFamily="34" charset="-122"/>
                <a:cs typeface="Arial" pitchFamily="34" charset="-120"/>
              </a:rPr>
              <a:t>Add a new SI failure pattern</a:t>
            </a:r>
            <a:endParaRPr lang="en-US" sz="1100" dirty="0"/>
          </a:p>
        </p:txBody>
      </p:sp>
      <p:sp>
        <p:nvSpPr>
          <p:cNvPr id="8" name="Text 6"/>
          <p:cNvSpPr/>
          <p:nvPr/>
        </p:nvSpPr>
        <p:spPr>
          <a:xfrm>
            <a:off x="548640" y="1700784"/>
            <a:ext cx="3886200" cy="292608"/>
          </a:xfrm>
          <a:prstGeom prst="rect">
            <a:avLst/>
          </a:prstGeom>
          <a:noFill/>
          <a:ln/>
        </p:spPr>
        <p:txBody>
          <a:bodyPr wrap="square" rtlCol="0" anchor="ctr"/>
          <a:lstStyle/>
          <a:p>
            <a:pPr marL="0" indent="0">
              <a:buNone/>
            </a:pPr>
            <a:r>
              <a:rPr lang="en-US" sz="950" b="1" dirty="0">
                <a:solidFill>
                  <a:srgbClr val="0F6E56"/>
                </a:solidFill>
                <a:latin typeface="Arial" pitchFamily="34" charset="0"/>
                <a:ea typeface="Arial" pitchFamily="34" charset="-122"/>
                <a:cs typeface="Arial" pitchFamily="34" charset="-120"/>
              </a:rPr>
              <a:t xml:space="preserve">1.  </a:t>
            </a:r>
            <a:r>
              <a:rPr lang="en-US" sz="950" dirty="0">
                <a:solidFill>
                  <a:srgbClr val="1A1A1A"/>
                </a:solidFill>
                <a:latin typeface="Arial" pitchFamily="34" charset="0"/>
                <a:ea typeface="Arial" pitchFamily="34" charset="-122"/>
                <a:cs typeface="Arial" pitchFamily="34" charset="-120"/>
              </a:rPr>
              <a:t>Insert row into Supabase failure_patterns table</a:t>
            </a:r>
            <a:endParaRPr lang="en-US" sz="950" dirty="0"/>
          </a:p>
        </p:txBody>
      </p:sp>
      <p:sp>
        <p:nvSpPr>
          <p:cNvPr id="9" name="Text 7"/>
          <p:cNvSpPr/>
          <p:nvPr/>
        </p:nvSpPr>
        <p:spPr>
          <a:xfrm>
            <a:off x="548640" y="2029968"/>
            <a:ext cx="3886200" cy="292608"/>
          </a:xfrm>
          <a:prstGeom prst="rect">
            <a:avLst/>
          </a:prstGeom>
          <a:noFill/>
          <a:ln/>
        </p:spPr>
        <p:txBody>
          <a:bodyPr wrap="square" rtlCol="0" anchor="ctr"/>
          <a:lstStyle/>
          <a:p>
            <a:pPr marL="0" indent="0">
              <a:buNone/>
            </a:pPr>
            <a:r>
              <a:rPr lang="en-US" sz="950" b="1" dirty="0">
                <a:solidFill>
                  <a:srgbClr val="0F6E56"/>
                </a:solidFill>
                <a:latin typeface="Arial" pitchFamily="34" charset="0"/>
                <a:ea typeface="Arial" pitchFamily="34" charset="-122"/>
                <a:cs typeface="Arial" pitchFamily="34" charset="-120"/>
              </a:rPr>
              <a:t xml:space="preserve">2.  </a:t>
            </a:r>
            <a:r>
              <a:rPr lang="en-US" sz="950" dirty="0">
                <a:solidFill>
                  <a:srgbClr val="1A1A1A"/>
                </a:solidFill>
                <a:latin typeface="Arial" pitchFamily="34" charset="0"/>
                <a:ea typeface="Arial" pitchFamily="34" charset="-122"/>
                <a:cs typeface="Arial" pitchFamily="34" charset="-120"/>
              </a:rPr>
              <a:t>Set component_tags to match relevant agents</a:t>
            </a:r>
            <a:endParaRPr lang="en-US" sz="950" dirty="0"/>
          </a:p>
        </p:txBody>
      </p:sp>
      <p:sp>
        <p:nvSpPr>
          <p:cNvPr id="10" name="Text 8"/>
          <p:cNvSpPr/>
          <p:nvPr/>
        </p:nvSpPr>
        <p:spPr>
          <a:xfrm>
            <a:off x="548640" y="2359152"/>
            <a:ext cx="3886200" cy="292608"/>
          </a:xfrm>
          <a:prstGeom prst="rect">
            <a:avLst/>
          </a:prstGeom>
          <a:noFill/>
          <a:ln/>
        </p:spPr>
        <p:txBody>
          <a:bodyPr wrap="square" rtlCol="0" anchor="ctr"/>
          <a:lstStyle/>
          <a:p>
            <a:pPr marL="0" indent="0">
              <a:buNone/>
            </a:pPr>
            <a:r>
              <a:rPr lang="en-US" sz="950" b="1" dirty="0">
                <a:solidFill>
                  <a:srgbClr val="0F6E56"/>
                </a:solidFill>
                <a:latin typeface="Arial" pitchFamily="34" charset="0"/>
                <a:ea typeface="Arial" pitchFamily="34" charset="-122"/>
                <a:cs typeface="Arial" pitchFamily="34" charset="-120"/>
              </a:rPr>
              <a:t xml:space="preserve">3.  </a:t>
            </a:r>
            <a:r>
              <a:rPr lang="en-US" sz="950" dirty="0">
                <a:solidFill>
                  <a:srgbClr val="1A1A1A"/>
                </a:solidFill>
                <a:latin typeface="Arial" pitchFamily="34" charset="0"/>
                <a:ea typeface="Arial" pitchFamily="34" charset="-122"/>
                <a:cs typeface="Arial" pitchFamily="34" charset="-120"/>
              </a:rPr>
              <a:t>Pattern auto-injects on next session — no code change</a:t>
            </a:r>
            <a:endParaRPr lang="en-US" sz="950" dirty="0"/>
          </a:p>
        </p:txBody>
      </p:sp>
      <p:sp>
        <p:nvSpPr>
          <p:cNvPr id="11" name="Text 9"/>
          <p:cNvSpPr/>
          <p:nvPr/>
        </p:nvSpPr>
        <p:spPr>
          <a:xfrm>
            <a:off x="548640" y="2779776"/>
            <a:ext cx="3886200" cy="182880"/>
          </a:xfrm>
          <a:prstGeom prst="rect">
            <a:avLst/>
          </a:prstGeom>
          <a:noFill/>
          <a:ln/>
        </p:spPr>
        <p:txBody>
          <a:bodyPr wrap="square" rtlCol="0" anchor="ctr"/>
          <a:lstStyle/>
          <a:p>
            <a:pPr marL="0" indent="0">
              <a:buNone/>
            </a:pPr>
            <a:r>
              <a:rPr lang="en-US" sz="800" b="1" dirty="0">
                <a:solidFill>
                  <a:srgbClr val="0F6E56"/>
                </a:solidFill>
                <a:latin typeface="Courier New" pitchFamily="34" charset="0"/>
                <a:ea typeface="Courier New" pitchFamily="34" charset="-122"/>
                <a:cs typeface="Courier New" pitchFamily="34" charset="-120"/>
              </a:rPr>
              <a:t>Supabase: failure_patterns table</a:t>
            </a:r>
            <a:endParaRPr lang="en-US" sz="800" dirty="0"/>
          </a:p>
        </p:txBody>
      </p:sp>
      <p:sp>
        <p:nvSpPr>
          <p:cNvPr id="12" name="Shape 10"/>
          <p:cNvSpPr/>
          <p:nvPr/>
        </p:nvSpPr>
        <p:spPr>
          <a:xfrm>
            <a:off x="4663440" y="1298448"/>
            <a:ext cx="4160520" cy="1691640"/>
          </a:xfrm>
          <a:prstGeom prst="roundRect">
            <a:avLst>
              <a:gd name="adj" fmla="val 4324"/>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3" name="Shape 11"/>
          <p:cNvSpPr/>
          <p:nvPr/>
        </p:nvSpPr>
        <p:spPr>
          <a:xfrm>
            <a:off x="4663440" y="1298448"/>
            <a:ext cx="4160520" cy="329184"/>
          </a:xfrm>
          <a:prstGeom prst="roundRect">
            <a:avLst>
              <a:gd name="adj" fmla="val 22222"/>
            </a:avLst>
          </a:prstGeom>
          <a:solidFill>
            <a:srgbClr val="EBF2FA"/>
          </a:solidFill>
          <a:ln w="12700">
            <a:solidFill>
              <a:srgbClr val="EBF2FA"/>
            </a:solidFill>
            <a:prstDash val="solid"/>
          </a:ln>
        </p:spPr>
        <p:txBody>
          <a:bodyPr/>
          <a:lstStyle/>
          <a:p>
            <a:endParaRPr lang="en-US"/>
          </a:p>
        </p:txBody>
      </p:sp>
      <p:sp>
        <p:nvSpPr>
          <p:cNvPr id="14" name="Text 12"/>
          <p:cNvSpPr/>
          <p:nvPr/>
        </p:nvSpPr>
        <p:spPr>
          <a:xfrm>
            <a:off x="4800600" y="1335024"/>
            <a:ext cx="3886200" cy="256032"/>
          </a:xfrm>
          <a:prstGeom prst="rect">
            <a:avLst/>
          </a:prstGeom>
          <a:noFill/>
          <a:ln/>
        </p:spPr>
        <p:txBody>
          <a:bodyPr wrap="square" rtlCol="0" anchor="ctr"/>
          <a:lstStyle/>
          <a:p>
            <a:pPr marL="0" indent="0">
              <a:buNone/>
            </a:pPr>
            <a:r>
              <a:rPr lang="en-US" sz="1100" b="1" dirty="0">
                <a:solidFill>
                  <a:srgbClr val="1B4F9B"/>
                </a:solidFill>
                <a:latin typeface="Arial" pitchFamily="34" charset="0"/>
                <a:ea typeface="Arial" pitchFamily="34" charset="-122"/>
                <a:cs typeface="Arial" pitchFamily="34" charset="-120"/>
              </a:rPr>
              <a:t>Add a new specialist agent</a:t>
            </a:r>
            <a:endParaRPr lang="en-US" sz="1100" dirty="0"/>
          </a:p>
        </p:txBody>
      </p:sp>
      <p:sp>
        <p:nvSpPr>
          <p:cNvPr id="15" name="Text 13"/>
          <p:cNvSpPr/>
          <p:nvPr/>
        </p:nvSpPr>
        <p:spPr>
          <a:xfrm>
            <a:off x="4800600" y="1700784"/>
            <a:ext cx="3886200" cy="292608"/>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 xml:space="preserve">1.  </a:t>
            </a:r>
            <a:r>
              <a:rPr lang="en-US" sz="950" dirty="0">
                <a:solidFill>
                  <a:srgbClr val="1A1A1A"/>
                </a:solidFill>
                <a:latin typeface="Arial" pitchFamily="34" charset="0"/>
                <a:ea typeface="Arial" pitchFamily="34" charset="-122"/>
                <a:cs typeface="Arial" pitchFamily="34" charset="-120"/>
              </a:rPr>
              <a:t>Create src/lib/domains/salesforce/agents/newagent.ts</a:t>
            </a:r>
            <a:endParaRPr lang="en-US" sz="950" dirty="0"/>
          </a:p>
        </p:txBody>
      </p:sp>
      <p:sp>
        <p:nvSpPr>
          <p:cNvPr id="16" name="Text 14"/>
          <p:cNvSpPr/>
          <p:nvPr/>
        </p:nvSpPr>
        <p:spPr>
          <a:xfrm>
            <a:off x="4800600" y="2029968"/>
            <a:ext cx="3886200" cy="292608"/>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 xml:space="preserve">2.  </a:t>
            </a:r>
            <a:r>
              <a:rPr lang="en-US" sz="950" dirty="0">
                <a:solidFill>
                  <a:srgbClr val="1A1A1A"/>
                </a:solidFill>
                <a:latin typeface="Arial" pitchFamily="34" charset="0"/>
                <a:ea typeface="Arial" pitchFamily="34" charset="-122"/>
                <a:cs typeface="Arial" pitchFamily="34" charset="-120"/>
              </a:rPr>
              <a:t>Add agent key to wellArchitectedPrinciples.ts</a:t>
            </a:r>
            <a:endParaRPr lang="en-US" sz="950" dirty="0"/>
          </a:p>
        </p:txBody>
      </p:sp>
      <p:sp>
        <p:nvSpPr>
          <p:cNvPr id="17" name="Text 15"/>
          <p:cNvSpPr/>
          <p:nvPr/>
        </p:nvSpPr>
        <p:spPr>
          <a:xfrm>
            <a:off x="4800600" y="2359152"/>
            <a:ext cx="3886200" cy="292608"/>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 xml:space="preserve">3.  </a:t>
            </a:r>
            <a:r>
              <a:rPr lang="en-US" sz="950" dirty="0">
                <a:solidFill>
                  <a:srgbClr val="1A1A1A"/>
                </a:solidFill>
                <a:latin typeface="Arial" pitchFamily="34" charset="0"/>
                <a:ea typeface="Arial" pitchFamily="34" charset="-122"/>
                <a:cs typeface="Arial" pitchFamily="34" charset="-120"/>
              </a:rPr>
              <a:t>Register in ForumOrchestrator phase config</a:t>
            </a:r>
            <a:endParaRPr lang="en-US" sz="950" dirty="0"/>
          </a:p>
        </p:txBody>
      </p:sp>
      <p:sp>
        <p:nvSpPr>
          <p:cNvPr id="18" name="Text 16"/>
          <p:cNvSpPr/>
          <p:nvPr/>
        </p:nvSpPr>
        <p:spPr>
          <a:xfrm>
            <a:off x="4800600" y="2779776"/>
            <a:ext cx="3886200" cy="182880"/>
          </a:xfrm>
          <a:prstGeom prst="rect">
            <a:avLst/>
          </a:prstGeom>
          <a:noFill/>
          <a:ln/>
        </p:spPr>
        <p:txBody>
          <a:bodyPr wrap="square" rtlCol="0" anchor="ctr"/>
          <a:lstStyle/>
          <a:p>
            <a:pPr marL="0" indent="0">
              <a:buNone/>
            </a:pPr>
            <a:r>
              <a:rPr lang="en-US" sz="800" b="1" dirty="0">
                <a:solidFill>
                  <a:srgbClr val="1B4F9B"/>
                </a:solidFill>
                <a:latin typeface="Courier New" pitchFamily="34" charset="0"/>
                <a:ea typeface="Courier New" pitchFamily="34" charset="-122"/>
                <a:cs typeface="Courier New" pitchFamily="34" charset="-120"/>
              </a:rPr>
              <a:t>domains/salesforce/agents/ + ForumOrchestrator.ts</a:t>
            </a:r>
            <a:endParaRPr lang="en-US" sz="800" dirty="0"/>
          </a:p>
        </p:txBody>
      </p:sp>
      <p:sp>
        <p:nvSpPr>
          <p:cNvPr id="19" name="Shape 17"/>
          <p:cNvSpPr/>
          <p:nvPr/>
        </p:nvSpPr>
        <p:spPr>
          <a:xfrm>
            <a:off x="411480" y="3108960"/>
            <a:ext cx="4160520" cy="1691640"/>
          </a:xfrm>
          <a:prstGeom prst="roundRect">
            <a:avLst>
              <a:gd name="adj" fmla="val 4324"/>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0" name="Shape 18"/>
          <p:cNvSpPr/>
          <p:nvPr/>
        </p:nvSpPr>
        <p:spPr>
          <a:xfrm>
            <a:off x="411480" y="3108960"/>
            <a:ext cx="4160520" cy="329184"/>
          </a:xfrm>
          <a:prstGeom prst="roundRect">
            <a:avLst>
              <a:gd name="adj" fmla="val 22222"/>
            </a:avLst>
          </a:prstGeom>
          <a:solidFill>
            <a:srgbClr val="EEEDFE"/>
          </a:solidFill>
          <a:ln w="12700">
            <a:solidFill>
              <a:srgbClr val="EEEDFE"/>
            </a:solidFill>
            <a:prstDash val="solid"/>
          </a:ln>
        </p:spPr>
        <p:txBody>
          <a:bodyPr/>
          <a:lstStyle/>
          <a:p>
            <a:endParaRPr lang="en-US"/>
          </a:p>
        </p:txBody>
      </p:sp>
      <p:sp>
        <p:nvSpPr>
          <p:cNvPr id="21" name="Text 19"/>
          <p:cNvSpPr/>
          <p:nvPr/>
        </p:nvSpPr>
        <p:spPr>
          <a:xfrm>
            <a:off x="548640" y="3145536"/>
            <a:ext cx="3886200" cy="256032"/>
          </a:xfrm>
          <a:prstGeom prst="rect">
            <a:avLst/>
          </a:prstGeom>
          <a:noFill/>
          <a:ln/>
        </p:spPr>
        <p:txBody>
          <a:bodyPr wrap="square" rtlCol="0" anchor="ctr"/>
          <a:lstStyle/>
          <a:p>
            <a:pPr marL="0" indent="0">
              <a:buNone/>
            </a:pPr>
            <a:r>
              <a:rPr lang="en-US" sz="1100" b="1" dirty="0">
                <a:solidFill>
                  <a:srgbClr val="534AB7"/>
                </a:solidFill>
                <a:latin typeface="Arial" pitchFamily="34" charset="0"/>
                <a:ea typeface="Arial" pitchFamily="34" charset="-122"/>
                <a:cs typeface="Arial" pitchFamily="34" charset="-120"/>
              </a:rPr>
              <a:t>Add client-specific guardrails</a:t>
            </a:r>
            <a:endParaRPr lang="en-US" sz="1100" dirty="0"/>
          </a:p>
        </p:txBody>
      </p:sp>
      <p:sp>
        <p:nvSpPr>
          <p:cNvPr id="22" name="Text 20"/>
          <p:cNvSpPr/>
          <p:nvPr/>
        </p:nvSpPr>
        <p:spPr>
          <a:xfrm>
            <a:off x="548640" y="3511296"/>
            <a:ext cx="3886200" cy="292608"/>
          </a:xfrm>
          <a:prstGeom prst="rect">
            <a:avLst/>
          </a:prstGeom>
          <a:noFill/>
          <a:ln/>
        </p:spPr>
        <p:txBody>
          <a:bodyPr wrap="square" rtlCol="0" anchor="ctr"/>
          <a:lstStyle/>
          <a:p>
            <a:pPr marL="0" indent="0">
              <a:buNone/>
            </a:pPr>
            <a:r>
              <a:rPr lang="en-US" sz="950" b="1" dirty="0">
                <a:solidFill>
                  <a:srgbClr val="534AB7"/>
                </a:solidFill>
                <a:latin typeface="Arial" pitchFamily="34" charset="0"/>
                <a:ea typeface="Arial" pitchFamily="34" charset="-122"/>
                <a:cs typeface="Arial" pitchFamily="34" charset="-120"/>
              </a:rPr>
              <a:t xml:space="preserve">1.  </a:t>
            </a:r>
            <a:r>
              <a:rPr lang="en-US" sz="950" dirty="0">
                <a:solidFill>
                  <a:srgbClr val="1A1A1A"/>
                </a:solidFill>
                <a:latin typeface="Arial" pitchFamily="34" charset="0"/>
                <a:ea typeface="Arial" pitchFamily="34" charset="-122"/>
                <a:cs typeface="Arial" pitchFamily="34" charset="-120"/>
              </a:rPr>
              <a:t>Create src/lib/clients/{client}/config.ts</a:t>
            </a:r>
            <a:endParaRPr lang="en-US" sz="950" dirty="0"/>
          </a:p>
        </p:txBody>
      </p:sp>
      <p:sp>
        <p:nvSpPr>
          <p:cNvPr id="23" name="Text 21"/>
          <p:cNvSpPr/>
          <p:nvPr/>
        </p:nvSpPr>
        <p:spPr>
          <a:xfrm>
            <a:off x="548640" y="3840480"/>
            <a:ext cx="3886200" cy="292608"/>
          </a:xfrm>
          <a:prstGeom prst="rect">
            <a:avLst/>
          </a:prstGeom>
          <a:noFill/>
          <a:ln/>
        </p:spPr>
        <p:txBody>
          <a:bodyPr wrap="square" rtlCol="0" anchor="ctr"/>
          <a:lstStyle/>
          <a:p>
            <a:pPr marL="0" indent="0">
              <a:buNone/>
            </a:pPr>
            <a:r>
              <a:rPr lang="en-US" sz="950" b="1" dirty="0">
                <a:solidFill>
                  <a:srgbClr val="534AB7"/>
                </a:solidFill>
                <a:latin typeface="Arial" pitchFamily="34" charset="0"/>
                <a:ea typeface="Arial" pitchFamily="34" charset="-122"/>
                <a:cs typeface="Arial" pitchFamily="34" charset="-120"/>
              </a:rPr>
              <a:t xml:space="preserve">2.  </a:t>
            </a:r>
            <a:r>
              <a:rPr lang="en-US" sz="950" dirty="0">
                <a:solidFill>
                  <a:srgbClr val="1A1A1A"/>
                </a:solidFill>
                <a:latin typeface="Arial" pitchFamily="34" charset="0"/>
                <a:ea typeface="Arial" pitchFamily="34" charset="-122"/>
                <a:cs typeface="Arial" pitchFamily="34" charset="-120"/>
              </a:rPr>
              <a:t>Define object restrictions, compliance rules, data region</a:t>
            </a:r>
            <a:endParaRPr lang="en-US" sz="950" dirty="0"/>
          </a:p>
        </p:txBody>
      </p:sp>
      <p:sp>
        <p:nvSpPr>
          <p:cNvPr id="24" name="Text 22"/>
          <p:cNvSpPr/>
          <p:nvPr/>
        </p:nvSpPr>
        <p:spPr>
          <a:xfrm>
            <a:off x="548640" y="4169664"/>
            <a:ext cx="3886200" cy="292608"/>
          </a:xfrm>
          <a:prstGeom prst="rect">
            <a:avLst/>
          </a:prstGeom>
          <a:noFill/>
          <a:ln/>
        </p:spPr>
        <p:txBody>
          <a:bodyPr wrap="square" rtlCol="0" anchor="ctr"/>
          <a:lstStyle/>
          <a:p>
            <a:pPr marL="0" indent="0">
              <a:buNone/>
            </a:pPr>
            <a:r>
              <a:rPr lang="en-US" sz="950" b="1" dirty="0">
                <a:solidFill>
                  <a:srgbClr val="534AB7"/>
                </a:solidFill>
                <a:latin typeface="Arial" pitchFamily="34" charset="0"/>
                <a:ea typeface="Arial" pitchFamily="34" charset="-122"/>
                <a:cs typeface="Arial" pitchFamily="34" charset="-120"/>
              </a:rPr>
              <a:t xml:space="preserve">3.  </a:t>
            </a:r>
            <a:r>
              <a:rPr lang="en-US" sz="950" dirty="0">
                <a:solidFill>
                  <a:srgbClr val="1A1A1A"/>
                </a:solidFill>
                <a:latin typeface="Arial" pitchFamily="34" charset="0"/>
                <a:ea typeface="Arial" pitchFamily="34" charset="-122"/>
                <a:cs typeface="Arial" pitchFamily="34" charset="-120"/>
              </a:rPr>
              <a:t>Inject via ContextStore at session start</a:t>
            </a:r>
            <a:endParaRPr lang="en-US" sz="950" dirty="0"/>
          </a:p>
        </p:txBody>
      </p:sp>
      <p:sp>
        <p:nvSpPr>
          <p:cNvPr id="25" name="Text 23"/>
          <p:cNvSpPr/>
          <p:nvPr/>
        </p:nvSpPr>
        <p:spPr>
          <a:xfrm>
            <a:off x="548640" y="4590288"/>
            <a:ext cx="3886200" cy="182880"/>
          </a:xfrm>
          <a:prstGeom prst="rect">
            <a:avLst/>
          </a:prstGeom>
          <a:noFill/>
          <a:ln/>
        </p:spPr>
        <p:txBody>
          <a:bodyPr wrap="square" rtlCol="0" anchor="ctr"/>
          <a:lstStyle/>
          <a:p>
            <a:pPr marL="0" indent="0">
              <a:buNone/>
            </a:pPr>
            <a:r>
              <a:rPr lang="en-US" sz="800" b="1" dirty="0">
                <a:solidFill>
                  <a:srgbClr val="534AB7"/>
                </a:solidFill>
                <a:latin typeface="Courier New" pitchFamily="34" charset="0"/>
                <a:ea typeface="Courier New" pitchFamily="34" charset="-122"/>
                <a:cs typeface="Courier New" pitchFamily="34" charset="-120"/>
              </a:rPr>
              <a:t>src/lib/clients/{client}/config.ts</a:t>
            </a:r>
            <a:endParaRPr lang="en-US" sz="800" dirty="0"/>
          </a:p>
        </p:txBody>
      </p:sp>
      <p:sp>
        <p:nvSpPr>
          <p:cNvPr id="26" name="Shape 24"/>
          <p:cNvSpPr/>
          <p:nvPr/>
        </p:nvSpPr>
        <p:spPr>
          <a:xfrm>
            <a:off x="4663440" y="3108960"/>
            <a:ext cx="4160520" cy="1691640"/>
          </a:xfrm>
          <a:prstGeom prst="roundRect">
            <a:avLst>
              <a:gd name="adj" fmla="val 4324"/>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7" name="Shape 25"/>
          <p:cNvSpPr/>
          <p:nvPr/>
        </p:nvSpPr>
        <p:spPr>
          <a:xfrm>
            <a:off x="4663440" y="3108960"/>
            <a:ext cx="4160520" cy="329184"/>
          </a:xfrm>
          <a:prstGeom prst="roundRect">
            <a:avLst>
              <a:gd name="adj" fmla="val 22222"/>
            </a:avLst>
          </a:prstGeom>
          <a:solidFill>
            <a:srgbClr val="FAEEDA"/>
          </a:solidFill>
          <a:ln w="12700">
            <a:solidFill>
              <a:srgbClr val="FAEEDA"/>
            </a:solidFill>
            <a:prstDash val="solid"/>
          </a:ln>
        </p:spPr>
        <p:txBody>
          <a:bodyPr/>
          <a:lstStyle/>
          <a:p>
            <a:endParaRPr lang="en-US"/>
          </a:p>
        </p:txBody>
      </p:sp>
      <p:sp>
        <p:nvSpPr>
          <p:cNvPr id="28" name="Text 26"/>
          <p:cNvSpPr/>
          <p:nvPr/>
        </p:nvSpPr>
        <p:spPr>
          <a:xfrm>
            <a:off x="4800600" y="3145536"/>
            <a:ext cx="3886200" cy="256032"/>
          </a:xfrm>
          <a:prstGeom prst="rect">
            <a:avLst/>
          </a:prstGeom>
          <a:noFill/>
          <a:ln/>
        </p:spPr>
        <p:txBody>
          <a:bodyPr wrap="square" rtlCol="0" anchor="ctr"/>
          <a:lstStyle/>
          <a:p>
            <a:pPr marL="0" indent="0">
              <a:buNone/>
            </a:pPr>
            <a:r>
              <a:rPr lang="en-US" sz="1100" b="1" dirty="0">
                <a:solidFill>
                  <a:srgbClr val="BA7517"/>
                </a:solidFill>
                <a:latin typeface="Arial" pitchFamily="34" charset="0"/>
                <a:ea typeface="Arial" pitchFamily="34" charset="-122"/>
                <a:cs typeface="Arial" pitchFamily="34" charset="-120"/>
              </a:rPr>
              <a:t>Add a new reference corpus (RAG)</a:t>
            </a:r>
            <a:endParaRPr lang="en-US" sz="1100" dirty="0"/>
          </a:p>
        </p:txBody>
      </p:sp>
      <p:sp>
        <p:nvSpPr>
          <p:cNvPr id="29" name="Text 27"/>
          <p:cNvSpPr/>
          <p:nvPr/>
        </p:nvSpPr>
        <p:spPr>
          <a:xfrm>
            <a:off x="4800600" y="3511296"/>
            <a:ext cx="3886200" cy="292608"/>
          </a:xfrm>
          <a:prstGeom prst="rect">
            <a:avLst/>
          </a:prstGeom>
          <a:noFill/>
          <a:ln/>
        </p:spPr>
        <p:txBody>
          <a:bodyPr wrap="square" rtlCol="0" anchor="ctr"/>
          <a:lstStyle/>
          <a:p>
            <a:pPr marL="0" indent="0">
              <a:buNone/>
            </a:pPr>
            <a:r>
              <a:rPr lang="en-US" sz="950" b="1" dirty="0">
                <a:solidFill>
                  <a:srgbClr val="BA7517"/>
                </a:solidFill>
                <a:latin typeface="Arial" pitchFamily="34" charset="0"/>
                <a:ea typeface="Arial" pitchFamily="34" charset="-122"/>
                <a:cs typeface="Arial" pitchFamily="34" charset="-120"/>
              </a:rPr>
              <a:t xml:space="preserve">1.  </a:t>
            </a:r>
            <a:r>
              <a:rPr lang="en-US" sz="950" dirty="0">
                <a:solidFill>
                  <a:srgbClr val="1A1A1A"/>
                </a:solidFill>
                <a:latin typeface="Arial" pitchFamily="34" charset="0"/>
                <a:ea typeface="Arial" pitchFamily="34" charset="-122"/>
                <a:cs typeface="Arial" pitchFamily="34" charset="-120"/>
              </a:rPr>
              <a:t>Enable pgvector extension in Supabase</a:t>
            </a:r>
            <a:endParaRPr lang="en-US" sz="950" dirty="0"/>
          </a:p>
        </p:txBody>
      </p:sp>
      <p:sp>
        <p:nvSpPr>
          <p:cNvPr id="30" name="Text 28"/>
          <p:cNvSpPr/>
          <p:nvPr/>
        </p:nvSpPr>
        <p:spPr>
          <a:xfrm>
            <a:off x="4800600" y="3840480"/>
            <a:ext cx="3886200" cy="292608"/>
          </a:xfrm>
          <a:prstGeom prst="rect">
            <a:avLst/>
          </a:prstGeom>
          <a:noFill/>
          <a:ln/>
        </p:spPr>
        <p:txBody>
          <a:bodyPr wrap="square" rtlCol="0" anchor="ctr"/>
          <a:lstStyle/>
          <a:p>
            <a:pPr marL="0" indent="0">
              <a:buNone/>
            </a:pPr>
            <a:r>
              <a:rPr lang="en-US" sz="950" b="1" dirty="0">
                <a:solidFill>
                  <a:srgbClr val="BA7517"/>
                </a:solidFill>
                <a:latin typeface="Arial" pitchFamily="34" charset="0"/>
                <a:ea typeface="Arial" pitchFamily="34" charset="-122"/>
                <a:cs typeface="Arial" pitchFamily="34" charset="-120"/>
              </a:rPr>
              <a:t xml:space="preserve">2.  </a:t>
            </a:r>
            <a:r>
              <a:rPr lang="en-US" sz="950" dirty="0">
                <a:solidFill>
                  <a:srgbClr val="1A1A1A"/>
                </a:solidFill>
                <a:latin typeface="Arial" pitchFamily="34" charset="0"/>
                <a:ea typeface="Arial" pitchFamily="34" charset="-122"/>
                <a:cs typeface="Arial" pitchFamily="34" charset="-120"/>
              </a:rPr>
              <a:t>Chunk + embed documents into vectors table</a:t>
            </a:r>
            <a:endParaRPr lang="en-US" sz="950" dirty="0"/>
          </a:p>
        </p:txBody>
      </p:sp>
      <p:sp>
        <p:nvSpPr>
          <p:cNvPr id="31" name="Text 29"/>
          <p:cNvSpPr/>
          <p:nvPr/>
        </p:nvSpPr>
        <p:spPr>
          <a:xfrm>
            <a:off x="4800600" y="4169664"/>
            <a:ext cx="3886200" cy="292608"/>
          </a:xfrm>
          <a:prstGeom prst="rect">
            <a:avLst/>
          </a:prstGeom>
          <a:noFill/>
          <a:ln/>
        </p:spPr>
        <p:txBody>
          <a:bodyPr wrap="square" rtlCol="0" anchor="ctr"/>
          <a:lstStyle/>
          <a:p>
            <a:pPr marL="0" indent="0">
              <a:buNone/>
            </a:pPr>
            <a:r>
              <a:rPr lang="en-US" sz="950" b="1" dirty="0">
                <a:solidFill>
                  <a:srgbClr val="BA7517"/>
                </a:solidFill>
                <a:latin typeface="Arial" pitchFamily="34" charset="0"/>
                <a:ea typeface="Arial" pitchFamily="34" charset="-122"/>
                <a:cs typeface="Arial" pitchFamily="34" charset="-120"/>
              </a:rPr>
              <a:t xml:space="preserve">3.  </a:t>
            </a:r>
            <a:r>
              <a:rPr lang="en-US" sz="950" dirty="0">
                <a:solidFill>
                  <a:srgbClr val="1A1A1A"/>
                </a:solidFill>
                <a:latin typeface="Arial" pitchFamily="34" charset="0"/>
                <a:ea typeface="Arial" pitchFamily="34" charset="-122"/>
                <a:cs typeface="Arial" pitchFamily="34" charset="-120"/>
              </a:rPr>
              <a:t>Retriever queries by similarity at session time</a:t>
            </a:r>
            <a:endParaRPr lang="en-US" sz="950" dirty="0"/>
          </a:p>
        </p:txBody>
      </p:sp>
      <p:sp>
        <p:nvSpPr>
          <p:cNvPr id="32" name="Text 30"/>
          <p:cNvSpPr/>
          <p:nvPr/>
        </p:nvSpPr>
        <p:spPr>
          <a:xfrm>
            <a:off x="4800600" y="4590288"/>
            <a:ext cx="3886200" cy="182880"/>
          </a:xfrm>
          <a:prstGeom prst="rect">
            <a:avLst/>
          </a:prstGeom>
          <a:noFill/>
          <a:ln/>
        </p:spPr>
        <p:txBody>
          <a:bodyPr wrap="square" rtlCol="0" anchor="ctr"/>
          <a:lstStyle/>
          <a:p>
            <a:pPr marL="0" indent="0">
              <a:buNone/>
            </a:pPr>
            <a:r>
              <a:rPr lang="en-US" sz="800" b="1" dirty="0">
                <a:solidFill>
                  <a:srgbClr val="BA7517"/>
                </a:solidFill>
                <a:latin typeface="Courier New" pitchFamily="34" charset="0"/>
                <a:ea typeface="Courier New" pitchFamily="34" charset="-122"/>
                <a:cs typeface="Courier New" pitchFamily="34" charset="-120"/>
              </a:rPr>
              <a:t>Supabase pgvector + new retriever in src/lib/memory/</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92608"/>
            <a:ext cx="8138160" cy="201168"/>
          </a:xfrm>
          <a:prstGeom prst="rect">
            <a:avLst/>
          </a:prstGeom>
          <a:noFill/>
          <a:ln/>
        </p:spPr>
        <p:txBody>
          <a:bodyPr wrap="square" rtlCol="0" anchor="ctr"/>
          <a:lstStyle/>
          <a:p>
            <a:pPr marL="0" indent="0">
              <a:buNone/>
            </a:pPr>
            <a:r>
              <a:rPr lang="en-US" sz="900" b="1" kern="0" spc="300" dirty="0">
                <a:solidFill>
                  <a:srgbClr val="2E6DA4"/>
                </a:solidFill>
                <a:latin typeface="Arial" pitchFamily="34" charset="0"/>
                <a:ea typeface="Arial" pitchFamily="34" charset="-122"/>
                <a:cs typeface="Arial" pitchFamily="34" charset="-120"/>
              </a:rPr>
              <a:t>TECHNICAL APPENDIX — COLLABORATION RETROSPECTIVE</a:t>
            </a:r>
            <a:endParaRPr lang="en-US" sz="900" dirty="0"/>
          </a:p>
        </p:txBody>
      </p:sp>
      <p:sp>
        <p:nvSpPr>
          <p:cNvPr id="3" name="Text 1"/>
          <p:cNvSpPr/>
          <p:nvPr/>
        </p:nvSpPr>
        <p:spPr>
          <a:xfrm>
            <a:off x="502920" y="530352"/>
            <a:ext cx="8138160" cy="502920"/>
          </a:xfrm>
          <a:prstGeom prst="rect">
            <a:avLst/>
          </a:prstGeom>
          <a:noFill/>
          <a:ln/>
        </p:spPr>
        <p:txBody>
          <a:bodyPr wrap="square" rtlCol="0" anchor="ctr"/>
          <a:lstStyle/>
          <a:p>
            <a:pPr marL="0" indent="0">
              <a:buNone/>
            </a:pPr>
            <a:r>
              <a:rPr lang="en-US" sz="2400" b="1" dirty="0">
                <a:solidFill>
                  <a:srgbClr val="1A1A1A"/>
                </a:solidFill>
                <a:latin typeface="Arial" pitchFamily="34" charset="0"/>
                <a:ea typeface="Arial" pitchFamily="34" charset="-122"/>
                <a:cs typeface="Arial" pitchFamily="34" charset="-120"/>
              </a:rPr>
              <a:t>Where human and AI challenged each other — and who was right</a:t>
            </a:r>
            <a:endParaRPr lang="en-US" sz="2400" dirty="0"/>
          </a:p>
        </p:txBody>
      </p:sp>
      <p:sp>
        <p:nvSpPr>
          <p:cNvPr id="4" name="Shape 2"/>
          <p:cNvSpPr/>
          <p:nvPr/>
        </p:nvSpPr>
        <p:spPr>
          <a:xfrm>
            <a:off x="502920" y="1078992"/>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170432"/>
            <a:ext cx="2578608" cy="292608"/>
          </a:xfrm>
          <a:prstGeom prst="roundRect">
            <a:avLst>
              <a:gd name="adj" fmla="val 18750"/>
            </a:avLst>
          </a:prstGeom>
          <a:solidFill>
            <a:srgbClr val="0F6E56"/>
          </a:solidFill>
          <a:ln w="12700">
            <a:solidFill>
              <a:srgbClr val="0F6E56"/>
            </a:solidFill>
            <a:prstDash val="solid"/>
          </a:ln>
        </p:spPr>
        <p:txBody>
          <a:bodyPr/>
          <a:lstStyle/>
          <a:p>
            <a:endParaRPr lang="en-US"/>
          </a:p>
        </p:txBody>
      </p:sp>
      <p:sp>
        <p:nvSpPr>
          <p:cNvPr id="6" name="Text 4"/>
          <p:cNvSpPr/>
          <p:nvPr/>
        </p:nvSpPr>
        <p:spPr>
          <a:xfrm>
            <a:off x="411480" y="1179576"/>
            <a:ext cx="2578608"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Human challenged AI — and was right</a:t>
            </a:r>
            <a:endParaRPr lang="en-US" sz="850" dirty="0"/>
          </a:p>
        </p:txBody>
      </p:sp>
      <p:sp>
        <p:nvSpPr>
          <p:cNvPr id="7" name="Shape 5"/>
          <p:cNvSpPr/>
          <p:nvPr/>
        </p:nvSpPr>
        <p:spPr>
          <a:xfrm>
            <a:off x="3090672" y="1170432"/>
            <a:ext cx="2578608" cy="292608"/>
          </a:xfrm>
          <a:prstGeom prst="roundRect">
            <a:avLst>
              <a:gd name="adj" fmla="val 18750"/>
            </a:avLst>
          </a:prstGeom>
          <a:solidFill>
            <a:srgbClr val="1B4F9B"/>
          </a:solidFill>
          <a:ln w="12700">
            <a:solidFill>
              <a:srgbClr val="1B4F9B"/>
            </a:solidFill>
            <a:prstDash val="solid"/>
          </a:ln>
        </p:spPr>
        <p:txBody>
          <a:bodyPr/>
          <a:lstStyle/>
          <a:p>
            <a:endParaRPr lang="en-US"/>
          </a:p>
        </p:txBody>
      </p:sp>
      <p:sp>
        <p:nvSpPr>
          <p:cNvPr id="8" name="Text 6"/>
          <p:cNvSpPr/>
          <p:nvPr/>
        </p:nvSpPr>
        <p:spPr>
          <a:xfrm>
            <a:off x="3090672" y="1179576"/>
            <a:ext cx="2578608"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AI challenged human — and was right</a:t>
            </a:r>
            <a:endParaRPr lang="en-US" sz="850" dirty="0"/>
          </a:p>
        </p:txBody>
      </p:sp>
      <p:sp>
        <p:nvSpPr>
          <p:cNvPr id="9" name="Shape 7"/>
          <p:cNvSpPr/>
          <p:nvPr/>
        </p:nvSpPr>
        <p:spPr>
          <a:xfrm>
            <a:off x="5760720" y="1170432"/>
            <a:ext cx="2578608" cy="292608"/>
          </a:xfrm>
          <a:prstGeom prst="roundRect">
            <a:avLst>
              <a:gd name="adj" fmla="val 18750"/>
            </a:avLst>
          </a:prstGeom>
          <a:solidFill>
            <a:srgbClr val="A32D2D"/>
          </a:solidFill>
          <a:ln w="12700">
            <a:solidFill>
              <a:srgbClr val="A32D2D"/>
            </a:solidFill>
            <a:prstDash val="solid"/>
          </a:ln>
        </p:spPr>
        <p:txBody>
          <a:bodyPr/>
          <a:lstStyle/>
          <a:p>
            <a:endParaRPr lang="en-US"/>
          </a:p>
        </p:txBody>
      </p:sp>
      <p:sp>
        <p:nvSpPr>
          <p:cNvPr id="10" name="Text 8"/>
          <p:cNvSpPr/>
          <p:nvPr/>
        </p:nvSpPr>
        <p:spPr>
          <a:xfrm>
            <a:off x="5760720" y="1179576"/>
            <a:ext cx="2578608"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AI was wrong</a:t>
            </a:r>
            <a:endParaRPr lang="en-US" sz="850" dirty="0"/>
          </a:p>
        </p:txBody>
      </p:sp>
      <p:sp>
        <p:nvSpPr>
          <p:cNvPr id="11" name="Shape 9"/>
          <p:cNvSpPr/>
          <p:nvPr/>
        </p:nvSpPr>
        <p:spPr>
          <a:xfrm>
            <a:off x="411480" y="1536192"/>
            <a:ext cx="2578608" cy="1005840"/>
          </a:xfrm>
          <a:prstGeom prst="roundRect">
            <a:avLst>
              <a:gd name="adj" fmla="val 7273"/>
            </a:avLst>
          </a:prstGeom>
          <a:solidFill>
            <a:srgbClr val="E1F5E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2" name="Text 10"/>
          <p:cNvSpPr/>
          <p:nvPr/>
        </p:nvSpPr>
        <p:spPr>
          <a:xfrm>
            <a:off x="548640" y="1627632"/>
            <a:ext cx="2304288" cy="256032"/>
          </a:xfrm>
          <a:prstGeom prst="rect">
            <a:avLst/>
          </a:prstGeom>
          <a:noFill/>
          <a:ln/>
        </p:spPr>
        <p:txBody>
          <a:bodyPr wrap="square" rtlCol="0" anchor="ctr"/>
          <a:lstStyle/>
          <a:p>
            <a:pPr marL="0" indent="0">
              <a:buNone/>
            </a:pPr>
            <a:r>
              <a:rPr lang="en-US" sz="1000" b="1" dirty="0">
                <a:solidFill>
                  <a:srgbClr val="0F6E56"/>
                </a:solidFill>
                <a:latin typeface="Arial" pitchFamily="34" charset="0"/>
                <a:ea typeface="Arial" pitchFamily="34" charset="-122"/>
                <a:cs typeface="Arial" pitchFamily="34" charset="-120"/>
              </a:rPr>
              <a:t>Jira as memory source of truth</a:t>
            </a:r>
            <a:endParaRPr lang="en-US" sz="1000" dirty="0"/>
          </a:p>
        </p:txBody>
      </p:sp>
      <p:sp>
        <p:nvSpPr>
          <p:cNvPr id="13" name="Text 11"/>
          <p:cNvSpPr/>
          <p:nvPr/>
        </p:nvSpPr>
        <p:spPr>
          <a:xfrm>
            <a:off x="548640" y="1883664"/>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Claude built a Supabase adrs table. You pointed out Jira already has everything. Simpler, no duplication, architects own it.</a:t>
            </a:r>
            <a:endParaRPr lang="en-US" sz="900" dirty="0"/>
          </a:p>
        </p:txBody>
      </p:sp>
      <p:sp>
        <p:nvSpPr>
          <p:cNvPr id="14" name="Shape 12"/>
          <p:cNvSpPr/>
          <p:nvPr/>
        </p:nvSpPr>
        <p:spPr>
          <a:xfrm>
            <a:off x="411480" y="2651760"/>
            <a:ext cx="2578608" cy="1005840"/>
          </a:xfrm>
          <a:prstGeom prst="roundRect">
            <a:avLst>
              <a:gd name="adj" fmla="val 7273"/>
            </a:avLst>
          </a:prstGeom>
          <a:solidFill>
            <a:srgbClr val="E1F5E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5" name="Text 13"/>
          <p:cNvSpPr/>
          <p:nvPr/>
        </p:nvSpPr>
        <p:spPr>
          <a:xfrm>
            <a:off x="548640" y="2743200"/>
            <a:ext cx="2304288" cy="256032"/>
          </a:xfrm>
          <a:prstGeom prst="rect">
            <a:avLst/>
          </a:prstGeom>
          <a:noFill/>
          <a:ln/>
        </p:spPr>
        <p:txBody>
          <a:bodyPr wrap="square" rtlCol="0" anchor="ctr"/>
          <a:lstStyle/>
          <a:p>
            <a:pPr marL="0" indent="0">
              <a:buNone/>
            </a:pPr>
            <a:r>
              <a:rPr lang="en-US" sz="1000" b="1" dirty="0">
                <a:solidFill>
                  <a:srgbClr val="0F6E56"/>
                </a:solidFill>
                <a:latin typeface="Arial" pitchFamily="34" charset="0"/>
                <a:ea typeface="Arial" pitchFamily="34" charset="-122"/>
                <a:cs typeface="Arial" pitchFamily="34" charset="-120"/>
              </a:rPr>
              <a:t>Countersign logic was too blunt</a:t>
            </a:r>
            <a:endParaRPr lang="en-US" sz="1000" dirty="0"/>
          </a:p>
        </p:txBody>
      </p:sp>
      <p:sp>
        <p:nvSpPr>
          <p:cNvPr id="16" name="Text 14"/>
          <p:cNvSpPr/>
          <p:nvPr/>
        </p:nvSpPr>
        <p:spPr>
          <a:xfrm>
            <a:off x="548640" y="2999232"/>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Claude made countersign available on every session. You said low-confidence decisions need forced assignment, not a one-click stamp.</a:t>
            </a:r>
            <a:endParaRPr lang="en-US" sz="900" dirty="0"/>
          </a:p>
        </p:txBody>
      </p:sp>
      <p:sp>
        <p:nvSpPr>
          <p:cNvPr id="17" name="Shape 15"/>
          <p:cNvSpPr/>
          <p:nvPr/>
        </p:nvSpPr>
        <p:spPr>
          <a:xfrm>
            <a:off x="411480" y="3767328"/>
            <a:ext cx="2578608" cy="1005840"/>
          </a:xfrm>
          <a:prstGeom prst="roundRect">
            <a:avLst>
              <a:gd name="adj" fmla="val 7273"/>
            </a:avLst>
          </a:prstGeom>
          <a:solidFill>
            <a:srgbClr val="E1F5E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8" name="Text 16"/>
          <p:cNvSpPr/>
          <p:nvPr/>
        </p:nvSpPr>
        <p:spPr>
          <a:xfrm>
            <a:off x="548640" y="3858768"/>
            <a:ext cx="2304288" cy="256032"/>
          </a:xfrm>
          <a:prstGeom prst="rect">
            <a:avLst/>
          </a:prstGeom>
          <a:noFill/>
          <a:ln/>
        </p:spPr>
        <p:txBody>
          <a:bodyPr wrap="square" rtlCol="0" anchor="ctr"/>
          <a:lstStyle/>
          <a:p>
            <a:pPr marL="0" indent="0">
              <a:buNone/>
            </a:pPr>
            <a:r>
              <a:rPr lang="en-US" sz="1000" b="1" dirty="0">
                <a:solidFill>
                  <a:srgbClr val="0F6E56"/>
                </a:solidFill>
                <a:latin typeface="Arial" pitchFamily="34" charset="0"/>
                <a:ea typeface="Arial" pitchFamily="34" charset="-122"/>
                <a:cs typeface="Arial" pitchFamily="34" charset="-120"/>
              </a:rPr>
              <a:t>Stopping to define personas</a:t>
            </a:r>
            <a:endParaRPr lang="en-US" sz="1000" dirty="0"/>
          </a:p>
        </p:txBody>
      </p:sp>
      <p:sp>
        <p:nvSpPr>
          <p:cNvPr id="19" name="Text 17"/>
          <p:cNvSpPr/>
          <p:nvPr/>
        </p:nvSpPr>
        <p:spPr>
          <a:xfrm>
            <a:off x="548640" y="4114800"/>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Midway through building the endorsement UI, you asked who actually runs this. Claude hadn't raised it. The answer shaped the whole flow.</a:t>
            </a:r>
            <a:endParaRPr lang="en-US" sz="900" dirty="0"/>
          </a:p>
        </p:txBody>
      </p:sp>
      <p:sp>
        <p:nvSpPr>
          <p:cNvPr id="20" name="Shape 18"/>
          <p:cNvSpPr/>
          <p:nvPr/>
        </p:nvSpPr>
        <p:spPr>
          <a:xfrm>
            <a:off x="3090672" y="1536192"/>
            <a:ext cx="2578608" cy="1005840"/>
          </a:xfrm>
          <a:prstGeom prst="roundRect">
            <a:avLst>
              <a:gd name="adj" fmla="val 7273"/>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1" name="Text 19"/>
          <p:cNvSpPr/>
          <p:nvPr/>
        </p:nvSpPr>
        <p:spPr>
          <a:xfrm>
            <a:off x="3227832" y="1627632"/>
            <a:ext cx="2304288" cy="256032"/>
          </a:xfrm>
          <a:prstGeom prst="rect">
            <a:avLst/>
          </a:prstGeom>
          <a:noFill/>
          <a:ln/>
        </p:spPr>
        <p:txBody>
          <a:bodyPr wrap="square" rtlCol="0" anchor="ctr"/>
          <a:lstStyle/>
          <a:p>
            <a:pPr marL="0" indent="0">
              <a:buNone/>
            </a:pPr>
            <a:r>
              <a:rPr lang="en-US" sz="1000" b="1" dirty="0">
                <a:solidFill>
                  <a:srgbClr val="1B4F9B"/>
                </a:solidFill>
                <a:latin typeface="Arial" pitchFamily="34" charset="0"/>
                <a:ea typeface="Arial" pitchFamily="34" charset="-122"/>
                <a:cs typeface="Arial" pitchFamily="34" charset="-120"/>
              </a:rPr>
              <a:t>pgvector RAG before Friday</a:t>
            </a:r>
            <a:endParaRPr lang="en-US" sz="1000" dirty="0"/>
          </a:p>
        </p:txBody>
      </p:sp>
      <p:sp>
        <p:nvSpPr>
          <p:cNvPr id="22" name="Text 20"/>
          <p:cNvSpPr/>
          <p:nvPr/>
        </p:nvSpPr>
        <p:spPr>
          <a:xfrm>
            <a:off x="3227832" y="1883664"/>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You wanted full WA Framework ingestion. Claude said too risky two days before demo. Static principles in 30 minutes instead.</a:t>
            </a:r>
            <a:endParaRPr lang="en-US" sz="900" dirty="0"/>
          </a:p>
        </p:txBody>
      </p:sp>
      <p:sp>
        <p:nvSpPr>
          <p:cNvPr id="23" name="Shape 21"/>
          <p:cNvSpPr/>
          <p:nvPr/>
        </p:nvSpPr>
        <p:spPr>
          <a:xfrm>
            <a:off x="3090672" y="2651760"/>
            <a:ext cx="2578608" cy="1005840"/>
          </a:xfrm>
          <a:prstGeom prst="roundRect">
            <a:avLst>
              <a:gd name="adj" fmla="val 7273"/>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4" name="Text 22"/>
          <p:cNvSpPr/>
          <p:nvPr/>
        </p:nvSpPr>
        <p:spPr>
          <a:xfrm>
            <a:off x="3227832" y="2743200"/>
            <a:ext cx="2304288" cy="256032"/>
          </a:xfrm>
          <a:prstGeom prst="rect">
            <a:avLst/>
          </a:prstGeom>
          <a:noFill/>
          <a:ln/>
        </p:spPr>
        <p:txBody>
          <a:bodyPr wrap="square" rtlCol="0" anchor="ctr"/>
          <a:lstStyle/>
          <a:p>
            <a:pPr marL="0" indent="0">
              <a:buNone/>
            </a:pPr>
            <a:r>
              <a:rPr lang="en-US" sz="1000" b="1" dirty="0">
                <a:solidFill>
                  <a:srgbClr val="1B4F9B"/>
                </a:solidFill>
                <a:latin typeface="Arial" pitchFamily="34" charset="0"/>
                <a:ea typeface="Arial" pitchFamily="34" charset="-122"/>
                <a:cs typeface="Arial" pitchFamily="34" charset="-120"/>
              </a:rPr>
              <a:t>MCP before functional build</a:t>
            </a:r>
            <a:endParaRPr lang="en-US" sz="1000" dirty="0"/>
          </a:p>
        </p:txBody>
      </p:sp>
      <p:sp>
        <p:nvSpPr>
          <p:cNvPr id="25" name="Text 23"/>
          <p:cNvSpPr/>
          <p:nvPr/>
        </p:nvSpPr>
        <p:spPr>
          <a:xfrm>
            <a:off x="3227832" y="2999232"/>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MCP was a priority early. Claude kept pushing it back — jsforce works, licensing blocks it. Right call. Everything else shipped.</a:t>
            </a:r>
            <a:endParaRPr lang="en-US" sz="900" dirty="0"/>
          </a:p>
        </p:txBody>
      </p:sp>
      <p:sp>
        <p:nvSpPr>
          <p:cNvPr id="26" name="Shape 24"/>
          <p:cNvSpPr/>
          <p:nvPr/>
        </p:nvSpPr>
        <p:spPr>
          <a:xfrm>
            <a:off x="3090672" y="3767328"/>
            <a:ext cx="2578608" cy="1005840"/>
          </a:xfrm>
          <a:prstGeom prst="roundRect">
            <a:avLst>
              <a:gd name="adj" fmla="val 7273"/>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7" name="Text 25"/>
          <p:cNvSpPr/>
          <p:nvPr/>
        </p:nvSpPr>
        <p:spPr>
          <a:xfrm>
            <a:off x="3227832" y="3858768"/>
            <a:ext cx="2304288" cy="256032"/>
          </a:xfrm>
          <a:prstGeom prst="rect">
            <a:avLst/>
          </a:prstGeom>
          <a:noFill/>
          <a:ln/>
        </p:spPr>
        <p:txBody>
          <a:bodyPr wrap="square" rtlCol="0" anchor="ctr"/>
          <a:lstStyle/>
          <a:p>
            <a:pPr marL="0" indent="0">
              <a:buNone/>
            </a:pPr>
            <a:r>
              <a:rPr lang="en-US" sz="1000" b="1" dirty="0">
                <a:solidFill>
                  <a:srgbClr val="1B4F9B"/>
                </a:solidFill>
                <a:latin typeface="Arial" pitchFamily="34" charset="0"/>
                <a:ea typeface="Arial" pitchFamily="34" charset="-122"/>
                <a:cs typeface="Arial" pitchFamily="34" charset="-120"/>
              </a:rPr>
              <a:t>Opus vs Sonnet</a:t>
            </a:r>
            <a:endParaRPr lang="en-US" sz="1000" dirty="0"/>
          </a:p>
        </p:txBody>
      </p:sp>
      <p:sp>
        <p:nvSpPr>
          <p:cNvPr id="28" name="Text 26"/>
          <p:cNvSpPr/>
          <p:nvPr/>
        </p:nvSpPr>
        <p:spPr>
          <a:xfrm>
            <a:off x="3227832" y="4114800"/>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You asked about Opus quality. Claude said the grounding architecture does the lifting — 10x cost for marginal gain is not worth it.</a:t>
            </a:r>
            <a:endParaRPr lang="en-US" sz="900" dirty="0"/>
          </a:p>
        </p:txBody>
      </p:sp>
      <p:sp>
        <p:nvSpPr>
          <p:cNvPr id="29" name="Shape 27"/>
          <p:cNvSpPr/>
          <p:nvPr/>
        </p:nvSpPr>
        <p:spPr>
          <a:xfrm>
            <a:off x="5760720" y="1536192"/>
            <a:ext cx="2578608" cy="1005840"/>
          </a:xfrm>
          <a:prstGeom prst="roundRect">
            <a:avLst>
              <a:gd name="adj" fmla="val 7273"/>
            </a:avLst>
          </a:prstGeom>
          <a:solidFill>
            <a:srgbClr val="FC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0" name="Text 28"/>
          <p:cNvSpPr/>
          <p:nvPr/>
        </p:nvSpPr>
        <p:spPr>
          <a:xfrm>
            <a:off x="5897880" y="1627632"/>
            <a:ext cx="2304288" cy="256032"/>
          </a:xfrm>
          <a:prstGeom prst="rect">
            <a:avLst/>
          </a:prstGeom>
          <a:noFill/>
          <a:ln/>
        </p:spPr>
        <p:txBody>
          <a:bodyPr wrap="square" rtlCol="0" anchor="ctr"/>
          <a:lstStyle/>
          <a:p>
            <a:pPr marL="0" indent="0">
              <a:buNone/>
            </a:pPr>
            <a:r>
              <a:rPr lang="en-US" sz="1000" b="1" dirty="0">
                <a:solidFill>
                  <a:srgbClr val="A32D2D"/>
                </a:solidFill>
                <a:latin typeface="Arial" pitchFamily="34" charset="0"/>
                <a:ea typeface="Arial" pitchFamily="34" charset="-122"/>
                <a:cs typeface="Arial" pitchFamily="34" charset="-120"/>
              </a:rPr>
              <a:t>Cost estimate off by 10x</a:t>
            </a:r>
            <a:endParaRPr lang="en-US" sz="1000" dirty="0"/>
          </a:p>
        </p:txBody>
      </p:sp>
      <p:sp>
        <p:nvSpPr>
          <p:cNvPr id="31" name="Text 29"/>
          <p:cNvSpPr/>
          <p:nvPr/>
        </p:nvSpPr>
        <p:spPr>
          <a:xfrm>
            <a:off x="5897880" y="1883664"/>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Claude said $2-3 per session. Real number after calculation: $0.29, and $0.08 after optimisation. Overestimate nearly changed the API key decision.</a:t>
            </a:r>
            <a:endParaRPr lang="en-US" sz="900" dirty="0"/>
          </a:p>
        </p:txBody>
      </p:sp>
      <p:sp>
        <p:nvSpPr>
          <p:cNvPr id="32" name="Shape 30"/>
          <p:cNvSpPr/>
          <p:nvPr/>
        </p:nvSpPr>
        <p:spPr>
          <a:xfrm>
            <a:off x="5760720" y="2651760"/>
            <a:ext cx="2578608" cy="1005840"/>
          </a:xfrm>
          <a:prstGeom prst="roundRect">
            <a:avLst>
              <a:gd name="adj" fmla="val 7273"/>
            </a:avLst>
          </a:prstGeom>
          <a:solidFill>
            <a:srgbClr val="FC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3" name="Text 31"/>
          <p:cNvSpPr/>
          <p:nvPr/>
        </p:nvSpPr>
        <p:spPr>
          <a:xfrm>
            <a:off x="5897880" y="2743200"/>
            <a:ext cx="2304288" cy="256032"/>
          </a:xfrm>
          <a:prstGeom prst="rect">
            <a:avLst/>
          </a:prstGeom>
          <a:noFill/>
          <a:ln/>
        </p:spPr>
        <p:txBody>
          <a:bodyPr wrap="square" rtlCol="0" anchor="ctr"/>
          <a:lstStyle/>
          <a:p>
            <a:pPr marL="0" indent="0">
              <a:buNone/>
            </a:pPr>
            <a:r>
              <a:rPr lang="en-US" sz="1000" b="1" dirty="0">
                <a:solidFill>
                  <a:srgbClr val="A32D2D"/>
                </a:solidFill>
                <a:latin typeface="Arial" pitchFamily="34" charset="0"/>
                <a:ea typeface="Arial" pitchFamily="34" charset="-122"/>
                <a:cs typeface="Arial" pitchFamily="34" charset="-120"/>
              </a:rPr>
              <a:t>Built infra that should not exist</a:t>
            </a:r>
            <a:endParaRPr lang="en-US" sz="1000" dirty="0"/>
          </a:p>
        </p:txBody>
      </p:sp>
      <p:sp>
        <p:nvSpPr>
          <p:cNvPr id="34" name="Text 32"/>
          <p:cNvSpPr/>
          <p:nvPr/>
        </p:nvSpPr>
        <p:spPr>
          <a:xfrm>
            <a:off x="5897880" y="2999232"/>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The Supabase adrs table was designed, migrated, and built before the simpler answer was found. Cost real build time.</a:t>
            </a:r>
            <a:endParaRPr lang="en-US" sz="900" dirty="0"/>
          </a:p>
        </p:txBody>
      </p:sp>
      <p:sp>
        <p:nvSpPr>
          <p:cNvPr id="35" name="Shape 33"/>
          <p:cNvSpPr/>
          <p:nvPr/>
        </p:nvSpPr>
        <p:spPr>
          <a:xfrm>
            <a:off x="5760720" y="3767328"/>
            <a:ext cx="2578608" cy="1005840"/>
          </a:xfrm>
          <a:prstGeom prst="roundRect">
            <a:avLst>
              <a:gd name="adj" fmla="val 7273"/>
            </a:avLst>
          </a:prstGeom>
          <a:solidFill>
            <a:srgbClr val="FC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6" name="Text 34"/>
          <p:cNvSpPr/>
          <p:nvPr/>
        </p:nvSpPr>
        <p:spPr>
          <a:xfrm>
            <a:off x="5897880" y="3858768"/>
            <a:ext cx="2304288" cy="256032"/>
          </a:xfrm>
          <a:prstGeom prst="rect">
            <a:avLst/>
          </a:prstGeom>
          <a:noFill/>
          <a:ln/>
        </p:spPr>
        <p:txBody>
          <a:bodyPr wrap="square" rtlCol="0" anchor="ctr"/>
          <a:lstStyle/>
          <a:p>
            <a:pPr marL="0" indent="0">
              <a:buNone/>
            </a:pPr>
            <a:r>
              <a:rPr lang="en-US" sz="1000" b="1" dirty="0">
                <a:solidFill>
                  <a:srgbClr val="A32D2D"/>
                </a:solidFill>
                <a:latin typeface="Arial" pitchFamily="34" charset="0"/>
                <a:ea typeface="Arial" pitchFamily="34" charset="-122"/>
                <a:cs typeface="Arial" pitchFamily="34" charset="-120"/>
              </a:rPr>
              <a:t>Misdiagnosed upload bug</a:t>
            </a:r>
            <a:endParaRPr lang="en-US" sz="1000" dirty="0"/>
          </a:p>
        </p:txBody>
      </p:sp>
      <p:sp>
        <p:nvSpPr>
          <p:cNvPr id="37" name="Text 35"/>
          <p:cNvSpPr/>
          <p:nvPr/>
        </p:nvSpPr>
        <p:spPr>
          <a:xfrm>
            <a:off x="5897880" y="4114800"/>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Claude said Impact Analysis showing wrong content was mock mode behaviour. It was a real bug — extracted text not flowing to analyzeImpact.</a:t>
            </a:r>
            <a:endParaRPr lang="en-US" sz="900" dirty="0"/>
          </a:p>
        </p:txBody>
      </p:sp>
      <p:sp>
        <p:nvSpPr>
          <p:cNvPr id="38" name="Shape 36"/>
          <p:cNvSpPr/>
          <p:nvPr/>
        </p:nvSpPr>
        <p:spPr>
          <a:xfrm>
            <a:off x="411480" y="4553712"/>
            <a:ext cx="8321040" cy="347472"/>
          </a:xfrm>
          <a:prstGeom prst="roundRect">
            <a:avLst>
              <a:gd name="adj" fmla="val 15789"/>
            </a:avLst>
          </a:prstGeom>
          <a:solidFill>
            <a:srgbClr val="0F1E3C"/>
          </a:solidFill>
          <a:ln w="12700">
            <a:solidFill>
              <a:srgbClr val="0F1E3C"/>
            </a:solidFill>
            <a:prstDash val="solid"/>
          </a:ln>
        </p:spPr>
        <p:txBody>
          <a:bodyPr/>
          <a:lstStyle/>
          <a:p>
            <a:endParaRPr lang="en-US"/>
          </a:p>
        </p:txBody>
      </p:sp>
      <p:sp>
        <p:nvSpPr>
          <p:cNvPr id="39" name="Text 37"/>
          <p:cNvSpPr/>
          <p:nvPr/>
        </p:nvSpPr>
        <p:spPr>
          <a:xfrm>
            <a:off x="548640" y="4562856"/>
            <a:ext cx="8046720" cy="329184"/>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The pattern: human brought domain judgment + architectural instinct. AI brought systems thinking + timing discipline. Neither alone gets here.</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11480" y="160000"/>
            <a:ext cx="8291040" cy="150000"/>
          </a:xfrm>
          <a:prstGeom prst="rect">
            <a:avLst/>
          </a:prstGeom>
          <a:noFill/>
          <a:ln/>
        </p:spPr>
        <p:txBody>
          <a:bodyPr wrap="square" rtlCol="0" anchor="ctr"/>
          <a:lstStyle/>
          <a:p>
            <a:pPr marL="0" indent="0" algn="l">
              <a:buNone/>
            </a:pPr>
            <a:r>
              <a:rPr lang="en-US" sz="800" b="1" kern="0" spc="300" dirty="0">
                <a:solidFill>
                  <a:srgbClr val="2E6DA4"/>
                </a:solidFill>
                <a:latin typeface="Arial" pitchFamily="34" charset="0"/>
              </a:rPr>
              <a:t>APPENDIX — ENGINEERING ARCHITECTURE</a:t>
            </a:r>
          </a:p>
        </p:txBody>
      </p:sp>
      <p:sp>
        <p:nvSpPr>
          <p:cNvPr id="3" name="Text 1"/>
          <p:cNvSpPr/>
          <p:nvPr/>
        </p:nvSpPr>
        <p:spPr>
          <a:xfrm>
            <a:off x="411480" y="320000"/>
            <a:ext cx="8291040" cy="340000"/>
          </a:xfrm>
          <a:prstGeom prst="rect">
            <a:avLst/>
          </a:prstGeom>
          <a:noFill/>
          <a:ln/>
        </p:spPr>
        <p:txBody>
          <a:bodyPr wrap="square" rtlCol="0" anchor="ctr"/>
          <a:lstStyle/>
          <a:p>
            <a:pPr marL="0" indent="0" algn="l">
              <a:buNone/>
            </a:pPr>
            <a:r>
              <a:rPr lang="en-US" sz="1800" b="1" dirty="0">
                <a:solidFill>
                  <a:srgbClr val="1A1A1A"/>
                </a:solidFill>
                <a:latin typeface="Arial" pitchFamily="34" charset="0"/>
              </a:rPr>
              <a:t>The full stack, top to bottom</a:t>
            </a:r>
          </a:p>
        </p:txBody>
      </p:sp>
      <p:sp>
        <p:nvSpPr>
          <p:cNvPr id="4" name="Shape divider"/>
          <p:cNvSpPr/>
          <p:nvPr/>
        </p:nvSpPr>
        <p:spPr>
          <a:xfrm>
            <a:off x="411480" y="690000"/>
            <a:ext cx="8291040" cy="0"/>
          </a:xfrm>
          <a:prstGeom prst="line">
            <a:avLst/>
          </a:prstGeom>
          <a:noFill/>
          <a:ln w="9525">
            <a:solidFill>
              <a:srgbClr val="EBEBEB"/>
            </a:solidFill>
            <a:prstDash val="solid"/>
          </a:ln>
        </p:spPr>
        <p:txBody>
          <a:bodyPr/>
          <a:lstStyle/>
          <a:p>
            <a:endParaRPr lang="en-US"/>
          </a:p>
        </p:txBody>
      </p:sp>
      <p:sp>
        <p:nvSpPr>
          <p:cNvPr id="10" name="L1Bg"/>
          <p:cNvSpPr/>
          <p:nvPr/>
        </p:nvSpPr>
        <p:spPr>
          <a:xfrm>
            <a:off x="411480" y="760000"/>
            <a:ext cx="8291040" cy="420000"/>
          </a:xfrm>
          <a:prstGeom prst="roundRect">
            <a:avLst>
              <a:gd name="adj" fmla="val 8000"/>
            </a:avLst>
          </a:prstGeom>
          <a:solidFill>
            <a:srgbClr val="E6F1FB"/>
          </a:solidFill>
          <a:ln w="6350">
            <a:solidFill>
              <a:srgbClr val="378ADD"/>
            </a:solidFill>
          </a:ln>
        </p:spPr>
        <p:txBody>
          <a:bodyPr wrap="square" lIns="140000" tIns="60000" anchor="t"/>
          <a:lstStyle/>
          <a:p>
            <a:pPr marL="0" indent="0">
              <a:buNone/>
            </a:pPr>
            <a:r>
              <a:rPr lang="en-US" sz="1100" b="1" dirty="0">
                <a:solidFill>
                  <a:srgbClr val="0C447C"/>
                </a:solidFill>
                <a:latin typeface="Arial" pitchFamily="34" charset="0"/>
              </a:rPr>
              <a:t>Frontend</a:t>
            </a:r>
          </a:p>
          <a:p>
            <a:pPr marL="0" indent="0">
              <a:buNone/>
            </a:pPr>
            <a:r>
              <a:rPr lang="en-US" sz="850" dirty="0">
                <a:solidFill>
                  <a:srgbClr val="185FA5"/>
                </a:solidFill>
                <a:latin typeface="Arial" pitchFamily="34" charset="0"/>
              </a:rPr>
              <a:t>Next.js 14 App Router  ·  React  ·  TypeScript  —  ForumTestUI.tsx, 3-mode landing page, SalesforceOrgBanner</a:t>
            </a:r>
          </a:p>
        </p:txBody>
      </p:sp>
      <p:cxnSp>
        <p:nvCxnSpPr>
          <p:cNvPr id="11" name="Arrow1"/>
          <p:cNvCxnSpPr/>
          <p:nvPr/>
        </p:nvCxnSpPr>
        <p:spPr>
          <a:xfrm>
            <a:off x="4557000" y="1180000"/>
            <a:ext cx="0" cy="90000"/>
          </a:xfrm>
          <a:prstGeom prst="straightConnector1">
            <a:avLst/>
          </a:prstGeom>
          <a:ln w="15875">
            <a:solidFill>
              <a:srgbClr val="888780"/>
            </a:solidFill>
            <a:tailEnd type="triangle" w="med" len="med"/>
          </a:ln>
        </p:spPr>
      </p:cxnSp>
      <p:sp>
        <p:nvSpPr>
          <p:cNvPr id="12" name="L2Bg"/>
          <p:cNvSpPr/>
          <p:nvPr/>
        </p:nvSpPr>
        <p:spPr>
          <a:xfrm>
            <a:off x="411480" y="1270000"/>
            <a:ext cx="8291040" cy="420000"/>
          </a:xfrm>
          <a:prstGeom prst="roundRect">
            <a:avLst>
              <a:gd name="adj" fmla="val 8000"/>
            </a:avLst>
          </a:prstGeom>
          <a:solidFill>
            <a:srgbClr val="E1F5EE"/>
          </a:solidFill>
          <a:ln w="6350">
            <a:solidFill>
              <a:srgbClr val="0F6E56"/>
            </a:solidFill>
          </a:ln>
        </p:spPr>
        <p:txBody>
          <a:bodyPr wrap="square" lIns="140000" tIns="60000" anchor="t"/>
          <a:lstStyle/>
          <a:p>
            <a:pPr marL="0" indent="0">
              <a:buNone/>
            </a:pPr>
            <a:r>
              <a:rPr lang="en-US" sz="1100" b="1" dirty="0">
                <a:solidFill>
                  <a:srgbClr val="085041"/>
                </a:solidFill>
                <a:latin typeface="Arial" pitchFamily="34" charset="0"/>
              </a:rPr>
              <a:t>API routes</a:t>
            </a:r>
          </a:p>
          <a:p>
            <a:pPr marL="0" indent="0">
              <a:buNone/>
            </a:pPr>
            <a:r>
              <a:rPr lang="en-US" sz="850" dirty="0">
                <a:solidFill>
                  <a:srgbClr val="0F6E56"/>
                </a:solidFill>
                <a:latin typeface="Arial" pitchFamily="34" charset="0"/>
              </a:rPr>
              <a:t>Node.js runtime  —  /api/upload, /api/analyse, /api/forum, /api/salesforce/status, /api/seed-patterns</a:t>
            </a:r>
          </a:p>
        </p:txBody>
      </p:sp>
      <p:cxnSp>
        <p:nvCxnSpPr>
          <p:cNvPr id="13" name="Arrow2"/>
          <p:cNvCxnSpPr/>
          <p:nvPr/>
        </p:nvCxnSpPr>
        <p:spPr>
          <a:xfrm>
            <a:off x="4557000" y="1690000"/>
            <a:ext cx="0" cy="90000"/>
          </a:xfrm>
          <a:prstGeom prst="straightConnector1">
            <a:avLst/>
          </a:prstGeom>
          <a:ln w="15875">
            <a:solidFill>
              <a:srgbClr val="888780"/>
            </a:solidFill>
            <a:tailEnd type="triangle" w="med" len="med"/>
          </a:ln>
        </p:spPr>
      </p:cxnSp>
      <p:sp>
        <p:nvSpPr>
          <p:cNvPr id="14" name="L3Bg"/>
          <p:cNvSpPr/>
          <p:nvPr/>
        </p:nvSpPr>
        <p:spPr>
          <a:xfrm>
            <a:off x="411480" y="1780000"/>
            <a:ext cx="8291040" cy="420000"/>
          </a:xfrm>
          <a:prstGeom prst="roundRect">
            <a:avLst>
              <a:gd name="adj" fmla="val 8000"/>
            </a:avLst>
          </a:prstGeom>
          <a:solidFill>
            <a:srgbClr val="EEEDFE"/>
          </a:solidFill>
          <a:ln w="6350">
            <a:solidFill>
              <a:srgbClr val="534AB7"/>
            </a:solidFill>
          </a:ln>
        </p:spPr>
        <p:txBody>
          <a:bodyPr wrap="square" lIns="140000" tIns="60000" anchor="t"/>
          <a:lstStyle/>
          <a:p>
            <a:pPr marL="0" indent="0">
              <a:buNone/>
            </a:pPr>
            <a:r>
              <a:rPr lang="en-US" sz="1100" b="1" dirty="0">
                <a:solidFill>
                  <a:srgbClr val="3C3489"/>
                </a:solidFill>
                <a:latin typeface="Arial" pitchFamily="34" charset="0"/>
              </a:rPr>
              <a:t>ForumOrchestrator.ts</a:t>
            </a:r>
          </a:p>
          <a:p>
            <a:pPr marL="0" indent="0">
              <a:buNone/>
            </a:pPr>
            <a:r>
              <a:rPr lang="en-US" sz="850" dirty="0">
                <a:solidFill>
                  <a:srgbClr val="534AB7"/>
                </a:solidFill>
                <a:latin typeface="Arial" pitchFamily="34" charset="0"/>
              </a:rPr>
              <a:t>ImpactAnalyser  ·  retrieveMemory + retrieveOrgLearnings  ·  contextInjector.ts</a:t>
            </a:r>
          </a:p>
        </p:txBody>
      </p:sp>
      <p:cxnSp>
        <p:nvCxnSpPr>
          <p:cNvPr id="15" name="Arrow3"/>
          <p:cNvCxnSpPr/>
          <p:nvPr/>
        </p:nvCxnSpPr>
        <p:spPr>
          <a:xfrm>
            <a:off x="4557000" y="2200000"/>
            <a:ext cx="0" cy="90000"/>
          </a:xfrm>
          <a:prstGeom prst="straightConnector1">
            <a:avLst/>
          </a:prstGeom>
          <a:ln w="15875">
            <a:solidFill>
              <a:srgbClr val="888780"/>
            </a:solidFill>
            <a:tailEnd type="triangle" w="med" len="med"/>
          </a:ln>
        </p:spPr>
      </p:cxnSp>
      <p:sp>
        <p:nvSpPr>
          <p:cNvPr id="16" name="L4Bg"/>
          <p:cNvSpPr/>
          <p:nvPr/>
        </p:nvSpPr>
        <p:spPr>
          <a:xfrm>
            <a:off x="411480" y="2290000"/>
            <a:ext cx="8291040" cy="560000"/>
          </a:xfrm>
          <a:prstGeom prst="roundRect">
            <a:avLst>
              <a:gd name="adj" fmla="val 6000"/>
            </a:avLst>
          </a:prstGeom>
          <a:solidFill>
            <a:srgbClr val="FAECE7"/>
          </a:solidFill>
          <a:ln w="6350">
            <a:solidFill>
              <a:srgbClr val="D85A30"/>
            </a:solidFill>
          </a:ln>
        </p:spPr>
        <p:txBody>
          <a:bodyPr wrap="square" lIns="140000" tIns="60000" anchor="t"/>
          <a:lstStyle/>
          <a:p>
            <a:pPr marL="0" indent="0">
              <a:buNone/>
            </a:pPr>
            <a:r>
              <a:rPr lang="en-US" sz="1100" b="1" dirty="0">
                <a:solidFill>
                  <a:srgbClr val="712B13"/>
                </a:solidFill>
                <a:latin typeface="Arial" pitchFamily="34" charset="0"/>
              </a:rPr>
              <a:t>Agent pipeline — 9 specialists, sequential</a:t>
            </a:r>
          </a:p>
          <a:p>
            <a:pPr marL="0" indent="0">
              <a:buNone/>
            </a:pPr>
            <a:r>
              <a:rPr lang="en-US" sz="850" dirty="0">
                <a:solidFill>
                  <a:srgbClr val="993C1D"/>
                </a:solidFill>
                <a:latin typeface="Arial" pitchFamily="34" charset="0"/>
              </a:rPr>
              <a:t>Designer → Apex → LWC → Flow → OmniStudio → Integration → Patterns → Judge → Scribe → Learner</a:t>
            </a:r>
          </a:p>
          <a:p>
            <a:pPr marL="0" indent="0">
              <a:buNone/>
            </a:pPr>
            <a:r>
              <a:rPr lang="en-US" sz="850" i="1" dirty="0">
                <a:solidFill>
                  <a:srgbClr val="993C1D"/>
                </a:solidFill>
                <a:latin typeface="Arial" pitchFamily="34" charset="0"/>
              </a:rPr>
              <a:t>Each agent call is a single Anthropic API request — output of one feeds the next</a:t>
            </a:r>
          </a:p>
        </p:txBody>
      </p:sp>
      <p:cxnSp>
        <p:nvCxnSpPr>
          <p:cNvPr id="17" name="Arrow4a"/>
          <p:cNvCxnSpPr/>
          <p:nvPr/>
        </p:nvCxnSpPr>
        <p:spPr>
          <a:xfrm>
            <a:off x="1700000" y="2850000"/>
            <a:ext cx="0" cy="100000"/>
          </a:xfrm>
          <a:prstGeom prst="straightConnector1">
            <a:avLst/>
          </a:prstGeom>
          <a:ln w="15875">
            <a:solidFill>
              <a:srgbClr val="888780"/>
            </a:solidFill>
            <a:tailEnd type="triangle" w="med" len="med"/>
          </a:ln>
        </p:spPr>
      </p:cxnSp>
      <p:cxnSp>
        <p:nvCxnSpPr>
          <p:cNvPr id="18" name="Arrow4b"/>
          <p:cNvCxnSpPr/>
          <p:nvPr/>
        </p:nvCxnSpPr>
        <p:spPr>
          <a:xfrm>
            <a:off x="4557000" y="2850000"/>
            <a:ext cx="0" cy="100000"/>
          </a:xfrm>
          <a:prstGeom prst="straightConnector1">
            <a:avLst/>
          </a:prstGeom>
          <a:ln w="15875">
            <a:solidFill>
              <a:srgbClr val="888780"/>
            </a:solidFill>
            <a:tailEnd type="triangle" w="med" len="med"/>
          </a:ln>
        </p:spPr>
      </p:cxnSp>
      <p:cxnSp>
        <p:nvCxnSpPr>
          <p:cNvPr id="19" name="Arrow4c"/>
          <p:cNvCxnSpPr/>
          <p:nvPr/>
        </p:nvCxnSpPr>
        <p:spPr>
          <a:xfrm>
            <a:off x="7400000" y="2850000"/>
            <a:ext cx="0" cy="100000"/>
          </a:xfrm>
          <a:prstGeom prst="straightConnector1">
            <a:avLst/>
          </a:prstGeom>
          <a:ln w="15875">
            <a:solidFill>
              <a:srgbClr val="888780"/>
            </a:solidFill>
            <a:tailEnd type="triangle" w="med" len="med"/>
          </a:ln>
        </p:spPr>
      </p:cxnSp>
      <p:sp>
        <p:nvSpPr>
          <p:cNvPr id="20" name="SvcAnthropic"/>
          <p:cNvSpPr/>
          <p:nvPr/>
        </p:nvSpPr>
        <p:spPr>
          <a:xfrm>
            <a:off x="411480" y="2950000"/>
            <a:ext cx="2651760" cy="780000"/>
          </a:xfrm>
          <a:prstGeom prst="roundRect">
            <a:avLst>
              <a:gd name="adj" fmla="val 6000"/>
            </a:avLst>
          </a:prstGeom>
          <a:solidFill>
            <a:srgbClr val="EAF3DE"/>
          </a:solidFill>
          <a:ln w="6350">
            <a:solidFill>
              <a:srgbClr val="639922"/>
            </a:solidFill>
          </a:ln>
        </p:spPr>
        <p:txBody>
          <a:bodyPr wrap="square" lIns="120000" tIns="80000" anchor="t"/>
          <a:lstStyle/>
          <a:p>
            <a:pPr marL="0" indent="0" algn="ctr">
              <a:buNone/>
            </a:pPr>
            <a:r>
              <a:rPr lang="en-US" sz="1050" b="1" dirty="0">
                <a:solidFill>
                  <a:srgbClr val="27500A"/>
                </a:solidFill>
                <a:latin typeface="Arial" pitchFamily="34" charset="0"/>
              </a:rPr>
              <a:t>Anthropic API</a:t>
            </a:r>
          </a:p>
          <a:p>
            <a:pPr marL="0" indent="0" algn="ctr">
              <a:buNone/>
            </a:pPr>
            <a:r>
              <a:rPr lang="en-US" sz="850" dirty="0">
                <a:solidFill>
                  <a:srgbClr val="3B6D11"/>
                </a:solidFill>
                <a:latin typeface="Arial" pitchFamily="34" charset="0"/>
              </a:rPr>
              <a:t>Claude Sonnet</a:t>
            </a:r>
          </a:p>
          <a:p>
            <a:pPr marL="0" indent="0" algn="ctr">
              <a:buNone/>
            </a:pPr>
            <a:r>
              <a:rPr lang="en-US" sz="850" dirty="0">
                <a:solidFill>
                  <a:srgbClr val="3B6D11"/>
                </a:solidFill>
                <a:latin typeface="Arial" pitchFamily="34" charset="0"/>
              </a:rPr>
              <a:t>9 sequential calls / session</a:t>
            </a:r>
          </a:p>
          <a:p>
            <a:pPr marL="0" indent="0" algn="ctr">
              <a:buNone/>
            </a:pPr>
            <a:r>
              <a:rPr lang="en-US" sz="850" dirty="0">
                <a:solidFill>
                  <a:srgbClr val="3B6D11"/>
                </a:solidFill>
                <a:latin typeface="Arial" pitchFamily="34" charset="0"/>
              </a:rPr>
              <a:t>Mock / Live toggle</a:t>
            </a:r>
          </a:p>
        </p:txBody>
      </p:sp>
      <p:sp>
        <p:nvSpPr>
          <p:cNvPr id="21" name="SvcSupabase"/>
          <p:cNvSpPr/>
          <p:nvPr/>
        </p:nvSpPr>
        <p:spPr>
          <a:xfrm>
            <a:off x="3227832" y="2950000"/>
            <a:ext cx="2651760" cy="780000"/>
          </a:xfrm>
          <a:prstGeom prst="roundRect">
            <a:avLst>
              <a:gd name="adj" fmla="val 6000"/>
            </a:avLst>
          </a:prstGeom>
          <a:solidFill>
            <a:srgbClr val="FAEEDA"/>
          </a:solidFill>
          <a:ln w="6350">
            <a:solidFill>
              <a:srgbClr val="BA7517"/>
            </a:solidFill>
          </a:ln>
        </p:spPr>
        <p:txBody>
          <a:bodyPr wrap="square" lIns="120000" tIns="80000" anchor="t"/>
          <a:lstStyle/>
          <a:p>
            <a:pPr marL="0" indent="0" algn="ctr">
              <a:buNone/>
            </a:pPr>
            <a:r>
              <a:rPr lang="en-US" sz="1050" b="1" dirty="0">
                <a:solidFill>
                  <a:srgbClr val="633806"/>
                </a:solidFill>
                <a:latin typeface="Arial" pitchFamily="34" charset="0"/>
              </a:rPr>
              <a:t>Supabase</a:t>
            </a:r>
          </a:p>
          <a:p>
            <a:pPr marL="0" indent="0" algn="ctr">
              <a:buNone/>
            </a:pPr>
            <a:r>
              <a:rPr lang="en-US" sz="850" dirty="0">
                <a:solidFill>
                  <a:srgbClr val="854F0B"/>
                </a:solidFill>
                <a:latin typeface="Arial" pitchFamily="34" charset="0"/>
              </a:rPr>
              <a:t>failure_patterns</a:t>
            </a:r>
          </a:p>
          <a:p>
            <a:pPr marL="0" indent="0" algn="ctr">
              <a:buNone/>
            </a:pPr>
            <a:r>
              <a:rPr lang="en-US" sz="850" dirty="0">
                <a:solidFill>
                  <a:srgbClr val="854F0B"/>
                </a:solidFill>
                <a:latin typeface="Arial" pitchFamily="34" charset="0"/>
              </a:rPr>
              <a:t>org_learnings</a:t>
            </a:r>
          </a:p>
          <a:p>
            <a:pPr marL="0" indent="0" algn="ctr">
              <a:buNone/>
            </a:pPr>
            <a:r>
              <a:rPr lang="en-US" sz="850" dirty="0">
                <a:solidFill>
                  <a:srgbClr val="854F0B"/>
                </a:solidFill>
                <a:latin typeface="Arial" pitchFamily="34" charset="0"/>
              </a:rPr>
              <a:t>sessions · signoffs</a:t>
            </a:r>
          </a:p>
        </p:txBody>
      </p:sp>
      <p:sp>
        <p:nvSpPr>
          <p:cNvPr id="22" name="SvcJira"/>
          <p:cNvSpPr/>
          <p:nvPr/>
        </p:nvSpPr>
        <p:spPr>
          <a:xfrm>
            <a:off x="6044184" y="2950000"/>
            <a:ext cx="2658336" cy="780000"/>
          </a:xfrm>
          <a:prstGeom prst="roundRect">
            <a:avLst>
              <a:gd name="adj" fmla="val 6000"/>
            </a:avLst>
          </a:prstGeom>
          <a:solidFill>
            <a:srgbClr val="FBEAF0"/>
          </a:solidFill>
          <a:ln w="6350">
            <a:solidFill>
              <a:srgbClr val="D4537E"/>
            </a:solidFill>
          </a:ln>
        </p:spPr>
        <p:txBody>
          <a:bodyPr wrap="square" lIns="120000" tIns="80000" anchor="t"/>
          <a:lstStyle/>
          <a:p>
            <a:pPr marL="0" indent="0" algn="ctr">
              <a:buNone/>
            </a:pPr>
            <a:r>
              <a:rPr lang="en-US" sz="1050" b="1" dirty="0">
                <a:solidFill>
                  <a:srgbClr val="4B1528"/>
                </a:solidFill>
                <a:latin typeface="Arial" pitchFamily="34" charset="0"/>
              </a:rPr>
              <a:t>Jira</a:t>
            </a:r>
          </a:p>
          <a:p>
            <a:pPr marL="0" indent="0" algn="ctr">
              <a:buNone/>
            </a:pPr>
            <a:r>
              <a:rPr lang="en-US" sz="850" dirty="0">
                <a:solidFill>
                  <a:srgbClr val="72243E"/>
                </a:solidFill>
                <a:latin typeface="Arial" pitchFamily="34" charset="0"/>
              </a:rPr>
              <a:t>Project ARBOARD</a:t>
            </a:r>
          </a:p>
          <a:p>
            <a:pPr marL="0" indent="0" algn="ctr">
              <a:buNone/>
            </a:pPr>
            <a:r>
              <a:rPr lang="en-US" sz="850" dirty="0">
                <a:solidFill>
                  <a:srgbClr val="72243E"/>
                </a:solidFill>
                <a:latin typeface="Arial" pitchFamily="34" charset="0"/>
              </a:rPr>
              <a:t>ADR storage</a:t>
            </a:r>
          </a:p>
          <a:p>
            <a:pPr marL="0" indent="0" algn="ctr">
              <a:buNone/>
            </a:pPr>
            <a:r>
              <a:rPr lang="en-US" sz="850" dirty="0">
                <a:solidFill>
                  <a:srgbClr val="72243E"/>
                </a:solidFill>
                <a:latin typeface="Arial" pitchFamily="34" charset="0"/>
              </a:rPr>
              <a:t>JQL retrieval</a:t>
            </a:r>
          </a:p>
        </p:txBody>
      </p:sp>
      <p:cxnSp>
        <p:nvCxnSpPr>
          <p:cNvPr id="23" name="Arrow5"/>
          <p:cNvCxnSpPr/>
          <p:nvPr/>
        </p:nvCxnSpPr>
        <p:spPr>
          <a:xfrm>
            <a:off x="4557000" y="3730000"/>
            <a:ext cx="0" cy="100000"/>
          </a:xfrm>
          <a:prstGeom prst="straightConnector1">
            <a:avLst/>
          </a:prstGeom>
          <a:ln w="15875">
            <a:solidFill>
              <a:srgbClr val="888780"/>
            </a:solidFill>
            <a:tailEnd type="triangle" w="med" len="med"/>
          </a:ln>
        </p:spPr>
      </p:cxnSp>
      <p:sp>
        <p:nvSpPr>
          <p:cNvPr id="24" name="FooterBg"/>
          <p:cNvSpPr/>
          <p:nvPr/>
        </p:nvSpPr>
        <p:spPr>
          <a:xfrm>
            <a:off x="411480" y="3830000"/>
            <a:ext cx="8291040" cy="380000"/>
          </a:xfrm>
          <a:prstGeom prst="roundRect">
            <a:avLst>
              <a:gd name="adj" fmla="val 8000"/>
            </a:avLst>
          </a:prstGeom>
          <a:solidFill>
            <a:srgbClr val="F1EFE8"/>
          </a:solidFill>
          <a:ln w="6350">
            <a:solidFill>
              <a:srgbClr val="B4B2A9"/>
            </a:solidFill>
          </a:ln>
        </p:spPr>
        <p:txBody>
          <a:bodyPr wrap="square" lIns="140000" anchor="ctr"/>
          <a:lstStyle/>
          <a:p>
            <a:pPr marL="0" indent="0">
              <a:buNone/>
            </a:pPr>
            <a:r>
              <a:rPr lang="en-US" sz="950" b="1" dirty="0">
                <a:solidFill>
                  <a:srgbClr val="2C2C2A"/>
                </a:solidFill>
                <a:latin typeface="Arial" pitchFamily="34" charset="0"/>
              </a:rPr>
              <a:t xml:space="preserve">Salesforce org connectivity:  </a:t>
            </a:r>
            <a:r>
              <a:rPr lang="en-US" sz="850" dirty="0">
                <a:solidFill>
                  <a:srgbClr val="5F5E5A"/>
                </a:solidFill>
                <a:latin typeface="Arial" pitchFamily="34" charset="0"/>
              </a:rPr>
              <a:t>Hosted MCP gateway → jsforce fallback — live metadata for grounding</a:t>
            </a:r>
          </a:p>
        </p:txBody>
      </p:sp>
      <p:sp>
        <p:nvSpPr>
          <p:cNvPr id="25" name="DeployFooter"/>
          <p:cNvSpPr/>
          <p:nvPr/>
        </p:nvSpPr>
        <p:spPr>
          <a:xfrm>
            <a:off x="411480" y="4260000"/>
            <a:ext cx="8291040" cy="220000"/>
          </a:xfrm>
          <a:prstGeom prst="rect">
            <a:avLst/>
          </a:prstGeom>
          <a:noFill/>
          <a:ln/>
        </p:spPr>
        <p:txBody>
          <a:bodyPr wrap="square" lIns="140000" anchor="ctr"/>
          <a:lstStyle/>
          <a:p>
            <a:pPr marL="0" indent="0" algn="ctr">
              <a:buNone/>
            </a:pPr>
            <a:r>
              <a:rPr lang="en-US" sz="800" i="1" dirty="0">
                <a:solidFill>
                  <a:srgbClr val="888780"/>
                </a:solidFill>
                <a:latin typeface="Arial" pitchFamily="34" charset="0"/>
              </a:rPr>
              <a:t>Deployed on Vercel — arboard.vercel.app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591</TotalTime>
  <Words>4211</Words>
  <Application>Microsoft Office PowerPoint</Application>
  <PresentationFormat>On-screen Show (16:9)</PresentationFormat>
  <Paragraphs>639</Paragraphs>
  <Slides>25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ARBoard — AI Architecture Review Board</dc:title>
  <dc:subject>PptxGenJS Presentation</dc:subject>
  <dc:creator>PptxGenJS</dc:creator>
  <cp:lastModifiedBy>Ganapatineedi, Rama</cp:lastModifiedBy>
  <cp:revision>6</cp:revision>
  <dcterms:created xsi:type="dcterms:W3CDTF">2026-06-27T03:16:30Z</dcterms:created>
  <dcterms:modified xsi:type="dcterms:W3CDTF">2026-07-03T05:12:00Z</dcterms:modified>
</cp:coreProperties>
</file>