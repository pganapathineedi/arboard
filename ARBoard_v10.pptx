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saying: This is ARBoard — a multi-agent AI system that runs a full Architecture Review Board in under 2 minutes. Let me show you what that means.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status quo for enterprise Salesforce ARBs is expensive, slow, and inconsistent. ARBoard addresses all four of these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value proposition. $0.22 vs $27,500 — that's the number that lands with finance and leadership. The quality story is about the deliberative engine, not just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differentiator is sequential deliberation — each agent builds on prior agent findings. This is not parallel execution; it is structured debate. The dissent panel shows where agents disagree with the final verdict.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grounding stack is the real IP. Competitors can replicate the UI. They cannot replicate the accumulated org learnings, failure patterns, and institutional memory injected into every agent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ARBoard is production-ready, not just a prototype. Security and operational hardening have been completed before any client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maturity assessment against canonical agentic architecture patterns. The green items are the foundation. Red items are the next sprint — timeout and retry are the most operationally critical before client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Done column shows how rapidly ARBoard has evolved. Next sprint items are prioritised by operational risk — timeout and retry first, then quality improvements like Round 2 Rebuttal and HITL 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$27,500 number to anchor. Then show $0.22. The 99.2% cost reduction is the headline. But also emphasise: this isn't a cost play — it's a quality and consistency play. The cost is just the proof it's worth trying.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system is a clean Next.js monolith on Vercel. No heavyweight orchestration framework — the deliberative pattern is implemented directly in TypeScript, which makes it auditable, debuggable, and extensible.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conversation to have with leadership: which client engagement do we run this on first? The platform is ready. We need a domain package and a client context to make it 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with: The question isn't whether AI belongs in architecture review. The question is whether we build the institutional memory and governance layer to make it trustworthy. ARBoard does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went through 4 rounds of design challenge before a line of code was written. 7 queries defined first — schema designed to answer them. Write-before-run means traces survive orchestrator crashes.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ARBoard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Architecture Review Board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Specialist Agents  ·  9 Grounding Layers  ·  Governed ADR Trail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3327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0195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0195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7063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063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3931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3931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0799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799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7667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7667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OmniStudio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4535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4535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1403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1403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82712" y="4224528"/>
            <a:ext cx="804672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82712" y="4224528"/>
            <a:ext cx="804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 ·  Lead Architecture Practice  ·  July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069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03327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14630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ARBs require 4–8 architects, weeks of scheduling, and hours of prep per engagement.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27448" y="868680"/>
            <a:ext cx="4069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0515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67528" y="103327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Inconsistency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910328" y="14630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quality varies by who attends. Different architects flag different risks.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0040" y="2743200"/>
            <a:ext cx="4069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2608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290779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institutional memory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502920" y="33375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from past engagements aren't systematically captured or reused.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27448" y="2743200"/>
            <a:ext cx="4069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92608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67528" y="290779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4910328" y="33375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~$27,500 per review at blended $150/hr rates. Unscalable for frequent Salesforce delivery.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Solution Design Document.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specialist agents debate, critique, and synthesise a binding Architecture Decision Record in under 2 minutes.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463040" cy="1508760"/>
          </a:xfrm>
          <a:prstGeom prst="roundRect">
            <a:avLst>
              <a:gd name="adj" fmla="val 6250"/>
            </a:avLst>
          </a:prstGeom>
          <a:solidFill>
            <a:srgbClr val="1A3355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65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SDD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79192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or DOCX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diagrams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38528" y="2624328"/>
            <a:ext cx="2743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12848" y="1874520"/>
            <a:ext cx="1463040" cy="1508760"/>
          </a:xfrm>
          <a:prstGeom prst="roundRect">
            <a:avLst>
              <a:gd name="adj" fmla="val 6250"/>
            </a:avLst>
          </a:prstGeom>
          <a:solidFill>
            <a:srgbClr val="1A3355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12848" y="1965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212848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Analysis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12848" y="2679192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risks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94176" y="2624328"/>
            <a:ext cx="2743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68496" y="1874520"/>
            <a:ext cx="1463040" cy="1508760"/>
          </a:xfrm>
          <a:prstGeom prst="roundRect">
            <a:avLst>
              <a:gd name="adj" fmla="val 6250"/>
            </a:avLst>
          </a:prstGeom>
          <a:solidFill>
            <a:srgbClr val="1A3355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68496" y="1965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968496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10-Agent Debate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68496" y="2679192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49824" y="2624328"/>
            <a:ext cx="2743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24144" y="1874520"/>
            <a:ext cx="1463040" cy="1508760"/>
          </a:xfrm>
          <a:prstGeom prst="roundRect">
            <a:avLst>
              <a:gd name="adj" fmla="val 6250"/>
            </a:avLst>
          </a:prstGeom>
          <a:solidFill>
            <a:srgbClr val="0D9488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24144" y="1965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724144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Verdict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724144" y="2679192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 decision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05472" y="2624328"/>
            <a:ext cx="2743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79792" y="1874520"/>
            <a:ext cx="1463040" cy="1508760"/>
          </a:xfrm>
          <a:prstGeom prst="roundRect">
            <a:avLst>
              <a:gd name="adj" fmla="val 6250"/>
            </a:avLst>
          </a:prstGeom>
          <a:solidFill>
            <a:srgbClr val="1A3355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79792" y="1965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479792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+ Jira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79792" y="2679192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61188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0F2D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675888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57200" y="422452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session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633472" y="361188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0F2D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33472" y="3675888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min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2633472" y="422452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time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09744" y="361188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0F2D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9744" y="3675888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$27,500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4809744" y="422452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equivalent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986016" y="361188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0F2D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86016" y="3675888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986016" y="422452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deliberative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just run in parallel — each specialist builds on prior findings. The Judge synthesises all perspectives into a binding verdict.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2608" y="1325880"/>
            <a:ext cx="987552" cy="411480"/>
          </a:xfrm>
          <a:prstGeom prst="roundRect">
            <a:avLst>
              <a:gd name="adj" fmla="val 15556"/>
            </a:avLst>
          </a:prstGeom>
          <a:solidFill>
            <a:srgbClr val="0F1F3D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325880"/>
            <a:ext cx="987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16736" y="1325880"/>
            <a:ext cx="987552" cy="411480"/>
          </a:xfrm>
          <a:prstGeom prst="roundRect">
            <a:avLst>
              <a:gd name="adj" fmla="val 15556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16736" y="1325880"/>
            <a:ext cx="987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40864" y="1325880"/>
            <a:ext cx="987552" cy="411480"/>
          </a:xfrm>
          <a:prstGeom prst="roundRect">
            <a:avLst>
              <a:gd name="adj" fmla="val 15556"/>
            </a:avLst>
          </a:prstGeom>
          <a:solidFill>
            <a:srgbClr val="0F1F3D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40864" y="1325880"/>
            <a:ext cx="987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LWC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64992" y="1325880"/>
            <a:ext cx="987552" cy="411480"/>
          </a:xfrm>
          <a:prstGeom prst="roundRect">
            <a:avLst>
              <a:gd name="adj" fmla="val 15556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4992" y="1325880"/>
            <a:ext cx="987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0" y="1325880"/>
            <a:ext cx="987552" cy="411480"/>
          </a:xfrm>
          <a:prstGeom prst="roundRect">
            <a:avLst>
              <a:gd name="adj" fmla="val 15556"/>
            </a:avLst>
          </a:prstGeom>
          <a:solidFill>
            <a:srgbClr val="0F1F3D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325880"/>
            <a:ext cx="987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13248" y="1325880"/>
            <a:ext cx="987552" cy="411480"/>
          </a:xfrm>
          <a:prstGeom prst="roundRect">
            <a:avLst>
              <a:gd name="adj" fmla="val 15556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3248" y="1325880"/>
            <a:ext cx="987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37376" y="1325880"/>
            <a:ext cx="987552" cy="411480"/>
          </a:xfrm>
          <a:prstGeom prst="roundRect">
            <a:avLst>
              <a:gd name="adj" fmla="val 15556"/>
            </a:avLst>
          </a:prstGeom>
          <a:solidFill>
            <a:srgbClr val="0F1F3D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37376" y="1325880"/>
            <a:ext cx="987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OmniStudio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61504" y="1325880"/>
            <a:ext cx="987552" cy="411480"/>
          </a:xfrm>
          <a:prstGeom prst="roundRect">
            <a:avLst>
              <a:gd name="adj" fmla="val 15556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61504" y="1325880"/>
            <a:ext cx="987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0" y="1783080"/>
            <a:ext cx="0" cy="32004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608" y="2103120"/>
            <a:ext cx="7900416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608" y="2103120"/>
            <a:ext cx="0" cy="32004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93024" y="2103120"/>
            <a:ext cx="0" cy="32004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60320" y="242316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2496312"/>
            <a:ext cx="320040" cy="32004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3090672" y="24231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 —  Binding ARB Verdict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572000" y="3063240"/>
            <a:ext cx="0" cy="256032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371600" y="3319272"/>
            <a:ext cx="3200400" cy="384048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371600" y="331927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 — ADR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486400" y="3319272"/>
            <a:ext cx="3200400" cy="384048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0" y="331927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— Org Memory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7200" y="37673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 and Learner run in parallel after verdict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20040" y="411480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251960"/>
            <a:ext cx="292608" cy="292608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868680" y="4114800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Dissent Panel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868680" y="448056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call flags where specialists diverged from the Judge verdict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411480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4251960"/>
            <a:ext cx="292608" cy="292608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5440680" y="4114800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ADR Trail</a:t>
            </a:r>
            <a:endParaRPr lang="en-US" sz="1200" dirty="0"/>
          </a:p>
        </p:txBody>
      </p:sp>
      <p:sp>
        <p:nvSpPr>
          <p:cNvPr id="41" name="Text 36"/>
          <p:cNvSpPr/>
          <p:nvPr/>
        </p:nvSpPr>
        <p:spPr>
          <a:xfrm>
            <a:off x="5440680" y="448056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to Supabase + Jira with verdict, must-fix items, confidence score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9-layer grounding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agent, every session — grounded in institutional knowledge before generating a single finding.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8503920" cy="612648"/>
          </a:xfrm>
          <a:prstGeom prst="roundRect">
            <a:avLst>
              <a:gd name="adj" fmla="val 11940"/>
            </a:avLst>
          </a:prstGeom>
          <a:solidFill>
            <a:srgbClr val="0F1F3D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261872"/>
            <a:ext cx="4114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128930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knowledge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58191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training — Salesforce patterns, LWC, Apex, integration, Flow, platform limits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975104"/>
            <a:ext cx="8503920" cy="612648"/>
          </a:xfrm>
          <a:prstGeom prst="roundRect">
            <a:avLst>
              <a:gd name="adj" fmla="val 11940"/>
            </a:avLst>
          </a:prstGeom>
          <a:solidFill>
            <a:srgbClr val="1A3355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975104"/>
            <a:ext cx="4114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41248" y="2002536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grounding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" y="229514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Well-Architected Principles (per agent)  ·  SI Failure Pattern Library (FP-004–FP-012)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688336"/>
            <a:ext cx="8503920" cy="612648"/>
          </a:xfrm>
          <a:prstGeom prst="roundRect">
            <a:avLst>
              <a:gd name="adj" fmla="val 11940"/>
            </a:avLst>
          </a:prstGeom>
          <a:solidFill>
            <a:srgbClr val="0F4C75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688336"/>
            <a:ext cx="4114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1248" y="27157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library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00837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skills always loaded per agent  ·  Cross-cutting skills keyword-triggered from document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401568"/>
            <a:ext cx="8503920" cy="612648"/>
          </a:xfrm>
          <a:prstGeom prst="roundRect">
            <a:avLst>
              <a:gd name="adj" fmla="val 11940"/>
            </a:avLst>
          </a:prstGeom>
          <a:solidFill>
            <a:srgbClr val="0D6E6E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401568"/>
            <a:ext cx="4114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1248" y="34290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372160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 — prior agent findings injected forward  ·  Jira ADR cross-session reconciliation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4114800"/>
            <a:ext cx="8503920" cy="612648"/>
          </a:xfrm>
          <a:prstGeom prst="roundRect">
            <a:avLst>
              <a:gd name="adj" fmla="val 1194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114800"/>
            <a:ext cx="41148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" y="414223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intelligence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1248" y="44348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learnings (Supabase, compounds over time)  ·  Live Salesforce org metadata via MCP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grounding stack is the moat — it compounds with every session as org learnings accumulate.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hardening — completed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41832"/>
            <a:ext cx="347472" cy="3474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41832" y="941832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0FDF4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41832" y="9418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fixed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2801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isolation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1554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and Supabase keys server-side only. No NEXT_PUBLIC_ exposure. Key mutation removed from request handlers.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27448" y="80467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941832"/>
            <a:ext cx="347472" cy="34747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349240" y="941832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0FDF4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349240" y="9418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fixed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4910328" y="12801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authentication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10328" y="1554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Shared-secret auth guard on all 7 high-risk API routes. 401 on missing or incorrect key. Local dev no-op when unset.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0040" y="222199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59152"/>
            <a:ext cx="347472" cy="347472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41832" y="2359152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0FDF4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941832" y="235915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fixed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502920" y="269748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mode isolation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02920" y="29718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mode now explicitly threaded through ImpactAnalyser and ForumOrchestrator. No real API calls in mock sessions.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27448" y="222199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359152"/>
            <a:ext cx="347472" cy="34747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349240" y="2359152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0FDF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349240" y="235915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00" dirty="0"/>
          </a:p>
        </p:txBody>
      </p:sp>
      <p:sp>
        <p:nvSpPr>
          <p:cNvPr id="26" name="Text 20"/>
          <p:cNvSpPr/>
          <p:nvPr/>
        </p:nvSpPr>
        <p:spPr>
          <a:xfrm>
            <a:off x="4910328" y="269748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RLS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4910328" y="29718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enabled on all tables. Service role key used server-side only for writes. Anon key removed.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20040" y="363931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776472"/>
            <a:ext cx="347472" cy="347472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41832" y="3776472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0FDF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941832" y="377647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00" dirty="0"/>
          </a:p>
        </p:txBody>
      </p:sp>
      <p:sp>
        <p:nvSpPr>
          <p:cNvPr id="32" name="Text 25"/>
          <p:cNvSpPr/>
          <p:nvPr/>
        </p:nvSpPr>
        <p:spPr>
          <a:xfrm>
            <a:off x="502920" y="411480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file caching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502920" y="43891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Module-level Map cache added to skillLoader.ts. 20–40 disk reads per session reduced to first-call only.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4727448" y="363931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3776472"/>
            <a:ext cx="347472" cy="347472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5349240" y="3776472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E0F2FE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5349240" y="377647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4910328" y="411480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 + Learner parallel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4910328" y="43891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 and Learner now run concurrently after Judge verdict. ~10s saved per session. Sequential debate chain preserved.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architecture maturity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777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42032" y="804672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88920" y="777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18304" y="804672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777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— on roadmap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94576" y="80467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1464" y="777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logical step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115568"/>
            <a:ext cx="8503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20700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111556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1115568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In-context episodic memory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94960" y="1115568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Session-scoped, injected forward between agents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1444752"/>
            <a:ext cx="850392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1536192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1444752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persistent memory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94960" y="1444752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learnings in Supabase + Jira ADR cross-session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1773936"/>
            <a:ext cx="8503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1865376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03120" y="177393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vector retrieval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94960" y="1773936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upgrade needed — currently full-inject, no selectivity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2103120"/>
            <a:ext cx="850392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19456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21031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103120" y="210312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→ critique → synthesis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94960" y="2103120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→ 8 specialists → Judge — textbook deliberative pattern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2432304"/>
            <a:ext cx="8503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2523744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03120" y="2432304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Rebuttal rounds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394960" y="2432304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Re-submission exists; Round 2 in-session rebuttal not yet built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2761488"/>
            <a:ext cx="850392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85292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2761488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confidence signalling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94960" y="2761488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scores implemented; document-relevance-based scoring TBD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3090672"/>
            <a:ext cx="8503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3182112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03120" y="3090672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Dissent detection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394960" y="3090672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Post-verdict dissent panel via Haiku call — working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20040" y="3419856"/>
            <a:ext cx="850392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3511296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341985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103120" y="341985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timeout + cancellation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94960" y="3419856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per-agent timeout or cancel button — risk for demos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" y="3749040"/>
            <a:ext cx="8503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" y="384048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03120" y="37490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 transient failure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94960" y="3749040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agents silently drop — Judge synthesises incomplete input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" y="4078224"/>
            <a:ext cx="850392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4169664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5800" y="407822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103120" y="4078224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ADR output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394960" y="4078224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 + Jira + Supabase — full governed trail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20040" y="4407408"/>
            <a:ext cx="8503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4498848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103120" y="4407408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escalation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394960" y="4407408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Countersign endpoint exists — HITL workflow not yet wired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320040" y="4736592"/>
            <a:ext cx="8503920" cy="32918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57200" y="4828032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103120" y="4736592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observability tracing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394960" y="4736592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trace of injection decisions per agent — not built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7772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4632" y="1325880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26187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specialist agents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" y="1618488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554480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9-layer grounding stack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" y="191109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1847088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Library (8 files)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" y="2203704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2139696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" y="249631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2432304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Dissent Panel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" y="2788920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272491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Intelligence Learner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" y="3081528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3017520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vision (docx)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" y="337413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310128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Monitor + ROI estimator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" y="3666744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3602736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RLS + security hardening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" y="395935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895344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auth guard (7 routes)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" y="4251960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" y="418795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mode isolation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" y="4544568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" y="4480560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 + Learner parallelised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" y="483717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4773168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file caching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" y="5129784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5065776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3-table observability schema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" y="542239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" y="5358384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SessionTracer — full agent lifecycle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4632" y="5715000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565099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trace integrity hash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64408" y="77724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64408" y="7772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sprint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429000" y="1325880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11880" y="126187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timeout + cancel button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29000" y="1618488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11880" y="1554480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 transient API failure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429000" y="191109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11880" y="1847088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Rebuttal flow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429000" y="220370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11880" y="2139696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escalation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429000" y="249631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11880" y="2432304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layer tracing (Q1/Q2)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429000" y="2788920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11880" y="272491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confidence scoring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429000" y="3081528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11880" y="3017520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+ prompt injection guard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429000" y="337413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11880" y="3310128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strict mode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208776" y="77724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208776" y="7772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6373368" y="1325880"/>
            <a:ext cx="109728" cy="1097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56248" y="126187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semantic memory retrieval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373368" y="1618488"/>
            <a:ext cx="109728" cy="1097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56248" y="1554480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 multi-tenant config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373368" y="1911096"/>
            <a:ext cx="109728" cy="1097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56248" y="1847088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versioning across resubmissions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373368" y="2203704"/>
            <a:ext cx="109728" cy="1097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56248" y="2139696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 write alongside Jira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373368" y="2496312"/>
            <a:ext cx="109728" cy="1097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56248" y="2432304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model strategy (Haiku/Sonnet/Opus)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373368" y="2788920"/>
            <a:ext cx="109728" cy="1097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556248" y="272491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MCP integration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373368" y="3081528"/>
            <a:ext cx="109728" cy="1097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56248" y="3017520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client deployment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— real numbers from live runs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1920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9601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15361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ARBoard session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86537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NovaPeak SDD · 12 findings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96312" y="841248"/>
            <a:ext cx="1920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96312" y="9601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96312" y="15361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(actual)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96312" y="186537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44k estimated (+68%)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72584" y="841248"/>
            <a:ext cx="1920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9601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min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72584" y="15361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time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72584" y="186537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agents sequential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48856" y="841248"/>
            <a:ext cx="1920240" cy="1417320"/>
          </a:xfrm>
          <a:prstGeom prst="roundRect">
            <a:avLst>
              <a:gd name="adj" fmla="val 7742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48856" y="9601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$27,500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848856" y="15361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ARB equivalent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48856" y="186537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architects × 45 hrs × $150/hr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395728"/>
            <a:ext cx="8503920" cy="475488"/>
          </a:xfrm>
          <a:prstGeom prst="roundRect">
            <a:avLst>
              <a:gd name="adj" fmla="val 19231"/>
            </a:avLst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95728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99.2% cost reduction  ·  Tiered model: Haiku for Scribe &amp; Learner, Sonnet for Specialists &amp; Judge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" y="2971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pricing (Sonnet claude-sonnet-4-6)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$3.00 / MTok   ·   Cached read: $0.30 / MTok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$15.00 / MTok   ·   Cache write: $3.75 / MTok</a:t>
            </a:r>
            <a:endParaRPr lang="en-US" sz="11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880360"/>
            <a:ext cx="2560320" cy="20116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320040" y="466344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ROI estimator built into ARBoard UI — pre-run estimate and post-session actuals with complexity weighting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82880" y="804672"/>
            <a:ext cx="1600200" cy="365760"/>
          </a:xfrm>
          <a:prstGeom prst="roundRect">
            <a:avLst>
              <a:gd name="adj" fmla="val 17500"/>
            </a:avLst>
          </a:prstGeom>
          <a:solidFill>
            <a:srgbClr val="1A3355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" y="80467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" y="12618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2618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(App Router)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2880" y="17190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" y="17190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2880" y="21762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21762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26334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" y="26334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(deploy)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956816" y="804672"/>
            <a:ext cx="1600200" cy="365760"/>
          </a:xfrm>
          <a:prstGeom prst="roundRect">
            <a:avLst>
              <a:gd name="adj" fmla="val 17500"/>
            </a:avLst>
          </a:prstGeom>
          <a:solidFill>
            <a:srgbClr val="0F4C75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56816" y="80467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56816" y="12618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6816" y="12618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/api/* route handlers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956816" y="17190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56816" y="17190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guard (x-arboard-key)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956816" y="21762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56816" y="21762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956816" y="26334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6816" y="26334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+ vision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30752" y="804672"/>
            <a:ext cx="1600200" cy="365760"/>
          </a:xfrm>
          <a:prstGeom prst="roundRect">
            <a:avLst>
              <a:gd name="adj" fmla="val 17500"/>
            </a:avLst>
          </a:prstGeom>
          <a:solidFill>
            <a:srgbClr val="0D6E6E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80467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730752" y="12618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30752" y="12618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ForumOrchestrator.ts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30752" y="17190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30752" y="17190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AgentRunner (stream)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30752" y="21762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30752" y="21762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PromptBuilder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30752" y="26334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30752" y="26334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skillLoader (cached)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504688" y="804672"/>
            <a:ext cx="16002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04688" y="80467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504688" y="12618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04688" y="12618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(Claude)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504688" y="17190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04688" y="17190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+ Haiku tiered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504688" y="21762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04688" y="21762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504688" y="26334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04688" y="26334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Dissent analyser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278624" y="804672"/>
            <a:ext cx="1600200" cy="365760"/>
          </a:xfrm>
          <a:prstGeom prst="roundRect">
            <a:avLst>
              <a:gd name="adj" fmla="val 17500"/>
            </a:avLst>
          </a:prstGeom>
          <a:solidFill>
            <a:srgbClr val="065A82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8624" y="80467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278624" y="12618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78624" y="12618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(RLS enabled)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278624" y="17190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8624" y="17190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role server-only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78624" y="21762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78624" y="21762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(ADR tickets)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278624" y="2633472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278624" y="2633472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org_learnings table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20040" y="475488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 Next.js · TypeScript · Anthropic SDK · Supabase · Jira REST API · Vercel · JSZip (diagram vision)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from here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069080" cy="1737360"/>
          </a:xfrm>
          <a:prstGeom prst="roundRect">
            <a:avLst>
              <a:gd name="adj" fmla="val 6316"/>
            </a:avLst>
          </a:prstGeom>
          <a:solidFill>
            <a:srgbClr val="0F1F3D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9264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96926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deployment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1399032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a regulated industry engagement (financial services or public sector). Inject client-specific compliance standards, failure patterns, and Well-Architected principles as a domain package.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27448" y="804672"/>
            <a:ext cx="4069080" cy="1737360"/>
          </a:xfrm>
          <a:prstGeom prst="roundRect">
            <a:avLst>
              <a:gd name="adj" fmla="val 6316"/>
            </a:avLst>
          </a:prstGeom>
          <a:solidFill>
            <a:srgbClr val="0F1F3D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96926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67528" y="96926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semantic memory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10328" y="1399032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has pgvector built in. Embed org learnings and failure patterns on write. Top-K retrieval by cosine similarity replaces full-inject — improves relevance, reduces cost.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0040" y="2743200"/>
            <a:ext cx="4069080" cy="1737360"/>
          </a:xfrm>
          <a:prstGeom prst="roundRect">
            <a:avLst>
              <a:gd name="adj" fmla="val 6316"/>
            </a:avLst>
          </a:prstGeom>
          <a:solidFill>
            <a:srgbClr val="0F1F3D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07792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29077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02920" y="333756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up the existing countersign endpoint to a HITL escalation flow. When Judge flags human judgement points, route to a named reviewer before ADR is finalised.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727448" y="2743200"/>
            <a:ext cx="4069080" cy="1737360"/>
          </a:xfrm>
          <a:prstGeom prst="roundRect">
            <a:avLst>
              <a:gd name="adj" fmla="val 6316"/>
            </a:avLst>
          </a:prstGeom>
          <a:solidFill>
            <a:srgbClr val="0F1F3D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907792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67528" y="29077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&amp; white-label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4910328" y="333756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Registry in Supabase with client_id partitioning. Each client accumulates their own org learnings. One ARBoard engine, many domain/client configurations.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D9488">
              <a:alpha val="9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00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Board is open.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specialist agents. 9 grounding layers. One governed verdict.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2677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ARBoard is production-ready — security hardened, cost-validated, and aligned to enterprise agentic architecture patterns.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128016" cy="128016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3511296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Anthropic Claude (Sonnet + Haiku tiered)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128016" cy="128016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831336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Jira · Vercel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206240"/>
            <a:ext cx="128016" cy="128016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151376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github.com/pganapathineedi/arboard (private)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47365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Ganapathineedi  ·  Lead Architect, Accenture Australia  ·  Salesforce / Agentforce  ·  Agentblazer Legend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observability &amp; tracing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ARBoard session is fully traced — what was injected, which agents ran, what they found, and a tamper-evident integrity hash.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0F1F3D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234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session_traces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627632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664208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session  ·  verdict · cost · tokens · hash  ·  resubmission chain · status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81528" y="1737360"/>
            <a:ext cx="164592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64408" y="123444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0F4C75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234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session_trace_agents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64408" y="1627632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4408" y="1664208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agent  ·  status · tokens · must-fix count  ·  sequence · round · dissent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25896" y="1737360"/>
            <a:ext cx="164592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08776" y="123444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08776" y="1234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session_trace_injections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08776" y="1627632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08776" y="1664208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grounding layer  ·  type · file · keywords matched  ·  token estimate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2761488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analytics queries — designed first, schema built to answer them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420624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" y="3154680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3154680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50392" y="310896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layers + token cost per agent per session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56432"/>
            <a:ext cx="420624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3192" y="3502152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3192" y="3502152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50392" y="345643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/ least triggered cross-cutting skills this month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3803904"/>
            <a:ext cx="420624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" y="3849624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384962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50392" y="380390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failure rate and error patterns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" y="4151376"/>
            <a:ext cx="420624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3192" y="4197096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4197096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50392" y="415137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changes across document resubmissions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54880" y="3108960"/>
            <a:ext cx="420624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28032" y="3154680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28032" y="3154680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285232" y="310896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deviating most from expected token budget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3456432"/>
            <a:ext cx="420624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28032" y="3502152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3502152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Q6a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285232" y="345643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producing the most Must-Fix findings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54880" y="3803904"/>
            <a:ext cx="420624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28032" y="3849624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28032" y="384962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Q6b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285232" y="380390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where specialists dissented from Judge verdict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20040" y="4645152"/>
            <a:ext cx="8503920" cy="384048"/>
          </a:xfrm>
          <a:prstGeom prst="roundRect">
            <a:avLst>
              <a:gd name="adj" fmla="val 19048"/>
            </a:avLst>
          </a:prstGeom>
          <a:solidFill>
            <a:srgbClr val="F0FDF4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645152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storage · Write-before-run (crash-safe) · SHA-256 integrity · Mock excluded from analytics · client_id + round on every row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ARBoard — AI-Powered Architecture Review Board</dc:title>
  <dc:subject>PptxGenJS Presentation</dc:subject>
  <dc:creator>PptxGenJS</dc:creator>
  <cp:lastModifiedBy>PptxGenJS</cp:lastModifiedBy>
  <cp:revision>1</cp:revision>
  <dcterms:created xsi:type="dcterms:W3CDTF">2026-07-06T05:46:55Z</dcterms:created>
  <dcterms:modified xsi:type="dcterms:W3CDTF">2026-07-06T05:46:55Z</dcterms:modified>
</cp:coreProperties>
</file>