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8"/>
    <p:sldId id="268" r:id="rId19"/>
    <p:sldId id="269" r:id="rId20"/>
    <p:sldId id="270" r:id="rId21"/>
    <p:sldId id="271" r:id="rId22"/>
    <p:sldId id="272" r:id="rId23"/>
    <p:sldId id="273" r:id="rId24"/>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indent="0" marL="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indent="0" marL="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sp>
      <p:sp>
        <p:nvSpPr>
          <p:cNvPr id="5" name="Text 3"/>
          <p:cNvSpPr/>
          <p:nvPr/>
        </p:nvSpPr>
        <p:spPr>
          <a:xfrm>
            <a:off x="502920" y="2743200"/>
            <a:ext cx="8138160" cy="320040"/>
          </a:xfrm>
          <a:prstGeom prst="rect">
            <a:avLst/>
          </a:prstGeom>
          <a:noFill/>
          <a:ln/>
        </p:spPr>
        <p:txBody>
          <a:bodyPr wrap="square" rtlCol="0" anchor="ctr"/>
          <a:lstStyle/>
          <a:p>
            <a:pPr indent="0" marL="0">
              <a:buNone/>
            </a:pPr>
            <a:r>
              <a:rPr lang="en-US" sz="1100" i="1" dirty="0">
                <a:solidFill>
                  <a:srgbClr val="6A84A8"/>
                </a:solidFill>
                <a:latin typeface="Arial" pitchFamily="34" charset="0"/>
                <a:ea typeface="Arial" pitchFamily="34" charset="-122"/>
                <a:cs typeface="Arial" pitchFamily="34" charset="-120"/>
              </a:rPr>
              <a:t>9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indent="0" marL="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502920"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502920"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0" name="Text 8"/>
          <p:cNvSpPr/>
          <p:nvPr/>
        </p:nvSpPr>
        <p:spPr>
          <a:xfrm>
            <a:off x="2679192"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4" name="Text 12"/>
          <p:cNvSpPr/>
          <p:nvPr/>
        </p:nvSpPr>
        <p:spPr>
          <a:xfrm>
            <a:off x="4855464"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7031736"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6576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Shape 4"/>
          <p:cNvSpPr/>
          <p:nvPr/>
        </p:nvSpPr>
        <p:spPr>
          <a:xfrm>
            <a:off x="1097280" y="1481328"/>
            <a:ext cx="502920" cy="502920"/>
          </a:xfrm>
          <a:prstGeom prst="ellipse">
            <a:avLst/>
          </a:prstGeom>
          <a:solidFill>
            <a:srgbClr val="1B4F9B"/>
          </a:solidFill>
          <a:ln w="12700">
            <a:solidFill>
              <a:srgbClr val="1B4F9B"/>
            </a:solidFill>
            <a:prstDash val="solid"/>
          </a:ln>
        </p:spPr>
      </p:sp>
      <p:sp>
        <p:nvSpPr>
          <p:cNvPr id="7" name="Text 5"/>
          <p:cNvSpPr/>
          <p:nvPr/>
        </p:nvSpPr>
        <p:spPr>
          <a:xfrm>
            <a:off x="109728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1810512"/>
            <a:ext cx="182880" cy="0"/>
          </a:xfrm>
          <a:prstGeom prst="line">
            <a:avLst/>
          </a:prstGeom>
          <a:noFill/>
          <a:ln w="19050">
            <a:solidFill>
              <a:srgbClr val="2E6DA4"/>
            </a:solidFill>
            <a:prstDash val="solid"/>
          </a:ln>
        </p:spPr>
      </p:sp>
      <p:sp>
        <p:nvSpPr>
          <p:cNvPr id="11" name="Text 9"/>
          <p:cNvSpPr/>
          <p:nvPr/>
        </p:nvSpPr>
        <p:spPr>
          <a:xfrm>
            <a:off x="235915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371600"/>
            <a:ext cx="1965960" cy="2651760"/>
          </a:xfrm>
          <a:prstGeom prst="roundRect">
            <a:avLst>
              <a:gd name="adj" fmla="val 3721"/>
            </a:avLst>
          </a:prstGeom>
          <a:solidFill>
            <a:srgbClr val="EBF2F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3" name="Shape 11"/>
          <p:cNvSpPr/>
          <p:nvPr/>
        </p:nvSpPr>
        <p:spPr>
          <a:xfrm>
            <a:off x="3246120" y="1481328"/>
            <a:ext cx="502920" cy="502920"/>
          </a:xfrm>
          <a:prstGeom prst="ellipse">
            <a:avLst/>
          </a:prstGeom>
          <a:solidFill>
            <a:srgbClr val="1B4F9B"/>
          </a:solidFill>
          <a:ln w="12700">
            <a:solidFill>
              <a:srgbClr val="1B4F9B"/>
            </a:solidFill>
            <a:prstDash val="solid"/>
          </a:ln>
        </p:spPr>
      </p:sp>
      <p:sp>
        <p:nvSpPr>
          <p:cNvPr id="14" name="Text 12"/>
          <p:cNvSpPr/>
          <p:nvPr/>
        </p:nvSpPr>
        <p:spPr>
          <a:xfrm>
            <a:off x="324612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in parallel, each critiquing</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1810512"/>
            <a:ext cx="182880" cy="0"/>
          </a:xfrm>
          <a:prstGeom prst="line">
            <a:avLst/>
          </a:prstGeom>
          <a:noFill/>
          <a:ln w="19050">
            <a:solidFill>
              <a:srgbClr val="2E6DA4"/>
            </a:solidFill>
            <a:prstDash val="solid"/>
          </a:ln>
        </p:spPr>
      </p:sp>
      <p:sp>
        <p:nvSpPr>
          <p:cNvPr id="18" name="Text 16"/>
          <p:cNvSpPr/>
          <p:nvPr/>
        </p:nvSpPr>
        <p:spPr>
          <a:xfrm>
            <a:off x="450799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0" name="Shape 18"/>
          <p:cNvSpPr/>
          <p:nvPr/>
        </p:nvSpPr>
        <p:spPr>
          <a:xfrm>
            <a:off x="5394960" y="1481328"/>
            <a:ext cx="502920" cy="502920"/>
          </a:xfrm>
          <a:prstGeom prst="ellipse">
            <a:avLst/>
          </a:prstGeom>
          <a:solidFill>
            <a:srgbClr val="1B4F9B"/>
          </a:solidFill>
          <a:ln w="12700">
            <a:solidFill>
              <a:srgbClr val="1B4F9B"/>
            </a:solidFill>
            <a:prstDash val="solid"/>
          </a:ln>
        </p:spPr>
      </p:sp>
      <p:sp>
        <p:nvSpPr>
          <p:cNvPr id="21" name="Text 19"/>
          <p:cNvSpPr/>
          <p:nvPr/>
        </p:nvSpPr>
        <p:spPr>
          <a:xfrm>
            <a:off x="539496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1810512"/>
            <a:ext cx="182880" cy="0"/>
          </a:xfrm>
          <a:prstGeom prst="line">
            <a:avLst/>
          </a:prstGeom>
          <a:noFill/>
          <a:ln w="19050">
            <a:solidFill>
              <a:srgbClr val="2E6DA4"/>
            </a:solidFill>
            <a:prstDash val="solid"/>
          </a:ln>
        </p:spPr>
      </p:sp>
      <p:sp>
        <p:nvSpPr>
          <p:cNvPr id="25" name="Text 23"/>
          <p:cNvSpPr/>
          <p:nvPr/>
        </p:nvSpPr>
        <p:spPr>
          <a:xfrm>
            <a:off x="665683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7" name="Shape 25"/>
          <p:cNvSpPr/>
          <p:nvPr/>
        </p:nvSpPr>
        <p:spPr>
          <a:xfrm>
            <a:off x="7543800" y="1481328"/>
            <a:ext cx="502920" cy="502920"/>
          </a:xfrm>
          <a:prstGeom prst="ellipse">
            <a:avLst/>
          </a:prstGeom>
          <a:solidFill>
            <a:srgbClr val="1B4F9B"/>
          </a:solidFill>
          <a:ln w="12700">
            <a:solidFill>
              <a:srgbClr val="1B4F9B"/>
            </a:solidFill>
            <a:prstDash val="solid"/>
          </a:ln>
        </p:spPr>
      </p:sp>
      <p:sp>
        <p:nvSpPr>
          <p:cNvPr id="28" name="Text 26"/>
          <p:cNvSpPr/>
          <p:nvPr/>
        </p:nvSpPr>
        <p:spPr>
          <a:xfrm>
            <a:off x="754380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206240"/>
            <a:ext cx="8138160" cy="274320"/>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NEW: Document Review mode — upload a solution design doc and agents critique it section by section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6576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36576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9" name="Text 7"/>
          <p:cNvSpPr/>
          <p:nvPr/>
        </p:nvSpPr>
        <p:spPr>
          <a:xfrm>
            <a:off x="205740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2" name="Text 10"/>
          <p:cNvSpPr/>
          <p:nvPr/>
        </p:nvSpPr>
        <p:spPr>
          <a:xfrm>
            <a:off x="374904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5" name="Text 13"/>
          <p:cNvSpPr/>
          <p:nvPr/>
        </p:nvSpPr>
        <p:spPr>
          <a:xfrm>
            <a:off x="544068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713232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1" name="Text 19"/>
          <p:cNvSpPr/>
          <p:nvPr/>
        </p:nvSpPr>
        <p:spPr>
          <a:xfrm>
            <a:off x="36576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4" name="Text 22"/>
          <p:cNvSpPr/>
          <p:nvPr/>
        </p:nvSpPr>
        <p:spPr>
          <a:xfrm>
            <a:off x="205740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7" name="Text 25"/>
          <p:cNvSpPr/>
          <p:nvPr/>
        </p:nvSpPr>
        <p:spPr>
          <a:xfrm>
            <a:off x="374904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2788920"/>
            <a:ext cx="1554480" cy="1234440"/>
          </a:xfrm>
          <a:prstGeom prst="roundRect">
            <a:avLst>
              <a:gd name="adj" fmla="val 5926"/>
            </a:avLst>
          </a:prstGeom>
          <a:solidFill>
            <a:srgbClr val="0F1E3C"/>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30" name="Text 28"/>
          <p:cNvSpPr/>
          <p:nvPr/>
        </p:nvSpPr>
        <p:spPr>
          <a:xfrm>
            <a:off x="5440680" y="2898648"/>
            <a:ext cx="1554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246120"/>
            <a:ext cx="1554480" cy="640080"/>
          </a:xfrm>
          <a:prstGeom prst="rect">
            <a:avLst/>
          </a:prstGeom>
          <a:noFill/>
          <a:ln/>
        </p:spPr>
        <p:txBody>
          <a:bodyPr wrap="square" rtlCol="0" anchor="t"/>
          <a:lstStyle/>
          <a:p>
            <a:pPr algn="ctr" indent="0" marL="0">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algn="ctr" indent="0" marL="0">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Phase 1: Designer → Phase 2: 7 specialists in parallel → Phase 3: Judge + Scribe + Learner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AGENT GROUNDING</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Agents are grounded in four layers of knowledge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502920" y="1371600"/>
            <a:ext cx="8138160" cy="640080"/>
          </a:xfrm>
          <a:prstGeom prst="roundRect">
            <a:avLst>
              <a:gd name="adj" fmla="val 11429"/>
            </a:avLst>
          </a:prstGeom>
          <a:solidFill>
            <a:srgbClr val="EBEBEB"/>
          </a:solidFill>
          <a:ln w="6350">
            <a:solidFill>
              <a:srgbClr val="D3D1C7"/>
            </a:solidFill>
            <a:prstDash val="solid"/>
          </a:ln>
        </p:spPr>
      </p:sp>
      <p:sp>
        <p:nvSpPr>
          <p:cNvPr id="6" name="Shape 4"/>
          <p:cNvSpPr/>
          <p:nvPr/>
        </p:nvSpPr>
        <p:spPr>
          <a:xfrm>
            <a:off x="658368" y="1463040"/>
            <a:ext cx="411480" cy="411480"/>
          </a:xfrm>
          <a:prstGeom prst="ellipse">
            <a:avLst/>
          </a:prstGeom>
          <a:solidFill>
            <a:srgbClr val="0F1E3C"/>
          </a:solidFill>
          <a:ln w="12700">
            <a:solidFill>
              <a:srgbClr val="0F1E3C"/>
            </a:solidFill>
            <a:prstDash val="solid"/>
          </a:ln>
        </p:spPr>
      </p:sp>
      <p:sp>
        <p:nvSpPr>
          <p:cNvPr id="7" name="Text 5"/>
          <p:cNvSpPr/>
          <p:nvPr/>
        </p:nvSpPr>
        <p:spPr>
          <a:xfrm>
            <a:off x="658368" y="14630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07008" y="1426464"/>
            <a:ext cx="2926080" cy="256032"/>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Base model knowledge</a:t>
            </a:r>
            <a:endParaRPr lang="en-US" sz="1200" dirty="0"/>
          </a:p>
        </p:txBody>
      </p:sp>
      <p:sp>
        <p:nvSpPr>
          <p:cNvPr id="9" name="Text 7"/>
          <p:cNvSpPr/>
          <p:nvPr/>
        </p:nvSpPr>
        <p:spPr>
          <a:xfrm>
            <a:off x="1207008" y="1700784"/>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Claude's training — Salesforce patterns, anti-patterns, best practices</a:t>
            </a:r>
            <a:endParaRPr lang="en-US" sz="1000" dirty="0"/>
          </a:p>
        </p:txBody>
      </p:sp>
      <p:sp>
        <p:nvSpPr>
          <p:cNvPr id="10" name="Shape 8"/>
          <p:cNvSpPr/>
          <p:nvPr/>
        </p:nvSpPr>
        <p:spPr>
          <a:xfrm>
            <a:off x="502920" y="2121408"/>
            <a:ext cx="8138160" cy="640080"/>
          </a:xfrm>
          <a:prstGeom prst="roundRect">
            <a:avLst>
              <a:gd name="adj" fmla="val 11429"/>
            </a:avLst>
          </a:prstGeom>
          <a:solidFill>
            <a:srgbClr val="EBF2FA"/>
          </a:solidFill>
          <a:ln w="6350">
            <a:solidFill>
              <a:srgbClr val="D3D1C7"/>
            </a:solidFill>
            <a:prstDash val="solid"/>
          </a:ln>
        </p:spPr>
      </p:sp>
      <p:sp>
        <p:nvSpPr>
          <p:cNvPr id="11" name="Shape 9"/>
          <p:cNvSpPr/>
          <p:nvPr/>
        </p:nvSpPr>
        <p:spPr>
          <a:xfrm>
            <a:off x="658368" y="2212848"/>
            <a:ext cx="411480" cy="411480"/>
          </a:xfrm>
          <a:prstGeom prst="ellipse">
            <a:avLst/>
          </a:prstGeom>
          <a:solidFill>
            <a:srgbClr val="1B4F9B"/>
          </a:solidFill>
          <a:ln w="12700">
            <a:solidFill>
              <a:srgbClr val="1B4F9B"/>
            </a:solidFill>
            <a:prstDash val="solid"/>
          </a:ln>
        </p:spPr>
      </p:sp>
      <p:sp>
        <p:nvSpPr>
          <p:cNvPr id="12" name="Text 10"/>
          <p:cNvSpPr/>
          <p:nvPr/>
        </p:nvSpPr>
        <p:spPr>
          <a:xfrm>
            <a:off x="658368" y="221284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207008" y="2176272"/>
            <a:ext cx="2926080" cy="256032"/>
          </a:xfrm>
          <a:prstGeom prst="rect">
            <a:avLst/>
          </a:prstGeom>
          <a:noFill/>
          <a:ln/>
        </p:spPr>
        <p:txBody>
          <a:bodyPr wrap="square" rtlCol="0" anchor="ctr"/>
          <a:lstStyle/>
          <a:p>
            <a:pPr indent="0" marL="0">
              <a:buNone/>
            </a:pPr>
            <a:r>
              <a:rPr lang="en-US" sz="1200" b="1" dirty="0">
                <a:solidFill>
                  <a:srgbClr val="1B4F9B"/>
                </a:solidFill>
                <a:latin typeface="Arial" pitchFamily="34" charset="0"/>
                <a:ea typeface="Arial" pitchFamily="34" charset="-122"/>
                <a:cs typeface="Arial" pitchFamily="34" charset="-120"/>
              </a:rPr>
              <a:t>Static principles</a:t>
            </a:r>
            <a:endParaRPr lang="en-US" sz="1200" dirty="0"/>
          </a:p>
        </p:txBody>
      </p:sp>
      <p:sp>
        <p:nvSpPr>
          <p:cNvPr id="14" name="Text 12"/>
          <p:cNvSpPr/>
          <p:nvPr/>
        </p:nvSpPr>
        <p:spPr>
          <a:xfrm>
            <a:off x="1207008" y="2450592"/>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Curated Salesforce Well-Architected principles injected per agent. Zero latency.</a:t>
            </a:r>
            <a:endParaRPr lang="en-US" sz="1000" dirty="0"/>
          </a:p>
        </p:txBody>
      </p:sp>
      <p:sp>
        <p:nvSpPr>
          <p:cNvPr id="15" name="Shape 13"/>
          <p:cNvSpPr/>
          <p:nvPr/>
        </p:nvSpPr>
        <p:spPr>
          <a:xfrm>
            <a:off x="502920" y="2871216"/>
            <a:ext cx="8138160" cy="640080"/>
          </a:xfrm>
          <a:prstGeom prst="roundRect">
            <a:avLst>
              <a:gd name="adj" fmla="val 11429"/>
            </a:avLst>
          </a:prstGeom>
          <a:solidFill>
            <a:srgbClr val="E1F5EE"/>
          </a:solidFill>
          <a:ln w="6350">
            <a:solidFill>
              <a:srgbClr val="D3D1C7"/>
            </a:solidFill>
            <a:prstDash val="solid"/>
          </a:ln>
        </p:spPr>
      </p:sp>
      <p:sp>
        <p:nvSpPr>
          <p:cNvPr id="16" name="Shape 14"/>
          <p:cNvSpPr/>
          <p:nvPr/>
        </p:nvSpPr>
        <p:spPr>
          <a:xfrm>
            <a:off x="658368" y="2962656"/>
            <a:ext cx="411480" cy="411480"/>
          </a:xfrm>
          <a:prstGeom prst="ellipse">
            <a:avLst/>
          </a:prstGeom>
          <a:solidFill>
            <a:srgbClr val="0F6E56"/>
          </a:solidFill>
          <a:ln w="12700">
            <a:solidFill>
              <a:srgbClr val="0F6E56"/>
            </a:solidFill>
            <a:prstDash val="solid"/>
          </a:ln>
        </p:spPr>
      </p:sp>
      <p:sp>
        <p:nvSpPr>
          <p:cNvPr id="17" name="Text 15"/>
          <p:cNvSpPr/>
          <p:nvPr/>
        </p:nvSpPr>
        <p:spPr>
          <a:xfrm>
            <a:off x="658368" y="296265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207008" y="2926080"/>
            <a:ext cx="2926080" cy="256032"/>
          </a:xfrm>
          <a:prstGeom prst="rect">
            <a:avLst/>
          </a:prstGeom>
          <a:noFill/>
          <a:ln/>
        </p:spPr>
        <p:txBody>
          <a:bodyPr wrap="square" rtlCol="0" anchor="ctr"/>
          <a:lstStyle/>
          <a:p>
            <a:pPr indent="0" marL="0">
              <a:buNone/>
            </a:pPr>
            <a:r>
              <a:rPr lang="en-US" sz="1200" b="1" dirty="0">
                <a:solidFill>
                  <a:srgbClr val="0F6E56"/>
                </a:solidFill>
                <a:latin typeface="Arial" pitchFamily="34" charset="0"/>
                <a:ea typeface="Arial" pitchFamily="34" charset="-122"/>
                <a:cs typeface="Arial" pitchFamily="34" charset="-120"/>
              </a:rPr>
              <a:t>SI failure pattern library</a:t>
            </a:r>
            <a:endParaRPr lang="en-US" sz="1200" dirty="0"/>
          </a:p>
        </p:txBody>
      </p:sp>
      <p:sp>
        <p:nvSpPr>
          <p:cNvPr id="19" name="Text 17"/>
          <p:cNvSpPr/>
          <p:nvPr/>
        </p:nvSpPr>
        <p:spPr>
          <a:xfrm>
            <a:off x="1207008" y="3200400"/>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Real patterns from past engagements (FP-004 to FP-007+). Agents cite by ID.</a:t>
            </a:r>
            <a:endParaRPr lang="en-US" sz="1000" dirty="0"/>
          </a:p>
        </p:txBody>
      </p:sp>
      <p:sp>
        <p:nvSpPr>
          <p:cNvPr id="20" name="Shape 18"/>
          <p:cNvSpPr/>
          <p:nvPr/>
        </p:nvSpPr>
        <p:spPr>
          <a:xfrm>
            <a:off x="502920" y="3621024"/>
            <a:ext cx="8138160" cy="640080"/>
          </a:xfrm>
          <a:prstGeom prst="roundRect">
            <a:avLst>
              <a:gd name="adj" fmla="val 11429"/>
            </a:avLst>
          </a:prstGeom>
          <a:solidFill>
            <a:srgbClr val="FAEEDA"/>
          </a:solidFill>
          <a:ln w="6350">
            <a:solidFill>
              <a:srgbClr val="D3D1C7"/>
            </a:solidFill>
            <a:prstDash val="solid"/>
          </a:ln>
        </p:spPr>
      </p:sp>
      <p:sp>
        <p:nvSpPr>
          <p:cNvPr id="21" name="Shape 19"/>
          <p:cNvSpPr/>
          <p:nvPr/>
        </p:nvSpPr>
        <p:spPr>
          <a:xfrm>
            <a:off x="658368" y="3712464"/>
            <a:ext cx="411480" cy="411480"/>
          </a:xfrm>
          <a:prstGeom prst="ellipse">
            <a:avLst/>
          </a:prstGeom>
          <a:solidFill>
            <a:srgbClr val="BA7517"/>
          </a:solidFill>
          <a:ln w="12700">
            <a:solidFill>
              <a:srgbClr val="BA7517"/>
            </a:solidFill>
            <a:prstDash val="solid"/>
          </a:ln>
        </p:spPr>
      </p:sp>
      <p:sp>
        <p:nvSpPr>
          <p:cNvPr id="22" name="Text 20"/>
          <p:cNvSpPr/>
          <p:nvPr/>
        </p:nvSpPr>
        <p:spPr>
          <a:xfrm>
            <a:off x="658368" y="371246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1207008" y="3675888"/>
            <a:ext cx="2926080" cy="256032"/>
          </a:xfrm>
          <a:prstGeom prst="rect">
            <a:avLst/>
          </a:prstGeom>
          <a:noFill/>
          <a:ln/>
        </p:spPr>
        <p:txBody>
          <a:bodyPr wrap="square" rtlCol="0" anchor="ctr"/>
          <a:lstStyle/>
          <a:p>
            <a:pPr indent="0" marL="0">
              <a:buNone/>
            </a:pPr>
            <a:r>
              <a:rPr lang="en-US" sz="1200" b="1" dirty="0">
                <a:solidFill>
                  <a:srgbClr val="BA7517"/>
                </a:solidFill>
                <a:latin typeface="Arial" pitchFamily="34" charset="0"/>
                <a:ea typeface="Arial" pitchFamily="34" charset="-122"/>
                <a:cs typeface="Arial" pitchFamily="34" charset="-120"/>
              </a:rPr>
              <a:t>Cross-session memory</a:t>
            </a:r>
            <a:endParaRPr lang="en-US" sz="1200" dirty="0"/>
          </a:p>
        </p:txBody>
      </p:sp>
      <p:sp>
        <p:nvSpPr>
          <p:cNvPr id="24" name="Text 22"/>
          <p:cNvSpPr/>
          <p:nvPr/>
        </p:nvSpPr>
        <p:spPr>
          <a:xfrm>
            <a:off x="1207008" y="3950208"/>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Past ADR decisions retrieved from Jira. Agents enforce consistency across sessions.</a:t>
            </a:r>
            <a:endParaRPr lang="en-US" sz="1000" dirty="0"/>
          </a:p>
        </p:txBody>
      </p:sp>
      <p:sp>
        <p:nvSpPr>
          <p:cNvPr id="25" name="Text 23"/>
          <p:cNvSpPr/>
          <p:nvPr/>
        </p:nvSpPr>
        <p:spPr>
          <a:xfrm>
            <a:off x="502920" y="4480560"/>
            <a:ext cx="8138160" cy="256032"/>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Post-Friday: pgvector RAG in Supabase — Well-Architected Framework + delivery standards as searchable vector store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COST ENGINEERING — LEARNINGS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Token consumption: measured, then engineered down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Text 3"/>
          <p:cNvSpPr/>
          <p:nvPr/>
        </p:nvSpPr>
        <p:spPr>
          <a:xfrm>
            <a:off x="502920" y="1325880"/>
            <a:ext cx="3840480" cy="274320"/>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Baseline per session (9 agents, real doc)</a:t>
            </a:r>
            <a:endParaRPr lang="en-US" sz="1200" dirty="0"/>
          </a:p>
        </p:txBody>
      </p:sp>
      <p:sp>
        <p:nvSpPr>
          <p:cNvPr id="6" name="Shape 4"/>
          <p:cNvSpPr/>
          <p:nvPr/>
        </p:nvSpPr>
        <p:spPr>
          <a:xfrm>
            <a:off x="502920" y="1627632"/>
            <a:ext cx="5029200" cy="329184"/>
          </a:xfrm>
          <a:prstGeom prst="rect">
            <a:avLst/>
          </a:prstGeom>
          <a:solidFill>
            <a:srgbClr val="0F1E3C"/>
          </a:solidFill>
          <a:ln w="6350">
            <a:solidFill>
              <a:srgbClr val="EBEBEB"/>
            </a:solidFill>
            <a:prstDash val="solid"/>
          </a:ln>
        </p:spPr>
      </p:sp>
      <p:sp>
        <p:nvSpPr>
          <p:cNvPr id="7" name="Text 5"/>
          <p:cNvSpPr/>
          <p:nvPr/>
        </p:nvSpPr>
        <p:spPr>
          <a:xfrm>
            <a:off x="594360" y="1673352"/>
            <a:ext cx="283464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Source</a:t>
            </a:r>
            <a:endParaRPr lang="en-US" sz="900" dirty="0"/>
          </a:p>
        </p:txBody>
      </p:sp>
      <p:sp>
        <p:nvSpPr>
          <p:cNvPr id="8" name="Text 6"/>
          <p:cNvSpPr/>
          <p:nvPr/>
        </p:nvSpPr>
        <p:spPr>
          <a:xfrm>
            <a:off x="3474720" y="1673352"/>
            <a:ext cx="68580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Tokens</a:t>
            </a:r>
            <a:endParaRPr lang="en-US" sz="900" dirty="0"/>
          </a:p>
        </p:txBody>
      </p:sp>
      <p:sp>
        <p:nvSpPr>
          <p:cNvPr id="9" name="Text 7"/>
          <p:cNvSpPr/>
          <p:nvPr/>
        </p:nvSpPr>
        <p:spPr>
          <a:xfrm>
            <a:off x="4206240" y="1673352"/>
            <a:ext cx="123444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Notes</a:t>
            </a:r>
            <a:endParaRPr lang="en-US" sz="900" dirty="0"/>
          </a:p>
        </p:txBody>
      </p:sp>
      <p:sp>
        <p:nvSpPr>
          <p:cNvPr id="10" name="Shape 8"/>
          <p:cNvSpPr/>
          <p:nvPr/>
        </p:nvSpPr>
        <p:spPr>
          <a:xfrm>
            <a:off x="502920" y="1975104"/>
            <a:ext cx="5029200" cy="329184"/>
          </a:xfrm>
          <a:prstGeom prst="rect">
            <a:avLst/>
          </a:prstGeom>
          <a:solidFill>
            <a:srgbClr val="F7F8FA"/>
          </a:solidFill>
          <a:ln w="6350">
            <a:solidFill>
              <a:srgbClr val="EBEBEB"/>
            </a:solidFill>
            <a:prstDash val="solid"/>
          </a:ln>
        </p:spPr>
      </p:sp>
      <p:sp>
        <p:nvSpPr>
          <p:cNvPr id="11" name="Text 9"/>
          <p:cNvSpPr/>
          <p:nvPr/>
        </p:nvSpPr>
        <p:spPr>
          <a:xfrm>
            <a:off x="594360" y="2020824"/>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Document input (NovaPeak SDD)</a:t>
            </a:r>
            <a:endParaRPr lang="en-US" sz="950" dirty="0"/>
          </a:p>
        </p:txBody>
      </p:sp>
      <p:sp>
        <p:nvSpPr>
          <p:cNvPr id="12" name="Text 10"/>
          <p:cNvSpPr/>
          <p:nvPr/>
        </p:nvSpPr>
        <p:spPr>
          <a:xfrm>
            <a:off x="3474720" y="2020824"/>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~4,000</a:t>
            </a:r>
            <a:endParaRPr lang="en-US" sz="950" dirty="0"/>
          </a:p>
        </p:txBody>
      </p:sp>
      <p:sp>
        <p:nvSpPr>
          <p:cNvPr id="13" name="Text 11"/>
          <p:cNvSpPr/>
          <p:nvPr/>
        </p:nvSpPr>
        <p:spPr>
          <a:xfrm>
            <a:off x="4206240" y="2020824"/>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Injected to all agents</a:t>
            </a:r>
            <a:endParaRPr lang="en-US" sz="950" dirty="0"/>
          </a:p>
        </p:txBody>
      </p:sp>
      <p:sp>
        <p:nvSpPr>
          <p:cNvPr id="14" name="Shape 12"/>
          <p:cNvSpPr/>
          <p:nvPr/>
        </p:nvSpPr>
        <p:spPr>
          <a:xfrm>
            <a:off x="502920" y="2322576"/>
            <a:ext cx="5029200" cy="329184"/>
          </a:xfrm>
          <a:prstGeom prst="rect">
            <a:avLst/>
          </a:prstGeom>
          <a:solidFill>
            <a:srgbClr val="FFFFFF"/>
          </a:solidFill>
          <a:ln w="6350">
            <a:solidFill>
              <a:srgbClr val="EBEBEB"/>
            </a:solidFill>
            <a:prstDash val="solid"/>
          </a:ln>
        </p:spPr>
      </p:sp>
      <p:sp>
        <p:nvSpPr>
          <p:cNvPr id="15" name="Text 13"/>
          <p:cNvSpPr/>
          <p:nvPr/>
        </p:nvSpPr>
        <p:spPr>
          <a:xfrm>
            <a:off x="594360" y="2368296"/>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9 agent system prompts</a:t>
            </a:r>
            <a:endParaRPr lang="en-US" sz="950" dirty="0"/>
          </a:p>
        </p:txBody>
      </p:sp>
      <p:sp>
        <p:nvSpPr>
          <p:cNvPr id="16" name="Text 14"/>
          <p:cNvSpPr/>
          <p:nvPr/>
        </p:nvSpPr>
        <p:spPr>
          <a:xfrm>
            <a:off x="3474720" y="2368296"/>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~18,000</a:t>
            </a:r>
            <a:endParaRPr lang="en-US" sz="950" dirty="0"/>
          </a:p>
        </p:txBody>
      </p:sp>
      <p:sp>
        <p:nvSpPr>
          <p:cNvPr id="17" name="Text 15"/>
          <p:cNvSpPr/>
          <p:nvPr/>
        </p:nvSpPr>
        <p:spPr>
          <a:xfrm>
            <a:off x="4206240" y="2368296"/>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Duplicated boilerplate = waste</a:t>
            </a:r>
            <a:endParaRPr lang="en-US" sz="950" dirty="0"/>
          </a:p>
        </p:txBody>
      </p:sp>
      <p:sp>
        <p:nvSpPr>
          <p:cNvPr id="18" name="Shape 16"/>
          <p:cNvSpPr/>
          <p:nvPr/>
        </p:nvSpPr>
        <p:spPr>
          <a:xfrm>
            <a:off x="502920" y="2670048"/>
            <a:ext cx="5029200" cy="329184"/>
          </a:xfrm>
          <a:prstGeom prst="rect">
            <a:avLst/>
          </a:prstGeom>
          <a:solidFill>
            <a:srgbClr val="F7F8FA"/>
          </a:solidFill>
          <a:ln w="6350">
            <a:solidFill>
              <a:srgbClr val="EBEBEB"/>
            </a:solidFill>
            <a:prstDash val="solid"/>
          </a:ln>
        </p:spPr>
      </p:sp>
      <p:sp>
        <p:nvSpPr>
          <p:cNvPr id="19" name="Text 17"/>
          <p:cNvSpPr/>
          <p:nvPr/>
        </p:nvSpPr>
        <p:spPr>
          <a:xfrm>
            <a:off x="594360" y="2715768"/>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memory (50 tickets fetched)</a:t>
            </a:r>
            <a:endParaRPr lang="en-US" sz="950" dirty="0"/>
          </a:p>
        </p:txBody>
      </p:sp>
      <p:sp>
        <p:nvSpPr>
          <p:cNvPr id="20" name="Text 18"/>
          <p:cNvSpPr/>
          <p:nvPr/>
        </p:nvSpPr>
        <p:spPr>
          <a:xfrm>
            <a:off x="3474720" y="2715768"/>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~50,000</a:t>
            </a:r>
            <a:endParaRPr lang="en-US" sz="950" dirty="0"/>
          </a:p>
        </p:txBody>
      </p:sp>
      <p:sp>
        <p:nvSpPr>
          <p:cNvPr id="21" name="Text 19"/>
          <p:cNvSpPr/>
          <p:nvPr/>
        </p:nvSpPr>
        <p:spPr>
          <a:xfrm>
            <a:off x="4206240" y="2715768"/>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Over-fetching, scored client-side</a:t>
            </a:r>
            <a:endParaRPr lang="en-US" sz="950" dirty="0"/>
          </a:p>
        </p:txBody>
      </p:sp>
      <p:sp>
        <p:nvSpPr>
          <p:cNvPr id="22" name="Shape 20"/>
          <p:cNvSpPr/>
          <p:nvPr/>
        </p:nvSpPr>
        <p:spPr>
          <a:xfrm>
            <a:off x="502920" y="3017520"/>
            <a:ext cx="5029200" cy="329184"/>
          </a:xfrm>
          <a:prstGeom prst="rect">
            <a:avLst/>
          </a:prstGeom>
          <a:solidFill>
            <a:srgbClr val="FFFFFF"/>
          </a:solidFill>
          <a:ln w="6350">
            <a:solidFill>
              <a:srgbClr val="EBEBEB"/>
            </a:solidFill>
            <a:prstDash val="solid"/>
          </a:ln>
        </p:spPr>
      </p:sp>
      <p:sp>
        <p:nvSpPr>
          <p:cNvPr id="23" name="Text 21"/>
          <p:cNvSpPr/>
          <p:nvPr/>
        </p:nvSpPr>
        <p:spPr>
          <a:xfrm>
            <a:off x="594360" y="3063240"/>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Scribe + Learner full context</a:t>
            </a:r>
            <a:endParaRPr lang="en-US" sz="950" dirty="0"/>
          </a:p>
        </p:txBody>
      </p:sp>
      <p:sp>
        <p:nvSpPr>
          <p:cNvPr id="24" name="Text 22"/>
          <p:cNvSpPr/>
          <p:nvPr/>
        </p:nvSpPr>
        <p:spPr>
          <a:xfrm>
            <a:off x="3474720" y="3063240"/>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~6,000</a:t>
            </a:r>
            <a:endParaRPr lang="en-US" sz="950" dirty="0"/>
          </a:p>
        </p:txBody>
      </p:sp>
      <p:sp>
        <p:nvSpPr>
          <p:cNvPr id="25" name="Text 23"/>
          <p:cNvSpPr/>
          <p:nvPr/>
        </p:nvSpPr>
        <p:spPr>
          <a:xfrm>
            <a:off x="4206240" y="3063240"/>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Unnecessary — only need Judge output</a:t>
            </a:r>
            <a:endParaRPr lang="en-US" sz="950" dirty="0"/>
          </a:p>
        </p:txBody>
      </p:sp>
      <p:sp>
        <p:nvSpPr>
          <p:cNvPr id="26" name="Shape 24"/>
          <p:cNvSpPr/>
          <p:nvPr/>
        </p:nvSpPr>
        <p:spPr>
          <a:xfrm>
            <a:off x="502920" y="3364992"/>
            <a:ext cx="5029200" cy="329184"/>
          </a:xfrm>
          <a:prstGeom prst="rect">
            <a:avLst/>
          </a:prstGeom>
          <a:solidFill>
            <a:srgbClr val="F7F8FA"/>
          </a:solidFill>
          <a:ln w="6350">
            <a:solidFill>
              <a:srgbClr val="EBEBEB"/>
            </a:solidFill>
            <a:prstDash val="solid"/>
          </a:ln>
        </p:spPr>
      </p:sp>
      <p:sp>
        <p:nvSpPr>
          <p:cNvPr id="27" name="Text 25"/>
          <p:cNvSpPr/>
          <p:nvPr/>
        </p:nvSpPr>
        <p:spPr>
          <a:xfrm>
            <a:off x="594360" y="3410712"/>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Agent outputs (9 × 500)</a:t>
            </a:r>
            <a:endParaRPr lang="en-US" sz="950" dirty="0"/>
          </a:p>
        </p:txBody>
      </p:sp>
      <p:sp>
        <p:nvSpPr>
          <p:cNvPr id="28" name="Text 26"/>
          <p:cNvSpPr/>
          <p:nvPr/>
        </p:nvSpPr>
        <p:spPr>
          <a:xfrm>
            <a:off x="3474720" y="3410712"/>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~4,500</a:t>
            </a:r>
            <a:endParaRPr lang="en-US" sz="950" dirty="0"/>
          </a:p>
        </p:txBody>
      </p:sp>
      <p:sp>
        <p:nvSpPr>
          <p:cNvPr id="29" name="Text 27"/>
          <p:cNvSpPr/>
          <p:nvPr/>
        </p:nvSpPr>
        <p:spPr>
          <a:xfrm>
            <a:off x="4206240" y="3410712"/>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Output tokens</a:t>
            </a:r>
            <a:endParaRPr lang="en-US" sz="950" dirty="0"/>
          </a:p>
        </p:txBody>
      </p:sp>
      <p:sp>
        <p:nvSpPr>
          <p:cNvPr id="30" name="Shape 28"/>
          <p:cNvSpPr/>
          <p:nvPr/>
        </p:nvSpPr>
        <p:spPr>
          <a:xfrm>
            <a:off x="502920" y="3712464"/>
            <a:ext cx="5029200" cy="329184"/>
          </a:xfrm>
          <a:prstGeom prst="rect">
            <a:avLst/>
          </a:prstGeom>
          <a:solidFill>
            <a:srgbClr val="EBF2FA"/>
          </a:solidFill>
          <a:ln w="6350">
            <a:solidFill>
              <a:srgbClr val="EBEBEB"/>
            </a:solidFill>
            <a:prstDash val="solid"/>
          </a:ln>
        </p:spPr>
      </p:sp>
      <p:sp>
        <p:nvSpPr>
          <p:cNvPr id="31" name="Text 29"/>
          <p:cNvSpPr/>
          <p:nvPr/>
        </p:nvSpPr>
        <p:spPr>
          <a:xfrm>
            <a:off x="594360" y="3758184"/>
            <a:ext cx="283464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Total baseline</a:t>
            </a:r>
            <a:endParaRPr lang="en-US" sz="950" dirty="0"/>
          </a:p>
        </p:txBody>
      </p:sp>
      <p:sp>
        <p:nvSpPr>
          <p:cNvPr id="32" name="Text 30"/>
          <p:cNvSpPr/>
          <p:nvPr/>
        </p:nvSpPr>
        <p:spPr>
          <a:xfrm>
            <a:off x="3474720" y="3758184"/>
            <a:ext cx="68580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~82,500</a:t>
            </a:r>
            <a:endParaRPr lang="en-US" sz="950" dirty="0"/>
          </a:p>
        </p:txBody>
      </p:sp>
      <p:sp>
        <p:nvSpPr>
          <p:cNvPr id="33" name="Text 31"/>
          <p:cNvSpPr/>
          <p:nvPr/>
        </p:nvSpPr>
        <p:spPr>
          <a:xfrm>
            <a:off x="4206240" y="3758184"/>
            <a:ext cx="123444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~$0.29 per session on Sonnet</a:t>
            </a:r>
            <a:endParaRPr lang="en-US" sz="950" dirty="0"/>
          </a:p>
        </p:txBody>
      </p:sp>
      <p:sp>
        <p:nvSpPr>
          <p:cNvPr id="34" name="Text 32"/>
          <p:cNvSpPr/>
          <p:nvPr/>
        </p:nvSpPr>
        <p:spPr>
          <a:xfrm>
            <a:off x="5806440" y="1325880"/>
            <a:ext cx="2880360" cy="274320"/>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Optimisations implemented</a:t>
            </a:r>
            <a:endParaRPr lang="en-US" sz="1200" dirty="0"/>
          </a:p>
        </p:txBody>
      </p:sp>
      <p:sp>
        <p:nvSpPr>
          <p:cNvPr id="35" name="Shape 33"/>
          <p:cNvSpPr/>
          <p:nvPr/>
        </p:nvSpPr>
        <p:spPr>
          <a:xfrm>
            <a:off x="5806440" y="1627632"/>
            <a:ext cx="2880360" cy="402336"/>
          </a:xfrm>
          <a:prstGeom prst="roundRect">
            <a:avLst>
              <a:gd name="adj" fmla="val 18182"/>
            </a:avLst>
          </a:prstGeom>
          <a:solidFill>
            <a:srgbClr val="E1F5EE"/>
          </a:solidFill>
          <a:ln w="6350">
            <a:solidFill>
              <a:srgbClr val="D3D1C7"/>
            </a:solidFill>
            <a:prstDash val="solid"/>
          </a:ln>
        </p:spPr>
      </p:sp>
      <p:sp>
        <p:nvSpPr>
          <p:cNvPr id="36" name="Text 34"/>
          <p:cNvSpPr/>
          <p:nvPr/>
        </p:nvSpPr>
        <p:spPr>
          <a:xfrm>
            <a:off x="5897880" y="1664208"/>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JQL tightening</a:t>
            </a:r>
            <a:endParaRPr lang="en-US" sz="950" dirty="0"/>
          </a:p>
        </p:txBody>
      </p:sp>
      <p:sp>
        <p:nvSpPr>
          <p:cNvPr id="37" name="Text 35"/>
          <p:cNvSpPr/>
          <p:nvPr/>
        </p:nvSpPr>
        <p:spPr>
          <a:xfrm>
            <a:off x="5897880" y="1847088"/>
            <a:ext cx="2697480" cy="164592"/>
          </a:xfrm>
          <a:prstGeom prst="rect">
            <a:avLst/>
          </a:prstGeom>
          <a:noFill/>
          <a:ln/>
        </p:spPr>
        <p:txBody>
          <a:bodyPr wrap="square" rtlCol="0" anchor="ctr"/>
          <a:lstStyle/>
          <a:p>
            <a:pPr indent="0" marL="0">
              <a:buNone/>
            </a:pPr>
            <a:r>
              <a:rPr lang="en-US" sz="900" b="1" dirty="0">
                <a:solidFill>
                  <a:srgbClr val="0F6E56"/>
                </a:solidFill>
                <a:latin typeface="Arial" pitchFamily="34" charset="0"/>
                <a:ea typeface="Arial" pitchFamily="34" charset="-122"/>
                <a:cs typeface="Arial" pitchFamily="34" charset="-120"/>
              </a:rPr>
              <a:t>saves ~30,000 tokens</a:t>
            </a:r>
            <a:endParaRPr lang="en-US" sz="900" dirty="0"/>
          </a:p>
        </p:txBody>
      </p:sp>
      <p:sp>
        <p:nvSpPr>
          <p:cNvPr id="38" name="Shape 36"/>
          <p:cNvSpPr/>
          <p:nvPr/>
        </p:nvSpPr>
        <p:spPr>
          <a:xfrm>
            <a:off x="5806440" y="2103120"/>
            <a:ext cx="2880360" cy="402336"/>
          </a:xfrm>
          <a:prstGeom prst="roundRect">
            <a:avLst>
              <a:gd name="adj" fmla="val 18182"/>
            </a:avLst>
          </a:prstGeom>
          <a:solidFill>
            <a:srgbClr val="FAEEDA"/>
          </a:solidFill>
          <a:ln w="6350">
            <a:solidFill>
              <a:srgbClr val="D3D1C7"/>
            </a:solidFill>
            <a:prstDash val="solid"/>
          </a:ln>
        </p:spPr>
      </p:sp>
      <p:sp>
        <p:nvSpPr>
          <p:cNvPr id="39" name="Text 37"/>
          <p:cNvSpPr/>
          <p:nvPr/>
        </p:nvSpPr>
        <p:spPr>
          <a:xfrm>
            <a:off x="5897880" y="2139696"/>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Scribe/Learner context trim</a:t>
            </a:r>
            <a:endParaRPr lang="en-US" sz="950" dirty="0"/>
          </a:p>
        </p:txBody>
      </p:sp>
      <p:sp>
        <p:nvSpPr>
          <p:cNvPr id="40" name="Text 38"/>
          <p:cNvSpPr/>
          <p:nvPr/>
        </p:nvSpPr>
        <p:spPr>
          <a:xfrm>
            <a:off x="5897880" y="2322576"/>
            <a:ext cx="2697480" cy="164592"/>
          </a:xfrm>
          <a:prstGeom prst="rect">
            <a:avLst/>
          </a:prstGeom>
          <a:noFill/>
          <a:ln/>
        </p:spPr>
        <p:txBody>
          <a:bodyPr wrap="square" rtlCol="0" anchor="ctr"/>
          <a:lstStyle/>
          <a:p>
            <a:pPr indent="0" marL="0">
              <a:buNone/>
            </a:pPr>
            <a:r>
              <a:rPr lang="en-US" sz="900" b="1" dirty="0">
                <a:solidFill>
                  <a:srgbClr val="BA7517"/>
                </a:solidFill>
                <a:latin typeface="Arial" pitchFamily="34" charset="0"/>
                <a:ea typeface="Arial" pitchFamily="34" charset="-122"/>
                <a:cs typeface="Arial" pitchFamily="34" charset="-120"/>
              </a:rPr>
              <a:t>saves ~6,000 tokens</a:t>
            </a:r>
            <a:endParaRPr lang="en-US" sz="900" dirty="0"/>
          </a:p>
        </p:txBody>
      </p:sp>
      <p:sp>
        <p:nvSpPr>
          <p:cNvPr id="41" name="Shape 39"/>
          <p:cNvSpPr/>
          <p:nvPr/>
        </p:nvSpPr>
        <p:spPr>
          <a:xfrm>
            <a:off x="5806440" y="2578608"/>
            <a:ext cx="2880360" cy="402336"/>
          </a:xfrm>
          <a:prstGeom prst="roundRect">
            <a:avLst>
              <a:gd name="adj" fmla="val 18182"/>
            </a:avLst>
          </a:prstGeom>
          <a:solidFill>
            <a:srgbClr val="EBF2FA"/>
          </a:solidFill>
          <a:ln w="6350">
            <a:solidFill>
              <a:srgbClr val="D3D1C7"/>
            </a:solidFill>
            <a:prstDash val="solid"/>
          </a:ln>
        </p:spPr>
      </p:sp>
      <p:sp>
        <p:nvSpPr>
          <p:cNvPr id="42" name="Text 40"/>
          <p:cNvSpPr/>
          <p:nvPr/>
        </p:nvSpPr>
        <p:spPr>
          <a:xfrm>
            <a:off x="5897880" y="2615184"/>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Shared base prompt</a:t>
            </a:r>
            <a:endParaRPr lang="en-US" sz="950" dirty="0"/>
          </a:p>
        </p:txBody>
      </p:sp>
      <p:sp>
        <p:nvSpPr>
          <p:cNvPr id="43" name="Text 41"/>
          <p:cNvSpPr/>
          <p:nvPr/>
        </p:nvSpPr>
        <p:spPr>
          <a:xfrm>
            <a:off x="5897880" y="2798064"/>
            <a:ext cx="2697480" cy="164592"/>
          </a:xfrm>
          <a:prstGeom prst="rect">
            <a:avLst/>
          </a:prstGeom>
          <a:noFill/>
          <a:ln/>
        </p:spPr>
        <p:txBody>
          <a:bodyPr wrap="square" rtlCol="0" anchor="ctr"/>
          <a:lstStyle/>
          <a:p>
            <a:pPr indent="0" marL="0">
              <a:buNone/>
            </a:pPr>
            <a:r>
              <a:rPr lang="en-US" sz="900" b="1" dirty="0">
                <a:solidFill>
                  <a:srgbClr val="1B4F9B"/>
                </a:solidFill>
                <a:latin typeface="Arial" pitchFamily="34" charset="0"/>
                <a:ea typeface="Arial" pitchFamily="34" charset="-122"/>
                <a:cs typeface="Arial" pitchFamily="34" charset="-120"/>
              </a:rPr>
              <a:t>saves ~5,000 tokens</a:t>
            </a:r>
            <a:endParaRPr lang="en-US" sz="900" dirty="0"/>
          </a:p>
        </p:txBody>
      </p:sp>
      <p:sp>
        <p:nvSpPr>
          <p:cNvPr id="44" name="Shape 42"/>
          <p:cNvSpPr/>
          <p:nvPr/>
        </p:nvSpPr>
        <p:spPr>
          <a:xfrm>
            <a:off x="5806440" y="3054096"/>
            <a:ext cx="2880360" cy="402336"/>
          </a:xfrm>
          <a:prstGeom prst="roundRect">
            <a:avLst>
              <a:gd name="adj" fmla="val 18182"/>
            </a:avLst>
          </a:prstGeom>
          <a:solidFill>
            <a:srgbClr val="EBEBEB"/>
          </a:solidFill>
          <a:ln w="6350">
            <a:solidFill>
              <a:srgbClr val="D3D1C7"/>
            </a:solidFill>
            <a:prstDash val="solid"/>
          </a:ln>
        </p:spPr>
      </p:sp>
      <p:sp>
        <p:nvSpPr>
          <p:cNvPr id="45" name="Text 43"/>
          <p:cNvSpPr/>
          <p:nvPr/>
        </p:nvSpPr>
        <p:spPr>
          <a:xfrm>
            <a:off x="5897880" y="3090672"/>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Doc section routing (post-Fri)</a:t>
            </a:r>
            <a:endParaRPr lang="en-US" sz="950" dirty="0"/>
          </a:p>
        </p:txBody>
      </p:sp>
      <p:sp>
        <p:nvSpPr>
          <p:cNvPr id="46" name="Text 44"/>
          <p:cNvSpPr/>
          <p:nvPr/>
        </p:nvSpPr>
        <p:spPr>
          <a:xfrm>
            <a:off x="5897880" y="3273552"/>
            <a:ext cx="2697480" cy="164592"/>
          </a:xfrm>
          <a:prstGeom prst="rect">
            <a:avLst/>
          </a:prstGeom>
          <a:noFill/>
          <a:ln/>
        </p:spPr>
        <p:txBody>
          <a:bodyPr wrap="square" rtlCol="0" anchor="ctr"/>
          <a:lstStyle/>
          <a:p>
            <a:pPr indent="0" marL="0">
              <a:buNone/>
            </a:pPr>
            <a:r>
              <a:rPr lang="en-US" sz="900" b="1" dirty="0">
                <a:solidFill>
                  <a:srgbClr val="64635E"/>
                </a:solidFill>
                <a:latin typeface="Arial" pitchFamily="34" charset="0"/>
                <a:ea typeface="Arial" pitchFamily="34" charset="-122"/>
                <a:cs typeface="Arial" pitchFamily="34" charset="-120"/>
              </a:rPr>
              <a:t>saves ~20,000 tokens</a:t>
            </a:r>
            <a:endParaRPr lang="en-US" sz="900" dirty="0"/>
          </a:p>
        </p:txBody>
      </p:sp>
      <p:sp>
        <p:nvSpPr>
          <p:cNvPr id="47" name="Shape 45"/>
          <p:cNvSpPr/>
          <p:nvPr/>
        </p:nvSpPr>
        <p:spPr>
          <a:xfrm>
            <a:off x="5806440" y="3529584"/>
            <a:ext cx="2880360" cy="402336"/>
          </a:xfrm>
          <a:prstGeom prst="roundRect">
            <a:avLst>
              <a:gd name="adj" fmla="val 18182"/>
            </a:avLst>
          </a:prstGeom>
          <a:solidFill>
            <a:srgbClr val="E1F5EE"/>
          </a:solidFill>
          <a:ln w="6350">
            <a:solidFill>
              <a:srgbClr val="D3D1C7"/>
            </a:solidFill>
            <a:prstDash val="solid"/>
          </a:ln>
        </p:spPr>
      </p:sp>
      <p:sp>
        <p:nvSpPr>
          <p:cNvPr id="48" name="Text 46"/>
          <p:cNvSpPr/>
          <p:nvPr/>
        </p:nvSpPr>
        <p:spPr>
          <a:xfrm>
            <a:off x="5897880" y="3566160"/>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Prompt caching (post-Fri)</a:t>
            </a:r>
            <a:endParaRPr lang="en-US" sz="950" dirty="0"/>
          </a:p>
        </p:txBody>
      </p:sp>
      <p:sp>
        <p:nvSpPr>
          <p:cNvPr id="49" name="Text 47"/>
          <p:cNvSpPr/>
          <p:nvPr/>
        </p:nvSpPr>
        <p:spPr>
          <a:xfrm>
            <a:off x="5897880" y="3749040"/>
            <a:ext cx="2697480" cy="164592"/>
          </a:xfrm>
          <a:prstGeom prst="rect">
            <a:avLst/>
          </a:prstGeom>
          <a:noFill/>
          <a:ln/>
        </p:spPr>
        <p:txBody>
          <a:bodyPr wrap="square" rtlCol="0" anchor="ctr"/>
          <a:lstStyle/>
          <a:p>
            <a:pPr indent="0" marL="0">
              <a:buNone/>
            </a:pPr>
            <a:r>
              <a:rPr lang="en-US" sz="900" b="1" dirty="0">
                <a:solidFill>
                  <a:srgbClr val="0F6E56"/>
                </a:solidFill>
                <a:latin typeface="Arial" pitchFamily="34" charset="0"/>
                <a:ea typeface="Arial" pitchFamily="34" charset="-122"/>
                <a:cs typeface="Arial" pitchFamily="34" charset="-120"/>
              </a:rPr>
              <a:t>saves 90% on system prompts</a:t>
            </a:r>
            <a:endParaRPr lang="en-US" sz="900" dirty="0"/>
          </a:p>
        </p:txBody>
      </p:sp>
      <p:sp>
        <p:nvSpPr>
          <p:cNvPr id="50" name="Text 48"/>
          <p:cNvSpPr/>
          <p:nvPr/>
        </p:nvSpPr>
        <p:spPr>
          <a:xfrm>
            <a:off x="502920" y="4462272"/>
            <a:ext cx="8138160" cy="256032"/>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After optimisations: ~$0.08–0.12 per session  ·  Full 9-agent run reserved for demo rehearsal only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8321040" cy="365760"/>
          </a:xfrm>
          <a:prstGeom prst="rect">
            <a:avLst/>
          </a:prstGeom>
          <a:solidFill>
            <a:srgbClr val="0F1E3C"/>
          </a:solidFill>
          <a:ln w="6350">
            <a:solidFill>
              <a:srgbClr val="EBEBEB"/>
            </a:solidFill>
            <a:prstDash val="solid"/>
          </a:ln>
        </p:spPr>
      </p:sp>
      <p:sp>
        <p:nvSpPr>
          <p:cNvPr id="6" name="Text 4"/>
          <p:cNvSpPr/>
          <p:nvPr/>
        </p:nvSpPr>
        <p:spPr>
          <a:xfrm>
            <a:off x="502920" y="1362456"/>
            <a:ext cx="256032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362456"/>
            <a:ext cx="274320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362456"/>
            <a:ext cx="269748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682496"/>
            <a:ext cx="8321040" cy="365760"/>
          </a:xfrm>
          <a:prstGeom prst="rect">
            <a:avLst/>
          </a:prstGeom>
          <a:solidFill>
            <a:srgbClr val="F7F8FA"/>
          </a:solidFill>
          <a:ln w="6350">
            <a:solidFill>
              <a:srgbClr val="EBEBEB"/>
            </a:solidFill>
            <a:prstDash val="solid"/>
          </a:ln>
        </p:spPr>
      </p:sp>
      <p:sp>
        <p:nvSpPr>
          <p:cNvPr id="10" name="Text 8"/>
          <p:cNvSpPr/>
          <p:nvPr/>
        </p:nvSpPr>
        <p:spPr>
          <a:xfrm>
            <a:off x="502920" y="1746504"/>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1746504"/>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1746504"/>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066544"/>
            <a:ext cx="8321040" cy="365760"/>
          </a:xfrm>
          <a:prstGeom prst="rect">
            <a:avLst/>
          </a:prstGeom>
          <a:solidFill>
            <a:srgbClr val="FFFFFF"/>
          </a:solidFill>
          <a:ln w="6350">
            <a:solidFill>
              <a:srgbClr val="EBEBEB"/>
            </a:solidFill>
            <a:prstDash val="solid"/>
          </a:ln>
        </p:spPr>
      </p:sp>
      <p:sp>
        <p:nvSpPr>
          <p:cNvPr id="14" name="Text 12"/>
          <p:cNvSpPr/>
          <p:nvPr/>
        </p:nvSpPr>
        <p:spPr>
          <a:xfrm>
            <a:off x="502920" y="2130552"/>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130552"/>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130552"/>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450592"/>
            <a:ext cx="8321040" cy="365760"/>
          </a:xfrm>
          <a:prstGeom prst="rect">
            <a:avLst/>
          </a:prstGeom>
          <a:solidFill>
            <a:srgbClr val="F7F8FA"/>
          </a:solidFill>
          <a:ln w="6350">
            <a:solidFill>
              <a:srgbClr val="EBEBEB"/>
            </a:solidFill>
            <a:prstDash val="solid"/>
          </a:ln>
        </p:spPr>
      </p:sp>
      <p:sp>
        <p:nvSpPr>
          <p:cNvPr id="18" name="Text 16"/>
          <p:cNvSpPr/>
          <p:nvPr/>
        </p:nvSpPr>
        <p:spPr>
          <a:xfrm>
            <a:off x="502920" y="2514600"/>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514600"/>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514600"/>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2834640"/>
            <a:ext cx="8321040" cy="365760"/>
          </a:xfrm>
          <a:prstGeom prst="rect">
            <a:avLst/>
          </a:prstGeom>
          <a:solidFill>
            <a:srgbClr val="FFFFFF"/>
          </a:solidFill>
          <a:ln w="6350">
            <a:solidFill>
              <a:srgbClr val="EBEBEB"/>
            </a:solidFill>
            <a:prstDash val="solid"/>
          </a:ln>
        </p:spPr>
      </p:sp>
      <p:sp>
        <p:nvSpPr>
          <p:cNvPr id="22" name="Text 20"/>
          <p:cNvSpPr/>
          <p:nvPr/>
        </p:nvSpPr>
        <p:spPr>
          <a:xfrm>
            <a:off x="502920" y="2898648"/>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2898648"/>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2898648"/>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218688"/>
            <a:ext cx="8321040" cy="365760"/>
          </a:xfrm>
          <a:prstGeom prst="rect">
            <a:avLst/>
          </a:prstGeom>
          <a:solidFill>
            <a:srgbClr val="F7F8FA"/>
          </a:solidFill>
          <a:ln w="6350">
            <a:solidFill>
              <a:srgbClr val="EBEBEB"/>
            </a:solidFill>
            <a:prstDash val="solid"/>
          </a:ln>
        </p:spPr>
      </p:sp>
      <p:sp>
        <p:nvSpPr>
          <p:cNvPr id="26" name="Text 24"/>
          <p:cNvSpPr/>
          <p:nvPr/>
        </p:nvSpPr>
        <p:spPr>
          <a:xfrm>
            <a:off x="502920" y="3282696"/>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282696"/>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282696"/>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602736"/>
            <a:ext cx="8321040" cy="365760"/>
          </a:xfrm>
          <a:prstGeom prst="rect">
            <a:avLst/>
          </a:prstGeom>
          <a:solidFill>
            <a:srgbClr val="FFFFFF"/>
          </a:solidFill>
          <a:ln w="6350">
            <a:solidFill>
              <a:srgbClr val="EBEBEB"/>
            </a:solidFill>
            <a:prstDash val="solid"/>
          </a:ln>
        </p:spPr>
      </p:sp>
      <p:sp>
        <p:nvSpPr>
          <p:cNvPr id="30" name="Text 28"/>
          <p:cNvSpPr/>
          <p:nvPr/>
        </p:nvSpPr>
        <p:spPr>
          <a:xfrm>
            <a:off x="502920" y="3666744"/>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666744"/>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666744"/>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3986784"/>
            <a:ext cx="8321040" cy="365760"/>
          </a:xfrm>
          <a:prstGeom prst="rect">
            <a:avLst/>
          </a:prstGeom>
          <a:solidFill>
            <a:srgbClr val="F7F8FA"/>
          </a:solidFill>
          <a:ln w="6350">
            <a:solidFill>
              <a:srgbClr val="EBEBEB"/>
            </a:solidFill>
            <a:prstDash val="solid"/>
          </a:ln>
        </p:spPr>
      </p:sp>
      <p:sp>
        <p:nvSpPr>
          <p:cNvPr id="34" name="Text 32"/>
          <p:cNvSpPr/>
          <p:nvPr/>
        </p:nvSpPr>
        <p:spPr>
          <a:xfrm>
            <a:off x="502920" y="4050792"/>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050792"/>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050792"/>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370832"/>
            <a:ext cx="8321040" cy="365760"/>
          </a:xfrm>
          <a:prstGeom prst="rect">
            <a:avLst/>
          </a:prstGeom>
          <a:solidFill>
            <a:srgbClr val="FFFFFF"/>
          </a:solidFill>
          <a:ln w="6350">
            <a:solidFill>
              <a:srgbClr val="EBEBEB"/>
            </a:solidFill>
            <a:prstDash val="solid"/>
          </a:ln>
        </p:spPr>
      </p:sp>
      <p:sp>
        <p:nvSpPr>
          <p:cNvPr id="38" name="Text 36"/>
          <p:cNvSpPr/>
          <p:nvPr/>
        </p:nvSpPr>
        <p:spPr>
          <a:xfrm>
            <a:off x="502920" y="4434840"/>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434840"/>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434840"/>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71600"/>
            <a:ext cx="1965960" cy="2834640"/>
          </a:xfrm>
          <a:prstGeom prst="roundRect">
            <a:avLst>
              <a:gd name="adj" fmla="val 3721"/>
            </a:avLst>
          </a:prstGeom>
          <a:solidFill>
            <a:srgbClr val="EBF2F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411480" y="1463040"/>
            <a:ext cx="196596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1828800"/>
            <a:ext cx="1600200" cy="0"/>
          </a:xfrm>
          <a:prstGeom prst="line">
            <a:avLst/>
          </a:prstGeom>
          <a:noFill/>
          <a:ln w="6350">
            <a:solidFill>
              <a:srgbClr val="EBEBEB"/>
            </a:solidFill>
            <a:prstDash val="solid"/>
          </a:ln>
        </p:spPr>
      </p:sp>
      <p:sp>
        <p:nvSpPr>
          <p:cNvPr id="8" name="Text 6"/>
          <p:cNvSpPr/>
          <p:nvPr/>
        </p:nvSpPr>
        <p:spPr>
          <a:xfrm>
            <a:off x="52120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3-phase parallel execution</a:t>
            </a:r>
            <a:endParaRPr lang="en-US" sz="950" dirty="0"/>
          </a:p>
        </p:txBody>
      </p:sp>
      <p:sp>
        <p:nvSpPr>
          <p:cNvPr id="10" name="Text 8"/>
          <p:cNvSpPr/>
          <p:nvPr/>
        </p:nvSpPr>
        <p:spPr>
          <a:xfrm>
            <a:off x="52120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371600"/>
            <a:ext cx="1965960" cy="2834640"/>
          </a:xfrm>
          <a:prstGeom prst="roundRect">
            <a:avLst>
              <a:gd name="adj" fmla="val 3721"/>
            </a:avLst>
          </a:prstGeom>
          <a:solidFill>
            <a:srgbClr val="E1F5EE"/>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2" name="Text 10"/>
          <p:cNvSpPr/>
          <p:nvPr/>
        </p:nvSpPr>
        <p:spPr>
          <a:xfrm>
            <a:off x="2560320" y="1463040"/>
            <a:ext cx="1965960" cy="320040"/>
          </a:xfrm>
          <a:prstGeom prst="rect">
            <a:avLst/>
          </a:prstGeom>
          <a:noFill/>
          <a:ln/>
        </p:spPr>
        <p:txBody>
          <a:bodyPr wrap="square" rtlCol="0" anchor="ctr"/>
          <a:lstStyle/>
          <a:p>
            <a:pPr algn="ctr" indent="0" marL="0">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1828800"/>
            <a:ext cx="1600200" cy="0"/>
          </a:xfrm>
          <a:prstGeom prst="line">
            <a:avLst/>
          </a:prstGeom>
          <a:noFill/>
          <a:ln w="6350">
            <a:solidFill>
              <a:srgbClr val="EBEBEB"/>
            </a:solidFill>
            <a:prstDash val="solid"/>
          </a:ln>
        </p:spPr>
      </p:sp>
      <p:sp>
        <p:nvSpPr>
          <p:cNvPr id="14" name="Text 12"/>
          <p:cNvSpPr/>
          <p:nvPr/>
        </p:nvSpPr>
        <p:spPr>
          <a:xfrm>
            <a:off x="267004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371600"/>
            <a:ext cx="1965960" cy="2834640"/>
          </a:xfrm>
          <a:prstGeom prst="roundRect">
            <a:avLst>
              <a:gd name="adj" fmla="val 3721"/>
            </a:avLst>
          </a:prstGeom>
          <a:solidFill>
            <a:srgbClr val="FAEED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4709160" y="1463040"/>
            <a:ext cx="1965960" cy="320040"/>
          </a:xfrm>
          <a:prstGeom prst="rect">
            <a:avLst/>
          </a:prstGeom>
          <a:noFill/>
          <a:ln/>
        </p:spPr>
        <p:txBody>
          <a:bodyPr wrap="square" rtlCol="0" anchor="ctr"/>
          <a:lstStyle/>
          <a:p>
            <a:pPr algn="ctr" indent="0" marL="0">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1828800"/>
            <a:ext cx="1600200" cy="0"/>
          </a:xfrm>
          <a:prstGeom prst="line">
            <a:avLst/>
          </a:prstGeom>
          <a:noFill/>
          <a:ln w="6350">
            <a:solidFill>
              <a:srgbClr val="EBEBEB"/>
            </a:solidFill>
            <a:prstDash val="solid"/>
          </a:ln>
        </p:spPr>
      </p:sp>
      <p:sp>
        <p:nvSpPr>
          <p:cNvPr id="20" name="Text 18"/>
          <p:cNvSpPr/>
          <p:nvPr/>
        </p:nvSpPr>
        <p:spPr>
          <a:xfrm>
            <a:off x="481888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SI failure pattern library (FP-004→FP-007)</a:t>
            </a:r>
            <a:endParaRPr lang="en-US" sz="950" dirty="0"/>
          </a:p>
        </p:txBody>
      </p:sp>
      <p:sp>
        <p:nvSpPr>
          <p:cNvPr id="21" name="Text 19"/>
          <p:cNvSpPr/>
          <p:nvPr/>
        </p:nvSpPr>
        <p:spPr>
          <a:xfrm>
            <a:off x="481888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371600"/>
            <a:ext cx="1965960" cy="2834640"/>
          </a:xfrm>
          <a:prstGeom prst="roundRect">
            <a:avLst>
              <a:gd name="adj" fmla="val 3721"/>
            </a:avLst>
          </a:prstGeom>
          <a:solidFill>
            <a:srgbClr val="0F1E3C"/>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4" name="Text 22"/>
          <p:cNvSpPr/>
          <p:nvPr/>
        </p:nvSpPr>
        <p:spPr>
          <a:xfrm>
            <a:off x="6858000" y="1463040"/>
            <a:ext cx="196596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Friday</a:t>
            </a:r>
            <a:endParaRPr lang="en-US" sz="1200" dirty="0"/>
          </a:p>
        </p:txBody>
      </p:sp>
      <p:sp>
        <p:nvSpPr>
          <p:cNvPr id="25" name="Shape 23"/>
          <p:cNvSpPr/>
          <p:nvPr/>
        </p:nvSpPr>
        <p:spPr>
          <a:xfrm>
            <a:off x="7040880" y="1828800"/>
            <a:ext cx="1600200" cy="0"/>
          </a:xfrm>
          <a:prstGeom prst="line">
            <a:avLst/>
          </a:prstGeom>
          <a:noFill/>
          <a:ln w="6350">
            <a:solidFill>
              <a:srgbClr val="445566"/>
            </a:solidFill>
            <a:prstDash val="solid"/>
          </a:ln>
        </p:spPr>
      </p:sp>
      <p:sp>
        <p:nvSpPr>
          <p:cNvPr id="26" name="Text 24"/>
          <p:cNvSpPr/>
          <p:nvPr/>
        </p:nvSpPr>
        <p:spPr>
          <a:xfrm>
            <a:off x="6967728" y="1901952"/>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Document review mode (NEW)</a:t>
            </a:r>
            <a:endParaRPr lang="en-US" sz="950" dirty="0"/>
          </a:p>
        </p:txBody>
      </p:sp>
      <p:sp>
        <p:nvSpPr>
          <p:cNvPr id="27" name="Text 25"/>
          <p:cNvSpPr/>
          <p:nvPr/>
        </p:nvSpPr>
        <p:spPr>
          <a:xfrm>
            <a:off x="6967728" y="2377440"/>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2852928"/>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ROADMAP</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Engineered to deepen over time — not a one-shot tool</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651760" cy="3246120"/>
          </a:xfrm>
          <a:prstGeom prst="roundRect">
            <a:avLst>
              <a:gd name="adj" fmla="val 2759"/>
            </a:avLst>
          </a:prstGeom>
          <a:solidFill>
            <a:srgbClr val="E1F5EE"/>
          </a:solidFill>
          <a:ln w="6350">
            <a:solidFill>
              <a:srgbClr val="D3D1C7"/>
            </a:solidFill>
            <a:prstDash val="solid"/>
          </a:ln>
        </p:spPr>
      </p:sp>
      <p:sp>
        <p:nvSpPr>
          <p:cNvPr id="6" name="Shape 4"/>
          <p:cNvSpPr/>
          <p:nvPr/>
        </p:nvSpPr>
        <p:spPr>
          <a:xfrm>
            <a:off x="411480" y="1325880"/>
            <a:ext cx="2651760" cy="384048"/>
          </a:xfrm>
          <a:prstGeom prst="roundRect">
            <a:avLst>
              <a:gd name="adj" fmla="val 19048"/>
            </a:avLst>
          </a:prstGeom>
          <a:solidFill>
            <a:srgbClr val="0F6E56"/>
          </a:solidFill>
          <a:ln w="12700">
            <a:solidFill>
              <a:srgbClr val="0F6E56"/>
            </a:solidFill>
            <a:prstDash val="solid"/>
          </a:ln>
        </p:spPr>
      </p:sp>
      <p:sp>
        <p:nvSpPr>
          <p:cNvPr id="7" name="Text 5"/>
          <p:cNvSpPr/>
          <p:nvPr/>
        </p:nvSpPr>
        <p:spPr>
          <a:xfrm>
            <a:off x="411480"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Now — done</a:t>
            </a:r>
            <a:endParaRPr lang="en-US" sz="1200" dirty="0"/>
          </a:p>
        </p:txBody>
      </p:sp>
      <p:sp>
        <p:nvSpPr>
          <p:cNvPr id="8" name="Text 6"/>
          <p:cNvSpPr/>
          <p:nvPr/>
        </p:nvSpPr>
        <p:spPr>
          <a:xfrm>
            <a:off x="548640" y="1792224"/>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Cross-session Jira memory</a:t>
            </a:r>
            <a:endParaRPr lang="en-US" sz="1000" dirty="0"/>
          </a:p>
        </p:txBody>
      </p:sp>
      <p:sp>
        <p:nvSpPr>
          <p:cNvPr id="9" name="Text 7"/>
          <p:cNvSpPr/>
          <p:nvPr/>
        </p:nvSpPr>
        <p:spPr>
          <a:xfrm>
            <a:off x="548640" y="2304288"/>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SI failure pattern library</a:t>
            </a:r>
            <a:endParaRPr lang="en-US" sz="1000" dirty="0"/>
          </a:p>
        </p:txBody>
      </p:sp>
      <p:sp>
        <p:nvSpPr>
          <p:cNvPr id="10" name="Text 8"/>
          <p:cNvSpPr/>
          <p:nvPr/>
        </p:nvSpPr>
        <p:spPr>
          <a:xfrm>
            <a:off x="548640" y="2816352"/>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Confidence badges + endorsement flow</a:t>
            </a:r>
            <a:endParaRPr lang="en-US" sz="1000" dirty="0"/>
          </a:p>
        </p:txBody>
      </p:sp>
      <p:sp>
        <p:nvSpPr>
          <p:cNvPr id="11" name="Text 9"/>
          <p:cNvSpPr/>
          <p:nvPr/>
        </p:nvSpPr>
        <p:spPr>
          <a:xfrm>
            <a:off x="548640" y="3328416"/>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Salesforce org metadata injection</a:t>
            </a:r>
            <a:endParaRPr lang="en-US" sz="1000" dirty="0"/>
          </a:p>
        </p:txBody>
      </p:sp>
      <p:sp>
        <p:nvSpPr>
          <p:cNvPr id="12" name="Text 10"/>
          <p:cNvSpPr/>
          <p:nvPr/>
        </p:nvSpPr>
        <p:spPr>
          <a:xfrm>
            <a:off x="548640" y="3840480"/>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Supabase cost analytics</a:t>
            </a:r>
            <a:endParaRPr lang="en-US" sz="1000" dirty="0"/>
          </a:p>
        </p:txBody>
      </p:sp>
      <p:sp>
        <p:nvSpPr>
          <p:cNvPr id="13" name="Shape 11"/>
          <p:cNvSpPr/>
          <p:nvPr/>
        </p:nvSpPr>
        <p:spPr>
          <a:xfrm>
            <a:off x="3227832" y="1325880"/>
            <a:ext cx="2651760" cy="3246120"/>
          </a:xfrm>
          <a:prstGeom prst="roundRect">
            <a:avLst>
              <a:gd name="adj" fmla="val 2759"/>
            </a:avLst>
          </a:prstGeom>
          <a:solidFill>
            <a:srgbClr val="EBF2FA"/>
          </a:solidFill>
          <a:ln w="6350">
            <a:solidFill>
              <a:srgbClr val="D3D1C7"/>
            </a:solidFill>
            <a:prstDash val="solid"/>
          </a:ln>
        </p:spPr>
      </p:sp>
      <p:sp>
        <p:nvSpPr>
          <p:cNvPr id="14" name="Shape 12"/>
          <p:cNvSpPr/>
          <p:nvPr/>
        </p:nvSpPr>
        <p:spPr>
          <a:xfrm>
            <a:off x="3227832" y="1325880"/>
            <a:ext cx="2651760" cy="384048"/>
          </a:xfrm>
          <a:prstGeom prst="roundRect">
            <a:avLst>
              <a:gd name="adj" fmla="val 19048"/>
            </a:avLst>
          </a:prstGeom>
          <a:solidFill>
            <a:srgbClr val="1B4F9B"/>
          </a:solidFill>
          <a:ln w="12700">
            <a:solidFill>
              <a:srgbClr val="1B4F9B"/>
            </a:solidFill>
            <a:prstDash val="solid"/>
          </a:ln>
        </p:spPr>
      </p:sp>
      <p:sp>
        <p:nvSpPr>
          <p:cNvPr id="15" name="Text 13"/>
          <p:cNvSpPr/>
          <p:nvPr/>
        </p:nvSpPr>
        <p:spPr>
          <a:xfrm>
            <a:off x="3227832"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Friday</a:t>
            </a:r>
            <a:endParaRPr lang="en-US" sz="1200" dirty="0"/>
          </a:p>
        </p:txBody>
      </p:sp>
      <p:sp>
        <p:nvSpPr>
          <p:cNvPr id="16" name="Text 14"/>
          <p:cNvSpPr/>
          <p:nvPr/>
        </p:nvSpPr>
        <p:spPr>
          <a:xfrm>
            <a:off x="3364992" y="1792224"/>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Document review mode</a:t>
            </a:r>
            <a:endParaRPr lang="en-US" sz="1000" dirty="0"/>
          </a:p>
        </p:txBody>
      </p:sp>
      <p:sp>
        <p:nvSpPr>
          <p:cNvPr id="17" name="Text 15"/>
          <p:cNvSpPr/>
          <p:nvPr/>
        </p:nvSpPr>
        <p:spPr>
          <a:xfrm>
            <a:off x="3364992" y="2304288"/>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Well-Architected principles in prompts</a:t>
            </a:r>
            <a:endParaRPr lang="en-US" sz="1000" dirty="0"/>
          </a:p>
        </p:txBody>
      </p:sp>
      <p:sp>
        <p:nvSpPr>
          <p:cNvPr id="18" name="Text 16"/>
          <p:cNvSpPr/>
          <p:nvPr/>
        </p:nvSpPr>
        <p:spPr>
          <a:xfrm>
            <a:off x="3364992" y="2816352"/>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Token optimisations (3 fixes)</a:t>
            </a:r>
            <a:endParaRPr lang="en-US" sz="1000" dirty="0"/>
          </a:p>
        </p:txBody>
      </p:sp>
      <p:sp>
        <p:nvSpPr>
          <p:cNvPr id="19" name="Text 17"/>
          <p:cNvSpPr/>
          <p:nvPr/>
        </p:nvSpPr>
        <p:spPr>
          <a:xfrm>
            <a:off x="3364992" y="3328416"/>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Gated endorsement — Jira assign</a:t>
            </a:r>
            <a:endParaRPr lang="en-US" sz="1000" dirty="0"/>
          </a:p>
        </p:txBody>
      </p:sp>
      <p:sp>
        <p:nvSpPr>
          <p:cNvPr id="20" name="Text 18"/>
          <p:cNvSpPr/>
          <p:nvPr/>
        </p:nvSpPr>
        <p:spPr>
          <a:xfrm>
            <a:off x="3364992" y="3840480"/>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Fix Revision Round</a:t>
            </a:r>
            <a:endParaRPr lang="en-US" sz="1000" dirty="0"/>
          </a:p>
        </p:txBody>
      </p:sp>
      <p:sp>
        <p:nvSpPr>
          <p:cNvPr id="21" name="Shape 19"/>
          <p:cNvSpPr/>
          <p:nvPr/>
        </p:nvSpPr>
        <p:spPr>
          <a:xfrm>
            <a:off x="6044184" y="1325880"/>
            <a:ext cx="2651760" cy="3246120"/>
          </a:xfrm>
          <a:prstGeom prst="roundRect">
            <a:avLst>
              <a:gd name="adj" fmla="val 2759"/>
            </a:avLst>
          </a:prstGeom>
          <a:solidFill>
            <a:srgbClr val="FAEEDA"/>
          </a:solidFill>
          <a:ln w="6350">
            <a:solidFill>
              <a:srgbClr val="D3D1C7"/>
            </a:solidFill>
            <a:prstDash val="solid"/>
          </a:ln>
        </p:spPr>
      </p:sp>
      <p:sp>
        <p:nvSpPr>
          <p:cNvPr id="22" name="Shape 20"/>
          <p:cNvSpPr/>
          <p:nvPr/>
        </p:nvSpPr>
        <p:spPr>
          <a:xfrm>
            <a:off x="6044184" y="1325880"/>
            <a:ext cx="2651760" cy="384048"/>
          </a:xfrm>
          <a:prstGeom prst="roundRect">
            <a:avLst>
              <a:gd name="adj" fmla="val 19048"/>
            </a:avLst>
          </a:prstGeom>
          <a:solidFill>
            <a:srgbClr val="BA7517"/>
          </a:solidFill>
          <a:ln w="12700">
            <a:solidFill>
              <a:srgbClr val="BA7517"/>
            </a:solidFill>
            <a:prstDash val="solid"/>
          </a:ln>
        </p:spPr>
      </p:sp>
      <p:sp>
        <p:nvSpPr>
          <p:cNvPr id="23" name="Text 21"/>
          <p:cNvSpPr/>
          <p:nvPr/>
        </p:nvSpPr>
        <p:spPr>
          <a:xfrm>
            <a:off x="6044184"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Post-Friday</a:t>
            </a:r>
            <a:endParaRPr lang="en-US" sz="1200" dirty="0"/>
          </a:p>
        </p:txBody>
      </p:sp>
      <p:sp>
        <p:nvSpPr>
          <p:cNvPr id="24" name="Text 22"/>
          <p:cNvSpPr/>
          <p:nvPr/>
        </p:nvSpPr>
        <p:spPr>
          <a:xfrm>
            <a:off x="6181344" y="1792224"/>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pgvector RAG — full framework corpus</a:t>
            </a:r>
            <a:endParaRPr lang="en-US" sz="1000" dirty="0"/>
          </a:p>
        </p:txBody>
      </p:sp>
      <p:sp>
        <p:nvSpPr>
          <p:cNvPr id="25" name="Text 23"/>
          <p:cNvSpPr/>
          <p:nvPr/>
        </p:nvSpPr>
        <p:spPr>
          <a:xfrm>
            <a:off x="6181344" y="2304288"/>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Multi-tenant client config in Supabase</a:t>
            </a:r>
            <a:endParaRPr lang="en-US" sz="1000" dirty="0"/>
          </a:p>
        </p:txBody>
      </p:sp>
      <p:sp>
        <p:nvSpPr>
          <p:cNvPr id="26" name="Text 24"/>
          <p:cNvSpPr/>
          <p:nvPr/>
        </p:nvSpPr>
        <p:spPr>
          <a:xfrm>
            <a:off x="6181344" y="2816352"/>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Prompt caching (90% cost reduction)</a:t>
            </a:r>
            <a:endParaRPr lang="en-US" sz="1000" dirty="0"/>
          </a:p>
        </p:txBody>
      </p:sp>
      <p:sp>
        <p:nvSpPr>
          <p:cNvPr id="27" name="Text 25"/>
          <p:cNvSpPr/>
          <p:nvPr/>
        </p:nvSpPr>
        <p:spPr>
          <a:xfrm>
            <a:off x="6181344" y="3328416"/>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Doc section routing per agent</a:t>
            </a:r>
            <a:endParaRPr lang="en-US" sz="1000" dirty="0"/>
          </a:p>
        </p:txBody>
      </p:sp>
      <p:sp>
        <p:nvSpPr>
          <p:cNvPr id="28" name="Text 26"/>
          <p:cNvSpPr/>
          <p:nvPr/>
        </p:nvSpPr>
        <p:spPr>
          <a:xfrm>
            <a:off x="6181344" y="3840480"/>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Confluence write-back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411480"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0" name="Text 8"/>
          <p:cNvSpPr/>
          <p:nvPr/>
        </p:nvSpPr>
        <p:spPr>
          <a:xfrm>
            <a:off x="3227832"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4" name="Text 12"/>
          <p:cNvSpPr/>
          <p:nvPr/>
        </p:nvSpPr>
        <p:spPr>
          <a:xfrm>
            <a:off x="6044184"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411480"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2" name="Text 20"/>
          <p:cNvSpPr/>
          <p:nvPr/>
        </p:nvSpPr>
        <p:spPr>
          <a:xfrm>
            <a:off x="3227832"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6" name="Text 24"/>
          <p:cNvSpPr/>
          <p:nvPr/>
        </p:nvSpPr>
        <p:spPr>
          <a:xfrm>
            <a:off x="6044184"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algn="ctr" indent="0" marL="0">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sp>
      <p:sp>
        <p:nvSpPr>
          <p:cNvPr id="5" name="Text 3"/>
          <p:cNvSpPr/>
          <p:nvPr/>
        </p:nvSpPr>
        <p:spPr>
          <a:xfrm>
            <a:off x="91440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algn="ctr" indent="0" marL="0">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1645920"/>
            <a:ext cx="8138160" cy="73152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algn="ctr" indent="0" marL="0">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sp>
      <p:sp>
        <p:nvSpPr>
          <p:cNvPr id="5" name="Text 3"/>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algn="ctr" indent="0" marL="0">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sp>
      <p:sp>
        <p:nvSpPr>
          <p:cNvPr id="5" name="Text 3"/>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sp>
      <p:sp>
        <p:nvSpPr>
          <p:cNvPr id="7" name="Text 5"/>
          <p:cNvSpPr/>
          <p:nvPr/>
        </p:nvSpPr>
        <p:spPr>
          <a:xfrm>
            <a:off x="41148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sp>
      <p:sp>
        <p:nvSpPr>
          <p:cNvPr id="12" name="Text 10"/>
          <p:cNvSpPr/>
          <p:nvPr/>
        </p:nvSpPr>
        <p:spPr>
          <a:xfrm>
            <a:off x="466344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sp>
      <p:sp>
        <p:nvSpPr>
          <p:cNvPr id="17" name="Text 15"/>
          <p:cNvSpPr/>
          <p:nvPr/>
        </p:nvSpPr>
        <p:spPr>
          <a:xfrm>
            <a:off x="41148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sp>
      <p:sp>
        <p:nvSpPr>
          <p:cNvPr id="22" name="Text 20"/>
          <p:cNvSpPr/>
          <p:nvPr/>
        </p:nvSpPr>
        <p:spPr>
          <a:xfrm>
            <a:off x="466344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sp>
      <p:sp>
        <p:nvSpPr>
          <p:cNvPr id="27" name="Text 25"/>
          <p:cNvSpPr/>
          <p:nvPr/>
        </p:nvSpPr>
        <p:spPr>
          <a:xfrm>
            <a:off x="41148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sp>
      <p:sp>
        <p:nvSpPr>
          <p:cNvPr id="32" name="Text 30"/>
          <p:cNvSpPr/>
          <p:nvPr/>
        </p:nvSpPr>
        <p:spPr>
          <a:xfrm>
            <a:off x="466344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sp>
      <p:sp>
        <p:nvSpPr>
          <p:cNvPr id="37" name="Text 35"/>
          <p:cNvSpPr/>
          <p:nvPr/>
        </p:nvSpPr>
        <p:spPr>
          <a:xfrm>
            <a:off x="41148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sp>
      <p:sp>
        <p:nvSpPr>
          <p:cNvPr id="42" name="Text 40"/>
          <p:cNvSpPr/>
          <p:nvPr/>
        </p:nvSpPr>
        <p:spPr>
          <a:xfrm>
            <a:off x="466344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sp>
      <p:sp>
        <p:nvSpPr>
          <p:cNvPr id="47" name="Text 45"/>
          <p:cNvSpPr/>
          <p:nvPr/>
        </p:nvSpPr>
        <p:spPr>
          <a:xfrm>
            <a:off x="411480" y="4343400"/>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sp>
      <p:sp>
        <p:nvSpPr>
          <p:cNvPr id="7" name="Text 5"/>
          <p:cNvSpPr/>
          <p:nvPr/>
        </p:nvSpPr>
        <p:spPr>
          <a:xfrm>
            <a:off x="41148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sp>
      <p:sp>
        <p:nvSpPr>
          <p:cNvPr id="12" name="Text 10"/>
          <p:cNvSpPr/>
          <p:nvPr/>
        </p:nvSpPr>
        <p:spPr>
          <a:xfrm>
            <a:off x="466344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sp>
      <p:sp>
        <p:nvSpPr>
          <p:cNvPr id="17" name="Text 15"/>
          <p:cNvSpPr/>
          <p:nvPr/>
        </p:nvSpPr>
        <p:spPr>
          <a:xfrm>
            <a:off x="41148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sp>
      <p:sp>
        <p:nvSpPr>
          <p:cNvPr id="22" name="Text 20"/>
          <p:cNvSpPr/>
          <p:nvPr/>
        </p:nvSpPr>
        <p:spPr>
          <a:xfrm>
            <a:off x="466344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sp>
      <p:sp>
        <p:nvSpPr>
          <p:cNvPr id="27" name="Text 25"/>
          <p:cNvSpPr/>
          <p:nvPr/>
        </p:nvSpPr>
        <p:spPr>
          <a:xfrm>
            <a:off x="41148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sp>
      <p:sp>
        <p:nvSpPr>
          <p:cNvPr id="32" name="Text 30"/>
          <p:cNvSpPr/>
          <p:nvPr/>
        </p:nvSpPr>
        <p:spPr>
          <a:xfrm>
            <a:off x="466344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sp>
      <p:sp>
        <p:nvSpPr>
          <p:cNvPr id="37" name="Text 35"/>
          <p:cNvSpPr/>
          <p:nvPr/>
        </p:nvSpPr>
        <p:spPr>
          <a:xfrm>
            <a:off x="41148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sp>
      <p:sp>
        <p:nvSpPr>
          <p:cNvPr id="42" name="Text 40"/>
          <p:cNvSpPr/>
          <p:nvPr/>
        </p:nvSpPr>
        <p:spPr>
          <a:xfrm>
            <a:off x="466344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sp>
      <p:sp>
        <p:nvSpPr>
          <p:cNvPr id="47" name="Text 45"/>
          <p:cNvSpPr/>
          <p:nvPr/>
        </p:nvSpPr>
        <p:spPr>
          <a:xfrm>
            <a:off x="411480" y="4343400"/>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sp>
      <p:sp>
        <p:nvSpPr>
          <p:cNvPr id="7" name="Text 5"/>
          <p:cNvSpPr/>
          <p:nvPr/>
        </p:nvSpPr>
        <p:spPr>
          <a:xfrm>
            <a:off x="117043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sp>
      <p:sp>
        <p:nvSpPr>
          <p:cNvPr id="14" name="Text 12"/>
          <p:cNvSpPr/>
          <p:nvPr/>
        </p:nvSpPr>
        <p:spPr>
          <a:xfrm>
            <a:off x="331927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algn="ctr" indent="0" marL="0">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sp>
      <p:sp>
        <p:nvSpPr>
          <p:cNvPr id="21" name="Text 19"/>
          <p:cNvSpPr/>
          <p:nvPr/>
        </p:nvSpPr>
        <p:spPr>
          <a:xfrm>
            <a:off x="546811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Designer agent runs first</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sp>
      <p:sp>
        <p:nvSpPr>
          <p:cNvPr id="28" name="Text 26"/>
          <p:cNvSpPr/>
          <p:nvPr/>
        </p:nvSpPr>
        <p:spPr>
          <a:xfrm>
            <a:off x="761695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Parallel, independent critique</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sp>
      <p:sp>
        <p:nvSpPr>
          <p:cNvPr id="34" name="Text 32"/>
          <p:cNvSpPr/>
          <p:nvPr/>
        </p:nvSpPr>
        <p:spPr>
          <a:xfrm>
            <a:off x="117043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algn="ctr" indent="0" marL="0">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sp>
      <p:sp>
        <p:nvSpPr>
          <p:cNvPr id="41" name="Text 39"/>
          <p:cNvSpPr/>
          <p:nvPr/>
        </p:nvSpPr>
        <p:spPr>
          <a:xfrm>
            <a:off x="331927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algn="ctr" indent="0" marL="0">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sp>
      <p:sp>
        <p:nvSpPr>
          <p:cNvPr id="48" name="Text 46"/>
          <p:cNvSpPr/>
          <p:nvPr/>
        </p:nvSpPr>
        <p:spPr>
          <a:xfrm>
            <a:off x="546811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algn="ctr" indent="0" marL="0">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sp>
      <p:sp>
        <p:nvSpPr>
          <p:cNvPr id="55" name="Text 53"/>
          <p:cNvSpPr/>
          <p:nvPr/>
        </p:nvSpPr>
        <p:spPr>
          <a:xfrm>
            <a:off x="761695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sp>
      <p:sp>
        <p:nvSpPr>
          <p:cNvPr id="7" name="Text 5"/>
          <p:cNvSpPr/>
          <p:nvPr/>
        </p:nvSpPr>
        <p:spPr>
          <a:xfrm>
            <a:off x="117043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sp>
      <p:sp>
        <p:nvSpPr>
          <p:cNvPr id="14" name="Text 12"/>
          <p:cNvSpPr/>
          <p:nvPr/>
        </p:nvSpPr>
        <p:spPr>
          <a:xfrm>
            <a:off x="331927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algn="ctr" indent="0" marL="0">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sp>
      <p:sp>
        <p:nvSpPr>
          <p:cNvPr id="21" name="Text 19"/>
          <p:cNvSpPr/>
          <p:nvPr/>
        </p:nvSpPr>
        <p:spPr>
          <a:xfrm>
            <a:off x="546811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Designer agent runs first</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sp>
      <p:sp>
        <p:nvSpPr>
          <p:cNvPr id="28" name="Text 26"/>
          <p:cNvSpPr/>
          <p:nvPr/>
        </p:nvSpPr>
        <p:spPr>
          <a:xfrm>
            <a:off x="761695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Parallel, independent critique</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sp>
      <p:sp>
        <p:nvSpPr>
          <p:cNvPr id="34" name="Text 32"/>
          <p:cNvSpPr/>
          <p:nvPr/>
        </p:nvSpPr>
        <p:spPr>
          <a:xfrm>
            <a:off x="117043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algn="ctr" indent="0" marL="0">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sp>
      <p:sp>
        <p:nvSpPr>
          <p:cNvPr id="41" name="Text 39"/>
          <p:cNvSpPr/>
          <p:nvPr/>
        </p:nvSpPr>
        <p:spPr>
          <a:xfrm>
            <a:off x="331927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algn="ctr" indent="0" marL="0">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sp>
      <p:sp>
        <p:nvSpPr>
          <p:cNvPr id="48" name="Text 46"/>
          <p:cNvSpPr/>
          <p:nvPr/>
        </p:nvSpPr>
        <p:spPr>
          <a:xfrm>
            <a:off x="546811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algn="ctr" indent="0" marL="0">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sp>
      <p:sp>
        <p:nvSpPr>
          <p:cNvPr id="55" name="Text 53"/>
          <p:cNvSpPr/>
          <p:nvPr/>
        </p:nvSpPr>
        <p:spPr>
          <a:xfrm>
            <a:off x="761695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sp>
      <p:sp>
        <p:nvSpPr>
          <p:cNvPr id="6" name="Text 4"/>
          <p:cNvSpPr/>
          <p:nvPr/>
        </p:nvSpPr>
        <p:spPr>
          <a:xfrm>
            <a:off x="566928" y="1261872"/>
            <a:ext cx="4114800" cy="201168"/>
          </a:xfrm>
          <a:prstGeom prst="rect">
            <a:avLst/>
          </a:prstGeom>
          <a:noFill/>
          <a:ln/>
        </p:spPr>
        <p:txBody>
          <a:bodyPr wrap="square" rtlCol="0" anchor="ctr"/>
          <a:lstStyle/>
          <a:p>
            <a:pPr indent="0" marL="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sp>
      <p:sp>
        <p:nvSpPr>
          <p:cNvPr id="10" name="Text 8"/>
          <p:cNvSpPr/>
          <p:nvPr/>
        </p:nvSpPr>
        <p:spPr>
          <a:xfrm>
            <a:off x="566928" y="2157984"/>
            <a:ext cx="4114800" cy="201168"/>
          </a:xfrm>
          <a:prstGeom prst="rect">
            <a:avLst/>
          </a:prstGeom>
          <a:noFill/>
          <a:ln/>
        </p:spPr>
        <p:txBody>
          <a:bodyPr wrap="square" rtlCol="0" anchor="ctr"/>
          <a:lstStyle/>
          <a:p>
            <a:pPr indent="0" marL="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sp>
      <p:sp>
        <p:nvSpPr>
          <p:cNvPr id="14" name="Text 12"/>
          <p:cNvSpPr/>
          <p:nvPr/>
        </p:nvSpPr>
        <p:spPr>
          <a:xfrm>
            <a:off x="566928" y="3054096"/>
            <a:ext cx="4114800" cy="201168"/>
          </a:xfrm>
          <a:prstGeom prst="rect">
            <a:avLst/>
          </a:prstGeom>
          <a:noFill/>
          <a:ln/>
        </p:spPr>
        <p:txBody>
          <a:bodyPr wrap="square" rtlCol="0" anchor="ctr"/>
          <a:lstStyle/>
          <a:p>
            <a:pPr indent="0" marL="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INSTITUTIONAL MEMORY — PAST ARB DECISIONS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sp>
      <p:sp>
        <p:nvSpPr>
          <p:cNvPr id="18" name="Text 16"/>
          <p:cNvSpPr/>
          <p:nvPr/>
        </p:nvSpPr>
        <p:spPr>
          <a:xfrm>
            <a:off x="566928" y="3950208"/>
            <a:ext cx="4114800" cy="201168"/>
          </a:xfrm>
          <a:prstGeom prst="rect">
            <a:avLst/>
          </a:prstGeom>
          <a:noFill/>
          <a:ln/>
        </p:spPr>
        <p:txBody>
          <a:bodyPr wrap="square" rtlCol="0" anchor="ctr"/>
          <a:lstStyle/>
          <a:p>
            <a:pPr indent="0" marL="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algn="ctr" indent="0" marL="0">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sp>
      <p:sp>
        <p:nvSpPr>
          <p:cNvPr id="6" name="Text 4"/>
          <p:cNvSpPr/>
          <p:nvPr/>
        </p:nvSpPr>
        <p:spPr>
          <a:xfrm>
            <a:off x="566928" y="1261872"/>
            <a:ext cx="4114800" cy="201168"/>
          </a:xfrm>
          <a:prstGeom prst="rect">
            <a:avLst/>
          </a:prstGeom>
          <a:noFill/>
          <a:ln/>
        </p:spPr>
        <p:txBody>
          <a:bodyPr wrap="square" rtlCol="0" anchor="ctr"/>
          <a:lstStyle/>
          <a:p>
            <a:pPr indent="0" marL="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sp>
      <p:sp>
        <p:nvSpPr>
          <p:cNvPr id="10" name="Text 8"/>
          <p:cNvSpPr/>
          <p:nvPr/>
        </p:nvSpPr>
        <p:spPr>
          <a:xfrm>
            <a:off x="566928" y="2157984"/>
            <a:ext cx="4114800" cy="201168"/>
          </a:xfrm>
          <a:prstGeom prst="rect">
            <a:avLst/>
          </a:prstGeom>
          <a:noFill/>
          <a:ln/>
        </p:spPr>
        <p:txBody>
          <a:bodyPr wrap="square" rtlCol="0" anchor="ctr"/>
          <a:lstStyle/>
          <a:p>
            <a:pPr indent="0" marL="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sp>
      <p:sp>
        <p:nvSpPr>
          <p:cNvPr id="14" name="Text 12"/>
          <p:cNvSpPr/>
          <p:nvPr/>
        </p:nvSpPr>
        <p:spPr>
          <a:xfrm>
            <a:off x="566928" y="3054096"/>
            <a:ext cx="4114800" cy="201168"/>
          </a:xfrm>
          <a:prstGeom prst="rect">
            <a:avLst/>
          </a:prstGeom>
          <a:noFill/>
          <a:ln/>
        </p:spPr>
        <p:txBody>
          <a:bodyPr wrap="square" rtlCol="0" anchor="ctr"/>
          <a:lstStyle/>
          <a:p>
            <a:pPr indent="0" marL="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INSTITUTIONAL MEMORY — PAST ARB DECISIONS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sp>
      <p:sp>
        <p:nvSpPr>
          <p:cNvPr id="18" name="Text 16"/>
          <p:cNvSpPr/>
          <p:nvPr/>
        </p:nvSpPr>
        <p:spPr>
          <a:xfrm>
            <a:off x="566928" y="3950208"/>
            <a:ext cx="4114800" cy="201168"/>
          </a:xfrm>
          <a:prstGeom prst="rect">
            <a:avLst/>
          </a:prstGeom>
          <a:noFill/>
          <a:ln/>
        </p:spPr>
        <p:txBody>
          <a:bodyPr wrap="square" rtlCol="0" anchor="ctr"/>
          <a:lstStyle/>
          <a:p>
            <a:pPr indent="0" marL="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algn="ctr" indent="0" marL="0">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sp>
      <p:sp>
        <p:nvSpPr>
          <p:cNvPr id="7" name="Text 5"/>
          <p:cNvSpPr/>
          <p:nvPr/>
        </p:nvSpPr>
        <p:spPr>
          <a:xfrm>
            <a:off x="3246120" y="1335024"/>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sp>
      <p:sp>
        <p:nvSpPr>
          <p:cNvPr id="10" name="Text 8"/>
          <p:cNvSpPr/>
          <p:nvPr/>
        </p:nvSpPr>
        <p:spPr>
          <a:xfrm>
            <a:off x="3749040" y="1810512"/>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sp>
      <p:sp>
        <p:nvSpPr>
          <p:cNvPr id="13" name="Text 11"/>
          <p:cNvSpPr/>
          <p:nvPr/>
        </p:nvSpPr>
        <p:spPr>
          <a:xfrm>
            <a:off x="3749040" y="2322576"/>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sp>
      <p:sp>
        <p:nvSpPr>
          <p:cNvPr id="16" name="Text 14"/>
          <p:cNvSpPr/>
          <p:nvPr/>
        </p:nvSpPr>
        <p:spPr>
          <a:xfrm>
            <a:off x="3749040" y="2834640"/>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sp>
      <p:sp>
        <p:nvSpPr>
          <p:cNvPr id="19" name="Text 17"/>
          <p:cNvSpPr/>
          <p:nvPr/>
        </p:nvSpPr>
        <p:spPr>
          <a:xfrm>
            <a:off x="3749040" y="3346704"/>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sp>
      <p:sp>
        <p:nvSpPr>
          <p:cNvPr id="22" name="Text 20"/>
          <p:cNvSpPr/>
          <p:nvPr/>
        </p:nvSpPr>
        <p:spPr>
          <a:xfrm>
            <a:off x="3749040" y="3858768"/>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457200" y="15819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indent="0" marL="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sp>
      <p:sp>
        <p:nvSpPr>
          <p:cNvPr id="27" name="Text 25"/>
          <p:cNvSpPr/>
          <p:nvPr/>
        </p:nvSpPr>
        <p:spPr>
          <a:xfrm>
            <a:off x="3127248" y="1728216"/>
            <a:ext cx="164592" cy="228600"/>
          </a:xfrm>
          <a:prstGeom prst="rect">
            <a:avLst/>
          </a:prstGeom>
          <a:noFill/>
          <a:ln/>
        </p:spPr>
        <p:txBody>
          <a:bodyPr wrap="square" rtlCol="0" anchor="ctr"/>
          <a:lstStyle/>
          <a:p>
            <a:pPr algn="ctr" indent="0" marL="0">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9" name="Text 27"/>
          <p:cNvSpPr/>
          <p:nvPr/>
        </p:nvSpPr>
        <p:spPr>
          <a:xfrm>
            <a:off x="457200" y="2606040"/>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indent="0" marL="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sp>
      <p:sp>
        <p:nvSpPr>
          <p:cNvPr id="32" name="Text 30"/>
          <p:cNvSpPr/>
          <p:nvPr/>
        </p:nvSpPr>
        <p:spPr>
          <a:xfrm>
            <a:off x="3127248" y="2752344"/>
            <a:ext cx="164592" cy="228600"/>
          </a:xfrm>
          <a:prstGeom prst="rect">
            <a:avLst/>
          </a:prstGeom>
          <a:noFill/>
          <a:ln/>
        </p:spPr>
        <p:txBody>
          <a:bodyPr wrap="square" rtlCol="0" anchor="ctr"/>
          <a:lstStyle/>
          <a:p>
            <a:pPr algn="ctr" indent="0" marL="0">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4" name="Text 32"/>
          <p:cNvSpPr/>
          <p:nvPr/>
        </p:nvSpPr>
        <p:spPr>
          <a:xfrm>
            <a:off x="457200" y="3630168"/>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indent="0" marL="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sp>
      <p:sp>
        <p:nvSpPr>
          <p:cNvPr id="37" name="Text 35"/>
          <p:cNvSpPr/>
          <p:nvPr/>
        </p:nvSpPr>
        <p:spPr>
          <a:xfrm>
            <a:off x="3127248" y="3776472"/>
            <a:ext cx="164592" cy="228600"/>
          </a:xfrm>
          <a:prstGeom prst="rect">
            <a:avLst/>
          </a:prstGeom>
          <a:noFill/>
          <a:ln/>
        </p:spPr>
        <p:txBody>
          <a:bodyPr wrap="square" rtlCol="0" anchor="ctr"/>
          <a:lstStyle/>
          <a:p>
            <a:pPr algn="ctr" indent="0" marL="0">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9" name="Text 37"/>
          <p:cNvSpPr/>
          <p:nvPr/>
        </p:nvSpPr>
        <p:spPr>
          <a:xfrm>
            <a:off x="6355080" y="199339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indent="0" marL="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sp>
      <p:sp>
        <p:nvSpPr>
          <p:cNvPr id="42" name="Text 40"/>
          <p:cNvSpPr/>
          <p:nvPr/>
        </p:nvSpPr>
        <p:spPr>
          <a:xfrm>
            <a:off x="5733288" y="2139696"/>
            <a:ext cx="182880" cy="228600"/>
          </a:xfrm>
          <a:prstGeom prst="rect">
            <a:avLst/>
          </a:prstGeom>
          <a:noFill/>
          <a:ln/>
        </p:spPr>
        <p:txBody>
          <a:bodyPr wrap="square" rtlCol="0" anchor="ctr"/>
          <a:lstStyle/>
          <a:p>
            <a:pPr algn="ctr" indent="0" marL="0">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4" name="Text 42"/>
          <p:cNvSpPr/>
          <p:nvPr/>
        </p:nvSpPr>
        <p:spPr>
          <a:xfrm>
            <a:off x="6355080" y="31821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indent="0" marL="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sp>
      <p:sp>
        <p:nvSpPr>
          <p:cNvPr id="47" name="Text 45"/>
          <p:cNvSpPr/>
          <p:nvPr/>
        </p:nvSpPr>
        <p:spPr>
          <a:xfrm>
            <a:off x="5733288" y="3328416"/>
            <a:ext cx="182880" cy="228600"/>
          </a:xfrm>
          <a:prstGeom prst="rect">
            <a:avLst/>
          </a:prstGeom>
          <a:noFill/>
          <a:ln/>
        </p:spPr>
        <p:txBody>
          <a:bodyPr wrap="square" rtlCol="0" anchor="ctr"/>
          <a:lstStyle/>
          <a:p>
            <a:pPr algn="ctr" indent="0" marL="0">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sp>
      <p:sp>
        <p:nvSpPr>
          <p:cNvPr id="7" name="Text 5"/>
          <p:cNvSpPr/>
          <p:nvPr/>
        </p:nvSpPr>
        <p:spPr>
          <a:xfrm>
            <a:off x="3246120" y="1335024"/>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sp>
      <p:sp>
        <p:nvSpPr>
          <p:cNvPr id="10" name="Text 8"/>
          <p:cNvSpPr/>
          <p:nvPr/>
        </p:nvSpPr>
        <p:spPr>
          <a:xfrm>
            <a:off x="3749040" y="1810512"/>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sp>
      <p:sp>
        <p:nvSpPr>
          <p:cNvPr id="13" name="Text 11"/>
          <p:cNvSpPr/>
          <p:nvPr/>
        </p:nvSpPr>
        <p:spPr>
          <a:xfrm>
            <a:off x="3749040" y="2322576"/>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sp>
      <p:sp>
        <p:nvSpPr>
          <p:cNvPr id="16" name="Text 14"/>
          <p:cNvSpPr/>
          <p:nvPr/>
        </p:nvSpPr>
        <p:spPr>
          <a:xfrm>
            <a:off x="3749040" y="2834640"/>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sp>
      <p:sp>
        <p:nvSpPr>
          <p:cNvPr id="19" name="Text 17"/>
          <p:cNvSpPr/>
          <p:nvPr/>
        </p:nvSpPr>
        <p:spPr>
          <a:xfrm>
            <a:off x="3749040" y="3346704"/>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sp>
      <p:sp>
        <p:nvSpPr>
          <p:cNvPr id="22" name="Text 20"/>
          <p:cNvSpPr/>
          <p:nvPr/>
        </p:nvSpPr>
        <p:spPr>
          <a:xfrm>
            <a:off x="3749040" y="3858768"/>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457200" y="15819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indent="0" marL="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sp>
      <p:sp>
        <p:nvSpPr>
          <p:cNvPr id="27" name="Text 25"/>
          <p:cNvSpPr/>
          <p:nvPr/>
        </p:nvSpPr>
        <p:spPr>
          <a:xfrm>
            <a:off x="3127248" y="1728216"/>
            <a:ext cx="164592" cy="228600"/>
          </a:xfrm>
          <a:prstGeom prst="rect">
            <a:avLst/>
          </a:prstGeom>
          <a:noFill/>
          <a:ln/>
        </p:spPr>
        <p:txBody>
          <a:bodyPr wrap="square" rtlCol="0" anchor="ctr"/>
          <a:lstStyle/>
          <a:p>
            <a:pPr algn="ctr" indent="0" marL="0">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9" name="Text 27"/>
          <p:cNvSpPr/>
          <p:nvPr/>
        </p:nvSpPr>
        <p:spPr>
          <a:xfrm>
            <a:off x="457200" y="2606040"/>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indent="0" marL="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sp>
      <p:sp>
        <p:nvSpPr>
          <p:cNvPr id="32" name="Text 30"/>
          <p:cNvSpPr/>
          <p:nvPr/>
        </p:nvSpPr>
        <p:spPr>
          <a:xfrm>
            <a:off x="3127248" y="2752344"/>
            <a:ext cx="164592" cy="228600"/>
          </a:xfrm>
          <a:prstGeom prst="rect">
            <a:avLst/>
          </a:prstGeom>
          <a:noFill/>
          <a:ln/>
        </p:spPr>
        <p:txBody>
          <a:bodyPr wrap="square" rtlCol="0" anchor="ctr"/>
          <a:lstStyle/>
          <a:p>
            <a:pPr algn="ctr" indent="0" marL="0">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4" name="Text 32"/>
          <p:cNvSpPr/>
          <p:nvPr/>
        </p:nvSpPr>
        <p:spPr>
          <a:xfrm>
            <a:off x="457200" y="3630168"/>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indent="0" marL="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sp>
      <p:sp>
        <p:nvSpPr>
          <p:cNvPr id="37" name="Text 35"/>
          <p:cNvSpPr/>
          <p:nvPr/>
        </p:nvSpPr>
        <p:spPr>
          <a:xfrm>
            <a:off x="3127248" y="3776472"/>
            <a:ext cx="164592" cy="228600"/>
          </a:xfrm>
          <a:prstGeom prst="rect">
            <a:avLst/>
          </a:prstGeom>
          <a:noFill/>
          <a:ln/>
        </p:spPr>
        <p:txBody>
          <a:bodyPr wrap="square" rtlCol="0" anchor="ctr"/>
          <a:lstStyle/>
          <a:p>
            <a:pPr algn="ctr" indent="0" marL="0">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9" name="Text 37"/>
          <p:cNvSpPr/>
          <p:nvPr/>
        </p:nvSpPr>
        <p:spPr>
          <a:xfrm>
            <a:off x="6355080" y="199339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indent="0" marL="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sp>
      <p:sp>
        <p:nvSpPr>
          <p:cNvPr id="42" name="Text 40"/>
          <p:cNvSpPr/>
          <p:nvPr/>
        </p:nvSpPr>
        <p:spPr>
          <a:xfrm>
            <a:off x="5733288" y="2139696"/>
            <a:ext cx="182880" cy="228600"/>
          </a:xfrm>
          <a:prstGeom prst="rect">
            <a:avLst/>
          </a:prstGeom>
          <a:noFill/>
          <a:ln/>
        </p:spPr>
        <p:txBody>
          <a:bodyPr wrap="square" rtlCol="0" anchor="ctr"/>
          <a:lstStyle/>
          <a:p>
            <a:pPr algn="ctr" indent="0" marL="0">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4" name="Text 42"/>
          <p:cNvSpPr/>
          <p:nvPr/>
        </p:nvSpPr>
        <p:spPr>
          <a:xfrm>
            <a:off x="6355080" y="31821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indent="0" marL="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sp>
      <p:sp>
        <p:nvSpPr>
          <p:cNvPr id="47" name="Text 45"/>
          <p:cNvSpPr/>
          <p:nvPr/>
        </p:nvSpPr>
        <p:spPr>
          <a:xfrm>
            <a:off x="5733288" y="3328416"/>
            <a:ext cx="182880" cy="228600"/>
          </a:xfrm>
          <a:prstGeom prst="rect">
            <a:avLst/>
          </a:prstGeom>
          <a:noFill/>
          <a:ln/>
        </p:spPr>
        <p:txBody>
          <a:bodyPr wrap="square" rtlCol="0" anchor="ctr"/>
          <a:lstStyle/>
          <a:p>
            <a:pPr algn="ctr" indent="0" marL="0">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sp>
      <p:sp>
        <p:nvSpPr>
          <p:cNvPr id="7" name="Text 5"/>
          <p:cNvSpPr/>
          <p:nvPr/>
        </p:nvSpPr>
        <p:spPr>
          <a:xfrm>
            <a:off x="548640" y="1335024"/>
            <a:ext cx="3886200" cy="256032"/>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indent="0" marL="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sp>
      <p:sp>
        <p:nvSpPr>
          <p:cNvPr id="14" name="Text 12"/>
          <p:cNvSpPr/>
          <p:nvPr/>
        </p:nvSpPr>
        <p:spPr>
          <a:xfrm>
            <a:off x="4800600" y="1335024"/>
            <a:ext cx="3886200" cy="256032"/>
          </a:xfrm>
          <a:prstGeom prst="rect">
            <a:avLst/>
          </a:prstGeom>
          <a:noFill/>
          <a:ln/>
        </p:spPr>
        <p:txBody>
          <a:bodyPr wrap="square" rtlCol="0" anchor="ctr"/>
          <a:lstStyle/>
          <a:p>
            <a:pPr indent="0" marL="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indent="0" marL="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sp>
      <p:sp>
        <p:nvSpPr>
          <p:cNvPr id="21" name="Text 19"/>
          <p:cNvSpPr/>
          <p:nvPr/>
        </p:nvSpPr>
        <p:spPr>
          <a:xfrm>
            <a:off x="548640" y="3145536"/>
            <a:ext cx="3886200" cy="256032"/>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indent="0" marL="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sp>
      <p:sp>
        <p:nvSpPr>
          <p:cNvPr id="28" name="Text 26"/>
          <p:cNvSpPr/>
          <p:nvPr/>
        </p:nvSpPr>
        <p:spPr>
          <a:xfrm>
            <a:off x="4800600" y="3145536"/>
            <a:ext cx="3886200" cy="256032"/>
          </a:xfrm>
          <a:prstGeom prst="rect">
            <a:avLst/>
          </a:prstGeom>
          <a:noFill/>
          <a:ln/>
        </p:spPr>
        <p:txBody>
          <a:bodyPr wrap="square" rtlCol="0" anchor="ctr"/>
          <a:lstStyle/>
          <a:p>
            <a:pPr indent="0" marL="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indent="0" marL="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sp>
      <p:sp>
        <p:nvSpPr>
          <p:cNvPr id="7" name="Text 5"/>
          <p:cNvSpPr/>
          <p:nvPr/>
        </p:nvSpPr>
        <p:spPr>
          <a:xfrm>
            <a:off x="548640" y="1335024"/>
            <a:ext cx="3886200" cy="256032"/>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indent="0" marL="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sp>
      <p:sp>
        <p:nvSpPr>
          <p:cNvPr id="14" name="Text 12"/>
          <p:cNvSpPr/>
          <p:nvPr/>
        </p:nvSpPr>
        <p:spPr>
          <a:xfrm>
            <a:off x="4800600" y="1335024"/>
            <a:ext cx="3886200" cy="256032"/>
          </a:xfrm>
          <a:prstGeom prst="rect">
            <a:avLst/>
          </a:prstGeom>
          <a:noFill/>
          <a:ln/>
        </p:spPr>
        <p:txBody>
          <a:bodyPr wrap="square" rtlCol="0" anchor="ctr"/>
          <a:lstStyle/>
          <a:p>
            <a:pPr indent="0" marL="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indent="0" marL="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sp>
      <p:sp>
        <p:nvSpPr>
          <p:cNvPr id="21" name="Text 19"/>
          <p:cNvSpPr/>
          <p:nvPr/>
        </p:nvSpPr>
        <p:spPr>
          <a:xfrm>
            <a:off x="548640" y="3145536"/>
            <a:ext cx="3886200" cy="256032"/>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indent="0" marL="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sp>
      <p:sp>
        <p:nvSpPr>
          <p:cNvPr id="28" name="Text 26"/>
          <p:cNvSpPr/>
          <p:nvPr/>
        </p:nvSpPr>
        <p:spPr>
          <a:xfrm>
            <a:off x="4800600" y="3145536"/>
            <a:ext cx="3886200" cy="256032"/>
          </a:xfrm>
          <a:prstGeom prst="rect">
            <a:avLst/>
          </a:prstGeom>
          <a:noFill/>
          <a:ln/>
        </p:spPr>
        <p:txBody>
          <a:bodyPr wrap="square" rtlCol="0" anchor="ctr"/>
          <a:lstStyle/>
          <a:p>
            <a:pPr indent="0" marL="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indent="0" marL="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292608"/>
            <a:ext cx="8138160" cy="201168"/>
          </a:xfrm>
          <a:prstGeom prst="rect">
            <a:avLst/>
          </a:prstGeom>
          <a:noFill/>
          <a:ln/>
        </p:spPr>
        <p:txBody>
          <a:bodyPr wrap="square" rtlCol="0" anchor="ctr"/>
          <a:lstStyle/>
          <a:p>
            <a:pPr indent="0" marL="0">
              <a:buNone/>
            </a:pPr>
            <a:r>
              <a:rPr lang="en-US" sz="900" b="1" spc="300" kern="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indent="0" marL="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sp>
      <p:sp>
        <p:nvSpPr>
          <p:cNvPr id="6" name="Text 4"/>
          <p:cNvSpPr/>
          <p:nvPr/>
        </p:nvSpPr>
        <p:spPr>
          <a:xfrm>
            <a:off x="411480"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sp>
      <p:sp>
        <p:nvSpPr>
          <p:cNvPr id="8" name="Text 6"/>
          <p:cNvSpPr/>
          <p:nvPr/>
        </p:nvSpPr>
        <p:spPr>
          <a:xfrm>
            <a:off x="3090672"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sp>
      <p:sp>
        <p:nvSpPr>
          <p:cNvPr id="10" name="Text 8"/>
          <p:cNvSpPr/>
          <p:nvPr/>
        </p:nvSpPr>
        <p:spPr>
          <a:xfrm>
            <a:off x="5760720"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2" name="Text 10"/>
          <p:cNvSpPr/>
          <p:nvPr/>
        </p:nvSpPr>
        <p:spPr>
          <a:xfrm>
            <a:off x="548640" y="1627632"/>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5" name="Text 13"/>
          <p:cNvSpPr/>
          <p:nvPr/>
        </p:nvSpPr>
        <p:spPr>
          <a:xfrm>
            <a:off x="548640" y="2743200"/>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8" name="Text 16"/>
          <p:cNvSpPr/>
          <p:nvPr/>
        </p:nvSpPr>
        <p:spPr>
          <a:xfrm>
            <a:off x="548640" y="3858768"/>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Text 19"/>
          <p:cNvSpPr/>
          <p:nvPr/>
        </p:nvSpPr>
        <p:spPr>
          <a:xfrm>
            <a:off x="3227832" y="1627632"/>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3227832" y="2743200"/>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Text 25"/>
          <p:cNvSpPr/>
          <p:nvPr/>
        </p:nvSpPr>
        <p:spPr>
          <a:xfrm>
            <a:off x="3227832" y="3858768"/>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0" name="Text 28"/>
          <p:cNvSpPr/>
          <p:nvPr/>
        </p:nvSpPr>
        <p:spPr>
          <a:xfrm>
            <a:off x="5897880" y="1627632"/>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Text 31"/>
          <p:cNvSpPr/>
          <p:nvPr/>
        </p:nvSpPr>
        <p:spPr>
          <a:xfrm>
            <a:off x="5897880" y="2743200"/>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Text 34"/>
          <p:cNvSpPr/>
          <p:nvPr/>
        </p:nvSpPr>
        <p:spPr>
          <a:xfrm>
            <a:off x="5897880" y="3858768"/>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sp>
      <p:sp>
        <p:nvSpPr>
          <p:cNvPr id="39" name="Text 37"/>
          <p:cNvSpPr/>
          <p:nvPr/>
        </p:nvSpPr>
        <p:spPr>
          <a:xfrm>
            <a:off x="548640" y="4562856"/>
            <a:ext cx="8046720" cy="329184"/>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292608"/>
            <a:ext cx="8138160" cy="201168"/>
          </a:xfrm>
          <a:prstGeom prst="rect">
            <a:avLst/>
          </a:prstGeom>
          <a:noFill/>
          <a:ln/>
        </p:spPr>
        <p:txBody>
          <a:bodyPr wrap="square" rtlCol="0" anchor="ctr"/>
          <a:lstStyle/>
          <a:p>
            <a:pPr indent="0" marL="0">
              <a:buNone/>
            </a:pPr>
            <a:r>
              <a:rPr lang="en-US" sz="900" b="1" spc="300" kern="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indent="0" marL="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sp>
      <p:sp>
        <p:nvSpPr>
          <p:cNvPr id="6" name="Text 4"/>
          <p:cNvSpPr/>
          <p:nvPr/>
        </p:nvSpPr>
        <p:spPr>
          <a:xfrm>
            <a:off x="411480"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sp>
      <p:sp>
        <p:nvSpPr>
          <p:cNvPr id="8" name="Text 6"/>
          <p:cNvSpPr/>
          <p:nvPr/>
        </p:nvSpPr>
        <p:spPr>
          <a:xfrm>
            <a:off x="3090672"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sp>
      <p:sp>
        <p:nvSpPr>
          <p:cNvPr id="10" name="Text 8"/>
          <p:cNvSpPr/>
          <p:nvPr/>
        </p:nvSpPr>
        <p:spPr>
          <a:xfrm>
            <a:off x="5760720" y="1179576"/>
            <a:ext cx="257860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2" name="Text 10"/>
          <p:cNvSpPr/>
          <p:nvPr/>
        </p:nvSpPr>
        <p:spPr>
          <a:xfrm>
            <a:off x="548640" y="1627632"/>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5" name="Text 13"/>
          <p:cNvSpPr/>
          <p:nvPr/>
        </p:nvSpPr>
        <p:spPr>
          <a:xfrm>
            <a:off x="548640" y="2743200"/>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8" name="Text 16"/>
          <p:cNvSpPr/>
          <p:nvPr/>
        </p:nvSpPr>
        <p:spPr>
          <a:xfrm>
            <a:off x="548640" y="3858768"/>
            <a:ext cx="2304288"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Text 19"/>
          <p:cNvSpPr/>
          <p:nvPr/>
        </p:nvSpPr>
        <p:spPr>
          <a:xfrm>
            <a:off x="3227832" y="1627632"/>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3227832" y="2743200"/>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Text 25"/>
          <p:cNvSpPr/>
          <p:nvPr/>
        </p:nvSpPr>
        <p:spPr>
          <a:xfrm>
            <a:off x="3227832" y="3858768"/>
            <a:ext cx="2304288" cy="256032"/>
          </a:xfrm>
          <a:prstGeom prst="rect">
            <a:avLst/>
          </a:prstGeom>
          <a:noFill/>
          <a:ln/>
        </p:spPr>
        <p:txBody>
          <a:bodyPr wrap="square" rtlCol="0" anchor="ctr"/>
          <a:lstStyle/>
          <a:p>
            <a:pPr indent="0" marL="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0" name="Text 28"/>
          <p:cNvSpPr/>
          <p:nvPr/>
        </p:nvSpPr>
        <p:spPr>
          <a:xfrm>
            <a:off x="5897880" y="1627632"/>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Text 31"/>
          <p:cNvSpPr/>
          <p:nvPr/>
        </p:nvSpPr>
        <p:spPr>
          <a:xfrm>
            <a:off x="5897880" y="2743200"/>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Text 34"/>
          <p:cNvSpPr/>
          <p:nvPr/>
        </p:nvSpPr>
        <p:spPr>
          <a:xfrm>
            <a:off x="5897880" y="3858768"/>
            <a:ext cx="2304288" cy="256032"/>
          </a:xfrm>
          <a:prstGeom prst="rect">
            <a:avLst/>
          </a:prstGeom>
          <a:noFill/>
          <a:ln/>
        </p:spPr>
        <p:txBody>
          <a:bodyPr wrap="square" rtlCol="0" anchor="ctr"/>
          <a:lstStyle/>
          <a:p>
            <a:pPr indent="0" marL="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indent="0" marL="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sp>
      <p:sp>
        <p:nvSpPr>
          <p:cNvPr id="39" name="Text 37"/>
          <p:cNvSpPr/>
          <p:nvPr/>
        </p:nvSpPr>
        <p:spPr>
          <a:xfrm>
            <a:off x="548640" y="4562856"/>
            <a:ext cx="8046720" cy="329184"/>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PptxGenJS</cp:lastModifiedBy>
  <cp:revision>1</cp:revision>
  <dcterms:created xsi:type="dcterms:W3CDTF">2026-06-27T03:16:30Z</dcterms:created>
  <dcterms:modified xsi:type="dcterms:W3CDTF">2026-06-27T03:16:30Z</dcterms:modified>
</cp:coreProperties>
</file>