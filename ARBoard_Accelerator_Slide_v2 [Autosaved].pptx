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6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ARBoard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417320" y="7315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AI-Powered Architecture Review Board  —  Proposal Accelerator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Compresses ARB cycle time from weeks to minutes · Reduces review cost by up to 90% · Consistent, governed quality every engagement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" y="969264"/>
            <a:ext cx="4169664" cy="1316736"/>
          </a:xfrm>
          <a:prstGeom prst="roundRect">
            <a:avLst>
              <a:gd name="adj" fmla="val 555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" y="1060704"/>
            <a:ext cx="475488" cy="201168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" y="10607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WHY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77824" y="1042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Problem ARBoard Solves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135331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⏱  </a:t>
            </a:r>
            <a:r>
              <a:rPr lang="en-US" sz="800" dirty="0">
                <a:solidFill>
                  <a:srgbClr val="CBD5E1"/>
                </a:solidFill>
              </a:rPr>
              <a:t>Traditional ARBs require multiple architects, weeks of scheduling, and significant prep time per engagement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158648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⚠  </a:t>
            </a:r>
            <a:r>
              <a:rPr lang="en-US" sz="800" dirty="0">
                <a:solidFill>
                  <a:srgbClr val="CBD5E1"/>
                </a:solidFill>
              </a:rPr>
              <a:t>Review quality varies depending on who attends — different specialists flag different risks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181965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📊  </a:t>
            </a:r>
            <a:r>
              <a:rPr lang="en-US" sz="800" dirty="0">
                <a:solidFill>
                  <a:srgbClr val="CBD5E1"/>
                </a:solidFill>
              </a:rPr>
              <a:t>High time and effort cost per review cycle. Difficult to scale across frequent Salesforce/CRM delivery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205282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🧠  </a:t>
            </a:r>
            <a:r>
              <a:rPr lang="en-US" sz="800" dirty="0">
                <a:solidFill>
                  <a:srgbClr val="CBD5E1"/>
                </a:solidFill>
              </a:rPr>
              <a:t>No institutional memory — findings and patterns from past engagements are lost between reviews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969264"/>
            <a:ext cx="437083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0016" y="1060704"/>
            <a:ext cx="475488" cy="201168"/>
          </a:xfrm>
          <a:prstGeom prst="roundRect">
            <a:avLst>
              <a:gd name="adj" fmla="val 1363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16" y="10607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HOW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248656" y="10424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</a:rPr>
              <a:t>How ARBoard Works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81728" y="1353312"/>
            <a:ext cx="310896" cy="310896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81728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10912" y="1508760"/>
            <a:ext cx="49377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90288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1F3D"/>
                </a:solidFill>
              </a:rPr>
              <a:t>Upload SDD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572000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PDF / DOCX + diagrams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5522976" y="1353312"/>
            <a:ext cx="310896" cy="310896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22976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1508760"/>
            <a:ext cx="49377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31536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1F3D"/>
                </a:solidFill>
              </a:rPr>
              <a:t>Impact Analysis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13248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Agents &amp; risks identified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6364224" y="1353312"/>
            <a:ext cx="310896" cy="310896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64224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93408" y="1508760"/>
            <a:ext cx="49377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72784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1F3D"/>
                </a:solidFill>
              </a:rPr>
              <a:t>10-Agent Debate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254496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Sequential deliberation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7205472" y="135331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05472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34656" y="1508760"/>
            <a:ext cx="49377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14032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1F3D"/>
                </a:solidFill>
              </a:rPr>
              <a:t>Judge Verdict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7095744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Binding ARB decision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8046720" y="1353312"/>
            <a:ext cx="310896" cy="310896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046720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55280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1F3D"/>
                </a:solidFill>
              </a:rPr>
              <a:t>ADR + Jira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936992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Persisted &amp; auditable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4681728" y="2066544"/>
            <a:ext cx="4133088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681728" y="2066544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F766E"/>
                </a:solidFill>
              </a:rPr>
              <a:t>Grounded in 9 knowledge layers: Well-Architected · SI Failure Patterns · Org Learnings · Skills Library · Episodic Memory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01168" y="2404872"/>
            <a:ext cx="4169664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9184" y="2496312"/>
            <a:ext cx="713232" cy="201168"/>
          </a:xfrm>
          <a:prstGeom prst="roundRect">
            <a:avLst>
              <a:gd name="adj" fmla="val 1363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9184" y="24963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BENEFITS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15568" y="24780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</a:rPr>
              <a:t>What Your Client Gets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47472" y="278892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r>
              <a:rPr lang="en-US" sz="750" b="1" dirty="0">
                <a:solidFill>
                  <a:srgbClr val="0F1F3D"/>
                </a:solidFill>
              </a:rPr>
              <a:t>Consistent review quality, </a:t>
            </a:r>
            <a:r>
              <a:rPr lang="en-US" sz="750" dirty="0">
                <a:solidFill>
                  <a:srgbClr val="475569"/>
                </a:solidFill>
              </a:rPr>
              <a:t>every engagement — 10 specialist agents with adversarial posture, not a single-lens assessment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7472" y="298094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r>
              <a:rPr lang="en-US" sz="750" b="1" dirty="0">
                <a:solidFill>
                  <a:srgbClr val="0F1F3D"/>
                </a:solidFill>
              </a:rPr>
              <a:t>Compounding institutional memory </a:t>
            </a:r>
            <a:r>
              <a:rPr lang="en-US" sz="750" dirty="0">
                <a:solidFill>
                  <a:srgbClr val="475569"/>
                </a:solidFill>
              </a:rPr>
              <a:t>— org learnings accumulate across every engagement via Supabase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47472" y="317296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r>
              <a:rPr lang="en-US" sz="750" b="1" dirty="0">
                <a:solidFill>
                  <a:srgbClr val="0F1F3D"/>
                </a:solidFill>
              </a:rPr>
              <a:t>Governed audit trail, </a:t>
            </a:r>
            <a:r>
              <a:rPr lang="en-US" sz="750" dirty="0">
                <a:solidFill>
                  <a:srgbClr val="475569"/>
                </a:solidFill>
              </a:rPr>
              <a:t>every time — structured ADR persisted to Supabase + Jira, signed off and auditable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47472" y="33649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r>
              <a:rPr lang="en-US" sz="750" b="1" dirty="0">
                <a:solidFill>
                  <a:srgbClr val="0F1F3D"/>
                </a:solidFill>
              </a:rPr>
              <a:t>Domain-configurable, </a:t>
            </a:r>
            <a:r>
              <a:rPr lang="en-US" sz="750" dirty="0">
                <a:solidFill>
                  <a:srgbClr val="475569"/>
                </a:solidFill>
              </a:rPr>
              <a:t>— failure patterns, compliance standards, and Well-Architected principles injected per client context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47472" y="355701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r>
              <a:rPr lang="en-US" sz="750" b="1" dirty="0">
                <a:solidFill>
                  <a:srgbClr val="0F1F3D"/>
                </a:solidFill>
              </a:rPr>
              <a:t>Enterprise hardened </a:t>
            </a:r>
            <a:r>
              <a:rPr lang="en-US" sz="750" dirty="0">
                <a:solidFill>
                  <a:srgbClr val="475569"/>
                </a:solidFill>
              </a:rPr>
              <a:t>— API key auth, RLS, mock isolation, SHA-256 trace integrity on every session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0" y="2404872"/>
            <a:ext cx="4370832" cy="1316736"/>
          </a:xfrm>
          <a:prstGeom prst="roundRect">
            <a:avLst>
              <a:gd name="adj" fmla="val 555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700016" y="2496312"/>
            <a:ext cx="621792" cy="201168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00016" y="24963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F3D"/>
                </a:solidFill>
              </a:rPr>
              <a:t>SAVINGS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394960" y="24780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Indicative Efficiency Gains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663440" y="2788920"/>
            <a:ext cx="987552" cy="877824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663440" y="284378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~90%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4663440" y="3191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review cost reduction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663440" y="3392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4A3B8"/>
                </a:solidFill>
              </a:rPr>
              <a:t>vs traditional ARB cycle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5742432" y="2788920"/>
            <a:ext cx="987552" cy="877824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742432" y="284378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~95%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5742432" y="3191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faster turnaround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742432" y="3392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4A3B8"/>
                </a:solidFill>
              </a:rPr>
              <a:t>weeks → minutes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6821424" y="2788920"/>
            <a:ext cx="987552" cy="877824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821424" y="284378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100%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6821424" y="3191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governed ADR coverage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821424" y="3392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4A3B8"/>
                </a:solidFill>
              </a:rPr>
              <a:t>every session, every time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7900416" y="2788920"/>
            <a:ext cx="987552" cy="877824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900416" y="284378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↑ Reuse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7900416" y="3191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org learnings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7900416" y="3392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4A3B8"/>
                </a:solidFill>
              </a:rPr>
              <a:t>compound across engagements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0" y="3840480"/>
            <a:ext cx="9144000" cy="23774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0" y="38404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ACCENTURE ACCELERATOR  ·  Built on Anthropic Claude (Sonnet + Haiku tiered)  ·  Next.js · TypeScript · Supabase · Jira · Vercel  ·  Rama Ganapathineedi, Lead Architect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201168" y="4096512"/>
            <a:ext cx="279806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01168" y="4096512"/>
            <a:ext cx="2798064" cy="1828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01168" y="4197096"/>
            <a:ext cx="2798064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01168" y="410565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Accelerator Benefit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92608" y="430682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Augments the ARB process — enabling architects to focus on higher-value design and advisory decisions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3182112" y="4096512"/>
            <a:ext cx="279806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182112" y="4096512"/>
            <a:ext cx="2798064" cy="182880"/>
          </a:xfrm>
          <a:prstGeom prst="roundRect">
            <a:avLst>
              <a:gd name="adj" fmla="val 30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182112" y="4197096"/>
            <a:ext cx="2798064" cy="8229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3182112" y="410565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Deployment Model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273552" y="430682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Configured per engagement — injected with client compliance standards, failure patterns, and domain-specific Well-Architected principles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163056" y="4096512"/>
            <a:ext cx="279806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6163056" y="4096512"/>
            <a:ext cx="2798064" cy="1828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6163056" y="4197096"/>
            <a:ext cx="2798064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163056" y="410565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Proposal Positioning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254496" y="430682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Included as a delivery accelerator — reducing review cycle time, improving governance consistency, and compressing time-to-decision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379</Words>
  <Application>Microsoft Office PowerPoint</Application>
  <PresentationFormat>On-screen Show (16:9)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Ganapatineedi, Rama</cp:lastModifiedBy>
  <cp:revision>2</cp:revision>
  <dcterms:created xsi:type="dcterms:W3CDTF">2026-07-09T07:21:38Z</dcterms:created>
  <dcterms:modified xsi:type="dcterms:W3CDTF">2026-07-13T01:56:47Z</dcterms:modified>
</cp:coreProperties>
</file>