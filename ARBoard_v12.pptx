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9" r:id="rId4"/>
    <p:sldId id="258" r:id="rId5"/>
    <p:sldId id="259" r:id="rId6"/>
    <p:sldId id="270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5967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saying: This is ARBoard — a multi-agent AI system that runs a full Architecture Review Board in under 2 minutes. Let me show you what that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status quo for enterprise Salesforce ARBs is expensive, slow, and inconsistent. ARBoard addresses all four of these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value proposition. $0.22 vs $27,500 — that's the number that lands with finance and leadership. The quality story is about the deliberative engine, not just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differentiator is sequential deliberation — each agent builds on prior agent findings. This is not parallel execution; it is structured debate. The dissent panel shows where agents disagree with the final verdict.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grounding stack is the real IP. Competitors can replicate the UI. They cannot replicate the accumulated org learnings, failure patterns, and institutional memory injected into every agent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ARBoard is production-ready, not just a prototype. Security and operational hardening have been completed before any client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maturity assessment against canonical agentic architecture patterns. The green items are the foundation. Red items are the next sprint — timeout and retry are the most operationally critical before client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Done column shows how rapidly ARBoard has evolved. Next sprint items are prioritised by operational risk — timeout and retry first, then quality improvements like Round 2 Rebuttal and HITL escalation.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$27,500 number to anchor. Then show $0.22. The 99.2% cost reduction is the headline. But also emphasise: this isn't a cost play — it's a quality and consistency play. The cost is just the proof it's worth trying.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is a clean Next.js monolith on Vercel. No heavyweight orchestration framework — the deliberative pattern is implemented directly in TypeScript, which makes it auditable, debuggable, and extensible.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conversation to have with leadership: which client engagement do we run this on first? The platform is ready. We need a domain package and a client context to make it 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with: The question isn't whether AI belongs in architecture review. The question is whether we build the institutional memory and governance layer to make it trustworthy. ARBoard does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 went through 4 rounds of design challenge before a line of code was written. 7 queries defined first — schema designed to answer them. Write-before-run means traces survive orchestrator crashes.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ARBoard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Architecture Review 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Specialist Agents  ·  9 Grounding Layers  ·  Governed ADR Trail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459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3327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3327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0195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0195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7063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7063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3931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3931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0799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0799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7667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7667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OmniStudio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4535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4535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1403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1403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8271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98271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·  Lead Architecture Practice  ·  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515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033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1463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ARBs require 4–8 architects, weeks of scheduling, and hours of prep per engagement.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27448" y="86868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0515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7528" y="1033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910328" y="1463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quality varies by who attends. Different architects flag different risks.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0040" y="274320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260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9077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institutional memory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02920" y="33375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from past engagements aren't systematically captured or reused.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27448" y="274320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29260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67528" y="29077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910328" y="33375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~$27,500 per review at blended $150/hr rates. Unscalable for frequent Salesforce delivery.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y ARBoard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>Why ARBoard — not just Claude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730000"/>
            <a:ext cx="822960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</a:rPr>
              <a:t>Base Claude gives you ~30-40% of ARBoard. Here is what the other 60-70% looks like.</a:t>
            </a:r>
          </a:p>
        </p:txBody>
      </p:sp>
      <p:sp>
        <p:nvSpPr>
          <p:cNvPr id="5" name="ColHdr1"/>
          <p:cNvSpPr/>
          <p:nvPr/>
        </p:nvSpPr>
        <p:spPr>
          <a:xfrm>
            <a:off x="457200" y="1120000"/>
            <a:ext cx="2743200" cy="330000"/>
          </a:xfrm>
          <a:prstGeom prst="rect">
            <a:avLst/>
          </a:prstGeom>
          <a:solidFill>
            <a:srgbClr val="0F1F3D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Capability</a:t>
            </a:r>
          </a:p>
        </p:txBody>
      </p:sp>
      <p:sp>
        <p:nvSpPr>
          <p:cNvPr id="6" name="ColHdr2"/>
          <p:cNvSpPr/>
          <p:nvPr/>
        </p:nvSpPr>
        <p:spPr>
          <a:xfrm>
            <a:off x="3200400" y="1120000"/>
            <a:ext cx="2743200" cy="330000"/>
          </a:xfrm>
          <a:prstGeom prst="rect">
            <a:avLst/>
          </a:prstGeom>
          <a:solidFill>
            <a:srgbClr val="47556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Base Claude</a:t>
            </a:r>
          </a:p>
        </p:txBody>
      </p:sp>
      <p:sp>
        <p:nvSpPr>
          <p:cNvPr id="7" name="ColHdr3"/>
          <p:cNvSpPr/>
          <p:nvPr/>
        </p:nvSpPr>
        <p:spPr>
          <a:xfrm>
            <a:off x="5943600" y="1120000"/>
            <a:ext cx="2743200" cy="330000"/>
          </a:xfrm>
          <a:prstGeom prst="rect">
            <a:avLst/>
          </a:prstGeom>
          <a:solidFill>
            <a:srgbClr val="1E40AF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ARBoard</a:t>
            </a:r>
          </a:p>
        </p:txBody>
      </p:sp>
      <p:sp>
        <p:nvSpPr>
          <p:cNvPr id="10" name="R1C1"/>
          <p:cNvSpPr/>
          <p:nvPr/>
        </p:nvSpPr>
        <p:spPr>
          <a:xfrm>
            <a:off x="457200" y="1450000"/>
            <a:ext cx="2743200" cy="380000"/>
          </a:xfrm>
          <a:prstGeom prst="rect">
            <a:avLst/>
          </a:prstGeom>
          <a:solidFill>
            <a:srgbClr val="EFF6FF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Specialist lenses</a:t>
            </a:r>
          </a:p>
        </p:txBody>
      </p:sp>
      <p:sp>
        <p:nvSpPr>
          <p:cNvPr id="11" name="R1C2"/>
          <p:cNvSpPr/>
          <p:nvPr/>
        </p:nvSpPr>
        <p:spPr>
          <a:xfrm>
            <a:off x="3200400" y="1450000"/>
            <a:ext cx="2743200" cy="380000"/>
          </a:xfrm>
          <a:prstGeom prst="rect">
            <a:avLst/>
          </a:prstGeom>
          <a:solidFill>
            <a:srgbClr val="F1F5F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1 generalist opinion</a:t>
            </a:r>
          </a:p>
        </p:txBody>
      </p:sp>
      <p:sp>
        <p:nvSpPr>
          <p:cNvPr id="12" name="R1C3"/>
          <p:cNvSpPr/>
          <p:nvPr/>
        </p:nvSpPr>
        <p:spPr>
          <a:xfrm>
            <a:off x="5943600" y="145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9 specialist agents challenge each other</a:t>
            </a:r>
          </a:p>
        </p:txBody>
      </p:sp>
      <p:sp>
        <p:nvSpPr>
          <p:cNvPr id="13" name="R2C1"/>
          <p:cNvSpPr/>
          <p:nvPr/>
        </p:nvSpPr>
        <p:spPr>
          <a:xfrm>
            <a:off x="457200" y="1840000"/>
            <a:ext cx="2743200" cy="3800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Adversarial posture</a:t>
            </a:r>
          </a:p>
        </p:txBody>
      </p:sp>
      <p:sp>
        <p:nvSpPr>
          <p:cNvPr id="14" name="R2C2"/>
          <p:cNvSpPr/>
          <p:nvPr/>
        </p:nvSpPr>
        <p:spPr>
          <a:xfrm>
            <a:off x="3200400" y="1840000"/>
            <a:ext cx="2743200" cy="38000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Helpful and agreeable</a:t>
            </a:r>
          </a:p>
        </p:txBody>
      </p:sp>
      <p:sp>
        <p:nvSpPr>
          <p:cNvPr id="15" name="R2C3"/>
          <p:cNvSpPr/>
          <p:nvPr/>
        </p:nvSpPr>
        <p:spPr>
          <a:xfrm>
            <a:off x="5943600" y="184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Agents challenge before they assess — by design</a:t>
            </a:r>
          </a:p>
        </p:txBody>
      </p:sp>
      <p:sp>
        <p:nvSpPr>
          <p:cNvPr id="16" name="R3C1"/>
          <p:cNvSpPr/>
          <p:nvPr/>
        </p:nvSpPr>
        <p:spPr>
          <a:xfrm>
            <a:off x="457200" y="2230000"/>
            <a:ext cx="2743200" cy="380000"/>
          </a:xfrm>
          <a:prstGeom prst="rect">
            <a:avLst/>
          </a:prstGeom>
          <a:solidFill>
            <a:srgbClr val="EFF6FF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SI failure patterns</a:t>
            </a:r>
          </a:p>
        </p:txBody>
      </p:sp>
      <p:sp>
        <p:nvSpPr>
          <p:cNvPr id="17" name="R3C2"/>
          <p:cNvSpPr/>
          <p:nvPr/>
        </p:nvSpPr>
        <p:spPr>
          <a:xfrm>
            <a:off x="3200400" y="2230000"/>
            <a:ext cx="2743200" cy="380000"/>
          </a:xfrm>
          <a:prstGeom prst="rect">
            <a:avLst/>
          </a:prstGeom>
          <a:solidFill>
            <a:srgbClr val="F1F5F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Generic Salesforce best practice only</a:t>
            </a:r>
          </a:p>
        </p:txBody>
      </p:sp>
      <p:sp>
        <p:nvSpPr>
          <p:cNvPr id="18" name="R3C3"/>
          <p:cNvSpPr/>
          <p:nvPr/>
        </p:nvSpPr>
        <p:spPr>
          <a:xfrm>
            <a:off x="5943600" y="223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FP-004 to FP-012 — Accenture delivery failure library</a:t>
            </a:r>
          </a:p>
        </p:txBody>
      </p:sp>
      <p:sp>
        <p:nvSpPr>
          <p:cNvPr id="19" name="R4C1"/>
          <p:cNvSpPr/>
          <p:nvPr/>
        </p:nvSpPr>
        <p:spPr>
          <a:xfrm>
            <a:off x="457200" y="2620000"/>
            <a:ext cx="2743200" cy="3800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Org memory</a:t>
            </a:r>
          </a:p>
        </p:txBody>
      </p:sp>
      <p:sp>
        <p:nvSpPr>
          <p:cNvPr id="20" name="R4C2"/>
          <p:cNvSpPr/>
          <p:nvPr/>
        </p:nvSpPr>
        <p:spPr>
          <a:xfrm>
            <a:off x="3200400" y="2620000"/>
            <a:ext cx="2743200" cy="38000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Forgets everything between sessions</a:t>
            </a:r>
          </a:p>
        </p:txBody>
      </p:sp>
      <p:sp>
        <p:nvSpPr>
          <p:cNvPr id="21" name="R4C3"/>
          <p:cNvSpPr/>
          <p:nvPr/>
        </p:nvSpPr>
        <p:spPr>
          <a:xfrm>
            <a:off x="5943600" y="262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Org learnings compound across every session in Supabase</a:t>
            </a:r>
          </a:p>
        </p:txBody>
      </p:sp>
      <p:sp>
        <p:nvSpPr>
          <p:cNvPr id="22" name="R5C1"/>
          <p:cNvSpPr/>
          <p:nvPr/>
        </p:nvSpPr>
        <p:spPr>
          <a:xfrm>
            <a:off x="457200" y="3010000"/>
            <a:ext cx="2743200" cy="380000"/>
          </a:xfrm>
          <a:prstGeom prst="rect">
            <a:avLst/>
          </a:prstGeom>
          <a:solidFill>
            <a:srgbClr val="EFF6FF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Governance trail</a:t>
            </a:r>
          </a:p>
        </p:txBody>
      </p:sp>
      <p:sp>
        <p:nvSpPr>
          <p:cNvPr id="23" name="R5C2"/>
          <p:cNvSpPr/>
          <p:nvPr/>
        </p:nvSpPr>
        <p:spPr>
          <a:xfrm>
            <a:off x="3200400" y="3010000"/>
            <a:ext cx="2743200" cy="380000"/>
          </a:xfrm>
          <a:prstGeom prst="rect">
            <a:avLst/>
          </a:prstGeom>
          <a:solidFill>
            <a:srgbClr val="F1F5F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Text output only — no audit trail</a:t>
            </a:r>
          </a:p>
        </p:txBody>
      </p:sp>
      <p:sp>
        <p:nvSpPr>
          <p:cNvPr id="24" name="R5C3"/>
          <p:cNvSpPr/>
          <p:nvPr/>
        </p:nvSpPr>
        <p:spPr>
          <a:xfrm>
            <a:off x="5943600" y="301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Structured ADR — Supabase + Jira, auditable and signed off</a:t>
            </a:r>
          </a:p>
        </p:txBody>
      </p:sp>
      <p:sp>
        <p:nvSpPr>
          <p:cNvPr id="25" name="R6C1"/>
          <p:cNvSpPr/>
          <p:nvPr/>
        </p:nvSpPr>
        <p:spPr>
          <a:xfrm>
            <a:off x="457200" y="3400000"/>
            <a:ext cx="2743200" cy="3800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Delivery standards</a:t>
            </a:r>
          </a:p>
        </p:txBody>
      </p:sp>
      <p:sp>
        <p:nvSpPr>
          <p:cNvPr id="26" name="R6C2"/>
          <p:cNvSpPr/>
          <p:nvPr/>
        </p:nvSpPr>
        <p:spPr>
          <a:xfrm>
            <a:off x="3200400" y="3400000"/>
            <a:ext cx="2743200" cy="38000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Generic — not tuned to your practice</a:t>
            </a:r>
          </a:p>
        </p:txBody>
      </p:sp>
      <p:sp>
        <p:nvSpPr>
          <p:cNvPr id="27" name="R6C3"/>
          <p:cNvSpPr/>
          <p:nvPr/>
        </p:nvSpPr>
        <p:spPr>
          <a:xfrm>
            <a:off x="5943600" y="340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Guardrails tuned to Accenture delivery standards</a:t>
            </a:r>
          </a:p>
        </p:txBody>
      </p:sp>
      <p:sp>
        <p:nvSpPr>
          <p:cNvPr id="28" name="Callout"/>
          <p:cNvSpPr/>
          <p:nvPr/>
        </p:nvSpPr>
        <p:spPr>
          <a:xfrm>
            <a:off x="457200" y="3870000"/>
            <a:ext cx="8229600" cy="320000"/>
          </a:xfrm>
          <a:prstGeom prst="rect">
            <a:avLst/>
          </a:prstGeom>
          <a:solidFill>
            <a:srgbClr val="1E3A5F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The prompt engineering is the product. The adversarial posture, the failure patterns, the org memory — none of that comes free with Claude.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Solution Design Document.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specialist agents debate, critique, and synthesise a binding Architecture Decision Record in under 2 minutes.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1A3355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SDD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or DOCX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diagrams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38528" y="2624328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12848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1A3355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12848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212848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12848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risks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94176" y="2624328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968496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1A3355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68496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68496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10-Agent Debate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68496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49824" y="2624328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724144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24144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724144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Verdict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24144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 decision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05472" y="2624328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479792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1A3355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79792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479792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+ Jira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79792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6118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36758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$0.22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57200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session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633472" y="36118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633472" y="36758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2633472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time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09744" y="36118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09744" y="36758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$27,500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4809744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equivalent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986016" y="36118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986016" y="36758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6986016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deliberative engine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don't just run in parallel — each specialist builds on prior findings. The Judge synthesises all perspectives into a binding verdict.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316736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16736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40864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40864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64992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64992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0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13248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13248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37376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37376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OmniStudio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61504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61504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0" y="1783080"/>
            <a:ext cx="0" cy="32004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92608" y="2103120"/>
            <a:ext cx="7900416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92608" y="2103120"/>
            <a:ext cx="0" cy="32004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193024" y="2103120"/>
            <a:ext cx="0" cy="32004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60320" y="242316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496312"/>
            <a:ext cx="320040" cy="3200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3090672" y="24231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 —  Binding ARB Verdict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572000" y="3063240"/>
            <a:ext cx="0" cy="256032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1371600" y="3319272"/>
            <a:ext cx="3200400" cy="384048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371600" y="33192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— ADR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486400" y="3319272"/>
            <a:ext cx="3200400" cy="384048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486400" y="33192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— Org Memory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57200" y="37673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and Learner run in parallel after verdict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20040" y="411480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251960"/>
            <a:ext cx="292608" cy="292608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868680" y="411480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Dissent Panel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868680" y="44805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call flags where specialists diverged from the Judge verdict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4892040" y="411480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4251960"/>
            <a:ext cx="292608" cy="292608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5440680" y="411480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ADR Trail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5440680" y="44805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to Supabase + Jira with verdict, must-fix items, confidence score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eadless Distribu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>Headless ARBoard — Brain, Not UI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730000"/>
            <a:ext cx="82296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</a:rPr>
              <a:t>The agent brain is decoupled from the UI — consumable via three distribution channels today</a:t>
            </a:r>
          </a:p>
        </p:txBody>
      </p:sp>
      <p:sp>
        <p:nvSpPr>
          <p:cNvPr id="5" name="C1Header"/>
          <p:cNvSpPr/>
          <p:nvPr/>
        </p:nvSpPr>
        <p:spPr>
          <a:xfrm>
            <a:off x="457200" y="1120000"/>
            <a:ext cx="2600000" cy="340000"/>
          </a:xfrm>
          <a:prstGeom prst="rect">
            <a:avLst/>
          </a:prstGeom>
          <a:solidFill>
            <a:srgbClr val="0F1F3D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1 — Claude Projects</a:t>
            </a:r>
          </a:p>
        </p:txBody>
      </p:sp>
      <p:sp>
        <p:nvSpPr>
          <p:cNvPr id="6" name="C1Body"/>
          <p:cNvSpPr/>
          <p:nvPr/>
        </p:nvSpPr>
        <p:spPr>
          <a:xfrm>
            <a:off x="457200" y="1460000"/>
            <a:ext cx="2600000" cy="1800000"/>
          </a:xfrm>
          <a:prstGeom prst="rect">
            <a:avLst/>
          </a:prstGeom>
          <a:solidFill>
            <a:srgbClr val="EFF6FF"/>
          </a:solidFill>
        </p:spPr>
        <p:txBody>
          <a:bodyPr wrap="square" rtlCol="0" anchor="t"/>
          <a:lstStyle/>
          <a:p>
            <a:pPr marL="9144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/>
              </a:rPr>
              <a:t>Zero infra · Zero API cost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Full 9-agent review via shared Claude Project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Summary-first output · expand on demand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Challenge round · genuine cross-agent debate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Shareable to entire Accenture team today</a:t>
            </a:r>
          </a:p>
          <a:p>
            <a:pPr marL="9144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/>
              </a:rPr>
              <a:t>Best for: Internal architects, ad-hoc reviews</a:t>
            </a:r>
          </a:p>
        </p:txBody>
      </p:sp>
      <p:sp>
        <p:nvSpPr>
          <p:cNvPr id="7" name="C2Header"/>
          <p:cNvSpPr/>
          <p:nvPr/>
        </p:nvSpPr>
        <p:spPr>
          <a:xfrm>
            <a:off x="3272000" y="1120000"/>
            <a:ext cx="2600000" cy="340000"/>
          </a:xfrm>
          <a:prstGeom prst="rect">
            <a:avLst/>
          </a:prstGeom>
          <a:solidFill>
            <a:srgbClr val="1E40AF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2 — REST API</a:t>
            </a:r>
          </a:p>
        </p:txBody>
      </p:sp>
      <p:sp>
        <p:nvSpPr>
          <p:cNvPr id="8" name="C2Body"/>
          <p:cNvSpPr/>
          <p:nvPr/>
        </p:nvSpPr>
        <p:spPr>
          <a:xfrm>
            <a:off x="3272000" y="1460000"/>
            <a:ext cx="2600000" cy="180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t"/>
          <a:lstStyle/>
          <a:p>
            <a:pPr marL="9144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/>
              </a:rPr>
              <a:t>POST /api/v1/review · Live today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API key auth via Supabase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JSON in → verdict + findings + cost out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Individual agent subsetting via agentIds[]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Caller brings their own Anthropic key</a:t>
            </a:r>
          </a:p>
          <a:p>
            <a:pPr marL="9144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/>
              </a:rPr>
              <a:t>Best for: CI/CD, 3rd party tools, pipelines</a:t>
            </a:r>
          </a:p>
        </p:txBody>
      </p:sp>
      <p:sp>
        <p:nvSpPr>
          <p:cNvPr id="9" name="C3Header"/>
          <p:cNvSpPr/>
          <p:nvPr/>
        </p:nvSpPr>
        <p:spPr>
          <a:xfrm>
            <a:off x="6087000" y="1120000"/>
            <a:ext cx="2600000" cy="340000"/>
          </a:xfrm>
          <a:prstGeom prst="rect">
            <a:avLst/>
          </a:prstGeom>
          <a:solidFill>
            <a:srgbClr val="47556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3 — NPM SDK (roadmap)</a:t>
            </a:r>
          </a:p>
        </p:txBody>
      </p:sp>
      <p:sp>
        <p:nvSpPr>
          <p:cNvPr id="10" name="C3Body"/>
          <p:cNvSpPr/>
          <p:nvPr/>
        </p:nvSpPr>
        <p:spPr>
          <a:xfrm>
            <a:off x="6087000" y="1460000"/>
            <a:ext cx="2600000" cy="1800000"/>
          </a:xfrm>
          <a:prstGeom prst="rect">
            <a:avLst/>
          </a:prstGeom>
          <a:solidFill>
            <a:srgbClr val="F1F5F9"/>
          </a:solidFill>
        </p:spPr>
        <p:txBody>
          <a:bodyPr wrap="square" rtlCol="0" anchor="t"/>
          <a:lstStyle/>
          <a:p>
            <a:pPr marL="9144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/>
              </a:rPr>
              <a:t>@accenture/arboard-sdk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Import agents directly into any Node app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VS Code extension · Salesforce CLI plugin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Runs in caller's environment, caller's key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GitHub Actions ARB review on every PR</a:t>
            </a:r>
          </a:p>
          <a:p>
            <a:pPr marL="9144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/>
              </a:rPr>
              <a:t>Best for: IDE plugins, CI pipelines, partners</a:t>
            </a:r>
          </a:p>
        </p:txBody>
      </p:sp>
      <p:sp>
        <p:nvSpPr>
          <p:cNvPr id="11" name="Callout"/>
          <p:cNvSpPr/>
          <p:nvPr/>
        </p:nvSpPr>
        <p:spPr>
          <a:xfrm>
            <a:off x="457200" y="3370000"/>
            <a:ext cx="8229600" cy="340000"/>
          </a:xfrm>
          <a:prstGeom prst="rect">
            <a:avLst/>
          </a:prstGeom>
          <a:solidFill>
            <a:srgbClr val="1E3A5F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Channels 1 and 2 validated today. Zero new infrastructure. Zero additional cost.</a:t>
            </a:r>
          </a:p>
        </p:txBody>
      </p:sp>
      <p:sp>
        <p:nvSpPr>
          <p:cNvPr id="12" name="APIBox"/>
          <p:cNvSpPr/>
          <p:nvPr/>
        </p:nvSpPr>
        <p:spPr>
          <a:xfrm>
            <a:off x="457200" y="3810000"/>
            <a:ext cx="8229600" cy="380000"/>
          </a:xfrm>
          <a:prstGeom prst="rect">
            <a:avLst/>
          </a:prstGeom>
          <a:solidFill>
            <a:srgbClr val="0F1F3D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49" charset="0"/>
              </a:rPr>
              <a:t>POST arboard.vercel.app/api/v1/review  |  x-api-key: {key}  |  { "document": "...", "agentIds": ["sf-apex","sf-judge"]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9-layer grounding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agent, every session — grounded in institutional knowledge before generating a single finding.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0F1F3D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261872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28930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knowledge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58191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training — Salesforce patterns, LWC, Apex, integration, Flow, platform limits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975104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1A3355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1975104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00253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grounding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229514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Well-Architected Principles (per agent)  ·  SI Failure Pattern Library (FP-004–FP-012)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688336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0F4C75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2688336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" y="27157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library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300837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skills always loaded per agent  ·  Cross-cutting skills keyword-triggered from document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401568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0D6E6E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" y="3401568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" y="3429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memory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" y="37216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 — prior agent findings injected forward  ·  Jira ADR cross-session reconciliation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114800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4048" y="4114800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1248" y="41422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intelligence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" y="44348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learnings (Supabase, compounds over time)  ·  Live Salesforce org metadata via MCP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grounding stack is the moat — it compounds with every session as org learnings accumulate.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hardening — completed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41832"/>
            <a:ext cx="347472" cy="3474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41832" y="94183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41832" y="9418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fixed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28016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isolation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and Supabase keys server-side only. No NEXT_PUBLIC_ exposure. Key mutation removed from request handlers.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27448" y="80467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941832"/>
            <a:ext cx="347472" cy="3474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349240" y="94183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349240" y="9418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fixed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910328" y="128016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authentication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10328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Shared-secret auth guard on all 7 high-risk API routes. 401 on missing or incorrect key. Local dev no-op when unset.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0040" y="222199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359152"/>
            <a:ext cx="347472" cy="34747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41832" y="235915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941832" y="23591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fixed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502920" y="269748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 isolation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02920" y="2971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 now explicitly threaded through ImpactAnalyser and ForumOrchestrator. No real API calls in mock sessions.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27448" y="222199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2359152"/>
            <a:ext cx="347472" cy="34747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349240" y="235915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B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5349240" y="23591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4910328" y="269748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RLS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910328" y="2971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enabled on all tables. Service role key used server-side only for writes. Anon key removed.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0040" y="363931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776472"/>
            <a:ext cx="347472" cy="347472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41832" y="377647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B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941832" y="37764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502920" y="411480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file caching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502920" y="4389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Module-level Map cache added to skillLoader.ts. 20–40 disk reads per session reduced to first-call only.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4727448" y="363931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0328" y="3776472"/>
            <a:ext cx="347472" cy="347472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5349240" y="377647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E0F2FE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9"/>
          <p:cNvSpPr/>
          <p:nvPr/>
        </p:nvSpPr>
        <p:spPr>
          <a:xfrm>
            <a:off x="5349240" y="37764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800" dirty="0"/>
          </a:p>
        </p:txBody>
      </p:sp>
      <p:sp>
        <p:nvSpPr>
          <p:cNvPr id="38" name="Text 30"/>
          <p:cNvSpPr/>
          <p:nvPr/>
        </p:nvSpPr>
        <p:spPr>
          <a:xfrm>
            <a:off x="4910328" y="411480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+ Learner parallel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4910328" y="4389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and Learner now run concurrently after Judge verdict. ~10s saved per session. Sequential debate chain preserved.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architecture maturity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42032" y="80467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88920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18304" y="804672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65192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— on roadmap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94576" y="804672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41464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logical step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115568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120700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111556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111556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episodic memory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111556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Session-scoped, injected forward between agents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1444752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153619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103120" y="144475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persistent memory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94960" y="144475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learnings in Supabase + Jira ADR cross-session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1773936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186537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103120" y="177393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vector retrieval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94960" y="177393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upgrade needed — currently full-inject, no selectivity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103120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219456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" y="21031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03120" y="21031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→ critique → synthesis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94960" y="210312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→ 8 specialists → Judge — textbook deliberative pattern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2432304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252374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103120" y="243230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Rebuttal rounds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94960" y="243230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Re-submission exists; Round 2 in-session rebuttal not yet built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2761488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7200" y="285292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103120" y="276148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confidence signalling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94960" y="276148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scores implemented; document-relevance-based scoring TBD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3090672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57200" y="318211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103120" y="309067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Dissent detection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94960" y="309067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Post-verdict dissent panel via Haiku call — working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3419856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57200" y="351129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85800" y="341985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103120" y="341985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timeout + cancellation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394960" y="341985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per-agent timeout or cancel button — risk for demos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3749040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57200" y="384048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103120" y="374904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on transient failure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394960" y="374904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agents silently drop — Judge synthesises incomplete input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0040" y="4078224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57200" y="416966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85800" y="407822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103120" y="407822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ADR output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394960" y="407822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+ Jira + Supabase — full governed trail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20040" y="4407408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57200" y="4498848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103120" y="44074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escalation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394960" y="440740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Countersign endpoint exists — HITL workflow not yet wired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20040" y="4736592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57200" y="4828032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103120" y="473659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observability tracing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394960" y="473659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trace of injection decisions per agent — not built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84632" y="132588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7512" y="126187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specialist agents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" y="161848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512" y="155448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9-layer grounding stack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" y="191109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" y="184708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Library (8 files)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" y="220370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7512" y="213969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" y="249631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7512" y="243230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Dissent Panel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" y="278892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7512" y="272491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Intelligence Learner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" y="308152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7512" y="30175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vision (docx)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" y="337413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7512" y="331012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Monitor + ROI estimator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" y="366674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7512" y="360273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RLS + security hardening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" y="395935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7512" y="389534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auth guard (7 routes)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" y="425196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7512" y="418795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 isolation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" y="454456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67512" y="448056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+ Learner parallelised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" y="483717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7512" y="477316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file caching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" y="512978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7512" y="506577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3-table observability schema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" y="542239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67512" y="535838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SessionTracer — full agent lifecycle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" y="571500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67512" y="565099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trace integrity hash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64408" y="77724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264408" y="7772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sprint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3429000" y="132588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11880" y="126187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timeout + cancel button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429000" y="161848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11880" y="155448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on transient API failure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429000" y="191109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11880" y="184708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Rebuttal flow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29000" y="220370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611880" y="213969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escalation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429000" y="249631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611880" y="243230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layer tracing (Q1/Q2)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429000" y="27889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611880" y="272491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confidence scoring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429000" y="308152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611880" y="30175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+ prompt injection guard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429000" y="337413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611880" y="331012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strict mode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08776" y="77724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208776" y="7772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6373368" y="132588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556248" y="126187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semantic memory retrieval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373368" y="161848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556248" y="155448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Domain-agnostic multi-tenant config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373368" y="1911096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556248" y="184708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versioning across resubmissions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373368" y="220370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556248" y="213969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write alongside Jira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373368" y="249631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556248" y="243230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model strategy (Haiku/Sonnet/Opus)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373368" y="278892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556248" y="272491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MCP integration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373368" y="308152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556248" y="30175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client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— real numbers from live runs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ARBoard session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8653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NovaPeak SDD · 12 findings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96312" y="841248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96312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74k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96312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(actual)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96312" y="18653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44k estimated (+68%)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72584" y="841248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72584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72584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72584" y="18653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agents sequential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48856" y="841248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48856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$27,500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48856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ARB equivalent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48856" y="18653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architects × 45 hrs × $150/hr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395728"/>
            <a:ext cx="8503920" cy="475488"/>
          </a:xfrm>
          <a:prstGeom prst="roundRect">
            <a:avLst>
              <a:gd name="adj" fmla="val 19231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239572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 cost reduction  ·  Tiered model: Haiku for Scribe &amp; Learner, Sonnet for Specialists &amp; Judge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" y="2971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pricing (Sonnet claude-sonnet-4-6)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$3.00 / MTok   ·   Cached read: $0.30 / MTok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$15.00 / MTok   ·   Cache write: $3.75 / MTok</a:t>
            </a:r>
            <a:endParaRPr lang="en-US" sz="11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880360"/>
            <a:ext cx="2560320" cy="20116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ROI estimator built into ARBoard UI — pre-run estimate and post-session actuals with complexity weighting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1A3355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2880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2880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2880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2880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(deploy)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956816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0F4C75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956816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56816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956816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/api/* route handlers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956816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956816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guard (x-arboard-key)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956816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956816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SSE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56816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956816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+ vision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30752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0D6E6E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730752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30752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730752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ForumOrchestrator.ts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30752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730752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AgentRunner (stream)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30752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730752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PromptBuilder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30752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730752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skillLoader (cached)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04688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504688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04688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504688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(Claude)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04688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504688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+ Haiku tiered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504688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504688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504688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504688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Dissent analyser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278624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065A82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278624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278624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278624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(RLS enabled)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278624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278624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role server-only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278624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278624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(ADR tickets)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278624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278624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org_learnings table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Next.js · TypeScript · Anthropic SDK · Supabase · Jira REST API · Vercel · JSZip (diagram vision)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go from here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0F1F3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69264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692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deployment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139903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a regulated industry engagement (financial services or public sector). Inject client-specific compliance standards, failure patterns, and Well-Architected principles as a domain package.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27448" y="804672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0F1F3D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969264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7528" y="9692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semantic memory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910328" y="139903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has pgvector built in. Embed org learnings and failure patterns on write. Top-K retrieval by cosine similarity replaces full-inject — improves relevance, reduces cost.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" y="2743200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0F1F3D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0779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9077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02920" y="33375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the existing countersign endpoint to a HITL escalation flow. When Judge flags human judgement points, route to a named reviewer before ADR is finalised.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27448" y="2743200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0F1F3D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290779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67528" y="29077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&amp; white-label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910328" y="33375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Registry in Supabase with client_id partitioning. Each client accumulates their own org learnings. One ARBoard engine, many domain/client configurations.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Board is open.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specialist agents. 9 grounding layers. One governed verdict.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2677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ARBoard is production-ready — security hardened, cost-validated, and aligned to enterprise agentic architecture patterns.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351129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Anthropic Claude (Sonnet + Haiku tiered)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383133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Supabase · Jira · Vercel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415137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github.com/pganapathineedi/arboard (private)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7365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Ganapathineedi  ·  Lead Architect, Accenture Australia  ·  Salesforce / Agentforce  ·  Agentblazer Legend 2026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observability &amp; tracing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ARBoard session is fully traced — what was injected, which agents ran, what they found, and a tamper-evident integrity hash.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F1F3D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session_traces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627632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66420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session  ·  verdict · cost · tokens · hash  ·  resubmission chain · status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81528" y="1737360"/>
            <a:ext cx="164592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64408" y="12344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F4C75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64408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session_trace_agents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4408" y="1627632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64408" y="166420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agent  ·  status · tokens · must-fix count  ·  sequence · round · dissent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25896" y="1737360"/>
            <a:ext cx="164592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08776" y="12344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08776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session_trace_injections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08776" y="1627632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08776" y="166420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grounding layer  ·  type · file · keywords matched  ·  token estimate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276148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analytics queries — designed first, schema built to answer them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108960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93192" y="3154680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93192" y="3154680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50392" y="31089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layers + token cost per agent per session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456432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93192" y="3502152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93192" y="3502152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0392" y="34564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/ least triggered cross-cutting skills this month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803904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93192" y="3849624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93192" y="384962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50392" y="38039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failure rate and error patterns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151376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93192" y="4197096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93192" y="4197096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50392" y="415137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changes across document resubmissions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108960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28032" y="3154680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28032" y="3154680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85232" y="31089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deviating most from expected token budget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456432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828032" y="3502152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28032" y="3502152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Q6a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285232" y="34564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producing the most Must-Fix findings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3803904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828032" y="3849624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28032" y="384962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Q6b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285232" y="38039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where specialists dissented from Judge verdict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4645152"/>
            <a:ext cx="8503920" cy="384048"/>
          </a:xfrm>
          <a:prstGeom prst="roundRect">
            <a:avLst>
              <a:gd name="adj" fmla="val 19048"/>
            </a:avLst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storage · Write-before-run (crash-safe) · SHA-256 integrity · Mock excluded from analytics · client_id + round on every row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2268</Words>
  <Application>Microsoft Office PowerPoint</Application>
  <PresentationFormat>On-screen Show (16:9)</PresentationFormat>
  <Paragraphs>337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ARBoard — AI-Powered Architecture Review Board</dc:title>
  <dc:subject>PptxGenJS Presentation</dc:subject>
  <dc:creator>PptxGenJS</dc:creator>
  <cp:lastModifiedBy>Ganapatineedi, Rama</cp:lastModifiedBy>
  <cp:revision>2</cp:revision>
  <dcterms:created xsi:type="dcterms:W3CDTF">2026-07-06T05:46:55Z</dcterms:created>
  <dcterms:modified xsi:type="dcterms:W3CDTF">2026-07-07T06:10:27Z</dcterms:modified>
</cp:coreProperties>
</file>