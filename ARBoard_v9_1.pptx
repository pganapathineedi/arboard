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8" r:id="rId5"/>
    <p:sldId id="279" r:id="rId6"/>
    <p:sldId id="282" r:id="rId7"/>
    <p:sldId id="281" r:id="rId8"/>
    <p:sldId id="259" r:id="rId9"/>
    <p:sldId id="280" r:id="rId10"/>
    <p:sldId id="260" r:id="rId11"/>
    <p:sldId id="274" r:id="rId12"/>
    <p:sldId id="262" r:id="rId13"/>
    <p:sldId id="263" r:id="rId14"/>
    <p:sldId id="276" r:id="rId15"/>
    <p:sldId id="277" r:id="rId16"/>
    <p:sldId id="265" r:id="rId17"/>
    <p:sldId id="266" r:id="rId18"/>
    <p:sldId id="267" r:id="rId19"/>
    <p:sldId id="268" r:id="rId20"/>
    <p:sldId id="269" r:id="rId21"/>
    <p:sldId id="270" r:id="rId22"/>
    <p:sldId id="271" r:id="rId23"/>
    <p:sldId id="272" r:id="rId24"/>
    <p:sldId id="273" r:id="rId25"/>
    <p:sldId id="275"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213" d="100"/>
          <a:sy n="213" d="100"/>
        </p:scale>
        <p:origin x="348"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771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 ARBoard accelerates, not replaces:
1. The ARB forum still runs. Architects still own the verdict. ARBoard is preparation infrastructure.
2. The meeting becomes sharper — architects walk in with findings already surfaced, so time is spent on decisions not discovery.
3. Rework is the biggest cost — $8-15k when issues are found after build starts. ARBoard flags them before a line of code is written.
4. Endorsement velocity is the program-level benefit — if a team can review 3-5x more designs per sprint, the whole delivery pipeline moves faster.
5. $150/hr is a conservative blended rate — loaded cost is higher.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scene before the live demo.
Key points to make:
1. Each row is a specialist — they don't just rubber-stamp, they each own a domain.
2. The 'What It Validates' column shows the breadth — this is not a checklist tool, it's a deliberative review.
3. The 'Must-Fix Triggers' column shows teeth — the tool will block approval on these.
4. Judge synthesises across all agents and scores the architecture on 4 dimensions.
5. Scribe and Learner are the institutional memory layer — every session makes the next one smarter.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10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207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631600"/>
            <a:ext cx="1965960" cy="291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207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207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46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182880"/>
          </a:xfrm>
          <a:prstGeom prst="rect">
            <a:avLst/>
          </a:prstGeom>
          <a:noFill/>
          <a:ln/>
        </p:spPr>
        <p:txBody>
          <a:bodyPr wrap="square" rtlCol="0" anchor="ctr"/>
          <a:lstStyle/>
          <a:p>
            <a:pPr marL="0" indent="0">
              <a:buNone/>
            </a:pPr>
            <a:r>
              <a:rPr lang="en-US" sz="900" b="1" kern="0" spc="300" dirty="0">
                <a:solidFill>
                  <a:srgbClr val="0891B2"/>
                </a:solidFill>
              </a:rPr>
              <a:t>ENTERPRISE FIT</a:t>
            </a:r>
            <a:endParaRPr lang="en-US" sz="900" dirty="0"/>
          </a:p>
        </p:txBody>
      </p:sp>
      <p:sp>
        <p:nvSpPr>
          <p:cNvPr id="3" name="Text 1"/>
          <p:cNvSpPr/>
          <p:nvPr/>
        </p:nvSpPr>
        <p:spPr>
          <a:xfrm>
            <a:off x="457200" y="411480"/>
            <a:ext cx="8229600" cy="685800"/>
          </a:xfrm>
          <a:prstGeom prst="rect">
            <a:avLst/>
          </a:prstGeom>
          <a:noFill/>
          <a:ln/>
        </p:spPr>
        <p:txBody>
          <a:bodyPr wrap="square" rtlCol="0" anchor="ctr"/>
          <a:lstStyle/>
          <a:p>
            <a:pPr marL="0" indent="0">
              <a:buNone/>
            </a:pPr>
            <a:r>
              <a:rPr lang="en-US" sz="3400" b="1" dirty="0">
                <a:solidFill>
                  <a:srgbClr val="1E293B"/>
                </a:solidFill>
              </a:rPr>
              <a:t>Where ARBoard fits in your delivery workflow</a:t>
            </a:r>
            <a:endParaRPr lang="en-US" sz="3400" dirty="0"/>
          </a:p>
        </p:txBody>
      </p:sp>
      <p:sp>
        <p:nvSpPr>
          <p:cNvPr id="4" name="Shape 2"/>
          <p:cNvSpPr/>
          <p:nvPr/>
        </p:nvSpPr>
        <p:spPr>
          <a:xfrm>
            <a:off x="617220" y="1325880"/>
            <a:ext cx="1737360" cy="1417320"/>
          </a:xfrm>
          <a:prstGeom prst="roundRect">
            <a:avLst>
              <a:gd name="adj" fmla="val 6452"/>
            </a:avLst>
          </a:prstGeom>
          <a:solidFill>
            <a:srgbClr val="F1F5F9"/>
          </a:solidFill>
          <a:ln w="12700">
            <a:solidFill>
              <a:srgbClr val="E2E8F0"/>
            </a:solidFill>
            <a:prstDash val="solid"/>
          </a:ln>
        </p:spPr>
        <p:txBody>
          <a:bodyPr/>
          <a:lstStyle/>
          <a:p>
            <a:endParaRPr lang="en-US"/>
          </a:p>
        </p:txBody>
      </p:sp>
      <p:sp>
        <p:nvSpPr>
          <p:cNvPr id="5" name="Shape 3"/>
          <p:cNvSpPr/>
          <p:nvPr/>
        </p:nvSpPr>
        <p:spPr>
          <a:xfrm>
            <a:off x="1284732" y="1435608"/>
            <a:ext cx="402336" cy="402336"/>
          </a:xfrm>
          <a:prstGeom prst="ellipse">
            <a:avLst/>
          </a:prstGeom>
          <a:solidFill>
            <a:srgbClr val="64748B"/>
          </a:solidFill>
          <a:ln w="12700">
            <a:solidFill>
              <a:srgbClr val="64748B"/>
            </a:solidFill>
            <a:prstDash val="solid"/>
          </a:ln>
        </p:spPr>
        <p:txBody>
          <a:bodyPr/>
          <a:lstStyle/>
          <a:p>
            <a:endParaRPr lang="en-US"/>
          </a:p>
        </p:txBody>
      </p:sp>
      <p:sp>
        <p:nvSpPr>
          <p:cNvPr id="6" name="Text 4"/>
          <p:cNvSpPr/>
          <p:nvPr/>
        </p:nvSpPr>
        <p:spPr>
          <a:xfrm>
            <a:off x="1284732" y="1435608"/>
            <a:ext cx="402336" cy="402336"/>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708660" y="1911096"/>
            <a:ext cx="1554480" cy="384048"/>
          </a:xfrm>
          <a:prstGeom prst="rect">
            <a:avLst/>
          </a:prstGeom>
          <a:noFill/>
          <a:ln/>
        </p:spPr>
        <p:txBody>
          <a:bodyPr wrap="square" rtlCol="0" anchor="ctr"/>
          <a:lstStyle/>
          <a:p>
            <a:pPr marL="0" indent="0" algn="ctr">
              <a:buNone/>
            </a:pPr>
            <a:r>
              <a:rPr lang="en-US" sz="1300" b="1" dirty="0">
                <a:solidFill>
                  <a:srgbClr val="1E293B"/>
                </a:solidFill>
              </a:rPr>
              <a:t>Solution</a:t>
            </a:r>
            <a:endParaRPr lang="en-US" sz="1300" dirty="0"/>
          </a:p>
          <a:p>
            <a:pPr marL="0" indent="0" algn="ctr">
              <a:buNone/>
            </a:pPr>
            <a:r>
              <a:rPr lang="en-US" sz="1300" b="1" dirty="0">
                <a:solidFill>
                  <a:srgbClr val="1E293B"/>
                </a:solidFill>
              </a:rPr>
              <a:t>Design</a:t>
            </a:r>
            <a:endParaRPr lang="en-US" sz="1300" dirty="0"/>
          </a:p>
        </p:txBody>
      </p:sp>
      <p:sp>
        <p:nvSpPr>
          <p:cNvPr id="8" name="Text 6"/>
          <p:cNvSpPr/>
          <p:nvPr/>
        </p:nvSpPr>
        <p:spPr>
          <a:xfrm>
            <a:off x="708660" y="2313432"/>
            <a:ext cx="1554480" cy="384048"/>
          </a:xfrm>
          <a:prstGeom prst="rect">
            <a:avLst/>
          </a:prstGeom>
          <a:noFill/>
          <a:ln/>
        </p:spPr>
        <p:txBody>
          <a:bodyPr wrap="square" rtlCol="0" anchor="ctr"/>
          <a:lstStyle/>
          <a:p>
            <a:pPr marL="0" indent="0" algn="ctr">
              <a:buNone/>
            </a:pPr>
            <a:r>
              <a:rPr lang="en-US" sz="1000" dirty="0">
                <a:solidFill>
                  <a:srgbClr val="6B7280"/>
                </a:solidFill>
              </a:rPr>
              <a:t>Architect/Designer completes</a:t>
            </a:r>
            <a:endParaRPr lang="en-US" sz="1000" dirty="0"/>
          </a:p>
          <a:p>
            <a:pPr marL="0" indent="0" algn="ctr">
              <a:buNone/>
            </a:pPr>
            <a:r>
              <a:rPr lang="en-US" sz="1000" dirty="0">
                <a:solidFill>
                  <a:srgbClr val="6B7280"/>
                </a:solidFill>
              </a:rPr>
              <a:t>SDD / HLD</a:t>
            </a:r>
            <a:endParaRPr lang="en-US" sz="1000" dirty="0"/>
          </a:p>
        </p:txBody>
      </p:sp>
      <p:sp>
        <p:nvSpPr>
          <p:cNvPr id="9" name="Shape 7"/>
          <p:cNvSpPr/>
          <p:nvPr/>
        </p:nvSpPr>
        <p:spPr>
          <a:xfrm>
            <a:off x="23911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10" name="Shape 8"/>
          <p:cNvSpPr/>
          <p:nvPr/>
        </p:nvSpPr>
        <p:spPr>
          <a:xfrm>
            <a:off x="2674620" y="1325880"/>
            <a:ext cx="1737360" cy="1417320"/>
          </a:xfrm>
          <a:prstGeom prst="roundRect">
            <a:avLst>
              <a:gd name="adj" fmla="val 6452"/>
            </a:avLst>
          </a:prstGeom>
          <a:solidFill>
            <a:srgbClr val="EFF6FF"/>
          </a:solidFill>
          <a:ln w="25400">
            <a:solidFill>
              <a:srgbClr val="0891B2"/>
            </a:solidFill>
            <a:prstDash val="solid"/>
          </a:ln>
        </p:spPr>
        <p:txBody>
          <a:bodyPr/>
          <a:lstStyle/>
          <a:p>
            <a:endParaRPr lang="en-US"/>
          </a:p>
        </p:txBody>
      </p:sp>
      <p:sp>
        <p:nvSpPr>
          <p:cNvPr id="11" name="Shape 9"/>
          <p:cNvSpPr/>
          <p:nvPr/>
        </p:nvSpPr>
        <p:spPr>
          <a:xfrm>
            <a:off x="3342132" y="1435608"/>
            <a:ext cx="402336" cy="402336"/>
          </a:xfrm>
          <a:prstGeom prst="ellipse">
            <a:avLst/>
          </a:prstGeom>
          <a:solidFill>
            <a:srgbClr val="0891B2"/>
          </a:solidFill>
          <a:ln w="12700">
            <a:solidFill>
              <a:srgbClr val="0891B2"/>
            </a:solidFill>
            <a:prstDash val="solid"/>
          </a:ln>
        </p:spPr>
        <p:txBody>
          <a:bodyPr/>
          <a:lstStyle/>
          <a:p>
            <a:endParaRPr lang="en-US"/>
          </a:p>
        </p:txBody>
      </p:sp>
      <p:sp>
        <p:nvSpPr>
          <p:cNvPr id="12" name="Text 10"/>
          <p:cNvSpPr/>
          <p:nvPr/>
        </p:nvSpPr>
        <p:spPr>
          <a:xfrm>
            <a:off x="3342132" y="1435608"/>
            <a:ext cx="402336" cy="402336"/>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3" name="Text 11"/>
          <p:cNvSpPr/>
          <p:nvPr/>
        </p:nvSpPr>
        <p:spPr>
          <a:xfrm>
            <a:off x="2766060" y="1911096"/>
            <a:ext cx="1554480" cy="384048"/>
          </a:xfrm>
          <a:prstGeom prst="rect">
            <a:avLst/>
          </a:prstGeom>
          <a:noFill/>
          <a:ln/>
        </p:spPr>
        <p:txBody>
          <a:bodyPr wrap="square" rtlCol="0" anchor="ctr"/>
          <a:lstStyle/>
          <a:p>
            <a:pPr marL="0" indent="0" algn="ctr">
              <a:buNone/>
            </a:pPr>
            <a:r>
              <a:rPr lang="en-US" sz="1300" b="1" dirty="0">
                <a:solidFill>
                  <a:srgbClr val="0891B2"/>
                </a:solidFill>
              </a:rPr>
              <a:t>ARBoard</a:t>
            </a:r>
            <a:endParaRPr lang="en-US" sz="1300" dirty="0"/>
          </a:p>
          <a:p>
            <a:pPr marL="0" indent="0" algn="ctr">
              <a:buNone/>
            </a:pPr>
            <a:r>
              <a:rPr lang="en-US" sz="1300" b="1" dirty="0">
                <a:solidFill>
                  <a:srgbClr val="0891B2"/>
                </a:solidFill>
              </a:rPr>
              <a:t>Pre-Review</a:t>
            </a:r>
            <a:endParaRPr lang="en-US" sz="1300" dirty="0"/>
          </a:p>
        </p:txBody>
      </p:sp>
      <p:sp>
        <p:nvSpPr>
          <p:cNvPr id="14" name="Text 12"/>
          <p:cNvSpPr/>
          <p:nvPr/>
        </p:nvSpPr>
        <p:spPr>
          <a:xfrm>
            <a:off x="2766060" y="2313432"/>
            <a:ext cx="1554480" cy="384048"/>
          </a:xfrm>
          <a:prstGeom prst="rect">
            <a:avLst/>
          </a:prstGeom>
          <a:noFill/>
          <a:ln/>
        </p:spPr>
        <p:txBody>
          <a:bodyPr wrap="square" rtlCol="0" anchor="ctr"/>
          <a:lstStyle/>
          <a:p>
            <a:pPr marL="0" indent="0" algn="ctr">
              <a:buNone/>
            </a:pPr>
            <a:r>
              <a:rPr lang="en-US" sz="1000" dirty="0">
                <a:solidFill>
                  <a:srgbClr val="6B7280"/>
                </a:solidFill>
              </a:rPr>
              <a:t>Upload doc · 9 agents</a:t>
            </a:r>
            <a:endParaRPr lang="en-US" sz="1000" dirty="0"/>
          </a:p>
          <a:p>
            <a:pPr marL="0" indent="0" algn="ctr">
              <a:buNone/>
            </a:pPr>
            <a:r>
              <a:rPr lang="en-US" sz="1000" dirty="0">
                <a:solidFill>
                  <a:srgbClr val="6B7280"/>
                </a:solidFill>
              </a:rPr>
              <a:t>debate · ADR created</a:t>
            </a:r>
            <a:endParaRPr lang="en-US" sz="1000" dirty="0"/>
          </a:p>
        </p:txBody>
      </p:sp>
      <p:sp>
        <p:nvSpPr>
          <p:cNvPr id="15" name="Shape 13"/>
          <p:cNvSpPr/>
          <p:nvPr/>
        </p:nvSpPr>
        <p:spPr>
          <a:xfrm>
            <a:off x="44485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16" name="Shape 14"/>
          <p:cNvSpPr/>
          <p:nvPr/>
        </p:nvSpPr>
        <p:spPr>
          <a:xfrm>
            <a:off x="4732020" y="1325880"/>
            <a:ext cx="1737360" cy="1417320"/>
          </a:xfrm>
          <a:prstGeom prst="roundRect">
            <a:avLst>
              <a:gd name="adj" fmla="val 6452"/>
            </a:avLst>
          </a:prstGeom>
          <a:solidFill>
            <a:srgbClr val="F1F5F9"/>
          </a:solidFill>
          <a:ln w="12700">
            <a:solidFill>
              <a:srgbClr val="E2E8F0"/>
            </a:solidFill>
            <a:prstDash val="solid"/>
          </a:ln>
        </p:spPr>
        <p:txBody>
          <a:bodyPr/>
          <a:lstStyle/>
          <a:p>
            <a:endParaRPr lang="en-US"/>
          </a:p>
        </p:txBody>
      </p:sp>
      <p:sp>
        <p:nvSpPr>
          <p:cNvPr id="17" name="Shape 15"/>
          <p:cNvSpPr/>
          <p:nvPr/>
        </p:nvSpPr>
        <p:spPr>
          <a:xfrm>
            <a:off x="5399532" y="1435608"/>
            <a:ext cx="402336" cy="402336"/>
          </a:xfrm>
          <a:prstGeom prst="ellipse">
            <a:avLst/>
          </a:prstGeom>
          <a:solidFill>
            <a:srgbClr val="64748B"/>
          </a:solidFill>
          <a:ln w="12700">
            <a:solidFill>
              <a:srgbClr val="64748B"/>
            </a:solidFill>
            <a:prstDash val="solid"/>
          </a:ln>
        </p:spPr>
        <p:txBody>
          <a:bodyPr/>
          <a:lstStyle/>
          <a:p>
            <a:endParaRPr lang="en-US"/>
          </a:p>
        </p:txBody>
      </p:sp>
      <p:sp>
        <p:nvSpPr>
          <p:cNvPr id="18" name="Text 16"/>
          <p:cNvSpPr/>
          <p:nvPr/>
        </p:nvSpPr>
        <p:spPr>
          <a:xfrm>
            <a:off x="5399532" y="1435608"/>
            <a:ext cx="402336" cy="402336"/>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4823460" y="1911096"/>
            <a:ext cx="1554480" cy="384048"/>
          </a:xfrm>
          <a:prstGeom prst="rect">
            <a:avLst/>
          </a:prstGeom>
          <a:noFill/>
          <a:ln/>
        </p:spPr>
        <p:txBody>
          <a:bodyPr wrap="square" rtlCol="0" anchor="ctr"/>
          <a:lstStyle/>
          <a:p>
            <a:pPr marL="0" indent="0" algn="ctr">
              <a:buNone/>
            </a:pPr>
            <a:r>
              <a:rPr lang="en-US" sz="1300" b="1" dirty="0">
                <a:solidFill>
                  <a:srgbClr val="1E293B"/>
                </a:solidFill>
              </a:rPr>
              <a:t>ARB</a:t>
            </a:r>
            <a:endParaRPr lang="en-US" sz="1300" dirty="0"/>
          </a:p>
          <a:p>
            <a:pPr marL="0" indent="0" algn="ctr">
              <a:buNone/>
            </a:pPr>
            <a:r>
              <a:rPr lang="en-US" sz="1300" b="1" dirty="0">
                <a:solidFill>
                  <a:srgbClr val="1E293B"/>
                </a:solidFill>
              </a:rPr>
              <a:t>Presentation</a:t>
            </a:r>
            <a:endParaRPr lang="en-US" sz="1300" dirty="0"/>
          </a:p>
        </p:txBody>
      </p:sp>
      <p:sp>
        <p:nvSpPr>
          <p:cNvPr id="20" name="Text 18"/>
          <p:cNvSpPr/>
          <p:nvPr/>
        </p:nvSpPr>
        <p:spPr>
          <a:xfrm>
            <a:off x="4823460" y="2313432"/>
            <a:ext cx="1554480" cy="384048"/>
          </a:xfrm>
          <a:prstGeom prst="rect">
            <a:avLst/>
          </a:prstGeom>
          <a:noFill/>
          <a:ln/>
        </p:spPr>
        <p:txBody>
          <a:bodyPr wrap="square" rtlCol="0" anchor="ctr"/>
          <a:lstStyle/>
          <a:p>
            <a:pPr marL="0" indent="0" algn="ctr">
              <a:buNone/>
            </a:pPr>
            <a:r>
              <a:rPr lang="en-US" sz="1000" dirty="0">
                <a:solidFill>
                  <a:srgbClr val="6B7280"/>
                </a:solidFill>
              </a:rPr>
              <a:t>Senior architects review</a:t>
            </a:r>
            <a:endParaRPr lang="en-US" sz="1000" dirty="0"/>
          </a:p>
          <a:p>
            <a:pPr marL="0" indent="0" algn="ctr">
              <a:buNone/>
            </a:pPr>
            <a:r>
              <a:rPr lang="en-US" sz="1000" dirty="0">
                <a:solidFill>
                  <a:srgbClr val="6B7280"/>
                </a:solidFill>
              </a:rPr>
              <a:t>pre-validated design</a:t>
            </a:r>
            <a:endParaRPr lang="en-US" sz="1000" dirty="0"/>
          </a:p>
        </p:txBody>
      </p:sp>
      <p:sp>
        <p:nvSpPr>
          <p:cNvPr id="21" name="Shape 19"/>
          <p:cNvSpPr/>
          <p:nvPr/>
        </p:nvSpPr>
        <p:spPr>
          <a:xfrm>
            <a:off x="6505956" y="1897380"/>
            <a:ext cx="246888" cy="274320"/>
          </a:xfrm>
          <a:prstGeom prst="rightArrow">
            <a:avLst/>
          </a:prstGeom>
          <a:solidFill>
            <a:srgbClr val="CBD5E1"/>
          </a:solidFill>
          <a:ln w="12700">
            <a:solidFill>
              <a:srgbClr val="CBD5E1"/>
            </a:solidFill>
            <a:prstDash val="solid"/>
          </a:ln>
        </p:spPr>
        <p:txBody>
          <a:bodyPr/>
          <a:lstStyle/>
          <a:p>
            <a:endParaRPr lang="en-US"/>
          </a:p>
        </p:txBody>
      </p:sp>
      <p:sp>
        <p:nvSpPr>
          <p:cNvPr id="22" name="Shape 20"/>
          <p:cNvSpPr/>
          <p:nvPr/>
        </p:nvSpPr>
        <p:spPr>
          <a:xfrm>
            <a:off x="6789420" y="1325880"/>
            <a:ext cx="1737360" cy="1417320"/>
          </a:xfrm>
          <a:prstGeom prst="roundRect">
            <a:avLst>
              <a:gd name="adj" fmla="val 6452"/>
            </a:avLst>
          </a:prstGeom>
          <a:solidFill>
            <a:srgbClr val="F0FDF4"/>
          </a:solidFill>
          <a:ln w="12700">
            <a:solidFill>
              <a:srgbClr val="E2E8F0"/>
            </a:solidFill>
            <a:prstDash val="solid"/>
          </a:ln>
        </p:spPr>
        <p:txBody>
          <a:bodyPr/>
          <a:lstStyle/>
          <a:p>
            <a:endParaRPr lang="en-US"/>
          </a:p>
        </p:txBody>
      </p:sp>
      <p:sp>
        <p:nvSpPr>
          <p:cNvPr id="23" name="Shape 21"/>
          <p:cNvSpPr/>
          <p:nvPr/>
        </p:nvSpPr>
        <p:spPr>
          <a:xfrm>
            <a:off x="7456932" y="1435608"/>
            <a:ext cx="402336" cy="402336"/>
          </a:xfrm>
          <a:prstGeom prst="ellipse">
            <a:avLst/>
          </a:prstGeom>
          <a:solidFill>
            <a:srgbClr val="2E7D32"/>
          </a:solidFill>
          <a:ln w="12700">
            <a:solidFill>
              <a:srgbClr val="2E7D32"/>
            </a:solidFill>
            <a:prstDash val="solid"/>
          </a:ln>
        </p:spPr>
        <p:txBody>
          <a:bodyPr/>
          <a:lstStyle/>
          <a:p>
            <a:endParaRPr lang="en-US"/>
          </a:p>
        </p:txBody>
      </p:sp>
      <p:sp>
        <p:nvSpPr>
          <p:cNvPr id="24" name="Text 22"/>
          <p:cNvSpPr/>
          <p:nvPr/>
        </p:nvSpPr>
        <p:spPr>
          <a:xfrm>
            <a:off x="7456932" y="1435608"/>
            <a:ext cx="402336" cy="402336"/>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5" name="Text 23"/>
          <p:cNvSpPr/>
          <p:nvPr/>
        </p:nvSpPr>
        <p:spPr>
          <a:xfrm>
            <a:off x="6880860" y="1911096"/>
            <a:ext cx="1554480" cy="384048"/>
          </a:xfrm>
          <a:prstGeom prst="rect">
            <a:avLst/>
          </a:prstGeom>
          <a:noFill/>
          <a:ln/>
        </p:spPr>
        <p:txBody>
          <a:bodyPr wrap="square" rtlCol="0" anchor="ctr"/>
          <a:lstStyle/>
          <a:p>
            <a:pPr marL="0" indent="0" algn="ctr">
              <a:buNone/>
            </a:pPr>
            <a:r>
              <a:rPr lang="en-US" sz="1300" b="1" dirty="0">
                <a:solidFill>
                  <a:srgbClr val="1E293B"/>
                </a:solidFill>
              </a:rPr>
              <a:t>Sign-off &amp;</a:t>
            </a:r>
            <a:endParaRPr lang="en-US" sz="1300" dirty="0"/>
          </a:p>
          <a:p>
            <a:pPr marL="0" indent="0" algn="ctr">
              <a:buNone/>
            </a:pPr>
            <a:r>
              <a:rPr lang="en-US" sz="1300" b="1" dirty="0">
                <a:solidFill>
                  <a:srgbClr val="1E293B"/>
                </a:solidFill>
              </a:rPr>
              <a:t>Delivery</a:t>
            </a:r>
            <a:endParaRPr lang="en-US" sz="1300" dirty="0"/>
          </a:p>
        </p:txBody>
      </p:sp>
      <p:sp>
        <p:nvSpPr>
          <p:cNvPr id="26" name="Text 24"/>
          <p:cNvSpPr/>
          <p:nvPr/>
        </p:nvSpPr>
        <p:spPr>
          <a:xfrm>
            <a:off x="6880860" y="2313432"/>
            <a:ext cx="1554480" cy="384048"/>
          </a:xfrm>
          <a:prstGeom prst="rect">
            <a:avLst/>
          </a:prstGeom>
          <a:noFill/>
          <a:ln/>
        </p:spPr>
        <p:txBody>
          <a:bodyPr wrap="square" rtlCol="0" anchor="ctr"/>
          <a:lstStyle/>
          <a:p>
            <a:pPr marL="0" indent="0" algn="ctr">
              <a:buNone/>
            </a:pPr>
            <a:r>
              <a:rPr lang="en-US" sz="1000" dirty="0">
                <a:solidFill>
                  <a:srgbClr val="6B7280"/>
                </a:solidFill>
              </a:rPr>
              <a:t>Human countersign</a:t>
            </a:r>
            <a:endParaRPr lang="en-US" sz="1000" dirty="0"/>
          </a:p>
          <a:p>
            <a:pPr marL="0" indent="0" algn="ctr">
              <a:buNone/>
            </a:pPr>
            <a:r>
              <a:rPr lang="en-US" sz="1000" dirty="0">
                <a:solidFill>
                  <a:srgbClr val="6B7280"/>
                </a:solidFill>
              </a:rPr>
              <a:t>Jira ADR enforced</a:t>
            </a:r>
            <a:endParaRPr lang="en-US" sz="1000" dirty="0"/>
          </a:p>
        </p:txBody>
      </p:sp>
      <p:sp>
        <p:nvSpPr>
          <p:cNvPr id="27" name="Shape 25"/>
          <p:cNvSpPr/>
          <p:nvPr/>
        </p:nvSpPr>
        <p:spPr>
          <a:xfrm>
            <a:off x="2674620" y="2907792"/>
            <a:ext cx="1737360" cy="256032"/>
          </a:xfrm>
          <a:prstGeom prst="roundRect">
            <a:avLst>
              <a:gd name="adj" fmla="val 17857"/>
            </a:avLst>
          </a:prstGeom>
          <a:solidFill>
            <a:srgbClr val="0891B2"/>
          </a:solidFill>
          <a:ln w="12700">
            <a:solidFill>
              <a:srgbClr val="0891B2"/>
            </a:solidFill>
            <a:prstDash val="solid"/>
          </a:ln>
        </p:spPr>
        <p:txBody>
          <a:bodyPr/>
          <a:lstStyle/>
          <a:p>
            <a:endParaRPr lang="en-US"/>
          </a:p>
        </p:txBody>
      </p:sp>
      <p:sp>
        <p:nvSpPr>
          <p:cNvPr id="28" name="Text 26"/>
          <p:cNvSpPr/>
          <p:nvPr/>
        </p:nvSpPr>
        <p:spPr>
          <a:xfrm>
            <a:off x="2674620" y="2907792"/>
            <a:ext cx="1737360" cy="256032"/>
          </a:xfrm>
          <a:prstGeom prst="rect">
            <a:avLst/>
          </a:prstGeom>
          <a:noFill/>
          <a:ln/>
        </p:spPr>
        <p:txBody>
          <a:bodyPr wrap="square" rtlCol="0" anchor="ctr"/>
          <a:lstStyle/>
          <a:p>
            <a:pPr marL="0" indent="0" algn="ctr">
              <a:buNone/>
            </a:pPr>
            <a:r>
              <a:rPr lang="en-US" sz="900" b="1" dirty="0">
                <a:solidFill>
                  <a:srgbClr val="FFFFFF"/>
                </a:solidFill>
              </a:rPr>
              <a:t>ARBoard sits here</a:t>
            </a:r>
            <a:endParaRPr lang="en-US" sz="900" dirty="0"/>
          </a:p>
        </p:txBody>
      </p:sp>
      <p:sp>
        <p:nvSpPr>
          <p:cNvPr id="29" name="Shape 27"/>
          <p:cNvSpPr/>
          <p:nvPr/>
        </p:nvSpPr>
        <p:spPr>
          <a:xfrm>
            <a:off x="36576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0" name="Text 28"/>
          <p:cNvSpPr/>
          <p:nvPr/>
        </p:nvSpPr>
        <p:spPr>
          <a:xfrm>
            <a:off x="502920" y="3346704"/>
            <a:ext cx="2377440" cy="256032"/>
          </a:xfrm>
          <a:prstGeom prst="rect">
            <a:avLst/>
          </a:prstGeom>
          <a:noFill/>
          <a:ln/>
        </p:spPr>
        <p:txBody>
          <a:bodyPr wrap="square" rtlCol="0" anchor="ctr"/>
          <a:lstStyle/>
          <a:p>
            <a:pPr marL="0" indent="0">
              <a:buNone/>
            </a:pPr>
            <a:r>
              <a:rPr lang="en-US" sz="1100" b="1" dirty="0">
                <a:solidFill>
                  <a:srgbClr val="1E293B"/>
                </a:solidFill>
              </a:rPr>
              <a:t>✓  Designers get instant feedback</a:t>
            </a:r>
            <a:endParaRPr lang="en-US" sz="1100" dirty="0"/>
          </a:p>
        </p:txBody>
      </p:sp>
      <p:sp>
        <p:nvSpPr>
          <p:cNvPr id="31" name="Text 29"/>
          <p:cNvSpPr/>
          <p:nvPr/>
        </p:nvSpPr>
        <p:spPr>
          <a:xfrm>
            <a:off x="502920" y="3621024"/>
            <a:ext cx="2377440" cy="713232"/>
          </a:xfrm>
          <a:prstGeom prst="rect">
            <a:avLst/>
          </a:prstGeom>
          <a:noFill/>
          <a:ln/>
        </p:spPr>
        <p:txBody>
          <a:bodyPr wrap="square" rtlCol="0" anchor="ctr"/>
          <a:lstStyle/>
          <a:p>
            <a:pPr marL="0" indent="0">
              <a:buNone/>
            </a:pPr>
            <a:r>
              <a:rPr lang="en-US" sz="1000" dirty="0">
                <a:solidFill>
                  <a:srgbClr val="6B7280"/>
                </a:solidFill>
              </a:rPr>
              <a:t>Upload SDD at any point. Get a structured multi-agent review in under 3 minutes — before the ARB meeting.</a:t>
            </a:r>
            <a:endParaRPr lang="en-US" sz="1000" dirty="0"/>
          </a:p>
        </p:txBody>
      </p:sp>
      <p:sp>
        <p:nvSpPr>
          <p:cNvPr id="32" name="Shape 30"/>
          <p:cNvSpPr/>
          <p:nvPr/>
        </p:nvSpPr>
        <p:spPr>
          <a:xfrm>
            <a:off x="320040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3" name="Text 31"/>
          <p:cNvSpPr/>
          <p:nvPr/>
        </p:nvSpPr>
        <p:spPr>
          <a:xfrm>
            <a:off x="3337560" y="3346704"/>
            <a:ext cx="2377440" cy="256032"/>
          </a:xfrm>
          <a:prstGeom prst="rect">
            <a:avLst/>
          </a:prstGeom>
          <a:noFill/>
          <a:ln/>
        </p:spPr>
        <p:txBody>
          <a:bodyPr wrap="square" rtlCol="0" anchor="ctr"/>
          <a:lstStyle/>
          <a:p>
            <a:pPr marL="0" indent="0">
              <a:buNone/>
            </a:pPr>
            <a:r>
              <a:rPr lang="en-US" sz="1100" b="1" dirty="0">
                <a:solidFill>
                  <a:srgbClr val="1E293B"/>
                </a:solidFill>
              </a:rPr>
              <a:t>✓  Senior architects get quality assurance</a:t>
            </a:r>
            <a:endParaRPr lang="en-US" sz="1100" dirty="0"/>
          </a:p>
        </p:txBody>
      </p:sp>
      <p:sp>
        <p:nvSpPr>
          <p:cNvPr id="34" name="Text 32"/>
          <p:cNvSpPr/>
          <p:nvPr/>
        </p:nvSpPr>
        <p:spPr>
          <a:xfrm>
            <a:off x="3337560" y="3621024"/>
            <a:ext cx="2377440" cy="713232"/>
          </a:xfrm>
          <a:prstGeom prst="rect">
            <a:avLst/>
          </a:prstGeom>
          <a:noFill/>
          <a:ln/>
        </p:spPr>
        <p:txBody>
          <a:bodyPr wrap="square" rtlCol="0" anchor="ctr"/>
          <a:lstStyle/>
          <a:p>
            <a:pPr marL="0" indent="0">
              <a:buNone/>
            </a:pPr>
            <a:r>
              <a:rPr lang="en-US" sz="1000" dirty="0">
                <a:solidFill>
                  <a:srgbClr val="6B7280"/>
                </a:solidFill>
              </a:rPr>
              <a:t>Every design presented to the ARB has already been debated by 9 specialist agents. No surprises in the room.</a:t>
            </a:r>
            <a:endParaRPr lang="en-US" sz="1000" dirty="0"/>
          </a:p>
        </p:txBody>
      </p:sp>
      <p:sp>
        <p:nvSpPr>
          <p:cNvPr id="35" name="Shape 33"/>
          <p:cNvSpPr/>
          <p:nvPr/>
        </p:nvSpPr>
        <p:spPr>
          <a:xfrm>
            <a:off x="6035040" y="3273552"/>
            <a:ext cx="2651760" cy="1115568"/>
          </a:xfrm>
          <a:prstGeom prst="roundRect">
            <a:avLst>
              <a:gd name="adj" fmla="val 6557"/>
            </a:avLst>
          </a:prstGeom>
          <a:solidFill>
            <a:srgbClr val="F8FAFC"/>
          </a:solidFill>
          <a:ln w="12700">
            <a:solidFill>
              <a:srgbClr val="E2E8F0"/>
            </a:solidFill>
            <a:prstDash val="solid"/>
          </a:ln>
        </p:spPr>
        <p:txBody>
          <a:bodyPr/>
          <a:lstStyle/>
          <a:p>
            <a:endParaRPr lang="en-US"/>
          </a:p>
        </p:txBody>
      </p:sp>
      <p:sp>
        <p:nvSpPr>
          <p:cNvPr id="36" name="Text 34"/>
          <p:cNvSpPr/>
          <p:nvPr/>
        </p:nvSpPr>
        <p:spPr>
          <a:xfrm>
            <a:off x="6172200" y="3346704"/>
            <a:ext cx="2377440" cy="256032"/>
          </a:xfrm>
          <a:prstGeom prst="rect">
            <a:avLst/>
          </a:prstGeom>
          <a:noFill/>
          <a:ln/>
        </p:spPr>
        <p:txBody>
          <a:bodyPr wrap="square" rtlCol="0" anchor="ctr"/>
          <a:lstStyle/>
          <a:p>
            <a:pPr marL="0" indent="0">
              <a:buNone/>
            </a:pPr>
            <a:r>
              <a:rPr lang="en-US" sz="1100" b="1" dirty="0">
                <a:solidFill>
                  <a:srgbClr val="1E293B"/>
                </a:solidFill>
              </a:rPr>
              <a:t>✓  ADR is auto-generated</a:t>
            </a:r>
            <a:endParaRPr lang="en-US" sz="1100" dirty="0"/>
          </a:p>
        </p:txBody>
      </p:sp>
      <p:sp>
        <p:nvSpPr>
          <p:cNvPr id="37" name="Text 35"/>
          <p:cNvSpPr/>
          <p:nvPr/>
        </p:nvSpPr>
        <p:spPr>
          <a:xfrm>
            <a:off x="6172200" y="3621024"/>
            <a:ext cx="2377440" cy="713232"/>
          </a:xfrm>
          <a:prstGeom prst="rect">
            <a:avLst/>
          </a:prstGeom>
          <a:noFill/>
          <a:ln/>
        </p:spPr>
        <p:txBody>
          <a:bodyPr wrap="square" rtlCol="0" anchor="ctr"/>
          <a:lstStyle/>
          <a:p>
            <a:pPr marL="0" indent="0">
              <a:buNone/>
            </a:pPr>
            <a:r>
              <a:rPr lang="en-US" sz="1000" dirty="0">
                <a:solidFill>
                  <a:srgbClr val="6B7280"/>
                </a:solidFill>
              </a:rPr>
              <a:t>Verdict, must-fix issues, and decisions are written to a Jira ADR ticket automatically. Human countersign enforces governance.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182880"/>
          </a:xfrm>
          <a:prstGeom prst="rect">
            <a:avLst/>
          </a:prstGeom>
          <a:noFill/>
          <a:ln/>
        </p:spPr>
        <p:txBody>
          <a:bodyPr wrap="square" rtlCol="0" anchor="ctr"/>
          <a:lstStyle/>
          <a:p>
            <a:pPr marL="0" indent="0">
              <a:buNone/>
            </a:pPr>
            <a:r>
              <a:rPr lang="en-US" sz="900" b="1" kern="0" spc="300" dirty="0">
                <a:solidFill>
                  <a:srgbClr val="0891B2"/>
                </a:solidFill>
              </a:rPr>
              <a:t>THE PROPOSITION</a:t>
            </a:r>
            <a:endParaRPr lang="en-US" sz="900" dirty="0"/>
          </a:p>
        </p:txBody>
      </p:sp>
      <p:sp>
        <p:nvSpPr>
          <p:cNvPr id="3" name="Text 1"/>
          <p:cNvSpPr/>
          <p:nvPr/>
        </p:nvSpPr>
        <p:spPr>
          <a:xfrm>
            <a:off x="457200" y="411480"/>
            <a:ext cx="5943600" cy="914400"/>
          </a:xfrm>
          <a:prstGeom prst="rect">
            <a:avLst/>
          </a:prstGeom>
          <a:noFill/>
          <a:ln/>
        </p:spPr>
        <p:txBody>
          <a:bodyPr wrap="square" rtlCol="0" anchor="ctr"/>
          <a:lstStyle/>
          <a:p>
            <a:pPr marL="0" indent="0">
              <a:buNone/>
            </a:pPr>
            <a:r>
              <a:rPr lang="en-US" sz="3200" b="1" dirty="0">
                <a:solidFill>
                  <a:srgbClr val="1E293B"/>
                </a:solidFill>
              </a:rPr>
              <a:t>The UI is not the product.</a:t>
            </a:r>
            <a:endParaRPr lang="en-US" sz="3200" dirty="0"/>
          </a:p>
          <a:p>
            <a:pPr marL="0" indent="0">
              <a:buNone/>
            </a:pPr>
            <a:r>
              <a:rPr lang="en-US" sz="3200" b="1" dirty="0">
                <a:solidFill>
                  <a:srgbClr val="1E293B"/>
                </a:solidFill>
              </a:rPr>
              <a:t>The deliberative engine is.</a:t>
            </a:r>
            <a:endParaRPr lang="en-US" sz="3200" dirty="0"/>
          </a:p>
        </p:txBody>
      </p:sp>
      <p:sp>
        <p:nvSpPr>
          <p:cNvPr id="4" name="Shape 2"/>
          <p:cNvSpPr/>
          <p:nvPr/>
        </p:nvSpPr>
        <p:spPr>
          <a:xfrm>
            <a:off x="320040" y="1444752"/>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5" name="Text 3"/>
          <p:cNvSpPr/>
          <p:nvPr/>
        </p:nvSpPr>
        <p:spPr>
          <a:xfrm>
            <a:off x="457200" y="1536192"/>
            <a:ext cx="457200" cy="274320"/>
          </a:xfrm>
          <a:prstGeom prst="rect">
            <a:avLst/>
          </a:prstGeom>
          <a:noFill/>
          <a:ln/>
        </p:spPr>
        <p:txBody>
          <a:bodyPr wrap="square" rtlCol="0" anchor="ctr"/>
          <a:lstStyle/>
          <a:p>
            <a:pPr marL="0" indent="0">
              <a:buNone/>
            </a:pPr>
            <a:r>
              <a:rPr lang="en-US" sz="1600" b="1" dirty="0">
                <a:solidFill>
                  <a:srgbClr val="0891B2"/>
                </a:solidFill>
              </a:rPr>
              <a:t>01</a:t>
            </a:r>
            <a:endParaRPr lang="en-US" sz="1600" dirty="0"/>
          </a:p>
        </p:txBody>
      </p:sp>
      <p:sp>
        <p:nvSpPr>
          <p:cNvPr id="6" name="Text 4"/>
          <p:cNvSpPr/>
          <p:nvPr/>
        </p:nvSpPr>
        <p:spPr>
          <a:xfrm>
            <a:off x="960120" y="1536192"/>
            <a:ext cx="3246120" cy="274320"/>
          </a:xfrm>
          <a:prstGeom prst="rect">
            <a:avLst/>
          </a:prstGeom>
          <a:noFill/>
          <a:ln/>
        </p:spPr>
        <p:txBody>
          <a:bodyPr wrap="square" rtlCol="0" anchor="ctr"/>
          <a:lstStyle/>
          <a:p>
            <a:pPr marL="0" indent="0">
              <a:buNone/>
            </a:pPr>
            <a:r>
              <a:rPr lang="en-US" sz="1200" b="1" dirty="0">
                <a:solidFill>
                  <a:srgbClr val="1E293B"/>
                </a:solidFill>
              </a:rPr>
              <a:t>Multi-specialist deliberation</a:t>
            </a:r>
            <a:endParaRPr lang="en-US" sz="1200" dirty="0"/>
          </a:p>
        </p:txBody>
      </p:sp>
      <p:sp>
        <p:nvSpPr>
          <p:cNvPr id="7" name="Text 5"/>
          <p:cNvSpPr/>
          <p:nvPr/>
        </p:nvSpPr>
        <p:spPr>
          <a:xfrm>
            <a:off x="457200" y="1865376"/>
            <a:ext cx="3749040" cy="731520"/>
          </a:xfrm>
          <a:prstGeom prst="rect">
            <a:avLst/>
          </a:prstGeom>
          <a:noFill/>
          <a:ln/>
        </p:spPr>
        <p:txBody>
          <a:bodyPr wrap="square" rtlCol="0" anchor="ctr"/>
          <a:lstStyle/>
          <a:p>
            <a:pPr marL="0" indent="0">
              <a:buNone/>
            </a:pPr>
            <a:r>
              <a:rPr lang="en-US" sz="1050" dirty="0">
                <a:solidFill>
                  <a:srgbClr val="6B7280"/>
                </a:solidFill>
              </a:rPr>
              <a:t>9 domain experts debate — not one model. LWC, Apex, Integration, Patterns, Flow each bring a different lens and cross-reference before the Judge rules.</a:t>
            </a:r>
            <a:endParaRPr lang="en-US" sz="1050" dirty="0"/>
          </a:p>
        </p:txBody>
      </p:sp>
      <p:sp>
        <p:nvSpPr>
          <p:cNvPr id="8" name="Shape 6"/>
          <p:cNvSpPr/>
          <p:nvPr/>
        </p:nvSpPr>
        <p:spPr>
          <a:xfrm>
            <a:off x="4663440" y="1444752"/>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4800600" y="1536192"/>
            <a:ext cx="457200" cy="274320"/>
          </a:xfrm>
          <a:prstGeom prst="rect">
            <a:avLst/>
          </a:prstGeom>
          <a:noFill/>
          <a:ln/>
        </p:spPr>
        <p:txBody>
          <a:bodyPr wrap="square" rtlCol="0" anchor="ctr"/>
          <a:lstStyle/>
          <a:p>
            <a:pPr marL="0" indent="0">
              <a:buNone/>
            </a:pPr>
            <a:r>
              <a:rPr lang="en-US" sz="1600" b="1" dirty="0">
                <a:solidFill>
                  <a:srgbClr val="7C3AED"/>
                </a:solidFill>
              </a:rPr>
              <a:t>02</a:t>
            </a:r>
            <a:endParaRPr lang="en-US" sz="1600" dirty="0"/>
          </a:p>
        </p:txBody>
      </p:sp>
      <p:sp>
        <p:nvSpPr>
          <p:cNvPr id="10" name="Text 8"/>
          <p:cNvSpPr/>
          <p:nvPr/>
        </p:nvSpPr>
        <p:spPr>
          <a:xfrm>
            <a:off x="5303520" y="1536192"/>
            <a:ext cx="3246120" cy="274320"/>
          </a:xfrm>
          <a:prstGeom prst="rect">
            <a:avLst/>
          </a:prstGeom>
          <a:noFill/>
          <a:ln/>
        </p:spPr>
        <p:txBody>
          <a:bodyPr wrap="square" rtlCol="0" anchor="ctr"/>
          <a:lstStyle/>
          <a:p>
            <a:pPr marL="0" indent="0">
              <a:buNone/>
            </a:pPr>
            <a:r>
              <a:rPr lang="en-US" sz="1200" b="1" dirty="0">
                <a:solidFill>
                  <a:srgbClr val="1E293B"/>
                </a:solidFill>
              </a:rPr>
              <a:t>9-layer grounding stack</a:t>
            </a:r>
            <a:endParaRPr lang="en-US" sz="1200" dirty="0"/>
          </a:p>
        </p:txBody>
      </p:sp>
      <p:sp>
        <p:nvSpPr>
          <p:cNvPr id="11" name="Text 9"/>
          <p:cNvSpPr/>
          <p:nvPr/>
        </p:nvSpPr>
        <p:spPr>
          <a:xfrm>
            <a:off x="4800600" y="1865376"/>
            <a:ext cx="3749040" cy="731520"/>
          </a:xfrm>
          <a:prstGeom prst="rect">
            <a:avLst/>
          </a:prstGeom>
          <a:noFill/>
          <a:ln/>
        </p:spPr>
        <p:txBody>
          <a:bodyPr wrap="square" rtlCol="0" anchor="ctr"/>
          <a:lstStyle/>
          <a:p>
            <a:pPr marL="0" indent="0">
              <a:buNone/>
            </a:pPr>
            <a:r>
              <a:rPr lang="en-US" sz="1050" dirty="0">
                <a:solidFill>
                  <a:srgbClr val="6B7280"/>
                </a:solidFill>
              </a:rPr>
              <a:t>Base model + Well-Architected principles + SI failure patterns + domain skills + cross-cutting skills + episodic memory + org learnings + Jira ADR memory + live org context — injected automatically into every agent.</a:t>
            </a:r>
            <a:endParaRPr lang="en-US" sz="1050" dirty="0"/>
          </a:p>
        </p:txBody>
      </p:sp>
      <p:sp>
        <p:nvSpPr>
          <p:cNvPr id="12" name="Shape 10"/>
          <p:cNvSpPr/>
          <p:nvPr/>
        </p:nvSpPr>
        <p:spPr>
          <a:xfrm>
            <a:off x="320040" y="2761488"/>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13" name="Text 11"/>
          <p:cNvSpPr/>
          <p:nvPr/>
        </p:nvSpPr>
        <p:spPr>
          <a:xfrm>
            <a:off x="457200" y="2852928"/>
            <a:ext cx="457200" cy="274320"/>
          </a:xfrm>
          <a:prstGeom prst="rect">
            <a:avLst/>
          </a:prstGeom>
          <a:noFill/>
          <a:ln/>
        </p:spPr>
        <p:txBody>
          <a:bodyPr wrap="square" rtlCol="0" anchor="ctr"/>
          <a:lstStyle/>
          <a:p>
            <a:pPr marL="0" indent="0">
              <a:buNone/>
            </a:pPr>
            <a:r>
              <a:rPr lang="en-US" sz="1600" b="1" dirty="0">
                <a:solidFill>
                  <a:srgbClr val="2E7D32"/>
                </a:solidFill>
              </a:rPr>
              <a:t>03</a:t>
            </a:r>
            <a:endParaRPr lang="en-US" sz="1600" dirty="0"/>
          </a:p>
        </p:txBody>
      </p:sp>
      <p:sp>
        <p:nvSpPr>
          <p:cNvPr id="14" name="Text 12"/>
          <p:cNvSpPr/>
          <p:nvPr/>
        </p:nvSpPr>
        <p:spPr>
          <a:xfrm>
            <a:off x="960120" y="2852928"/>
            <a:ext cx="3246120" cy="274320"/>
          </a:xfrm>
          <a:prstGeom prst="rect">
            <a:avLst/>
          </a:prstGeom>
          <a:noFill/>
          <a:ln/>
        </p:spPr>
        <p:txBody>
          <a:bodyPr wrap="square" rtlCol="0" anchor="ctr"/>
          <a:lstStyle/>
          <a:p>
            <a:pPr marL="0" indent="0">
              <a:buNone/>
            </a:pPr>
            <a:r>
              <a:rPr lang="en-US" sz="1200" b="1" dirty="0">
                <a:solidFill>
                  <a:srgbClr val="1E293B"/>
                </a:solidFill>
              </a:rPr>
              <a:t>Institutional memory that compounds</a:t>
            </a:r>
            <a:endParaRPr lang="en-US" sz="1200" dirty="0"/>
          </a:p>
        </p:txBody>
      </p:sp>
      <p:sp>
        <p:nvSpPr>
          <p:cNvPr id="15" name="Text 13"/>
          <p:cNvSpPr/>
          <p:nvPr/>
        </p:nvSpPr>
        <p:spPr>
          <a:xfrm>
            <a:off x="457200" y="3182112"/>
            <a:ext cx="3749040" cy="731520"/>
          </a:xfrm>
          <a:prstGeom prst="rect">
            <a:avLst/>
          </a:prstGeom>
          <a:noFill/>
          <a:ln/>
        </p:spPr>
        <p:txBody>
          <a:bodyPr wrap="square" rtlCol="0" anchor="ctr"/>
          <a:lstStyle/>
          <a:p>
            <a:pPr marL="0" indent="0">
              <a:buNone/>
            </a:pPr>
            <a:r>
              <a:rPr lang="en-US" sz="1050" dirty="0">
                <a:solidFill>
                  <a:srgbClr val="6B7280"/>
                </a:solidFill>
              </a:rPr>
              <a:t>Every session writes learnings back. Session 10 is smarter than Session 1. Client-partitioned org learnings is the moat — ARBoard knows your org better than a new joiner.</a:t>
            </a:r>
            <a:endParaRPr lang="en-US" sz="1050" dirty="0"/>
          </a:p>
        </p:txBody>
      </p:sp>
      <p:sp>
        <p:nvSpPr>
          <p:cNvPr id="16" name="Shape 14"/>
          <p:cNvSpPr/>
          <p:nvPr/>
        </p:nvSpPr>
        <p:spPr>
          <a:xfrm>
            <a:off x="4663440" y="2761488"/>
            <a:ext cx="4023360" cy="1207008"/>
          </a:xfrm>
          <a:prstGeom prst="roundRect">
            <a:avLst>
              <a:gd name="adj" fmla="val 7576"/>
            </a:avLst>
          </a:prstGeom>
          <a:solidFill>
            <a:srgbClr val="F8FAFC"/>
          </a:solidFill>
          <a:ln w="12700">
            <a:solidFill>
              <a:srgbClr val="E2E8F0"/>
            </a:solidFill>
            <a:prstDash val="solid"/>
          </a:ln>
        </p:spPr>
        <p:txBody>
          <a:bodyPr/>
          <a:lstStyle/>
          <a:p>
            <a:endParaRPr lang="en-US"/>
          </a:p>
        </p:txBody>
      </p:sp>
      <p:sp>
        <p:nvSpPr>
          <p:cNvPr id="17" name="Text 15"/>
          <p:cNvSpPr/>
          <p:nvPr/>
        </p:nvSpPr>
        <p:spPr>
          <a:xfrm>
            <a:off x="4800600" y="2852928"/>
            <a:ext cx="457200" cy="274320"/>
          </a:xfrm>
          <a:prstGeom prst="rect">
            <a:avLst/>
          </a:prstGeom>
          <a:noFill/>
          <a:ln/>
        </p:spPr>
        <p:txBody>
          <a:bodyPr wrap="square" rtlCol="0" anchor="ctr"/>
          <a:lstStyle/>
          <a:p>
            <a:pPr marL="0" indent="0">
              <a:buNone/>
            </a:pPr>
            <a:r>
              <a:rPr lang="en-US" sz="1600" b="1" dirty="0">
                <a:solidFill>
                  <a:srgbClr val="E8721C"/>
                </a:solidFill>
              </a:rPr>
              <a:t>04</a:t>
            </a:r>
            <a:endParaRPr lang="en-US" sz="1600" dirty="0"/>
          </a:p>
        </p:txBody>
      </p:sp>
      <p:sp>
        <p:nvSpPr>
          <p:cNvPr id="18" name="Text 16"/>
          <p:cNvSpPr/>
          <p:nvPr/>
        </p:nvSpPr>
        <p:spPr>
          <a:xfrm>
            <a:off x="5303520" y="2852928"/>
            <a:ext cx="3246120" cy="274320"/>
          </a:xfrm>
          <a:prstGeom prst="rect">
            <a:avLst/>
          </a:prstGeom>
          <a:noFill/>
          <a:ln/>
        </p:spPr>
        <p:txBody>
          <a:bodyPr wrap="square" rtlCol="0" anchor="ctr"/>
          <a:lstStyle/>
          <a:p>
            <a:pPr marL="0" indent="0">
              <a:buNone/>
            </a:pPr>
            <a:r>
              <a:rPr lang="en-US" sz="1200" b="1" dirty="0">
                <a:solidFill>
                  <a:srgbClr val="1E293B"/>
                </a:solidFill>
              </a:rPr>
              <a:t>Governed ADR trail — ~$0.22 per review</a:t>
            </a:r>
            <a:endParaRPr lang="en-US" sz="1200" dirty="0"/>
          </a:p>
        </p:txBody>
      </p:sp>
      <p:sp>
        <p:nvSpPr>
          <p:cNvPr id="19" name="Text 17"/>
          <p:cNvSpPr/>
          <p:nvPr/>
        </p:nvSpPr>
        <p:spPr>
          <a:xfrm>
            <a:off x="4800600" y="3182112"/>
            <a:ext cx="3749040" cy="731520"/>
          </a:xfrm>
          <a:prstGeom prst="rect">
            <a:avLst/>
          </a:prstGeom>
          <a:noFill/>
          <a:ln/>
        </p:spPr>
        <p:txBody>
          <a:bodyPr wrap="square" rtlCol="0" anchor="ctr"/>
          <a:lstStyle/>
          <a:p>
            <a:pPr marL="0" indent="0">
              <a:buNone/>
            </a:pPr>
            <a:r>
              <a:rPr lang="en-US" sz="1050" dirty="0">
                <a:solidFill>
                  <a:srgbClr val="6B7280"/>
                </a:solidFill>
              </a:rPr>
              <a:t>Verdict auto-creates a Jira ADR with human countersign. ~$0.22 vs 2-3 hours of senior architect time. Defensible and auditable for CPS 234 and regulated delivery.</a:t>
            </a:r>
            <a:endParaRPr lang="en-US" sz="1050" dirty="0"/>
          </a:p>
        </p:txBody>
      </p:sp>
      <p:sp>
        <p:nvSpPr>
          <p:cNvPr id="20" name="Shape 18"/>
          <p:cNvSpPr/>
          <p:nvPr/>
        </p:nvSpPr>
        <p:spPr>
          <a:xfrm>
            <a:off x="320040" y="4041648"/>
            <a:ext cx="8503920" cy="347472"/>
          </a:xfrm>
          <a:prstGeom prst="roundRect">
            <a:avLst>
              <a:gd name="adj" fmla="val 15789"/>
            </a:avLst>
          </a:prstGeom>
          <a:solidFill>
            <a:srgbClr val="1B3A6B"/>
          </a:solidFill>
          <a:ln w="12700">
            <a:solidFill>
              <a:srgbClr val="1B3A6B"/>
            </a:solidFill>
            <a:prstDash val="solid"/>
          </a:ln>
        </p:spPr>
        <p:txBody>
          <a:bodyPr/>
          <a:lstStyle/>
          <a:p>
            <a:endParaRPr lang="en-US"/>
          </a:p>
        </p:txBody>
      </p:sp>
      <p:sp>
        <p:nvSpPr>
          <p:cNvPr id="21" name="Text 19"/>
          <p:cNvSpPr/>
          <p:nvPr/>
        </p:nvSpPr>
        <p:spPr>
          <a:xfrm>
            <a:off x="320040" y="4041648"/>
            <a:ext cx="8503920" cy="347472"/>
          </a:xfrm>
          <a:prstGeom prst="rect">
            <a:avLst/>
          </a:prstGeom>
          <a:noFill/>
          <a:ln/>
        </p:spPr>
        <p:txBody>
          <a:bodyPr wrap="square" rtlCol="0" anchor="ctr"/>
          <a:lstStyle/>
          <a:p>
            <a:pPr marL="0" indent="0" algn="ctr">
              <a:buNone/>
            </a:pPr>
            <a:r>
              <a:rPr lang="en-US" sz="1050" b="1" i="1" dirty="0">
                <a:solidFill>
                  <a:srgbClr val="FFFFFF"/>
                </a:solidFill>
              </a:rPr>
              <a:t>The UI today is a demo vehicle. The deliberative engine, grounding stack, and org memory are the IP.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3506C113-1AAB-81B5-D005-DC4FA1F2B19E}"/>
              </a:ext>
            </a:extLst>
          </p:cNvPr>
          <p:cNvGraphicFramePr>
            <a:graphicFrameLocks noGrp="1"/>
          </p:cNvGraphicFramePr>
          <p:nvPr>
            <p:extLst>
              <p:ext uri="{D42A27DB-BD31-4B8C-83A1-F6EECF244321}">
                <p14:modId xmlns:p14="http://schemas.microsoft.com/office/powerpoint/2010/main" val="2913156307"/>
              </p:ext>
            </p:extLst>
          </p:nvPr>
        </p:nvGraphicFramePr>
        <p:xfrm>
          <a:off x="1066800" y="1127462"/>
          <a:ext cx="7244081" cy="3611335"/>
        </p:xfrm>
        <a:graphic>
          <a:graphicData uri="http://schemas.openxmlformats.org/drawingml/2006/table">
            <a:tbl>
              <a:tblPr firstRow="1" bandRow="1">
                <a:noFill/>
              </a:tblPr>
              <a:tblGrid>
                <a:gridCol w="945118">
                  <a:extLst>
                    <a:ext uri="{9D8B030D-6E8A-4147-A177-3AD203B41FA5}">
                      <a16:colId xmlns:a16="http://schemas.microsoft.com/office/drawing/2014/main" val="2365190487"/>
                    </a:ext>
                  </a:extLst>
                </a:gridCol>
                <a:gridCol w="2529801">
                  <a:extLst>
                    <a:ext uri="{9D8B030D-6E8A-4147-A177-3AD203B41FA5}">
                      <a16:colId xmlns:a16="http://schemas.microsoft.com/office/drawing/2014/main" val="3705401514"/>
                    </a:ext>
                  </a:extLst>
                </a:gridCol>
                <a:gridCol w="3769162">
                  <a:extLst>
                    <a:ext uri="{9D8B030D-6E8A-4147-A177-3AD203B41FA5}">
                      <a16:colId xmlns:a16="http://schemas.microsoft.com/office/drawing/2014/main" val="945633313"/>
                    </a:ext>
                  </a:extLst>
                </a:gridCol>
              </a:tblGrid>
              <a:tr h="306315">
                <a:tc>
                  <a:txBody>
                    <a:bodyPr/>
                    <a:lstStyle/>
                    <a:p>
                      <a:pPr>
                        <a:buNone/>
                      </a:pPr>
                      <a:r>
                        <a:rPr lang="en-US" sz="1200" b="1">
                          <a:solidFill>
                            <a:schemeClr val="tx1">
                              <a:lumMod val="75000"/>
                              <a:lumOff val="25000"/>
                            </a:schemeClr>
                          </a:solidFill>
                        </a:rPr>
                        <a:t>#</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US" sz="1200" b="1">
                          <a:solidFill>
                            <a:schemeClr val="tx1">
                              <a:lumMod val="75000"/>
                              <a:lumOff val="25000"/>
                            </a:schemeClr>
                          </a:solidFill>
                        </a:rPr>
                        <a:t>Feature</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US" sz="1200" b="1">
                          <a:solidFill>
                            <a:schemeClr val="tx1">
                              <a:lumMod val="75000"/>
                              <a:lumOff val="25000"/>
                            </a:schemeClr>
                          </a:solidFill>
                        </a:rPr>
                        <a:t>What it means</a:t>
                      </a:r>
                    </a:p>
                  </a:txBody>
                  <a:tcPr marL="113449" marR="85087" marT="56725" marB="56725"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093356704"/>
                  </a:ext>
                </a:extLst>
              </a:tr>
              <a:tr h="259044">
                <a:tc>
                  <a:txBody>
                    <a:bodyPr/>
                    <a:lstStyle/>
                    <a:p>
                      <a:pPr>
                        <a:buNone/>
                      </a:pPr>
                      <a:r>
                        <a:rPr lang="en-US" sz="800">
                          <a:solidFill>
                            <a:schemeClr val="tx1">
                              <a:lumMod val="75000"/>
                              <a:lumOff val="25000"/>
                            </a:schemeClr>
                          </a:solidFill>
                        </a:rPr>
                        <a:t>1</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Intelligent Agent Assembly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Right specialists selected per review, not all agents every time</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608305111"/>
                  </a:ext>
                </a:extLst>
              </a:tr>
              <a:tr h="259044">
                <a:tc>
                  <a:txBody>
                    <a:bodyPr/>
                    <a:lstStyle/>
                    <a:p>
                      <a:pPr>
                        <a:buNone/>
                      </a:pPr>
                      <a:r>
                        <a:rPr lang="en-US" sz="800">
                          <a:solidFill>
                            <a:schemeClr val="tx1">
                              <a:lumMod val="75000"/>
                              <a:lumOff val="25000"/>
                            </a:schemeClr>
                          </a:solidFill>
                        </a:rPr>
                        <a:t>2</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Contextualised Agent Roles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 names and focus adapt to the specific problem</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208791189"/>
                  </a:ext>
                </a:extLst>
              </a:tr>
              <a:tr h="259044">
                <a:tc>
                  <a:txBody>
                    <a:bodyPr/>
                    <a:lstStyle/>
                    <a:p>
                      <a:pPr>
                        <a:buNone/>
                      </a:pPr>
                      <a:r>
                        <a:rPr lang="en-US" sz="800">
                          <a:solidFill>
                            <a:schemeClr val="tx1">
                              <a:lumMod val="75000"/>
                              <a:lumOff val="25000"/>
                            </a:schemeClr>
                          </a:solidFill>
                        </a:rPr>
                        <a:t>3</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Requirement Challenge Gates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question before they assess — like a senior architect would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752837912"/>
                  </a:ext>
                </a:extLst>
              </a:tr>
              <a:tr h="259044">
                <a:tc>
                  <a:txBody>
                    <a:bodyPr/>
                    <a:lstStyle/>
                    <a:p>
                      <a:pPr>
                        <a:buNone/>
                      </a:pPr>
                      <a:r>
                        <a:rPr lang="en-US" sz="800">
                          <a:solidFill>
                            <a:schemeClr val="tx1">
                              <a:lumMod val="75000"/>
                              <a:lumOff val="25000"/>
                            </a:schemeClr>
                          </a:solidFill>
                        </a:rPr>
                        <a:t>4</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9-Layer Grounding</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Base model + Well-Architected + SI failure patterns + domain skills + cross-cutting skills + episodic memory + org learnings + Jira ADR memory + live org context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54329254"/>
                  </a:ext>
                </a:extLst>
              </a:tr>
              <a:tr h="259044">
                <a:tc>
                  <a:txBody>
                    <a:bodyPr/>
                    <a:lstStyle/>
                    <a:p>
                      <a:pPr>
                        <a:buNone/>
                      </a:pPr>
                      <a:r>
                        <a:rPr lang="en-US" sz="800">
                          <a:solidFill>
                            <a:schemeClr val="tx1">
                              <a:lumMod val="75000"/>
                              <a:lumOff val="25000"/>
                            </a:schemeClr>
                          </a:solidFill>
                        </a:rPr>
                        <a:t>5</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SI Failure Pattern Library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Codified delivery mistakes injected into every review</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36638321"/>
                  </a:ext>
                </a:extLst>
              </a:tr>
              <a:tr h="259044">
                <a:tc>
                  <a:txBody>
                    <a:bodyPr/>
                    <a:lstStyle/>
                    <a:p>
                      <a:pPr>
                        <a:buNone/>
                      </a:pPr>
                      <a:r>
                        <a:rPr lang="en-US" sz="800">
                          <a:solidFill>
                            <a:schemeClr val="tx1">
                              <a:lumMod val="75000"/>
                              <a:lumOff val="25000"/>
                            </a:schemeClr>
                          </a:solidFill>
                        </a:rPr>
                        <a:t>6</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Institutional Memory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Every session compounds — org knowledge grows with every engagement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330215785"/>
                  </a:ext>
                </a:extLst>
              </a:tr>
              <a:tr h="259044">
                <a:tc>
                  <a:txBody>
                    <a:bodyPr/>
                    <a:lstStyle/>
                    <a:p>
                      <a:pPr>
                        <a:buNone/>
                      </a:pPr>
                      <a:r>
                        <a:rPr lang="en-US" sz="800">
                          <a:solidFill>
                            <a:schemeClr val="tx1">
                              <a:lumMod val="75000"/>
                              <a:lumOff val="25000"/>
                            </a:schemeClr>
                          </a:solidFill>
                        </a:rPr>
                        <a:t>7</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Resubmission Accountability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Judge explicitly checks if prior Must-Fix items were resolved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69382646"/>
                  </a:ext>
                </a:extLst>
              </a:tr>
              <a:tr h="259044">
                <a:tc>
                  <a:txBody>
                    <a:bodyPr/>
                    <a:lstStyle/>
                    <a:p>
                      <a:pPr>
                        <a:buNone/>
                      </a:pPr>
                      <a:r>
                        <a:rPr lang="en-US" sz="800">
                          <a:solidFill>
                            <a:schemeClr val="tx1">
                              <a:lumMod val="75000"/>
                              <a:lumOff val="25000"/>
                            </a:schemeClr>
                          </a:solidFill>
                        </a:rPr>
                        <a:t>8</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Cost Transparency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Per-agent token breakdown, actual vs estimated, every run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472852601"/>
                  </a:ext>
                </a:extLst>
              </a:tr>
              <a:tr h="259044">
                <a:tc>
                  <a:txBody>
                    <a:bodyPr/>
                    <a:lstStyle/>
                    <a:p>
                      <a:pPr>
                        <a:buNone/>
                      </a:pPr>
                      <a:r>
                        <a:rPr lang="en-US" sz="800">
                          <a:solidFill>
                            <a:schemeClr val="tx1">
                              <a:lumMod val="75000"/>
                              <a:lumOff val="25000"/>
                            </a:schemeClr>
                          </a:solidFill>
                        </a:rPr>
                        <a:t>9</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Confidence Scores</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self-rate — Judge downgrades verdict if confidence is low</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240690865"/>
                  </a:ext>
                </a:extLst>
              </a:tr>
              <a:tr h="259044">
                <a:tc>
                  <a:txBody>
                    <a:bodyPr/>
                    <a:lstStyle/>
                    <a:p>
                      <a:pPr>
                        <a:buNone/>
                      </a:pPr>
                      <a:r>
                        <a:rPr lang="en-US" sz="800">
                          <a:solidFill>
                            <a:schemeClr val="tx1">
                              <a:lumMod val="75000"/>
                              <a:lumOff val="25000"/>
                            </a:schemeClr>
                          </a:solidFill>
                        </a:rPr>
                        <a:t>10</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Diagram Vision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Agents read architecture diagrams, not just document text</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80070694"/>
                  </a:ext>
                </a:extLst>
              </a:tr>
              <a:tr h="259044">
                <a:tc>
                  <a:txBody>
                    <a:bodyPr/>
                    <a:lstStyle/>
                    <a:p>
                      <a:pPr>
                        <a:buNone/>
                      </a:pPr>
                      <a:r>
                        <a:rPr lang="en-US" sz="800">
                          <a:solidFill>
                            <a:schemeClr val="tx1">
                              <a:lumMod val="75000"/>
                              <a:lumOff val="25000"/>
                            </a:schemeClr>
                          </a:solidFill>
                        </a:rPr>
                        <a:t>11</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ADR Trail</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a:solidFill>
                            <a:schemeClr val="tx1">
                              <a:lumMod val="75000"/>
                              <a:lumOff val="25000"/>
                            </a:schemeClr>
                          </a:solidFill>
                        </a:rPr>
                        <a:t>Formal decision record written to Jira after every session</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142723204"/>
                  </a:ext>
                </a:extLst>
              </a:tr>
              <a:tr h="259044">
                <a:tc>
                  <a:txBody>
                    <a:bodyPr/>
                    <a:lstStyle/>
                    <a:p>
                      <a:pPr>
                        <a:buNone/>
                      </a:pPr>
                      <a:r>
                        <a:rPr lang="en-US" sz="800">
                          <a:solidFill>
                            <a:schemeClr val="tx1">
                              <a:lumMod val="75000"/>
                              <a:lumOff val="25000"/>
                            </a:schemeClr>
                          </a:solidFill>
                        </a:rPr>
                        <a:t>12</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Skills Library</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800" dirty="0">
                          <a:solidFill>
                            <a:schemeClr val="tx1">
                              <a:lumMod val="75000"/>
                              <a:lumOff val="25000"/>
                            </a:schemeClr>
                          </a:solidFill>
                        </a:rPr>
                        <a:t>Domain + cross-cutting skill files injected per agent — reusable, composable, keyword-triggered</a:t>
                      </a:r>
                    </a:p>
                  </a:txBody>
                  <a:tcPr marL="113449" marR="85087" marT="56725" marB="56725"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065249210"/>
                  </a:ext>
                </a:extLst>
              </a:tr>
            </a:tbl>
          </a:graphicData>
        </a:graphic>
      </p:graphicFrame>
      <p:sp>
        <p:nvSpPr>
          <p:cNvPr id="4" name="Text 1">
            <a:extLst>
              <a:ext uri="{FF2B5EF4-FFF2-40B4-BE49-F238E27FC236}">
                <a16:creationId xmlns:a16="http://schemas.microsoft.com/office/drawing/2014/main" id="{AEAA7AC0-39EF-C0B9-95A3-89D09D76AAC6}"/>
              </a:ext>
            </a:extLst>
          </p:cNvPr>
          <p:cNvSpPr/>
          <p:nvPr/>
        </p:nvSpPr>
        <p:spPr>
          <a:xfrm>
            <a:off x="457200" y="411480"/>
            <a:ext cx="5943600" cy="914400"/>
          </a:xfrm>
          <a:prstGeom prst="rect">
            <a:avLst/>
          </a:prstGeom>
          <a:noFill/>
          <a:ln/>
        </p:spPr>
        <p:txBody>
          <a:bodyPr wrap="square" rtlCol="0" anchor="ctr"/>
          <a:lstStyle/>
          <a:p>
            <a:pPr marL="0" indent="0">
              <a:buNone/>
            </a:pPr>
            <a:r>
              <a:rPr lang="en-US" sz="3200" b="1" dirty="0">
                <a:solidFill>
                  <a:srgbClr val="1E293B"/>
                </a:solidFill>
              </a:rPr>
              <a:t>What’s under the hood</a:t>
            </a:r>
            <a:endParaRPr lang="en-US" sz="3200" dirty="0"/>
          </a:p>
        </p:txBody>
      </p:sp>
    </p:spTree>
    <p:extLst>
      <p:ext uri="{BB962C8B-B14F-4D97-AF65-F5344CB8AC3E}">
        <p14:creationId xmlns:p14="http://schemas.microsoft.com/office/powerpoint/2010/main" val="3645915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marL="0" indent="0" algn="l">
              <a:buNone/>
            </a:pPr>
            <a:r>
              <a:rPr lang="en-US" sz="2700" b="1" dirty="0">
                <a:solidFill>
                  <a:srgbClr val="0F172A"/>
                </a:solidFill>
                <a:latin typeface="Arial" pitchFamily="34" charset="0"/>
              </a:rPr>
              <a:t>Accelerating ARB Without Replacing It</a:t>
            </a:r>
            <a:endParaRPr lang="en-US" sz="2700" dirty="0"/>
          </a:p>
        </p:txBody>
      </p:sp>
      <p:sp>
        <p:nvSpPr>
          <p:cNvPr id="3" name="Text 1"/>
          <p:cNvSpPr/>
          <p:nvPr/>
        </p:nvSpPr>
        <p:spPr>
          <a:xfrm>
            <a:off x="457200" y="594360"/>
            <a:ext cx="8229600" cy="237744"/>
          </a:xfrm>
          <a:prstGeom prst="rect">
            <a:avLst/>
          </a:prstGeom>
          <a:noFill/>
          <a:ln/>
        </p:spPr>
        <p:txBody>
          <a:bodyPr wrap="square" rtlCol="0" anchor="ctr"/>
          <a:lstStyle/>
          <a:p>
            <a:pPr marL="0" indent="0" algn="l">
              <a:buNone/>
            </a:pPr>
            <a:r>
              <a:rPr lang="en-US" sz="1150" i="1" dirty="0">
                <a:solidFill>
                  <a:srgbClr val="7EB8D4"/>
                </a:solidFill>
                <a:latin typeface="Calibri" pitchFamily="34" charset="0"/>
                <a:ea typeface="Calibri" pitchFamily="34" charset="-122"/>
                <a:cs typeface="Calibri" pitchFamily="34" charset="-120"/>
              </a:rPr>
              <a:t>ARBoard surfaces findings before the meeting — architects still lead, review, and countersign every decision</a:t>
            </a:r>
            <a:endParaRPr lang="en-US" sz="1150" dirty="0"/>
          </a:p>
        </p:txBody>
      </p:sp>
      <p:sp>
        <p:nvSpPr>
          <p:cNvPr id="4" name="Shape 2"/>
          <p:cNvSpPr/>
          <p:nvPr/>
        </p:nvSpPr>
        <p:spPr>
          <a:xfrm>
            <a:off x="228600" y="896112"/>
            <a:ext cx="1143000" cy="329184"/>
          </a:xfrm>
          <a:prstGeom prst="rect">
            <a:avLst/>
          </a:prstGeom>
          <a:solidFill>
            <a:srgbClr val="1A3A5C"/>
          </a:solidFill>
          <a:ln w="6350">
            <a:solidFill>
              <a:srgbClr val="1E3A55"/>
            </a:solidFill>
            <a:prstDash val="solid"/>
          </a:ln>
        </p:spPr>
        <p:txBody>
          <a:bodyPr/>
          <a:lstStyle/>
          <a:p>
            <a:endParaRPr lang="en-US"/>
          </a:p>
        </p:txBody>
      </p:sp>
      <p:sp>
        <p:nvSpPr>
          <p:cNvPr id="5" name="Text 3"/>
          <p:cNvSpPr/>
          <p:nvPr/>
        </p:nvSpPr>
        <p:spPr>
          <a:xfrm>
            <a:off x="228600" y="896112"/>
            <a:ext cx="1143000" cy="329184"/>
          </a:xfrm>
          <a:prstGeom prst="rect">
            <a:avLst/>
          </a:prstGeom>
          <a:noFill/>
          <a:ln/>
        </p:spPr>
        <p:txBody>
          <a:bodyPr wrap="square" rtlCol="0" anchor="ctr"/>
          <a:lstStyle/>
          <a:p>
            <a:pPr marL="0" indent="0" algn="ctr">
              <a:buNone/>
            </a:pPr>
            <a:r>
              <a:rPr lang="en-US" sz="1050" b="1" dirty="0">
                <a:solidFill>
                  <a:srgbClr val="7EB8D4"/>
                </a:solidFill>
                <a:latin typeface="Calibri" pitchFamily="34" charset="0"/>
                <a:ea typeface="Calibri" pitchFamily="34" charset="-122"/>
                <a:cs typeface="Calibri" pitchFamily="34" charset="-120"/>
              </a:rPr>
              <a:t>Activity</a:t>
            </a:r>
            <a:endParaRPr lang="en-US" sz="1050" dirty="0"/>
          </a:p>
        </p:txBody>
      </p:sp>
      <p:sp>
        <p:nvSpPr>
          <p:cNvPr id="6" name="Shape 4"/>
          <p:cNvSpPr/>
          <p:nvPr/>
        </p:nvSpPr>
        <p:spPr>
          <a:xfrm>
            <a:off x="1389888" y="896112"/>
            <a:ext cx="2468880" cy="329184"/>
          </a:xfrm>
          <a:prstGeom prst="rect">
            <a:avLst/>
          </a:prstGeom>
          <a:solidFill>
            <a:srgbClr val="2A1A1A"/>
          </a:solidFill>
          <a:ln w="6350">
            <a:solidFill>
              <a:srgbClr val="1E3A55"/>
            </a:solidFill>
            <a:prstDash val="solid"/>
          </a:ln>
        </p:spPr>
        <p:txBody>
          <a:bodyPr/>
          <a:lstStyle/>
          <a:p>
            <a:endParaRPr lang="en-US"/>
          </a:p>
        </p:txBody>
      </p:sp>
      <p:sp>
        <p:nvSpPr>
          <p:cNvPr id="7" name="Text 5"/>
          <p:cNvSpPr/>
          <p:nvPr/>
        </p:nvSpPr>
        <p:spPr>
          <a:xfrm>
            <a:off x="1389888" y="896112"/>
            <a:ext cx="2468880" cy="329184"/>
          </a:xfrm>
          <a:prstGeom prst="rect">
            <a:avLst/>
          </a:prstGeom>
          <a:noFill/>
          <a:ln/>
        </p:spPr>
        <p:txBody>
          <a:bodyPr wrap="square"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Without ARBoard</a:t>
            </a:r>
            <a:endParaRPr lang="en-US" sz="1050" dirty="0"/>
          </a:p>
        </p:txBody>
      </p:sp>
      <p:sp>
        <p:nvSpPr>
          <p:cNvPr id="8" name="Shape 6"/>
          <p:cNvSpPr/>
          <p:nvPr/>
        </p:nvSpPr>
        <p:spPr>
          <a:xfrm>
            <a:off x="3877056" y="896112"/>
            <a:ext cx="2834640" cy="329184"/>
          </a:xfrm>
          <a:prstGeom prst="rect">
            <a:avLst/>
          </a:prstGeom>
          <a:solidFill>
            <a:srgbClr val="0A2A1A"/>
          </a:solidFill>
          <a:ln w="6350">
            <a:solidFill>
              <a:srgbClr val="1E3A55"/>
            </a:solidFill>
            <a:prstDash val="solid"/>
          </a:ln>
        </p:spPr>
        <p:txBody>
          <a:bodyPr/>
          <a:lstStyle/>
          <a:p>
            <a:endParaRPr lang="en-US"/>
          </a:p>
        </p:txBody>
      </p:sp>
      <p:sp>
        <p:nvSpPr>
          <p:cNvPr id="9" name="Text 7"/>
          <p:cNvSpPr/>
          <p:nvPr/>
        </p:nvSpPr>
        <p:spPr>
          <a:xfrm>
            <a:off x="3877056" y="896112"/>
            <a:ext cx="2834640" cy="329184"/>
          </a:xfrm>
          <a:prstGeom prst="rect">
            <a:avLst/>
          </a:prstGeom>
          <a:noFill/>
          <a:ln/>
        </p:spPr>
        <p:txBody>
          <a:bodyPr wrap="square"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With ARBoard</a:t>
            </a:r>
            <a:endParaRPr lang="en-US" sz="1050" dirty="0"/>
          </a:p>
        </p:txBody>
      </p:sp>
      <p:sp>
        <p:nvSpPr>
          <p:cNvPr id="10" name="Shape 8"/>
          <p:cNvSpPr/>
          <p:nvPr/>
        </p:nvSpPr>
        <p:spPr>
          <a:xfrm>
            <a:off x="6729984" y="896112"/>
            <a:ext cx="2103120" cy="329184"/>
          </a:xfrm>
          <a:prstGeom prst="rect">
            <a:avLst/>
          </a:prstGeom>
          <a:solidFill>
            <a:srgbClr val="0A2040"/>
          </a:solidFill>
          <a:ln w="6350">
            <a:solidFill>
              <a:srgbClr val="1E3A55"/>
            </a:solidFill>
            <a:prstDash val="solid"/>
          </a:ln>
        </p:spPr>
        <p:txBody>
          <a:bodyPr/>
          <a:lstStyle/>
          <a:p>
            <a:endParaRPr lang="en-US"/>
          </a:p>
        </p:txBody>
      </p:sp>
      <p:sp>
        <p:nvSpPr>
          <p:cNvPr id="11" name="Text 9"/>
          <p:cNvSpPr/>
          <p:nvPr/>
        </p:nvSpPr>
        <p:spPr>
          <a:xfrm>
            <a:off x="6729984" y="896112"/>
            <a:ext cx="2103120" cy="329184"/>
          </a:xfrm>
          <a:prstGeom prst="rect">
            <a:avLst/>
          </a:prstGeom>
          <a:noFill/>
          <a:ln/>
        </p:spPr>
        <p:txBody>
          <a:bodyPr wrap="square" rtlCol="0" anchor="ctr"/>
          <a:lstStyle/>
          <a:p>
            <a:pPr marL="0" indent="0" algn="ctr">
              <a:buNone/>
            </a:pPr>
            <a:r>
              <a:rPr lang="en-US" sz="1050" b="1" dirty="0">
                <a:solidFill>
                  <a:srgbClr val="00B4D8"/>
                </a:solidFill>
                <a:latin typeface="Calibri" pitchFamily="34" charset="0"/>
                <a:ea typeface="Calibri" pitchFamily="34" charset="-122"/>
                <a:cs typeface="Calibri" pitchFamily="34" charset="-120"/>
              </a:rPr>
              <a:t>Time / Cost Impact</a:t>
            </a:r>
            <a:endParaRPr lang="en-US" sz="1050" dirty="0"/>
          </a:p>
        </p:txBody>
      </p:sp>
      <p:sp>
        <p:nvSpPr>
          <p:cNvPr id="12" name="Shape 10"/>
          <p:cNvSpPr/>
          <p:nvPr/>
        </p:nvSpPr>
        <p:spPr>
          <a:xfrm>
            <a:off x="228600" y="1243584"/>
            <a:ext cx="1143000" cy="594360"/>
          </a:xfrm>
          <a:prstGeom prst="rect">
            <a:avLst/>
          </a:prstGeom>
          <a:solidFill>
            <a:srgbClr val="0F1B2D"/>
          </a:solidFill>
          <a:ln w="6350">
            <a:solidFill>
              <a:srgbClr val="1E3A55"/>
            </a:solidFill>
            <a:prstDash val="solid"/>
          </a:ln>
        </p:spPr>
        <p:txBody>
          <a:bodyPr/>
          <a:lstStyle/>
          <a:p>
            <a:endParaRPr lang="en-US"/>
          </a:p>
        </p:txBody>
      </p:sp>
      <p:sp>
        <p:nvSpPr>
          <p:cNvPr id="13" name="Text 11"/>
          <p:cNvSpPr/>
          <p:nvPr/>
        </p:nvSpPr>
        <p:spPr>
          <a:xfrm>
            <a:off x="265176" y="124358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Pre-review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prep</a:t>
            </a:r>
            <a:endParaRPr lang="en-US" sz="850" dirty="0"/>
          </a:p>
        </p:txBody>
      </p:sp>
      <p:sp>
        <p:nvSpPr>
          <p:cNvPr id="14" name="Shape 12"/>
          <p:cNvSpPr/>
          <p:nvPr/>
        </p:nvSpPr>
        <p:spPr>
          <a:xfrm>
            <a:off x="1389888" y="1243584"/>
            <a:ext cx="2468880" cy="594360"/>
          </a:xfrm>
          <a:prstGeom prst="rect">
            <a:avLst/>
          </a:prstGeom>
          <a:solidFill>
            <a:srgbClr val="0F1B2D"/>
          </a:solidFill>
          <a:ln w="6350">
            <a:solidFill>
              <a:srgbClr val="1E3A55"/>
            </a:solidFill>
            <a:prstDash val="solid"/>
          </a:ln>
        </p:spPr>
        <p:txBody>
          <a:bodyPr/>
          <a:lstStyle/>
          <a:p>
            <a:endParaRPr lang="en-US"/>
          </a:p>
        </p:txBody>
      </p:sp>
      <p:sp>
        <p:nvSpPr>
          <p:cNvPr id="15" name="Text 13"/>
          <p:cNvSpPr/>
          <p:nvPr/>
        </p:nvSpPr>
        <p:spPr>
          <a:xfrm>
            <a:off x="1426464" y="124358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Architects manually review SDD</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5 people × 3hrs = $2,250</a:t>
            </a:r>
            <a:endParaRPr lang="en-US" sz="850" dirty="0"/>
          </a:p>
        </p:txBody>
      </p:sp>
      <p:sp>
        <p:nvSpPr>
          <p:cNvPr id="16" name="Shape 14"/>
          <p:cNvSpPr/>
          <p:nvPr/>
        </p:nvSpPr>
        <p:spPr>
          <a:xfrm>
            <a:off x="3877056" y="1243584"/>
            <a:ext cx="2834640" cy="594360"/>
          </a:xfrm>
          <a:prstGeom prst="rect">
            <a:avLst/>
          </a:prstGeom>
          <a:solidFill>
            <a:srgbClr val="0F1B2D"/>
          </a:solidFill>
          <a:ln w="6350">
            <a:solidFill>
              <a:srgbClr val="1E3A55"/>
            </a:solidFill>
            <a:prstDash val="solid"/>
          </a:ln>
        </p:spPr>
        <p:txBody>
          <a:bodyPr/>
          <a:lstStyle/>
          <a:p>
            <a:endParaRPr lang="en-US"/>
          </a:p>
        </p:txBody>
      </p:sp>
      <p:sp>
        <p:nvSpPr>
          <p:cNvPr id="17" name="Text 15"/>
          <p:cNvSpPr/>
          <p:nvPr/>
        </p:nvSpPr>
        <p:spPr>
          <a:xfrm>
            <a:off x="3913632" y="124358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ARBoard analyses doc in 4–5 min</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Findings ready before meeting</a:t>
            </a:r>
            <a:endParaRPr lang="en-US" sz="850" dirty="0"/>
          </a:p>
        </p:txBody>
      </p:sp>
      <p:sp>
        <p:nvSpPr>
          <p:cNvPr id="18" name="Shape 16"/>
          <p:cNvSpPr/>
          <p:nvPr/>
        </p:nvSpPr>
        <p:spPr>
          <a:xfrm>
            <a:off x="6729984" y="1243584"/>
            <a:ext cx="2103120" cy="594360"/>
          </a:xfrm>
          <a:prstGeom prst="rect">
            <a:avLst/>
          </a:prstGeom>
          <a:solidFill>
            <a:srgbClr val="0F1B2D"/>
          </a:solidFill>
          <a:ln w="6350">
            <a:solidFill>
              <a:srgbClr val="1E3A55"/>
            </a:solidFill>
            <a:prstDash val="solid"/>
          </a:ln>
        </p:spPr>
        <p:txBody>
          <a:bodyPr/>
          <a:lstStyle/>
          <a:p>
            <a:endParaRPr lang="en-US"/>
          </a:p>
        </p:txBody>
      </p:sp>
      <p:sp>
        <p:nvSpPr>
          <p:cNvPr id="19" name="Text 17"/>
          <p:cNvSpPr/>
          <p:nvPr/>
        </p:nvSpPr>
        <p:spPr>
          <a:xfrm>
            <a:off x="6766560" y="124358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~3hrs saved</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per architect</a:t>
            </a:r>
            <a:endParaRPr lang="en-US" sz="1000" dirty="0"/>
          </a:p>
        </p:txBody>
      </p:sp>
      <p:sp>
        <p:nvSpPr>
          <p:cNvPr id="20" name="Shape 18"/>
          <p:cNvSpPr/>
          <p:nvPr/>
        </p:nvSpPr>
        <p:spPr>
          <a:xfrm>
            <a:off x="228600" y="1837944"/>
            <a:ext cx="1143000" cy="594360"/>
          </a:xfrm>
          <a:prstGeom prst="rect">
            <a:avLst/>
          </a:prstGeom>
          <a:solidFill>
            <a:srgbClr val="162435"/>
          </a:solidFill>
          <a:ln w="6350">
            <a:solidFill>
              <a:srgbClr val="1E3A55"/>
            </a:solidFill>
            <a:prstDash val="solid"/>
          </a:ln>
        </p:spPr>
        <p:txBody>
          <a:bodyPr/>
          <a:lstStyle/>
          <a:p>
            <a:endParaRPr lang="en-US"/>
          </a:p>
        </p:txBody>
      </p:sp>
      <p:sp>
        <p:nvSpPr>
          <p:cNvPr id="21" name="Text 19"/>
          <p:cNvSpPr/>
          <p:nvPr/>
        </p:nvSpPr>
        <p:spPr>
          <a:xfrm>
            <a:off x="265176" y="183794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ARB 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meeting</a:t>
            </a:r>
            <a:endParaRPr lang="en-US" sz="850" dirty="0"/>
          </a:p>
        </p:txBody>
      </p:sp>
      <p:sp>
        <p:nvSpPr>
          <p:cNvPr id="22" name="Shape 20"/>
          <p:cNvSpPr/>
          <p:nvPr/>
        </p:nvSpPr>
        <p:spPr>
          <a:xfrm>
            <a:off x="1389888" y="1837944"/>
            <a:ext cx="2468880" cy="594360"/>
          </a:xfrm>
          <a:prstGeom prst="rect">
            <a:avLst/>
          </a:prstGeom>
          <a:solidFill>
            <a:srgbClr val="162435"/>
          </a:solidFill>
          <a:ln w="6350">
            <a:solidFill>
              <a:srgbClr val="1E3A55"/>
            </a:solidFill>
            <a:prstDash val="solid"/>
          </a:ln>
        </p:spPr>
        <p:txBody>
          <a:bodyPr/>
          <a:lstStyle/>
          <a:p>
            <a:endParaRPr lang="en-US"/>
          </a:p>
        </p:txBody>
      </p:sp>
      <p:sp>
        <p:nvSpPr>
          <p:cNvPr id="23" name="Text 21"/>
          <p:cNvSpPr/>
          <p:nvPr/>
        </p:nvSpPr>
        <p:spPr>
          <a:xfrm>
            <a:off x="1426464" y="183794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Full review in meeting</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5 people × 2hrs = $1,500</a:t>
            </a:r>
            <a:endParaRPr lang="en-US" sz="850" dirty="0"/>
          </a:p>
        </p:txBody>
      </p:sp>
      <p:sp>
        <p:nvSpPr>
          <p:cNvPr id="24" name="Shape 22"/>
          <p:cNvSpPr/>
          <p:nvPr/>
        </p:nvSpPr>
        <p:spPr>
          <a:xfrm>
            <a:off x="3877056" y="1837944"/>
            <a:ext cx="2834640" cy="594360"/>
          </a:xfrm>
          <a:prstGeom prst="rect">
            <a:avLst/>
          </a:prstGeom>
          <a:solidFill>
            <a:srgbClr val="162435"/>
          </a:solidFill>
          <a:ln w="6350">
            <a:solidFill>
              <a:srgbClr val="1E3A55"/>
            </a:solidFill>
            <a:prstDash val="solid"/>
          </a:ln>
        </p:spPr>
        <p:txBody>
          <a:bodyPr/>
          <a:lstStyle/>
          <a:p>
            <a:endParaRPr lang="en-US"/>
          </a:p>
        </p:txBody>
      </p:sp>
      <p:sp>
        <p:nvSpPr>
          <p:cNvPr id="25" name="Text 23"/>
          <p:cNvSpPr/>
          <p:nvPr/>
        </p:nvSpPr>
        <p:spPr>
          <a:xfrm>
            <a:off x="3913632" y="183794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Meeting focuses on decisions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not discovery — shorter, sharper</a:t>
            </a:r>
            <a:endParaRPr lang="en-US" sz="850" dirty="0"/>
          </a:p>
        </p:txBody>
      </p:sp>
      <p:sp>
        <p:nvSpPr>
          <p:cNvPr id="26" name="Shape 24"/>
          <p:cNvSpPr/>
          <p:nvPr/>
        </p:nvSpPr>
        <p:spPr>
          <a:xfrm>
            <a:off x="6729984" y="1837944"/>
            <a:ext cx="2103120" cy="594360"/>
          </a:xfrm>
          <a:prstGeom prst="rect">
            <a:avLst/>
          </a:prstGeom>
          <a:solidFill>
            <a:srgbClr val="162435"/>
          </a:solidFill>
          <a:ln w="6350">
            <a:solidFill>
              <a:srgbClr val="1E3A55"/>
            </a:solidFill>
            <a:prstDash val="solid"/>
          </a:ln>
        </p:spPr>
        <p:txBody>
          <a:bodyPr/>
          <a:lstStyle/>
          <a:p>
            <a:endParaRPr lang="en-US"/>
          </a:p>
        </p:txBody>
      </p:sp>
      <p:sp>
        <p:nvSpPr>
          <p:cNvPr id="27" name="Text 25"/>
          <p:cNvSpPr/>
          <p:nvPr/>
        </p:nvSpPr>
        <p:spPr>
          <a:xfrm>
            <a:off x="6766560" y="183794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Meeting time</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reduced</a:t>
            </a:r>
            <a:endParaRPr lang="en-US" sz="1000" dirty="0"/>
          </a:p>
        </p:txBody>
      </p:sp>
      <p:sp>
        <p:nvSpPr>
          <p:cNvPr id="28" name="Shape 26"/>
          <p:cNvSpPr/>
          <p:nvPr/>
        </p:nvSpPr>
        <p:spPr>
          <a:xfrm>
            <a:off x="228600" y="2432304"/>
            <a:ext cx="1143000" cy="594360"/>
          </a:xfrm>
          <a:prstGeom prst="rect">
            <a:avLst/>
          </a:prstGeom>
          <a:solidFill>
            <a:srgbClr val="0F1B2D"/>
          </a:solidFill>
          <a:ln w="6350">
            <a:solidFill>
              <a:srgbClr val="1E3A55"/>
            </a:solidFill>
            <a:prstDash val="solid"/>
          </a:ln>
        </p:spPr>
        <p:txBody>
          <a:bodyPr/>
          <a:lstStyle/>
          <a:p>
            <a:endParaRPr lang="en-US"/>
          </a:p>
        </p:txBody>
      </p:sp>
      <p:sp>
        <p:nvSpPr>
          <p:cNvPr id="29" name="Text 27"/>
          <p:cNvSpPr/>
          <p:nvPr/>
        </p:nvSpPr>
        <p:spPr>
          <a:xfrm>
            <a:off x="265176" y="243230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Post-review</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rework</a:t>
            </a:r>
            <a:endParaRPr lang="en-US" sz="850" dirty="0"/>
          </a:p>
        </p:txBody>
      </p:sp>
      <p:sp>
        <p:nvSpPr>
          <p:cNvPr id="30" name="Shape 28"/>
          <p:cNvSpPr/>
          <p:nvPr/>
        </p:nvSpPr>
        <p:spPr>
          <a:xfrm>
            <a:off x="1389888" y="2432304"/>
            <a:ext cx="2468880" cy="594360"/>
          </a:xfrm>
          <a:prstGeom prst="rect">
            <a:avLst/>
          </a:prstGeom>
          <a:solidFill>
            <a:srgbClr val="0F1B2D"/>
          </a:solidFill>
          <a:ln w="6350">
            <a:solidFill>
              <a:srgbClr val="1E3A55"/>
            </a:solidFill>
            <a:prstDash val="solid"/>
          </a:ln>
        </p:spPr>
        <p:txBody>
          <a:bodyPr/>
          <a:lstStyle/>
          <a:p>
            <a:endParaRPr lang="en-US"/>
          </a:p>
        </p:txBody>
      </p:sp>
      <p:sp>
        <p:nvSpPr>
          <p:cNvPr id="31" name="Text 29"/>
          <p:cNvSpPr/>
          <p:nvPr/>
        </p:nvSpPr>
        <p:spPr>
          <a:xfrm>
            <a:off x="1426464" y="243230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Issues found after design is built</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$8k–$15k avg rework cost</a:t>
            </a:r>
            <a:endParaRPr lang="en-US" sz="850" dirty="0"/>
          </a:p>
        </p:txBody>
      </p:sp>
      <p:sp>
        <p:nvSpPr>
          <p:cNvPr id="32" name="Shape 30"/>
          <p:cNvSpPr/>
          <p:nvPr/>
        </p:nvSpPr>
        <p:spPr>
          <a:xfrm>
            <a:off x="3877056" y="2432304"/>
            <a:ext cx="2834640" cy="594360"/>
          </a:xfrm>
          <a:prstGeom prst="rect">
            <a:avLst/>
          </a:prstGeom>
          <a:solidFill>
            <a:srgbClr val="0F1B2D"/>
          </a:solidFill>
          <a:ln w="6350">
            <a:solidFill>
              <a:srgbClr val="1E3A55"/>
            </a:solidFill>
            <a:prstDash val="solid"/>
          </a:ln>
        </p:spPr>
        <p:txBody>
          <a:bodyPr/>
          <a:lstStyle/>
          <a:p>
            <a:endParaRPr lang="en-US"/>
          </a:p>
        </p:txBody>
      </p:sp>
      <p:sp>
        <p:nvSpPr>
          <p:cNvPr id="33" name="Text 31"/>
          <p:cNvSpPr/>
          <p:nvPr/>
        </p:nvSpPr>
        <p:spPr>
          <a:xfrm>
            <a:off x="3913632" y="243230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Issues flagged before build starts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Design corrected earlier</a:t>
            </a:r>
            <a:endParaRPr lang="en-US" sz="850" dirty="0"/>
          </a:p>
        </p:txBody>
      </p:sp>
      <p:sp>
        <p:nvSpPr>
          <p:cNvPr id="34" name="Shape 32"/>
          <p:cNvSpPr/>
          <p:nvPr/>
        </p:nvSpPr>
        <p:spPr>
          <a:xfrm>
            <a:off x="6729984" y="2432304"/>
            <a:ext cx="2103120" cy="594360"/>
          </a:xfrm>
          <a:prstGeom prst="rect">
            <a:avLst/>
          </a:prstGeom>
          <a:solidFill>
            <a:srgbClr val="0F1B2D"/>
          </a:solidFill>
          <a:ln w="6350">
            <a:solidFill>
              <a:srgbClr val="1E3A55"/>
            </a:solidFill>
            <a:prstDash val="solid"/>
          </a:ln>
        </p:spPr>
        <p:txBody>
          <a:bodyPr/>
          <a:lstStyle/>
          <a:p>
            <a:endParaRPr lang="en-US"/>
          </a:p>
        </p:txBody>
      </p:sp>
      <p:sp>
        <p:nvSpPr>
          <p:cNvPr id="35" name="Text 33"/>
          <p:cNvSpPr/>
          <p:nvPr/>
        </p:nvSpPr>
        <p:spPr>
          <a:xfrm>
            <a:off x="6766560" y="243230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~$10,000</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avg rework avoided</a:t>
            </a:r>
            <a:endParaRPr lang="en-US" sz="1000" dirty="0"/>
          </a:p>
        </p:txBody>
      </p:sp>
      <p:sp>
        <p:nvSpPr>
          <p:cNvPr id="36" name="Shape 34"/>
          <p:cNvSpPr/>
          <p:nvPr/>
        </p:nvSpPr>
        <p:spPr>
          <a:xfrm>
            <a:off x="228600" y="3026664"/>
            <a:ext cx="1143000" cy="594360"/>
          </a:xfrm>
          <a:prstGeom prst="rect">
            <a:avLst/>
          </a:prstGeom>
          <a:solidFill>
            <a:srgbClr val="162435"/>
          </a:solidFill>
          <a:ln w="6350">
            <a:solidFill>
              <a:srgbClr val="1E3A55"/>
            </a:solidFill>
            <a:prstDash val="solid"/>
          </a:ln>
        </p:spPr>
        <p:txBody>
          <a:bodyPr/>
          <a:lstStyle/>
          <a:p>
            <a:endParaRPr lang="en-US"/>
          </a:p>
        </p:txBody>
      </p:sp>
      <p:sp>
        <p:nvSpPr>
          <p:cNvPr id="37" name="Text 35"/>
          <p:cNvSpPr/>
          <p:nvPr/>
        </p:nvSpPr>
        <p:spPr>
          <a:xfrm>
            <a:off x="265176" y="302666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Re-submission</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cycle</a:t>
            </a:r>
            <a:endParaRPr lang="en-US" sz="850" dirty="0"/>
          </a:p>
        </p:txBody>
      </p:sp>
      <p:sp>
        <p:nvSpPr>
          <p:cNvPr id="38" name="Shape 36"/>
          <p:cNvSpPr/>
          <p:nvPr/>
        </p:nvSpPr>
        <p:spPr>
          <a:xfrm>
            <a:off x="1389888" y="3026664"/>
            <a:ext cx="2468880" cy="594360"/>
          </a:xfrm>
          <a:prstGeom prst="rect">
            <a:avLst/>
          </a:prstGeom>
          <a:solidFill>
            <a:srgbClr val="162435"/>
          </a:solidFill>
          <a:ln w="6350">
            <a:solidFill>
              <a:srgbClr val="1E3A55"/>
            </a:solidFill>
            <a:prstDash val="solid"/>
          </a:ln>
        </p:spPr>
        <p:txBody>
          <a:bodyPr/>
          <a:lstStyle/>
          <a:p>
            <a:endParaRPr lang="en-US"/>
          </a:p>
        </p:txBody>
      </p:sp>
      <p:sp>
        <p:nvSpPr>
          <p:cNvPr id="39" name="Text 37"/>
          <p:cNvSpPr/>
          <p:nvPr/>
        </p:nvSpPr>
        <p:spPr>
          <a:xfrm>
            <a:off x="1426464" y="302666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Second ARB scheduling + review</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$4,050 + 1–2 week delay</a:t>
            </a:r>
            <a:endParaRPr lang="en-US" sz="850" dirty="0"/>
          </a:p>
        </p:txBody>
      </p:sp>
      <p:sp>
        <p:nvSpPr>
          <p:cNvPr id="40" name="Shape 38"/>
          <p:cNvSpPr/>
          <p:nvPr/>
        </p:nvSpPr>
        <p:spPr>
          <a:xfrm>
            <a:off x="3877056" y="3026664"/>
            <a:ext cx="2834640" cy="594360"/>
          </a:xfrm>
          <a:prstGeom prst="rect">
            <a:avLst/>
          </a:prstGeom>
          <a:solidFill>
            <a:srgbClr val="162435"/>
          </a:solidFill>
          <a:ln w="6350">
            <a:solidFill>
              <a:srgbClr val="1E3A55"/>
            </a:solidFill>
            <a:prstDash val="solid"/>
          </a:ln>
        </p:spPr>
        <p:txBody>
          <a:bodyPr/>
          <a:lstStyle/>
          <a:p>
            <a:endParaRPr lang="en-US"/>
          </a:p>
        </p:txBody>
      </p:sp>
      <p:sp>
        <p:nvSpPr>
          <p:cNvPr id="41" name="Text 39"/>
          <p:cNvSpPr/>
          <p:nvPr/>
        </p:nvSpPr>
        <p:spPr>
          <a:xfrm>
            <a:off x="3913632" y="302666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Revision mode re-runs in minutes</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Same-day turnaround</a:t>
            </a:r>
            <a:endParaRPr lang="en-US" sz="850" dirty="0"/>
          </a:p>
        </p:txBody>
      </p:sp>
      <p:sp>
        <p:nvSpPr>
          <p:cNvPr id="42" name="Shape 40"/>
          <p:cNvSpPr/>
          <p:nvPr/>
        </p:nvSpPr>
        <p:spPr>
          <a:xfrm>
            <a:off x="6729984" y="3026664"/>
            <a:ext cx="2103120" cy="594360"/>
          </a:xfrm>
          <a:prstGeom prst="rect">
            <a:avLst/>
          </a:prstGeom>
          <a:solidFill>
            <a:srgbClr val="162435"/>
          </a:solidFill>
          <a:ln w="6350">
            <a:solidFill>
              <a:srgbClr val="1E3A55"/>
            </a:solidFill>
            <a:prstDash val="solid"/>
          </a:ln>
        </p:spPr>
        <p:txBody>
          <a:bodyPr/>
          <a:lstStyle/>
          <a:p>
            <a:endParaRPr lang="en-US"/>
          </a:p>
        </p:txBody>
      </p:sp>
      <p:sp>
        <p:nvSpPr>
          <p:cNvPr id="43" name="Text 41"/>
          <p:cNvSpPr/>
          <p:nvPr/>
        </p:nvSpPr>
        <p:spPr>
          <a:xfrm>
            <a:off x="6766560" y="302666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Days → minutes</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per revision</a:t>
            </a:r>
            <a:endParaRPr lang="en-US" sz="1000" dirty="0"/>
          </a:p>
        </p:txBody>
      </p:sp>
      <p:sp>
        <p:nvSpPr>
          <p:cNvPr id="44" name="Shape 42"/>
          <p:cNvSpPr/>
          <p:nvPr/>
        </p:nvSpPr>
        <p:spPr>
          <a:xfrm>
            <a:off x="228600" y="3621024"/>
            <a:ext cx="1143000" cy="594360"/>
          </a:xfrm>
          <a:prstGeom prst="rect">
            <a:avLst/>
          </a:prstGeom>
          <a:solidFill>
            <a:srgbClr val="0F1B2D"/>
          </a:solidFill>
          <a:ln w="6350">
            <a:solidFill>
              <a:srgbClr val="1E3A55"/>
            </a:solidFill>
            <a:prstDash val="solid"/>
          </a:ln>
        </p:spPr>
        <p:txBody>
          <a:bodyPr/>
          <a:lstStyle/>
          <a:p>
            <a:endParaRPr lang="en-US"/>
          </a:p>
        </p:txBody>
      </p:sp>
      <p:sp>
        <p:nvSpPr>
          <p:cNvPr id="45" name="Text 43"/>
          <p:cNvSpPr/>
          <p:nvPr/>
        </p:nvSpPr>
        <p:spPr>
          <a:xfrm>
            <a:off x="265176" y="3621024"/>
            <a:ext cx="1069848" cy="594360"/>
          </a:xfrm>
          <a:prstGeom prst="rect">
            <a:avLst/>
          </a:prstGeom>
          <a:noFill/>
          <a:ln/>
        </p:spPr>
        <p:txBody>
          <a:bodyPr wrap="square" rtlCol="0" anchor="ctr"/>
          <a:lstStyle/>
          <a:p>
            <a:pPr marL="0" indent="0" algn="ctr">
              <a:buNone/>
            </a:pPr>
            <a:r>
              <a:rPr lang="en-US" sz="850" dirty="0">
                <a:solidFill>
                  <a:srgbClr val="8BAFC8"/>
                </a:solidFill>
                <a:latin typeface="Calibri" pitchFamily="34" charset="0"/>
                <a:ea typeface="Calibri" pitchFamily="34" charset="-122"/>
                <a:cs typeface="Calibri" pitchFamily="34" charset="-120"/>
              </a:rPr>
              <a:t>Endorsement</a:t>
            </a:r>
            <a:endParaRPr lang="en-US" sz="850" dirty="0"/>
          </a:p>
          <a:p>
            <a:pPr marL="0" indent="0" algn="ctr">
              <a:buNone/>
            </a:pPr>
            <a:r>
              <a:rPr lang="en-US" sz="850" dirty="0">
                <a:solidFill>
                  <a:srgbClr val="8BAFC8"/>
                </a:solidFill>
                <a:latin typeface="Calibri" pitchFamily="34" charset="0"/>
                <a:ea typeface="Calibri" pitchFamily="34" charset="-122"/>
                <a:cs typeface="Calibri" pitchFamily="34" charset="-120"/>
              </a:rPr>
              <a:t>velocity</a:t>
            </a:r>
            <a:endParaRPr lang="en-US" sz="850" dirty="0"/>
          </a:p>
        </p:txBody>
      </p:sp>
      <p:sp>
        <p:nvSpPr>
          <p:cNvPr id="46" name="Shape 44"/>
          <p:cNvSpPr/>
          <p:nvPr/>
        </p:nvSpPr>
        <p:spPr>
          <a:xfrm>
            <a:off x="1389888" y="3621024"/>
            <a:ext cx="2468880" cy="594360"/>
          </a:xfrm>
          <a:prstGeom prst="rect">
            <a:avLst/>
          </a:prstGeom>
          <a:solidFill>
            <a:srgbClr val="0F1B2D"/>
          </a:solidFill>
          <a:ln w="6350">
            <a:solidFill>
              <a:srgbClr val="1E3A55"/>
            </a:solidFill>
            <a:prstDash val="solid"/>
          </a:ln>
        </p:spPr>
        <p:txBody>
          <a:bodyPr/>
          <a:lstStyle/>
          <a:p>
            <a:endParaRPr lang="en-US"/>
          </a:p>
        </p:txBody>
      </p:sp>
      <p:sp>
        <p:nvSpPr>
          <p:cNvPr id="47" name="Text 45"/>
          <p:cNvSpPr/>
          <p:nvPr/>
        </p:nvSpPr>
        <p:spPr>
          <a:xfrm>
            <a:off x="1426464" y="3621024"/>
            <a:ext cx="2395728" cy="594360"/>
          </a:xfrm>
          <a:prstGeom prst="rect">
            <a:avLst/>
          </a:prstGeom>
          <a:noFill/>
          <a:ln/>
        </p:spPr>
        <p:txBody>
          <a:bodyPr wrap="square" rtlCol="0" anchor="ctr"/>
          <a:lstStyle/>
          <a:p>
            <a:pPr marL="0" indent="0" algn="ctr">
              <a:buNone/>
            </a:pPr>
            <a:r>
              <a:rPr lang="en-US" sz="850" dirty="0">
                <a:solidFill>
                  <a:srgbClr val="F8A0A0"/>
                </a:solidFill>
                <a:latin typeface="Calibri" pitchFamily="34" charset="0"/>
                <a:ea typeface="Calibri" pitchFamily="34" charset="-122"/>
                <a:cs typeface="Calibri" pitchFamily="34" charset="-120"/>
              </a:rPr>
              <a:t>1–2 designs reviewed per sprint</a:t>
            </a:r>
            <a:endParaRPr lang="en-US" sz="850" dirty="0"/>
          </a:p>
          <a:p>
            <a:pPr marL="0" indent="0" algn="ctr">
              <a:buNone/>
            </a:pPr>
            <a:r>
              <a:rPr lang="en-US" sz="850" dirty="0">
                <a:solidFill>
                  <a:srgbClr val="F8A0A0"/>
                </a:solidFill>
                <a:latin typeface="Calibri" pitchFamily="34" charset="0"/>
                <a:ea typeface="Calibri" pitchFamily="34" charset="-122"/>
                <a:cs typeface="Calibri" pitchFamily="34" charset="-120"/>
              </a:rPr>
              <a:t>Scheduling bottleneck</a:t>
            </a:r>
            <a:endParaRPr lang="en-US" sz="850" dirty="0"/>
          </a:p>
        </p:txBody>
      </p:sp>
      <p:sp>
        <p:nvSpPr>
          <p:cNvPr id="48" name="Shape 46"/>
          <p:cNvSpPr/>
          <p:nvPr/>
        </p:nvSpPr>
        <p:spPr>
          <a:xfrm>
            <a:off x="3877056" y="3621024"/>
            <a:ext cx="2834640" cy="594360"/>
          </a:xfrm>
          <a:prstGeom prst="rect">
            <a:avLst/>
          </a:prstGeom>
          <a:solidFill>
            <a:srgbClr val="0F1B2D"/>
          </a:solidFill>
          <a:ln w="6350">
            <a:solidFill>
              <a:srgbClr val="1E3A55"/>
            </a:solidFill>
            <a:prstDash val="solid"/>
          </a:ln>
        </p:spPr>
        <p:txBody>
          <a:bodyPr/>
          <a:lstStyle/>
          <a:p>
            <a:endParaRPr lang="en-US"/>
          </a:p>
        </p:txBody>
      </p:sp>
      <p:sp>
        <p:nvSpPr>
          <p:cNvPr id="49" name="Text 47"/>
          <p:cNvSpPr/>
          <p:nvPr/>
        </p:nvSpPr>
        <p:spPr>
          <a:xfrm>
            <a:off x="3913632" y="3621024"/>
            <a:ext cx="2761488" cy="594360"/>
          </a:xfrm>
          <a:prstGeom prst="rect">
            <a:avLst/>
          </a:prstGeom>
          <a:noFill/>
          <a:ln/>
        </p:spPr>
        <p:txBody>
          <a:bodyPr wrap="square" rtlCol="0" anchor="ctr"/>
          <a:lstStyle/>
          <a:p>
            <a:pPr marL="0" indent="0" algn="ctr">
              <a:buNone/>
            </a:pPr>
            <a:r>
              <a:rPr lang="en-US" sz="850" dirty="0">
                <a:solidFill>
                  <a:srgbClr val="6EE7B7"/>
                </a:solidFill>
                <a:latin typeface="Calibri" pitchFamily="34" charset="0"/>
                <a:ea typeface="Calibri" pitchFamily="34" charset="-122"/>
                <a:cs typeface="Calibri" pitchFamily="34" charset="-120"/>
              </a:rPr>
              <a:t>Multiple designs reviewed per sprint</a:t>
            </a:r>
            <a:endParaRPr lang="en-US" sz="850" dirty="0"/>
          </a:p>
          <a:p>
            <a:pPr marL="0" indent="0" algn="ctr">
              <a:buNone/>
            </a:pPr>
            <a:r>
              <a:rPr lang="en-US" sz="850" dirty="0">
                <a:solidFill>
                  <a:srgbClr val="6EE7B7"/>
                </a:solidFill>
                <a:latin typeface="Calibri" pitchFamily="34" charset="0"/>
                <a:ea typeface="Calibri" pitchFamily="34" charset="-122"/>
                <a:cs typeface="Calibri" pitchFamily="34" charset="-120"/>
              </a:rPr>
              <a:t>No scheduling dependency</a:t>
            </a:r>
            <a:endParaRPr lang="en-US" sz="850" dirty="0"/>
          </a:p>
        </p:txBody>
      </p:sp>
      <p:sp>
        <p:nvSpPr>
          <p:cNvPr id="50" name="Shape 48"/>
          <p:cNvSpPr/>
          <p:nvPr/>
        </p:nvSpPr>
        <p:spPr>
          <a:xfrm>
            <a:off x="6729984" y="3621024"/>
            <a:ext cx="2103120" cy="594360"/>
          </a:xfrm>
          <a:prstGeom prst="rect">
            <a:avLst/>
          </a:prstGeom>
          <a:solidFill>
            <a:srgbClr val="0F1B2D"/>
          </a:solidFill>
          <a:ln w="6350">
            <a:solidFill>
              <a:srgbClr val="1E3A55"/>
            </a:solidFill>
            <a:prstDash val="solid"/>
          </a:ln>
        </p:spPr>
        <p:txBody>
          <a:bodyPr/>
          <a:lstStyle/>
          <a:p>
            <a:endParaRPr lang="en-US"/>
          </a:p>
        </p:txBody>
      </p:sp>
      <p:sp>
        <p:nvSpPr>
          <p:cNvPr id="51" name="Text 49"/>
          <p:cNvSpPr/>
          <p:nvPr/>
        </p:nvSpPr>
        <p:spPr>
          <a:xfrm>
            <a:off x="6766560" y="3621024"/>
            <a:ext cx="2029968" cy="594360"/>
          </a:xfrm>
          <a:prstGeom prst="rect">
            <a:avLst/>
          </a:prstGeom>
          <a:noFill/>
          <a:ln/>
        </p:spPr>
        <p:txBody>
          <a:bodyPr wrap="square"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Higher delivery</a:t>
            </a:r>
            <a:endParaRPr lang="en-US" sz="1000" dirty="0"/>
          </a:p>
          <a:p>
            <a:pPr marL="0" indent="0" algn="ctr">
              <a:buNone/>
            </a:pPr>
            <a:r>
              <a:rPr lang="en-US" sz="1000" b="1" dirty="0">
                <a:solidFill>
                  <a:srgbClr val="00B4D8"/>
                </a:solidFill>
                <a:latin typeface="Calibri" pitchFamily="34" charset="0"/>
                <a:ea typeface="Calibri" pitchFamily="34" charset="-122"/>
                <a:cs typeface="Calibri" pitchFamily="34" charset="-120"/>
              </a:rPr>
              <a:t>velocity</a:t>
            </a:r>
            <a:endParaRPr lang="en-US" sz="1000" dirty="0"/>
          </a:p>
        </p:txBody>
      </p:sp>
      <p:sp>
        <p:nvSpPr>
          <p:cNvPr id="52" name="Shape 50"/>
          <p:cNvSpPr/>
          <p:nvPr/>
        </p:nvSpPr>
        <p:spPr>
          <a:xfrm>
            <a:off x="228600" y="4279392"/>
            <a:ext cx="8604504" cy="402336"/>
          </a:xfrm>
          <a:prstGeom prst="rect">
            <a:avLst/>
          </a:prstGeom>
          <a:solidFill>
            <a:srgbClr val="0A2540"/>
          </a:solidFill>
          <a:ln w="12700">
            <a:solidFill>
              <a:srgbClr val="00B4D8"/>
            </a:solidFill>
            <a:prstDash val="solid"/>
          </a:ln>
        </p:spPr>
        <p:txBody>
          <a:bodyPr/>
          <a:lstStyle/>
          <a:p>
            <a:endParaRPr lang="en-US"/>
          </a:p>
        </p:txBody>
      </p:sp>
      <p:sp>
        <p:nvSpPr>
          <p:cNvPr id="53" name="Text 51"/>
          <p:cNvSpPr/>
          <p:nvPr/>
        </p:nvSpPr>
        <p:spPr>
          <a:xfrm>
            <a:off x="320040" y="4279392"/>
            <a:ext cx="5029200" cy="402336"/>
          </a:xfrm>
          <a:prstGeom prst="rect">
            <a:avLst/>
          </a:prstGeom>
          <a:noFill/>
          <a:ln/>
        </p:spPr>
        <p:txBody>
          <a:bodyPr wrap="square" rtlCol="0" anchor="ctr"/>
          <a:lstStyle/>
          <a:p>
            <a:pPr marL="0" indent="0" algn="l">
              <a:buNone/>
            </a:pPr>
            <a:r>
              <a:rPr lang="en-US" sz="950" i="1" dirty="0">
                <a:solidFill>
                  <a:srgbClr val="FFFFFF"/>
                </a:solidFill>
                <a:latin typeface="Calibri" pitchFamily="34" charset="0"/>
                <a:ea typeface="Calibri" pitchFamily="34" charset="-122"/>
                <a:cs typeface="Calibri" pitchFamily="34" charset="-120"/>
              </a:rPr>
              <a:t>ARB still runs. Architects still decide. ARBoard removes the prep, rework, and scheduling wait.</a:t>
            </a:r>
            <a:endParaRPr lang="en-US" sz="950" dirty="0"/>
          </a:p>
        </p:txBody>
      </p:sp>
      <p:sp>
        <p:nvSpPr>
          <p:cNvPr id="54" name="Text 52"/>
          <p:cNvSpPr/>
          <p:nvPr/>
        </p:nvSpPr>
        <p:spPr>
          <a:xfrm>
            <a:off x="6729984" y="4279392"/>
            <a:ext cx="2103120" cy="402336"/>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~95% less prep &amp; rework</a:t>
            </a:r>
            <a:endParaRPr lang="en-US" sz="1100" dirty="0"/>
          </a:p>
        </p:txBody>
      </p:sp>
      <p:sp>
        <p:nvSpPr>
          <p:cNvPr id="55" name="Shape 53"/>
          <p:cNvSpPr/>
          <p:nvPr/>
        </p:nvSpPr>
        <p:spPr>
          <a:xfrm>
            <a:off x="228600"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56" name="Text 54"/>
          <p:cNvSpPr/>
          <p:nvPr/>
        </p:nvSpPr>
        <p:spPr>
          <a:xfrm>
            <a:off x="228600"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4 min</a:t>
            </a:r>
            <a:endParaRPr lang="en-US" sz="1700" dirty="0"/>
          </a:p>
        </p:txBody>
      </p:sp>
      <p:sp>
        <p:nvSpPr>
          <p:cNvPr id="57" name="Text 55"/>
          <p:cNvSpPr/>
          <p:nvPr/>
        </p:nvSpPr>
        <p:spPr>
          <a:xfrm>
            <a:off x="228600"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Findings surfaced</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vs 3hr manual prep</a:t>
            </a:r>
            <a:endParaRPr lang="en-US" sz="750" dirty="0"/>
          </a:p>
        </p:txBody>
      </p:sp>
      <p:sp>
        <p:nvSpPr>
          <p:cNvPr id="58" name="Shape 56"/>
          <p:cNvSpPr/>
          <p:nvPr/>
        </p:nvSpPr>
        <p:spPr>
          <a:xfrm>
            <a:off x="2386584"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59" name="Text 57"/>
          <p:cNvSpPr/>
          <p:nvPr/>
        </p:nvSpPr>
        <p:spPr>
          <a:xfrm>
            <a:off x="2386584"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~$10k</a:t>
            </a:r>
            <a:endParaRPr lang="en-US" sz="1700" dirty="0"/>
          </a:p>
        </p:txBody>
      </p:sp>
      <p:sp>
        <p:nvSpPr>
          <p:cNvPr id="60" name="Text 58"/>
          <p:cNvSpPr/>
          <p:nvPr/>
        </p:nvSpPr>
        <p:spPr>
          <a:xfrm>
            <a:off x="2386584"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Avg rework avoided</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per review cycle</a:t>
            </a:r>
            <a:endParaRPr lang="en-US" sz="750" dirty="0"/>
          </a:p>
        </p:txBody>
      </p:sp>
      <p:sp>
        <p:nvSpPr>
          <p:cNvPr id="61" name="Shape 59"/>
          <p:cNvSpPr/>
          <p:nvPr/>
        </p:nvSpPr>
        <p:spPr>
          <a:xfrm>
            <a:off x="4544568"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62" name="Text 60"/>
          <p:cNvSpPr/>
          <p:nvPr/>
        </p:nvSpPr>
        <p:spPr>
          <a:xfrm>
            <a:off x="4544568"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100%</a:t>
            </a:r>
            <a:endParaRPr lang="en-US" sz="1700" dirty="0"/>
          </a:p>
        </p:txBody>
      </p:sp>
      <p:sp>
        <p:nvSpPr>
          <p:cNvPr id="63" name="Text 61"/>
          <p:cNvSpPr/>
          <p:nvPr/>
        </p:nvSpPr>
        <p:spPr>
          <a:xfrm>
            <a:off x="4544568"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Consistent checks</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every submission</a:t>
            </a:r>
            <a:endParaRPr lang="en-US" sz="750" dirty="0"/>
          </a:p>
        </p:txBody>
      </p:sp>
      <p:sp>
        <p:nvSpPr>
          <p:cNvPr id="64" name="Shape 62"/>
          <p:cNvSpPr/>
          <p:nvPr/>
        </p:nvSpPr>
        <p:spPr>
          <a:xfrm>
            <a:off x="6702552" y="4754880"/>
            <a:ext cx="2103120" cy="475488"/>
          </a:xfrm>
          <a:prstGeom prst="rect">
            <a:avLst/>
          </a:prstGeom>
          <a:solidFill>
            <a:srgbClr val="132030"/>
          </a:solidFill>
          <a:ln w="8890">
            <a:solidFill>
              <a:srgbClr val="00B4D8"/>
            </a:solidFill>
            <a:prstDash val="solid"/>
          </a:ln>
        </p:spPr>
        <p:txBody>
          <a:bodyPr/>
          <a:lstStyle/>
          <a:p>
            <a:endParaRPr lang="en-US"/>
          </a:p>
        </p:txBody>
      </p:sp>
      <p:sp>
        <p:nvSpPr>
          <p:cNvPr id="65" name="Text 63"/>
          <p:cNvSpPr/>
          <p:nvPr/>
        </p:nvSpPr>
        <p:spPr>
          <a:xfrm>
            <a:off x="6702552" y="4764024"/>
            <a:ext cx="2103120" cy="237744"/>
          </a:xfrm>
          <a:prstGeom prst="rect">
            <a:avLst/>
          </a:prstGeom>
          <a:noFill/>
          <a:ln/>
        </p:spPr>
        <p:txBody>
          <a:bodyPr wrap="square" rtlCol="0" anchor="ctr"/>
          <a:lstStyle/>
          <a:p>
            <a:pPr marL="0" indent="0" algn="ctr">
              <a:buNone/>
            </a:pPr>
            <a:r>
              <a:rPr lang="en-US" sz="1700" b="1" dirty="0">
                <a:solidFill>
                  <a:srgbClr val="00B4D8"/>
                </a:solidFill>
                <a:latin typeface="Calibri" pitchFamily="34" charset="0"/>
                <a:ea typeface="Calibri" pitchFamily="34" charset="-122"/>
                <a:cs typeface="Calibri" pitchFamily="34" charset="-120"/>
              </a:rPr>
              <a:t>↑ 3–5×</a:t>
            </a:r>
            <a:endParaRPr lang="en-US" sz="1700" dirty="0"/>
          </a:p>
        </p:txBody>
      </p:sp>
      <p:sp>
        <p:nvSpPr>
          <p:cNvPr id="66" name="Text 64"/>
          <p:cNvSpPr/>
          <p:nvPr/>
        </p:nvSpPr>
        <p:spPr>
          <a:xfrm>
            <a:off x="6702552" y="5001768"/>
            <a:ext cx="2103120" cy="201168"/>
          </a:xfrm>
          <a:prstGeom prst="rect">
            <a:avLst/>
          </a:prstGeom>
          <a:noFill/>
          <a:ln/>
        </p:spPr>
        <p:txBody>
          <a:bodyPr wrap="square" rtlCol="0" anchor="ctr"/>
          <a:lstStyle/>
          <a:p>
            <a:pPr marL="0" indent="0" algn="ctr">
              <a:buNone/>
            </a:pPr>
            <a:r>
              <a:rPr lang="en-US" sz="750" dirty="0">
                <a:solidFill>
                  <a:srgbClr val="8BAFC8"/>
                </a:solidFill>
                <a:latin typeface="Calibri" pitchFamily="34" charset="0"/>
                <a:ea typeface="Calibri" pitchFamily="34" charset="-122"/>
                <a:cs typeface="Calibri" pitchFamily="34" charset="-120"/>
              </a:rPr>
              <a:t>More designs</a:t>
            </a:r>
            <a:endParaRPr lang="en-US" sz="750" dirty="0"/>
          </a:p>
          <a:p>
            <a:pPr marL="0" indent="0" algn="ctr">
              <a:buNone/>
            </a:pPr>
            <a:r>
              <a:rPr lang="en-US" sz="750" dirty="0">
                <a:solidFill>
                  <a:srgbClr val="8BAFC8"/>
                </a:solidFill>
                <a:latin typeface="Calibri" pitchFamily="34" charset="0"/>
                <a:ea typeface="Calibri" pitchFamily="34" charset="-122"/>
                <a:cs typeface="Calibri" pitchFamily="34" charset="-120"/>
              </a:rPr>
              <a:t>reviewed per sprint</a:t>
            </a:r>
            <a:endParaRPr lang="en-US" sz="750" dirty="0"/>
          </a:p>
        </p:txBody>
      </p:sp>
      <p:sp>
        <p:nvSpPr>
          <p:cNvPr id="67" name="Text 65"/>
          <p:cNvSpPr/>
          <p:nvPr/>
        </p:nvSpPr>
        <p:spPr>
          <a:xfrm>
            <a:off x="228600" y="6629400"/>
            <a:ext cx="8595360" cy="182880"/>
          </a:xfrm>
          <a:prstGeom prst="rect">
            <a:avLst/>
          </a:prstGeom>
          <a:noFill/>
          <a:ln/>
        </p:spPr>
        <p:txBody>
          <a:bodyPr wrap="square" rtlCol="0" anchor="ctr"/>
          <a:lstStyle/>
          <a:p>
            <a:pPr marL="0" indent="0" algn="l">
              <a:buNone/>
            </a:pPr>
            <a:r>
              <a:rPr lang="en-US" sz="700" i="1" dirty="0">
                <a:solidFill>
                  <a:srgbClr val="4A6A85"/>
                </a:solidFill>
                <a:latin typeface="Calibri" pitchFamily="34" charset="0"/>
                <a:ea typeface="Calibri" pitchFamily="34" charset="-122"/>
                <a:cs typeface="Calibri" pitchFamily="34" charset="-120"/>
              </a:rPr>
              <a:t>* Architect rate: $150/hr blended delivery rate. ARBoard does not replace the ARB process or human architects — it accelerates preparation, surfaces risks earlier, and increases endorsement velocity.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3048920"/>
            <a:ext cx="1554480" cy="149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315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50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74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8 specialists in sequence → Phase 3: Judge + Scribe + Learner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457200"/>
          </a:xfrm>
          <a:prstGeom prst="rect">
            <a:avLst/>
          </a:prstGeom>
          <a:noFill/>
          <a:ln/>
        </p:spPr>
        <p:txBody>
          <a:bodyPr wrap="square" lIns="0" tIns="0" rIns="0" bIns="0" rtlCol="0" anchor="ctr"/>
          <a:lstStyle/>
          <a:p>
            <a:pPr marL="0" indent="0" algn="l">
              <a:buNone/>
            </a:pPr>
            <a:r>
              <a:rPr lang="en-US" sz="2600" b="1" dirty="0">
                <a:solidFill>
                  <a:srgbClr val="0F172A"/>
                </a:solidFill>
                <a:latin typeface="Arial" pitchFamily="34" charset="0"/>
              </a:rPr>
              <a:t>What the ARB Reviews</a:t>
            </a:r>
            <a:endParaRPr lang="en-US" sz="2600" dirty="0"/>
          </a:p>
        </p:txBody>
      </p:sp>
      <p:sp>
        <p:nvSpPr>
          <p:cNvPr id="3" name="Text 1"/>
          <p:cNvSpPr/>
          <p:nvPr/>
        </p:nvSpPr>
        <p:spPr>
          <a:xfrm>
            <a:off x="457200" y="621792"/>
            <a:ext cx="8229600" cy="256032"/>
          </a:xfrm>
          <a:prstGeom prst="rect">
            <a:avLst/>
          </a:prstGeom>
          <a:noFill/>
          <a:ln/>
        </p:spPr>
        <p:txBody>
          <a:bodyPr wrap="square" lIns="0" tIns="0" rIns="0" bIns="0" rtlCol="0" anchor="ctr"/>
          <a:lstStyle/>
          <a:p>
            <a:pPr marL="0" indent="0" algn="l">
              <a:buNone/>
            </a:pPr>
            <a:r>
              <a:rPr lang="en-US" sz="1200" i="1" dirty="0">
                <a:solidFill>
                  <a:srgbClr val="7EB8D4"/>
                </a:solidFill>
                <a:latin typeface="Calibri" pitchFamily="34" charset="0"/>
                <a:ea typeface="Calibri" pitchFamily="34" charset="-122"/>
                <a:cs typeface="Calibri" pitchFamily="34" charset="-120"/>
              </a:rPr>
              <a:t>Coverage across 8 specialist agents — what gets reviewed, what gets flagged</a:t>
            </a:r>
            <a:endParaRPr lang="en-US" sz="1200" dirty="0"/>
          </a:p>
        </p:txBody>
      </p:sp>
      <p:sp>
        <p:nvSpPr>
          <p:cNvPr id="4" name="Shape 2"/>
          <p:cNvSpPr/>
          <p:nvPr/>
        </p:nvSpPr>
        <p:spPr>
          <a:xfrm>
            <a:off x="228600" y="960120"/>
            <a:ext cx="1280160" cy="443484"/>
          </a:xfrm>
          <a:prstGeom prst="rect">
            <a:avLst/>
          </a:prstGeom>
          <a:solidFill>
            <a:srgbClr val="1A3A5C"/>
          </a:solidFill>
          <a:ln w="6350">
            <a:solidFill>
              <a:srgbClr val="1E3A55"/>
            </a:solidFill>
            <a:prstDash val="solid"/>
          </a:ln>
        </p:spPr>
        <p:txBody>
          <a:bodyPr/>
          <a:lstStyle/>
          <a:p>
            <a:endParaRPr lang="en-US"/>
          </a:p>
        </p:txBody>
      </p:sp>
      <p:sp>
        <p:nvSpPr>
          <p:cNvPr id="5" name="Text 3"/>
          <p:cNvSpPr/>
          <p:nvPr/>
        </p:nvSpPr>
        <p:spPr>
          <a:xfrm>
            <a:off x="228600" y="960120"/>
            <a:ext cx="128016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Agent</a:t>
            </a:r>
            <a:endParaRPr lang="en-US" sz="1100" dirty="0"/>
          </a:p>
        </p:txBody>
      </p:sp>
      <p:sp>
        <p:nvSpPr>
          <p:cNvPr id="6" name="Shape 4"/>
          <p:cNvSpPr/>
          <p:nvPr/>
        </p:nvSpPr>
        <p:spPr>
          <a:xfrm>
            <a:off x="1508760" y="960120"/>
            <a:ext cx="4297680" cy="443484"/>
          </a:xfrm>
          <a:prstGeom prst="rect">
            <a:avLst/>
          </a:prstGeom>
          <a:solidFill>
            <a:srgbClr val="1A3A5C"/>
          </a:solidFill>
          <a:ln w="6350">
            <a:solidFill>
              <a:srgbClr val="1E3A55"/>
            </a:solidFill>
            <a:prstDash val="solid"/>
          </a:ln>
        </p:spPr>
        <p:txBody>
          <a:bodyPr/>
          <a:lstStyle/>
          <a:p>
            <a:endParaRPr lang="en-US"/>
          </a:p>
        </p:txBody>
      </p:sp>
      <p:sp>
        <p:nvSpPr>
          <p:cNvPr id="7" name="Text 5"/>
          <p:cNvSpPr/>
          <p:nvPr/>
        </p:nvSpPr>
        <p:spPr>
          <a:xfrm>
            <a:off x="1508760" y="960120"/>
            <a:ext cx="429768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What It Validates</a:t>
            </a:r>
            <a:endParaRPr lang="en-US" sz="1100" dirty="0"/>
          </a:p>
        </p:txBody>
      </p:sp>
      <p:sp>
        <p:nvSpPr>
          <p:cNvPr id="8" name="Shape 6"/>
          <p:cNvSpPr/>
          <p:nvPr/>
        </p:nvSpPr>
        <p:spPr>
          <a:xfrm>
            <a:off x="5806440" y="960120"/>
            <a:ext cx="3108960" cy="443484"/>
          </a:xfrm>
          <a:prstGeom prst="rect">
            <a:avLst/>
          </a:prstGeom>
          <a:solidFill>
            <a:srgbClr val="1A3A5C"/>
          </a:solidFill>
          <a:ln w="6350">
            <a:solidFill>
              <a:srgbClr val="1E3A55"/>
            </a:solidFill>
            <a:prstDash val="solid"/>
          </a:ln>
        </p:spPr>
        <p:txBody>
          <a:bodyPr/>
          <a:lstStyle/>
          <a:p>
            <a:endParaRPr lang="en-US"/>
          </a:p>
        </p:txBody>
      </p:sp>
      <p:sp>
        <p:nvSpPr>
          <p:cNvPr id="9" name="Text 7"/>
          <p:cNvSpPr/>
          <p:nvPr/>
        </p:nvSpPr>
        <p:spPr>
          <a:xfrm>
            <a:off x="5806440" y="960120"/>
            <a:ext cx="3108960" cy="443484"/>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Must-Fix Triggers</a:t>
            </a:r>
            <a:endParaRPr lang="en-US" sz="1100" dirty="0"/>
          </a:p>
        </p:txBody>
      </p:sp>
      <p:sp>
        <p:nvSpPr>
          <p:cNvPr id="10" name="Shape 8"/>
          <p:cNvSpPr/>
          <p:nvPr/>
        </p:nvSpPr>
        <p:spPr>
          <a:xfrm>
            <a:off x="228600" y="1403604"/>
            <a:ext cx="1280160" cy="443484"/>
          </a:xfrm>
          <a:prstGeom prst="rect">
            <a:avLst/>
          </a:prstGeom>
          <a:solidFill>
            <a:srgbClr val="0F1B2D"/>
          </a:solidFill>
          <a:ln w="6350">
            <a:solidFill>
              <a:srgbClr val="1E3A55"/>
            </a:solidFill>
            <a:prstDash val="solid"/>
          </a:ln>
        </p:spPr>
        <p:txBody>
          <a:bodyPr/>
          <a:lstStyle/>
          <a:p>
            <a:endParaRPr lang="en-US"/>
          </a:p>
        </p:txBody>
      </p:sp>
      <p:sp>
        <p:nvSpPr>
          <p:cNvPr id="11" name="Text 9"/>
          <p:cNvSpPr/>
          <p:nvPr/>
        </p:nvSpPr>
        <p:spPr>
          <a:xfrm>
            <a:off x="228600" y="1403604"/>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Designer</a:t>
            </a:r>
            <a:endParaRPr lang="en-US" sz="1100" dirty="0"/>
          </a:p>
        </p:txBody>
      </p:sp>
      <p:sp>
        <p:nvSpPr>
          <p:cNvPr id="12" name="Shape 10"/>
          <p:cNvSpPr/>
          <p:nvPr/>
        </p:nvSpPr>
        <p:spPr>
          <a:xfrm>
            <a:off x="1508760" y="1403604"/>
            <a:ext cx="4297680" cy="443484"/>
          </a:xfrm>
          <a:prstGeom prst="rect">
            <a:avLst/>
          </a:prstGeom>
          <a:solidFill>
            <a:srgbClr val="0F1B2D"/>
          </a:solidFill>
          <a:ln w="6350">
            <a:solidFill>
              <a:srgbClr val="1E3A55"/>
            </a:solidFill>
            <a:prstDash val="solid"/>
          </a:ln>
        </p:spPr>
        <p:txBody>
          <a:bodyPr/>
          <a:lstStyle/>
          <a:p>
            <a:endParaRPr lang="en-US"/>
          </a:p>
        </p:txBody>
      </p:sp>
      <p:sp>
        <p:nvSpPr>
          <p:cNvPr id="13" name="Text 11"/>
          <p:cNvSpPr/>
          <p:nvPr/>
        </p:nvSpPr>
        <p:spPr>
          <a:xfrm>
            <a:off x="1508760" y="1403604"/>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Cloud &amp; license selection · Data model · Security model (OWD → roles → perms) · UX architecture · Automation decision tree · Integration approach · Deployment strategy · Governor limits at volume</a:t>
            </a:r>
            <a:endParaRPr lang="en-US" sz="850" dirty="0"/>
          </a:p>
        </p:txBody>
      </p:sp>
      <p:sp>
        <p:nvSpPr>
          <p:cNvPr id="14" name="Shape 12"/>
          <p:cNvSpPr/>
          <p:nvPr/>
        </p:nvSpPr>
        <p:spPr>
          <a:xfrm>
            <a:off x="5806440" y="1403604"/>
            <a:ext cx="3108960" cy="443484"/>
          </a:xfrm>
          <a:prstGeom prst="rect">
            <a:avLst/>
          </a:prstGeom>
          <a:solidFill>
            <a:srgbClr val="0F1B2D"/>
          </a:solidFill>
          <a:ln w="6350">
            <a:solidFill>
              <a:srgbClr val="1E3A55"/>
            </a:solidFill>
            <a:prstDash val="solid"/>
          </a:ln>
        </p:spPr>
        <p:txBody>
          <a:bodyPr/>
          <a:lstStyle/>
          <a:p>
            <a:endParaRPr lang="en-US"/>
          </a:p>
        </p:txBody>
      </p:sp>
      <p:sp>
        <p:nvSpPr>
          <p:cNvPr id="15" name="Text 13"/>
          <p:cNvSpPr/>
          <p:nvPr/>
        </p:nvSpPr>
        <p:spPr>
          <a:xfrm>
            <a:off x="5806440" y="1403604"/>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Missing security model · Custom objects where standard suffice · Change sets for deployment · Hard-coded IDs or credentials</a:t>
            </a:r>
            <a:endParaRPr lang="en-US" sz="850" dirty="0"/>
          </a:p>
        </p:txBody>
      </p:sp>
      <p:sp>
        <p:nvSpPr>
          <p:cNvPr id="16" name="Shape 14"/>
          <p:cNvSpPr/>
          <p:nvPr/>
        </p:nvSpPr>
        <p:spPr>
          <a:xfrm>
            <a:off x="228600" y="1847088"/>
            <a:ext cx="1280160" cy="443484"/>
          </a:xfrm>
          <a:prstGeom prst="rect">
            <a:avLst/>
          </a:prstGeom>
          <a:solidFill>
            <a:srgbClr val="162435"/>
          </a:solidFill>
          <a:ln w="6350">
            <a:solidFill>
              <a:srgbClr val="1E3A55"/>
            </a:solidFill>
            <a:prstDash val="solid"/>
          </a:ln>
        </p:spPr>
        <p:txBody>
          <a:bodyPr/>
          <a:lstStyle/>
          <a:p>
            <a:endParaRPr lang="en-US"/>
          </a:p>
        </p:txBody>
      </p:sp>
      <p:sp>
        <p:nvSpPr>
          <p:cNvPr id="17" name="Text 15"/>
          <p:cNvSpPr/>
          <p:nvPr/>
        </p:nvSpPr>
        <p:spPr>
          <a:xfrm>
            <a:off x="228600" y="1847088"/>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LWC</a:t>
            </a:r>
            <a:endParaRPr lang="en-US" sz="1100" dirty="0"/>
          </a:p>
        </p:txBody>
      </p:sp>
      <p:sp>
        <p:nvSpPr>
          <p:cNvPr id="18" name="Shape 16"/>
          <p:cNvSpPr/>
          <p:nvPr/>
        </p:nvSpPr>
        <p:spPr>
          <a:xfrm>
            <a:off x="1508760" y="1847088"/>
            <a:ext cx="4297680" cy="443484"/>
          </a:xfrm>
          <a:prstGeom prst="rect">
            <a:avLst/>
          </a:prstGeom>
          <a:solidFill>
            <a:srgbClr val="162435"/>
          </a:solidFill>
          <a:ln w="6350">
            <a:solidFill>
              <a:srgbClr val="1E3A55"/>
            </a:solidFill>
            <a:prstDash val="solid"/>
          </a:ln>
        </p:spPr>
        <p:txBody>
          <a:bodyPr/>
          <a:lstStyle/>
          <a:p>
            <a:endParaRPr lang="en-US"/>
          </a:p>
        </p:txBody>
      </p:sp>
      <p:sp>
        <p:nvSpPr>
          <p:cNvPr id="19" name="Text 17"/>
          <p:cNvSpPr/>
          <p:nvPr/>
        </p:nvSpPr>
        <p:spPr>
          <a:xfrm>
            <a:off x="1508760" y="1847088"/>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Component decomposition · @wire vs imperative data strategy · Custom events vs LMS scope · State management · SLDS compliance · Performance (lazy load, re-render) · Accessibility · OmniScript vs LWC decision</a:t>
            </a:r>
            <a:endParaRPr lang="en-US" sz="850" dirty="0"/>
          </a:p>
        </p:txBody>
      </p:sp>
      <p:sp>
        <p:nvSpPr>
          <p:cNvPr id="20" name="Shape 18"/>
          <p:cNvSpPr/>
          <p:nvPr/>
        </p:nvSpPr>
        <p:spPr>
          <a:xfrm>
            <a:off x="5806440" y="1847088"/>
            <a:ext cx="3108960" cy="443484"/>
          </a:xfrm>
          <a:prstGeom prst="rect">
            <a:avLst/>
          </a:prstGeom>
          <a:solidFill>
            <a:srgbClr val="162435"/>
          </a:solidFill>
          <a:ln w="6350">
            <a:solidFill>
              <a:srgbClr val="1E3A55"/>
            </a:solidFill>
            <a:prstDash val="solid"/>
          </a:ln>
        </p:spPr>
        <p:txBody>
          <a:bodyPr/>
          <a:lstStyle/>
          <a:p>
            <a:endParaRPr lang="en-US"/>
          </a:p>
        </p:txBody>
      </p:sp>
      <p:sp>
        <p:nvSpPr>
          <p:cNvPr id="21" name="Text 19"/>
          <p:cNvSpPr/>
          <p:nvPr/>
        </p:nvSpPr>
        <p:spPr>
          <a:xfrm>
            <a:off x="5806440" y="1847088"/>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Business logic in UI layer · jQuery or Aura in new builds · Inline styles · Hard-coded IDs</a:t>
            </a:r>
            <a:endParaRPr lang="en-US" sz="850" dirty="0"/>
          </a:p>
        </p:txBody>
      </p:sp>
      <p:sp>
        <p:nvSpPr>
          <p:cNvPr id="22" name="Shape 20"/>
          <p:cNvSpPr/>
          <p:nvPr/>
        </p:nvSpPr>
        <p:spPr>
          <a:xfrm>
            <a:off x="228600" y="2290572"/>
            <a:ext cx="1280160" cy="443484"/>
          </a:xfrm>
          <a:prstGeom prst="rect">
            <a:avLst/>
          </a:prstGeom>
          <a:solidFill>
            <a:srgbClr val="0F1B2D"/>
          </a:solidFill>
          <a:ln w="6350">
            <a:solidFill>
              <a:srgbClr val="1E3A55"/>
            </a:solidFill>
            <a:prstDash val="solid"/>
          </a:ln>
        </p:spPr>
        <p:txBody>
          <a:bodyPr/>
          <a:lstStyle/>
          <a:p>
            <a:endParaRPr lang="en-US"/>
          </a:p>
        </p:txBody>
      </p:sp>
      <p:sp>
        <p:nvSpPr>
          <p:cNvPr id="23" name="Text 21"/>
          <p:cNvSpPr/>
          <p:nvPr/>
        </p:nvSpPr>
        <p:spPr>
          <a:xfrm>
            <a:off x="228600" y="2290572"/>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Flow</a:t>
            </a:r>
            <a:endParaRPr lang="en-US" sz="1100" dirty="0"/>
          </a:p>
        </p:txBody>
      </p:sp>
      <p:sp>
        <p:nvSpPr>
          <p:cNvPr id="24" name="Shape 22"/>
          <p:cNvSpPr/>
          <p:nvPr/>
        </p:nvSpPr>
        <p:spPr>
          <a:xfrm>
            <a:off x="1508760" y="2290572"/>
            <a:ext cx="4297680" cy="443484"/>
          </a:xfrm>
          <a:prstGeom prst="rect">
            <a:avLst/>
          </a:prstGeom>
          <a:solidFill>
            <a:srgbClr val="0F1B2D"/>
          </a:solidFill>
          <a:ln w="6350">
            <a:solidFill>
              <a:srgbClr val="1E3A55"/>
            </a:solidFill>
            <a:prstDash val="solid"/>
          </a:ln>
        </p:spPr>
        <p:txBody>
          <a:bodyPr/>
          <a:lstStyle/>
          <a:p>
            <a:endParaRPr lang="en-US"/>
          </a:p>
        </p:txBody>
      </p:sp>
      <p:sp>
        <p:nvSpPr>
          <p:cNvPr id="25" name="Text 23"/>
          <p:cNvSpPr/>
          <p:nvPr/>
        </p:nvSpPr>
        <p:spPr>
          <a:xfrm>
            <a:off x="1508760" y="2290572"/>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Flow type selection · Before-save vs after-save · Subflow patterns · Bulk handling (200-record) · Error handling &amp; rollback · Governor limits (CPU/DML) · External callout boundaries · Migration from Process Builder</a:t>
            </a:r>
            <a:endParaRPr lang="en-US" sz="850" dirty="0"/>
          </a:p>
        </p:txBody>
      </p:sp>
      <p:sp>
        <p:nvSpPr>
          <p:cNvPr id="26" name="Shape 24"/>
          <p:cNvSpPr/>
          <p:nvPr/>
        </p:nvSpPr>
        <p:spPr>
          <a:xfrm>
            <a:off x="5806440" y="2290572"/>
            <a:ext cx="3108960" cy="443484"/>
          </a:xfrm>
          <a:prstGeom prst="rect">
            <a:avLst/>
          </a:prstGeom>
          <a:solidFill>
            <a:srgbClr val="0F1B2D"/>
          </a:solidFill>
          <a:ln w="6350">
            <a:solidFill>
              <a:srgbClr val="1E3A55"/>
            </a:solidFill>
            <a:prstDash val="solid"/>
          </a:ln>
        </p:spPr>
        <p:txBody>
          <a:bodyPr/>
          <a:lstStyle/>
          <a:p>
            <a:endParaRPr lang="en-US"/>
          </a:p>
        </p:txBody>
      </p:sp>
      <p:sp>
        <p:nvSpPr>
          <p:cNvPr id="27" name="Text 25"/>
          <p:cNvSpPr/>
          <p:nvPr/>
        </p:nvSpPr>
        <p:spPr>
          <a:xfrm>
            <a:off x="5806440" y="2290572"/>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DML in before-save · No bulk handling · Callouts in Flow without async pattern · Recursive triggers without safeguards</a:t>
            </a:r>
            <a:endParaRPr lang="en-US" sz="850" dirty="0"/>
          </a:p>
        </p:txBody>
      </p:sp>
      <p:sp>
        <p:nvSpPr>
          <p:cNvPr id="28" name="Shape 26"/>
          <p:cNvSpPr/>
          <p:nvPr/>
        </p:nvSpPr>
        <p:spPr>
          <a:xfrm>
            <a:off x="228600" y="2734056"/>
            <a:ext cx="1280160" cy="443484"/>
          </a:xfrm>
          <a:prstGeom prst="rect">
            <a:avLst/>
          </a:prstGeom>
          <a:solidFill>
            <a:srgbClr val="162435"/>
          </a:solidFill>
          <a:ln w="6350">
            <a:solidFill>
              <a:srgbClr val="1E3A55"/>
            </a:solidFill>
            <a:prstDash val="solid"/>
          </a:ln>
        </p:spPr>
        <p:txBody>
          <a:bodyPr/>
          <a:lstStyle/>
          <a:p>
            <a:endParaRPr lang="en-US"/>
          </a:p>
        </p:txBody>
      </p:sp>
      <p:sp>
        <p:nvSpPr>
          <p:cNvPr id="29" name="Text 27"/>
          <p:cNvSpPr/>
          <p:nvPr/>
        </p:nvSpPr>
        <p:spPr>
          <a:xfrm>
            <a:off x="228600" y="2734056"/>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Apex</a:t>
            </a:r>
            <a:endParaRPr lang="en-US" sz="1100" dirty="0"/>
          </a:p>
        </p:txBody>
      </p:sp>
      <p:sp>
        <p:nvSpPr>
          <p:cNvPr id="30" name="Shape 28"/>
          <p:cNvSpPr/>
          <p:nvPr/>
        </p:nvSpPr>
        <p:spPr>
          <a:xfrm>
            <a:off x="1508760" y="2734056"/>
            <a:ext cx="4297680" cy="443484"/>
          </a:xfrm>
          <a:prstGeom prst="rect">
            <a:avLst/>
          </a:prstGeom>
          <a:solidFill>
            <a:srgbClr val="162435"/>
          </a:solidFill>
          <a:ln w="6350">
            <a:solidFill>
              <a:srgbClr val="1E3A55"/>
            </a:solidFill>
            <a:prstDash val="solid"/>
          </a:ln>
        </p:spPr>
        <p:txBody>
          <a:bodyPr/>
          <a:lstStyle/>
          <a:p>
            <a:endParaRPr lang="en-US"/>
          </a:p>
        </p:txBody>
      </p:sp>
      <p:sp>
        <p:nvSpPr>
          <p:cNvPr id="31" name="Text 29"/>
          <p:cNvSpPr/>
          <p:nvPr/>
        </p:nvSpPr>
        <p:spPr>
          <a:xfrm>
            <a:off x="1508760" y="2734056"/>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Trigger handler framework · Bulkification (SOQL/DML outside loops) · Async mechanism choice (Batch/Queueable/Scheduled) · CRUD/FLS/sharing declarations · Error handling strategy · Test class design &amp; meaningful assertions</a:t>
            </a:r>
            <a:endParaRPr lang="en-US" sz="850" dirty="0"/>
          </a:p>
        </p:txBody>
      </p:sp>
      <p:sp>
        <p:nvSpPr>
          <p:cNvPr id="32" name="Shape 30"/>
          <p:cNvSpPr/>
          <p:nvPr/>
        </p:nvSpPr>
        <p:spPr>
          <a:xfrm>
            <a:off x="5806440" y="2734056"/>
            <a:ext cx="3108960" cy="443484"/>
          </a:xfrm>
          <a:prstGeom prst="rect">
            <a:avLst/>
          </a:prstGeom>
          <a:solidFill>
            <a:srgbClr val="162435"/>
          </a:solidFill>
          <a:ln w="6350">
            <a:solidFill>
              <a:srgbClr val="1E3A55"/>
            </a:solidFill>
            <a:prstDash val="solid"/>
          </a:ln>
        </p:spPr>
        <p:txBody>
          <a:bodyPr/>
          <a:lstStyle/>
          <a:p>
            <a:endParaRPr lang="en-US"/>
          </a:p>
        </p:txBody>
      </p:sp>
      <p:sp>
        <p:nvSpPr>
          <p:cNvPr id="33" name="Text 31"/>
          <p:cNvSpPr/>
          <p:nvPr/>
        </p:nvSpPr>
        <p:spPr>
          <a:xfrm>
            <a:off x="5806440" y="2734056"/>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SOQL/DML in loops · Logic in trigger body · Future→Future chains · Missing sharing declaration · Coverage-only tests</a:t>
            </a:r>
            <a:endParaRPr lang="en-US" sz="850" dirty="0"/>
          </a:p>
        </p:txBody>
      </p:sp>
      <p:sp>
        <p:nvSpPr>
          <p:cNvPr id="34" name="Shape 32"/>
          <p:cNvSpPr/>
          <p:nvPr/>
        </p:nvSpPr>
        <p:spPr>
          <a:xfrm>
            <a:off x="228600" y="3177540"/>
            <a:ext cx="1280160" cy="443484"/>
          </a:xfrm>
          <a:prstGeom prst="rect">
            <a:avLst/>
          </a:prstGeom>
          <a:solidFill>
            <a:srgbClr val="0F1B2D"/>
          </a:solidFill>
          <a:ln w="6350">
            <a:solidFill>
              <a:srgbClr val="1E3A55"/>
            </a:solidFill>
            <a:prstDash val="solid"/>
          </a:ln>
        </p:spPr>
        <p:txBody>
          <a:bodyPr/>
          <a:lstStyle/>
          <a:p>
            <a:endParaRPr lang="en-US"/>
          </a:p>
        </p:txBody>
      </p:sp>
      <p:sp>
        <p:nvSpPr>
          <p:cNvPr id="35" name="Text 33"/>
          <p:cNvSpPr/>
          <p:nvPr/>
        </p:nvSpPr>
        <p:spPr>
          <a:xfrm>
            <a:off x="228600" y="3177540"/>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Integration</a:t>
            </a:r>
            <a:endParaRPr lang="en-US" sz="1100" dirty="0"/>
          </a:p>
        </p:txBody>
      </p:sp>
      <p:sp>
        <p:nvSpPr>
          <p:cNvPr id="36" name="Shape 34"/>
          <p:cNvSpPr/>
          <p:nvPr/>
        </p:nvSpPr>
        <p:spPr>
          <a:xfrm>
            <a:off x="1508760" y="3177540"/>
            <a:ext cx="4297680" cy="443484"/>
          </a:xfrm>
          <a:prstGeom prst="rect">
            <a:avLst/>
          </a:prstGeom>
          <a:solidFill>
            <a:srgbClr val="0F1B2D"/>
          </a:solidFill>
          <a:ln w="6350">
            <a:solidFill>
              <a:srgbClr val="1E3A55"/>
            </a:solidFill>
            <a:prstDash val="solid"/>
          </a:ln>
        </p:spPr>
        <p:txBody>
          <a:bodyPr/>
          <a:lstStyle/>
          <a:p>
            <a:endParaRPr lang="en-US"/>
          </a:p>
        </p:txBody>
      </p:sp>
      <p:sp>
        <p:nvSpPr>
          <p:cNvPr id="37" name="Text 35"/>
          <p:cNvSpPr/>
          <p:nvPr/>
        </p:nvSpPr>
        <p:spPr>
          <a:xfrm>
            <a:off x="1508760" y="3177540"/>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Pattern selection (REST/Events/CDC/Bulk) · OAuth 2.0 flow appropriateness · Named Credentials usage · mTLS requirement · Idempotency strategy · Retry/dead-letter design · Correlation ID &amp; observability · Governor limit headroom</a:t>
            </a:r>
            <a:endParaRPr lang="en-US" sz="850" dirty="0"/>
          </a:p>
        </p:txBody>
      </p:sp>
      <p:sp>
        <p:nvSpPr>
          <p:cNvPr id="38" name="Shape 36"/>
          <p:cNvSpPr/>
          <p:nvPr/>
        </p:nvSpPr>
        <p:spPr>
          <a:xfrm>
            <a:off x="5806440" y="3177540"/>
            <a:ext cx="3108960" cy="443484"/>
          </a:xfrm>
          <a:prstGeom prst="rect">
            <a:avLst/>
          </a:prstGeom>
          <a:solidFill>
            <a:srgbClr val="0F1B2D"/>
          </a:solidFill>
          <a:ln w="6350">
            <a:solidFill>
              <a:srgbClr val="1E3A55"/>
            </a:solidFill>
            <a:prstDash val="solid"/>
          </a:ln>
        </p:spPr>
        <p:txBody>
          <a:bodyPr/>
          <a:lstStyle/>
          <a:p>
            <a:endParaRPr lang="en-US"/>
          </a:p>
        </p:txBody>
      </p:sp>
      <p:sp>
        <p:nvSpPr>
          <p:cNvPr id="39" name="Text 37"/>
          <p:cNvSpPr/>
          <p:nvPr/>
        </p:nvSpPr>
        <p:spPr>
          <a:xfrm>
            <a:off x="5806440" y="3177540"/>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Hard-coded endpoints or tokens · Sync callouts in triggers on high-volume objects · No retry or dead-letter strategy · OAuth secrets in Custom Metadata</a:t>
            </a:r>
            <a:endParaRPr lang="en-US" sz="850" dirty="0"/>
          </a:p>
        </p:txBody>
      </p:sp>
      <p:sp>
        <p:nvSpPr>
          <p:cNvPr id="40" name="Shape 38"/>
          <p:cNvSpPr/>
          <p:nvPr/>
        </p:nvSpPr>
        <p:spPr>
          <a:xfrm>
            <a:off x="228600" y="3621024"/>
            <a:ext cx="1280160" cy="443484"/>
          </a:xfrm>
          <a:prstGeom prst="rect">
            <a:avLst/>
          </a:prstGeom>
          <a:solidFill>
            <a:srgbClr val="162435"/>
          </a:solidFill>
          <a:ln w="6350">
            <a:solidFill>
              <a:srgbClr val="1E3A55"/>
            </a:solidFill>
            <a:prstDash val="solid"/>
          </a:ln>
        </p:spPr>
        <p:txBody>
          <a:bodyPr/>
          <a:lstStyle/>
          <a:p>
            <a:endParaRPr lang="en-US"/>
          </a:p>
        </p:txBody>
      </p:sp>
      <p:sp>
        <p:nvSpPr>
          <p:cNvPr id="41" name="Text 39"/>
          <p:cNvSpPr/>
          <p:nvPr/>
        </p:nvSpPr>
        <p:spPr>
          <a:xfrm>
            <a:off x="228600" y="3621024"/>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Patterns</a:t>
            </a:r>
            <a:endParaRPr lang="en-US" sz="1100" dirty="0"/>
          </a:p>
        </p:txBody>
      </p:sp>
      <p:sp>
        <p:nvSpPr>
          <p:cNvPr id="42" name="Shape 40"/>
          <p:cNvSpPr/>
          <p:nvPr/>
        </p:nvSpPr>
        <p:spPr>
          <a:xfrm>
            <a:off x="1508760" y="3621024"/>
            <a:ext cx="4297680" cy="443484"/>
          </a:xfrm>
          <a:prstGeom prst="rect">
            <a:avLst/>
          </a:prstGeom>
          <a:solidFill>
            <a:srgbClr val="162435"/>
          </a:solidFill>
          <a:ln w="6350">
            <a:solidFill>
              <a:srgbClr val="1E3A55"/>
            </a:solidFill>
            <a:prstDash val="solid"/>
          </a:ln>
        </p:spPr>
        <p:txBody>
          <a:bodyPr/>
          <a:lstStyle/>
          <a:p>
            <a:endParaRPr lang="en-US"/>
          </a:p>
        </p:txBody>
      </p:sp>
      <p:sp>
        <p:nvSpPr>
          <p:cNvPr id="43" name="Text 41"/>
          <p:cNvSpPr/>
          <p:nvPr/>
        </p:nvSpPr>
        <p:spPr>
          <a:xfrm>
            <a:off x="1508760" y="3621024"/>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Well-Architected Framework alignment (Trusted/Easy/Adaptable) · Data modeling patterns · LDV &amp; scalability · Security patterns (ABAC, masking) · UI patterns · Over-engineering check · Native vs custom decision</a:t>
            </a:r>
            <a:endParaRPr lang="en-US" sz="850" dirty="0"/>
          </a:p>
        </p:txBody>
      </p:sp>
      <p:sp>
        <p:nvSpPr>
          <p:cNvPr id="44" name="Shape 42"/>
          <p:cNvSpPr/>
          <p:nvPr/>
        </p:nvSpPr>
        <p:spPr>
          <a:xfrm>
            <a:off x="5806440" y="3621024"/>
            <a:ext cx="3108960" cy="443484"/>
          </a:xfrm>
          <a:prstGeom prst="rect">
            <a:avLst/>
          </a:prstGeom>
          <a:solidFill>
            <a:srgbClr val="162435"/>
          </a:solidFill>
          <a:ln w="6350">
            <a:solidFill>
              <a:srgbClr val="1E3A55"/>
            </a:solidFill>
            <a:prstDash val="solid"/>
          </a:ln>
        </p:spPr>
        <p:txBody>
          <a:bodyPr/>
          <a:lstStyle/>
          <a:p>
            <a:endParaRPr lang="en-US"/>
          </a:p>
        </p:txBody>
      </p:sp>
      <p:sp>
        <p:nvSpPr>
          <p:cNvPr id="45" name="Text 43"/>
          <p:cNvSpPr/>
          <p:nvPr/>
        </p:nvSpPr>
        <p:spPr>
          <a:xfrm>
            <a:off x="5806440" y="3621024"/>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Violations of multi-tenancy principles · Custom rebuild of native platform features · LDV patterns ignored at scale</a:t>
            </a:r>
            <a:endParaRPr lang="en-US" sz="850" dirty="0"/>
          </a:p>
        </p:txBody>
      </p:sp>
      <p:sp>
        <p:nvSpPr>
          <p:cNvPr id="46" name="Shape 44"/>
          <p:cNvSpPr/>
          <p:nvPr/>
        </p:nvSpPr>
        <p:spPr>
          <a:xfrm>
            <a:off x="228600" y="4064508"/>
            <a:ext cx="1280160" cy="443484"/>
          </a:xfrm>
          <a:prstGeom prst="rect">
            <a:avLst/>
          </a:prstGeom>
          <a:solidFill>
            <a:srgbClr val="0F1B2D"/>
          </a:solidFill>
          <a:ln w="6350">
            <a:solidFill>
              <a:srgbClr val="1E3A55"/>
            </a:solidFill>
            <a:prstDash val="solid"/>
          </a:ln>
        </p:spPr>
        <p:txBody>
          <a:bodyPr/>
          <a:lstStyle/>
          <a:p>
            <a:endParaRPr lang="en-US"/>
          </a:p>
        </p:txBody>
      </p:sp>
      <p:sp>
        <p:nvSpPr>
          <p:cNvPr id="47" name="Text 45"/>
          <p:cNvSpPr/>
          <p:nvPr/>
        </p:nvSpPr>
        <p:spPr>
          <a:xfrm>
            <a:off x="228600" y="4064508"/>
            <a:ext cx="1280160" cy="4434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Judge</a:t>
            </a:r>
            <a:endParaRPr lang="en-US" sz="1100" dirty="0"/>
          </a:p>
        </p:txBody>
      </p:sp>
      <p:sp>
        <p:nvSpPr>
          <p:cNvPr id="48" name="Shape 46"/>
          <p:cNvSpPr/>
          <p:nvPr/>
        </p:nvSpPr>
        <p:spPr>
          <a:xfrm>
            <a:off x="1508760" y="4064508"/>
            <a:ext cx="4297680" cy="443484"/>
          </a:xfrm>
          <a:prstGeom prst="rect">
            <a:avLst/>
          </a:prstGeom>
          <a:solidFill>
            <a:srgbClr val="0F1B2D"/>
          </a:solidFill>
          <a:ln w="6350">
            <a:solidFill>
              <a:srgbClr val="1E3A55"/>
            </a:solidFill>
            <a:prstDash val="solid"/>
          </a:ln>
        </p:spPr>
        <p:txBody>
          <a:bodyPr/>
          <a:lstStyle/>
          <a:p>
            <a:endParaRPr lang="en-US"/>
          </a:p>
        </p:txBody>
      </p:sp>
      <p:sp>
        <p:nvSpPr>
          <p:cNvPr id="49" name="Text 47"/>
          <p:cNvSpPr/>
          <p:nvPr/>
        </p:nvSpPr>
        <p:spPr>
          <a:xfrm>
            <a:off x="1508760" y="4064508"/>
            <a:ext cx="4297680" cy="443484"/>
          </a:xfrm>
          <a:prstGeom prst="rect">
            <a:avLst/>
          </a:prstGeom>
          <a:noFill/>
          <a:ln/>
        </p:spPr>
        <p:txBody>
          <a:bodyPr wrap="square" lIns="50800" tIns="50800" rIns="50800" bIns="50800" rtlCol="0" anchor="ctr"/>
          <a:lstStyle/>
          <a:p>
            <a:pPr marL="0" indent="0" algn="l">
              <a:buNone/>
            </a:pPr>
            <a:r>
              <a:rPr lang="en-US" sz="850" dirty="0">
                <a:solidFill>
                  <a:srgbClr val="8BAFC8"/>
                </a:solidFill>
                <a:latin typeface="Calibri" pitchFamily="34" charset="0"/>
                <a:ea typeface="Calibri" pitchFamily="34" charset="-122"/>
                <a:cs typeface="Calibri" pitchFamily="34" charset="-120"/>
              </a:rPr>
              <a:t>Cross-cutting risk synthesis · Risk scoring (Tech Debt / Security / Scalability / Maintainability) · Agent quality audit · Diagram vs text consistency · ADR verdict · Points requiring human judgement</a:t>
            </a:r>
            <a:endParaRPr lang="en-US" sz="850" dirty="0"/>
          </a:p>
        </p:txBody>
      </p:sp>
      <p:sp>
        <p:nvSpPr>
          <p:cNvPr id="50" name="Shape 48"/>
          <p:cNvSpPr/>
          <p:nvPr/>
        </p:nvSpPr>
        <p:spPr>
          <a:xfrm>
            <a:off x="5806440" y="4064508"/>
            <a:ext cx="3108960" cy="443484"/>
          </a:xfrm>
          <a:prstGeom prst="rect">
            <a:avLst/>
          </a:prstGeom>
          <a:solidFill>
            <a:srgbClr val="0F1B2D"/>
          </a:solidFill>
          <a:ln w="6350">
            <a:solidFill>
              <a:srgbClr val="1E3A55"/>
            </a:solidFill>
            <a:prstDash val="solid"/>
          </a:ln>
        </p:spPr>
        <p:txBody>
          <a:bodyPr/>
          <a:lstStyle/>
          <a:p>
            <a:endParaRPr lang="en-US"/>
          </a:p>
        </p:txBody>
      </p:sp>
      <p:sp>
        <p:nvSpPr>
          <p:cNvPr id="51" name="Text 49"/>
          <p:cNvSpPr/>
          <p:nvPr/>
        </p:nvSpPr>
        <p:spPr>
          <a:xfrm>
            <a:off x="5806440" y="4064508"/>
            <a:ext cx="3108960" cy="443484"/>
          </a:xfrm>
          <a:prstGeom prst="rect">
            <a:avLst/>
          </a:prstGeom>
          <a:noFill/>
          <a:ln/>
        </p:spPr>
        <p:txBody>
          <a:bodyPr wrap="square" lIns="50800" tIns="50800" rIns="50800" bIns="50800" rtlCol="0" anchor="ctr"/>
          <a:lstStyle/>
          <a:p>
            <a:pPr marL="0" indent="0" algn="l">
              <a:buNone/>
            </a:pPr>
            <a:r>
              <a:rPr lang="en-US" sz="850" dirty="0">
                <a:solidFill>
                  <a:srgbClr val="F87171"/>
                </a:solidFill>
                <a:latin typeface="Calibri" pitchFamily="34" charset="0"/>
                <a:ea typeface="Calibri" pitchFamily="34" charset="-122"/>
                <a:cs typeface="Calibri" pitchFamily="34" charset="-120"/>
              </a:rPr>
              <a:t>Any unmitigated critical risk · Contradictory agent recommendations · Unresolved license or data model assumptions</a:t>
            </a:r>
            <a:endParaRPr lang="en-US" sz="850" dirty="0"/>
          </a:p>
        </p:txBody>
      </p:sp>
      <p:sp>
        <p:nvSpPr>
          <p:cNvPr id="52" name="Text 50"/>
          <p:cNvSpPr/>
          <p:nvPr/>
        </p:nvSpPr>
        <p:spPr>
          <a:xfrm>
            <a:off x="457200" y="4599432"/>
            <a:ext cx="8229600" cy="228600"/>
          </a:xfrm>
          <a:prstGeom prst="rect">
            <a:avLst/>
          </a:prstGeom>
          <a:noFill/>
          <a:ln/>
        </p:spPr>
        <p:txBody>
          <a:bodyPr wrap="square" lIns="0" tIns="0" rIns="0" bIns="0" rtlCol="0" anchor="ctr"/>
          <a:lstStyle/>
          <a:p>
            <a:pPr marL="0" indent="0" algn="l">
              <a:buNone/>
            </a:pPr>
            <a:r>
              <a:rPr lang="en-US" sz="900" i="1" dirty="0">
                <a:solidFill>
                  <a:srgbClr val="4A6A85"/>
                </a:solidFill>
                <a:latin typeface="Calibri" pitchFamily="34" charset="0"/>
                <a:ea typeface="Calibri" pitchFamily="34" charset="-122"/>
                <a:cs typeface="Calibri" pitchFamily="34" charset="-120"/>
              </a:rPr>
              <a:t>Data: FSC data model · OWD/sharing model · LDV risk · PII/encryption governance · APRA-CPS234  ·  Scribe: authors the ADR  ·  Learner: extracts org-level insights for future sessions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20000"/>
            <a:ext cx="8138160" cy="170000"/>
          </a:xfrm>
          <a:prstGeom prst="rect">
            <a:avLst/>
          </a:prstGeom>
          <a:noFill/>
          <a:ln/>
        </p:spPr>
        <p:txBody>
          <a:bodyPr wrap="square" rtlCol="0" anchor="ctr"/>
          <a:lstStyle/>
          <a:p>
            <a:pPr marL="0" indent="0" algn="l">
              <a:buNone/>
            </a:pPr>
            <a:r>
              <a:rPr lang="en-US" sz="800" b="1" kern="0" spc="300" dirty="0">
                <a:solidFill>
                  <a:srgbClr val="0891B2"/>
                </a:solidFill>
                <a:latin typeface="Arial" pitchFamily="34" charset="0"/>
              </a:rPr>
              <a:t>AGENT GROUNDING</a:t>
            </a:r>
          </a:p>
        </p:txBody>
      </p:sp>
      <p:sp>
        <p:nvSpPr>
          <p:cNvPr id="3" name="Text 1"/>
          <p:cNvSpPr/>
          <p:nvPr/>
        </p:nvSpPr>
        <p:spPr>
          <a:xfrm>
            <a:off x="502920" y="460000"/>
            <a:ext cx="8138160" cy="300000"/>
          </a:xfrm>
          <a:prstGeom prst="rect">
            <a:avLst/>
          </a:prstGeom>
          <a:noFill/>
          <a:ln/>
        </p:spPr>
        <p:txBody>
          <a:bodyPr wrap="square" rtlCol="0" anchor="ctr"/>
          <a:lstStyle/>
          <a:p>
            <a:pPr marL="0" indent="0" algn="l">
              <a:buNone/>
            </a:pPr>
            <a:r>
              <a:rPr lang="en-US" sz="2000" b="1" dirty="0">
                <a:solidFill>
                  <a:srgbClr val="0F172A"/>
                </a:solidFill>
                <a:latin typeface="Arial" pitchFamily="34" charset="0"/>
              </a:rPr>
              <a:t>Nine grounding layers — every agent, every session</a:t>
            </a:r>
          </a:p>
        </p:txBody>
      </p:sp>
      <p:graphicFrame>
        <p:nvGraphicFramePr>
          <p:cNvPr id="4" name="Table 2"/>
          <p:cNvGraphicFramePr>
            <a:graphicFrameLocks noGrp="1"/>
          </p:cNvGraphicFramePr>
          <p:nvPr/>
        </p:nvGraphicFramePr>
        <p:xfrm>
          <a:off x="228600" y="880000"/>
          <a:ext cx="8686200" cy="4200000"/>
        </p:xfrm>
        <a:graphic>
          <a:graphicData uri="http://schemas.openxmlformats.org/drawingml/2006/table">
            <a:tbl>
              <a:tblPr firstRow="1">
                <a:tableStyleId>{5C22544A-7EE6-4342-B048-85BDC9FD1C3A}</a:tableStyleId>
              </a:tblPr>
              <a:tblGrid>
                <a:gridCol w="457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85800">
                  <a:extLst>
                    <a:ext uri="{9D8B030D-6E8A-4147-A177-3AD203B41FA5}">
                      <a16:colId xmlns:a16="http://schemas.microsoft.com/office/drawing/2014/main" val="20002"/>
                    </a:ext>
                  </a:extLst>
                </a:gridCol>
              </a:tblGrid>
              <a:tr h="420000">
                <a:tc>
                  <a:txBody>
                    <a:bodyPr/>
                    <a:lstStyle/>
                    <a:p>
                      <a:pPr algn="ctr">
                        <a:buNone/>
                      </a:pPr>
                      <a:r>
                        <a:rPr lang="en-US" sz="1000" b="1" dirty="0">
                          <a:solidFill>
                            <a:srgbClr val="FFFFFF"/>
                          </a:solidFill>
                        </a:rPr>
                        <a:t>#</a:t>
                      </a:r>
                    </a:p>
                  </a:txBody>
                  <a:tcPr>
                    <a:solidFill>
                      <a:srgbClr val="0F172A"/>
                    </a:solidFill>
                  </a:tcPr>
                </a:tc>
                <a:tc>
                  <a:txBody>
                    <a:bodyPr/>
                    <a:lstStyle/>
                    <a:p>
                      <a:pPr algn="l">
                        <a:buNone/>
                      </a:pPr>
                      <a:r>
                        <a:rPr lang="en-US" sz="1000" b="1" dirty="0">
                          <a:solidFill>
                            <a:srgbClr val="0891B2"/>
                          </a:solidFill>
                        </a:rPr>
                        <a:t>Layer</a:t>
                      </a:r>
                    </a:p>
                  </a:txBody>
                  <a:tcPr>
                    <a:solidFill>
                      <a:srgbClr val="0F172A"/>
                    </a:solidFill>
                  </a:tcPr>
                </a:tc>
                <a:tc>
                  <a:txBody>
                    <a:bodyPr/>
                    <a:lstStyle/>
                    <a:p>
                      <a:pPr algn="l">
                        <a:buNone/>
                      </a:pPr>
                      <a:r>
                        <a:rPr lang="en-US" sz="1000" b="1" dirty="0">
                          <a:solidFill>
                            <a:srgbClr val="0891B2"/>
                          </a:solidFill>
                        </a:rPr>
                        <a:t>What gets injected</a:t>
                      </a:r>
                    </a:p>
                  </a:txBody>
                  <a:tcPr>
                    <a:solidFill>
                      <a:srgbClr val="0F172A"/>
                    </a:solidFill>
                  </a:tcPr>
                </a:tc>
                <a:extLst>
                  <a:ext uri="{0D108BD9-81ED-4DB2-BD59-A6C34878D82A}">
                    <a16:rowId xmlns:a16="http://schemas.microsoft.com/office/drawing/2014/main" val="10000"/>
                  </a:ext>
                </a:extLst>
              </a:tr>
              <a:tr h="420000">
                <a:tc>
                  <a:txBody>
                    <a:bodyPr/>
                    <a:lstStyle/>
                    <a:p>
                      <a:pPr algn="ctr">
                        <a:buNone/>
                      </a:pPr>
                      <a:r>
                        <a:rPr lang="en-US" sz="1000" b="1" dirty="0">
                          <a:solidFill>
                            <a:srgbClr val="64748B"/>
                          </a:solidFill>
                        </a:rPr>
                        <a:t>1</a:t>
                      </a:r>
                    </a:p>
                  </a:txBody>
                  <a:tcPr>
                    <a:solidFill>
                      <a:srgbClr val="FFFFFF"/>
                    </a:solidFill>
                  </a:tcPr>
                </a:tc>
                <a:tc>
                  <a:txBody>
                    <a:bodyPr/>
                    <a:lstStyle/>
                    <a:p>
                      <a:pPr algn="l">
                        <a:buNone/>
                      </a:pPr>
                      <a:r>
                        <a:rPr lang="en-US" sz="1000" b="1" dirty="0">
                          <a:solidFill>
                            <a:srgbClr val="0F172A"/>
                          </a:solidFill>
                        </a:rPr>
                        <a:t>Base model knowledge</a:t>
                      </a:r>
                    </a:p>
                  </a:txBody>
                  <a:tcPr>
                    <a:solidFill>
                      <a:srgbClr val="FFFFFF"/>
                    </a:solidFill>
                  </a:tcPr>
                </a:tc>
                <a:tc>
                  <a:txBody>
                    <a:bodyPr/>
                    <a:lstStyle/>
                    <a:p>
                      <a:pPr algn="l">
                        <a:buNone/>
                      </a:pPr>
                      <a:r>
                        <a:rPr lang="en-US" sz="1000" dirty="0">
                          <a:solidFill>
                            <a:srgbClr val="334155"/>
                          </a:solidFill>
                        </a:rPr>
                        <a:t>Claude’s training — Salesforce patterns, anti-patterns, best practices</a:t>
                      </a:r>
                    </a:p>
                  </a:txBody>
                  <a:tcPr>
                    <a:solidFill>
                      <a:srgbClr val="FFFFFF"/>
                    </a:solidFill>
                  </a:tcPr>
                </a:tc>
                <a:extLst>
                  <a:ext uri="{0D108BD9-81ED-4DB2-BD59-A6C34878D82A}">
                    <a16:rowId xmlns:a16="http://schemas.microsoft.com/office/drawing/2014/main" val="10001"/>
                  </a:ext>
                </a:extLst>
              </a:tr>
              <a:tr h="420000">
                <a:tc>
                  <a:txBody>
                    <a:bodyPr/>
                    <a:lstStyle/>
                    <a:p>
                      <a:pPr algn="ctr">
                        <a:buNone/>
                      </a:pPr>
                      <a:r>
                        <a:rPr lang="en-US" sz="1000" b="1" dirty="0">
                          <a:solidFill>
                            <a:srgbClr val="64748B"/>
                          </a:solidFill>
                        </a:rPr>
                        <a:t>2</a:t>
                      </a:r>
                    </a:p>
                  </a:txBody>
                  <a:tcPr>
                    <a:solidFill>
                      <a:srgbClr val="F8FAFC"/>
                    </a:solidFill>
                  </a:tcPr>
                </a:tc>
                <a:tc>
                  <a:txBody>
                    <a:bodyPr/>
                    <a:lstStyle/>
                    <a:p>
                      <a:pPr algn="l">
                        <a:buNone/>
                      </a:pPr>
                      <a:r>
                        <a:rPr lang="en-US" sz="1000" b="1" dirty="0">
                          <a:solidFill>
                            <a:srgbClr val="0F172A"/>
                          </a:solidFill>
                        </a:rPr>
                        <a:t>Well-Architected principles</a:t>
                      </a:r>
                    </a:p>
                  </a:txBody>
                  <a:tcPr>
                    <a:solidFill>
                      <a:srgbClr val="F8FAFC"/>
                    </a:solidFill>
                  </a:tcPr>
                </a:tc>
                <a:tc>
                  <a:txBody>
                    <a:bodyPr/>
                    <a:lstStyle/>
                    <a:p>
                      <a:pPr algn="l">
                        <a:buNone/>
                      </a:pPr>
                      <a:r>
                        <a:rPr lang="en-US" sz="1000" dirty="0">
                          <a:solidFill>
                            <a:srgbClr val="334155"/>
                          </a:solidFill>
                        </a:rPr>
                        <a:t>Curated Salesforce Well-Architected principles injected per agent. Zero latency.</a:t>
                      </a:r>
                    </a:p>
                  </a:txBody>
                  <a:tcPr>
                    <a:solidFill>
                      <a:srgbClr val="F8FAFC"/>
                    </a:solidFill>
                  </a:tcPr>
                </a:tc>
                <a:extLst>
                  <a:ext uri="{0D108BD9-81ED-4DB2-BD59-A6C34878D82A}">
                    <a16:rowId xmlns:a16="http://schemas.microsoft.com/office/drawing/2014/main" val="10002"/>
                  </a:ext>
                </a:extLst>
              </a:tr>
              <a:tr h="420000">
                <a:tc>
                  <a:txBody>
                    <a:bodyPr/>
                    <a:lstStyle/>
                    <a:p>
                      <a:pPr algn="ctr">
                        <a:buNone/>
                      </a:pPr>
                      <a:r>
                        <a:rPr lang="en-US" sz="1000" b="1" dirty="0">
                          <a:solidFill>
                            <a:srgbClr val="64748B"/>
                          </a:solidFill>
                        </a:rPr>
                        <a:t>3</a:t>
                      </a:r>
                    </a:p>
                  </a:txBody>
                  <a:tcPr>
                    <a:solidFill>
                      <a:srgbClr val="FFFFFF"/>
                    </a:solidFill>
                  </a:tcPr>
                </a:tc>
                <a:tc>
                  <a:txBody>
                    <a:bodyPr/>
                    <a:lstStyle/>
                    <a:p>
                      <a:pPr algn="l">
                        <a:buNone/>
                      </a:pPr>
                      <a:r>
                        <a:rPr lang="en-US" sz="1000" b="1" dirty="0">
                          <a:solidFill>
                            <a:srgbClr val="0F172A"/>
                          </a:solidFill>
                        </a:rPr>
                        <a:t>SI failure pattern library</a:t>
                      </a:r>
                    </a:p>
                  </a:txBody>
                  <a:tcPr>
                    <a:solidFill>
                      <a:srgbClr val="FFFFFF"/>
                    </a:solidFill>
                  </a:tcPr>
                </a:tc>
                <a:tc>
                  <a:txBody>
                    <a:bodyPr/>
                    <a:lstStyle/>
                    <a:p>
                      <a:pPr algn="l">
                        <a:buNone/>
                      </a:pPr>
                      <a:r>
                        <a:rPr lang="en-US" sz="1000" dirty="0">
                          <a:solidFill>
                            <a:srgbClr val="334155"/>
                          </a:solidFill>
                        </a:rPr>
                        <a:t>Real patterns from past engagements (FP-004 to FP-012). Agents cite by ID in findings.</a:t>
                      </a:r>
                    </a:p>
                  </a:txBody>
                  <a:tcPr>
                    <a:solidFill>
                      <a:srgbClr val="FFFFFF"/>
                    </a:solidFill>
                  </a:tcPr>
                </a:tc>
                <a:extLst>
                  <a:ext uri="{0D108BD9-81ED-4DB2-BD59-A6C34878D82A}">
                    <a16:rowId xmlns:a16="http://schemas.microsoft.com/office/drawing/2014/main" val="10003"/>
                  </a:ext>
                </a:extLst>
              </a:tr>
              <a:tr h="420000">
                <a:tc>
                  <a:txBody>
                    <a:bodyPr/>
                    <a:lstStyle/>
                    <a:p>
                      <a:pPr algn="ctr">
                        <a:buNone/>
                      </a:pPr>
                      <a:r>
                        <a:rPr lang="en-US" sz="1000" b="1" dirty="0">
                          <a:solidFill>
                            <a:srgbClr val="64748B"/>
                          </a:solidFill>
                        </a:rPr>
                        <a:t>4</a:t>
                      </a:r>
                    </a:p>
                  </a:txBody>
                  <a:tcPr>
                    <a:solidFill>
                      <a:srgbClr val="F8FAFC"/>
                    </a:solidFill>
                  </a:tcPr>
                </a:tc>
                <a:tc>
                  <a:txBody>
                    <a:bodyPr/>
                    <a:lstStyle/>
                    <a:p>
                      <a:pPr algn="l">
                        <a:buNone/>
                      </a:pPr>
                      <a:r>
                        <a:rPr lang="en-US" sz="1000" b="1" dirty="0">
                          <a:solidFill>
                            <a:srgbClr val="0F172A"/>
                          </a:solidFill>
                        </a:rPr>
                        <a:t>Domain skills</a:t>
                      </a:r>
                    </a:p>
                  </a:txBody>
                  <a:tcPr>
                    <a:solidFill>
                      <a:srgbClr val="F8FAFC"/>
                    </a:solidFill>
                  </a:tcPr>
                </a:tc>
                <a:tc>
                  <a:txBody>
                    <a:bodyPr/>
                    <a:lstStyle/>
                    <a:p>
                      <a:pPr algn="l">
                        <a:buNone/>
                      </a:pPr>
                      <a:r>
                        <a:rPr lang="en-US" sz="1000" dirty="0">
                          <a:solidFill>
                            <a:srgbClr val="334155"/>
                          </a:solidFill>
                        </a:rPr>
                        <a:t>Specialist review checklists (apex, lwc, flow, data, omni, integration, patterns) — always loaded per agent.</a:t>
                      </a:r>
                    </a:p>
                  </a:txBody>
                  <a:tcPr>
                    <a:solidFill>
                      <a:srgbClr val="F8FAFC"/>
                    </a:solidFill>
                  </a:tcPr>
                </a:tc>
                <a:extLst>
                  <a:ext uri="{0D108BD9-81ED-4DB2-BD59-A6C34878D82A}">
                    <a16:rowId xmlns:a16="http://schemas.microsoft.com/office/drawing/2014/main" val="10004"/>
                  </a:ext>
                </a:extLst>
              </a:tr>
              <a:tr h="420000">
                <a:tc>
                  <a:txBody>
                    <a:bodyPr/>
                    <a:lstStyle/>
                    <a:p>
                      <a:pPr algn="ctr">
                        <a:buNone/>
                      </a:pPr>
                      <a:r>
                        <a:rPr lang="en-US" sz="1000" b="1" dirty="0">
                          <a:solidFill>
                            <a:srgbClr val="64748B"/>
                          </a:solidFill>
                        </a:rPr>
                        <a:t>5</a:t>
                      </a:r>
                    </a:p>
                  </a:txBody>
                  <a:tcPr>
                    <a:solidFill>
                      <a:srgbClr val="FFFFFF"/>
                    </a:solidFill>
                  </a:tcPr>
                </a:tc>
                <a:tc>
                  <a:txBody>
                    <a:bodyPr/>
                    <a:lstStyle/>
                    <a:p>
                      <a:pPr algn="l">
                        <a:buNone/>
                      </a:pPr>
                      <a:r>
                        <a:rPr lang="en-US" sz="1000" b="1" dirty="0">
                          <a:solidFill>
                            <a:srgbClr val="0F172A"/>
                          </a:solidFill>
                        </a:rPr>
                        <a:t>Cross-cutting skills</a:t>
                      </a:r>
                    </a:p>
                  </a:txBody>
                  <a:tcPr>
                    <a:solidFill>
                      <a:srgbClr val="FFFFFF"/>
                    </a:solidFill>
                  </a:tcPr>
                </a:tc>
                <a:tc>
                  <a:txBody>
                    <a:bodyPr/>
                    <a:lstStyle/>
                    <a:p>
                      <a:pPr algn="l">
                        <a:buNone/>
                      </a:pPr>
                      <a:r>
                        <a:rPr lang="en-US" sz="1000" dirty="0">
                          <a:solidFill>
                            <a:srgbClr val="334155"/>
                          </a:solidFill>
                        </a:rPr>
                        <a:t>Keyword-triggered from document (LDV, async-first, security model, auth, automation governance).</a:t>
                      </a:r>
                    </a:p>
                  </a:txBody>
                  <a:tcPr>
                    <a:solidFill>
                      <a:srgbClr val="FFFFFF"/>
                    </a:solidFill>
                  </a:tcPr>
                </a:tc>
                <a:extLst>
                  <a:ext uri="{0D108BD9-81ED-4DB2-BD59-A6C34878D82A}">
                    <a16:rowId xmlns:a16="http://schemas.microsoft.com/office/drawing/2014/main" val="10005"/>
                  </a:ext>
                </a:extLst>
              </a:tr>
              <a:tr h="420000">
                <a:tc>
                  <a:txBody>
                    <a:bodyPr/>
                    <a:lstStyle/>
                    <a:p>
                      <a:pPr algn="ctr">
                        <a:buNone/>
                      </a:pPr>
                      <a:r>
                        <a:rPr lang="en-US" sz="1000" b="1" dirty="0">
                          <a:solidFill>
                            <a:srgbClr val="64748B"/>
                          </a:solidFill>
                        </a:rPr>
                        <a:t>6</a:t>
                      </a:r>
                    </a:p>
                  </a:txBody>
                  <a:tcPr>
                    <a:solidFill>
                      <a:srgbClr val="F8FAFC"/>
                    </a:solidFill>
                  </a:tcPr>
                </a:tc>
                <a:tc>
                  <a:txBody>
                    <a:bodyPr/>
                    <a:lstStyle/>
                    <a:p>
                      <a:pPr algn="l">
                        <a:buNone/>
                      </a:pPr>
                      <a:r>
                        <a:rPr lang="en-US" sz="1000" b="1" dirty="0">
                          <a:solidFill>
                            <a:srgbClr val="0F172A"/>
                          </a:solidFill>
                        </a:rPr>
                        <a:t>Episodic memory</a:t>
                      </a:r>
                    </a:p>
                  </a:txBody>
                  <a:tcPr>
                    <a:solidFill>
                      <a:srgbClr val="F8FAFC"/>
                    </a:solidFill>
                  </a:tcPr>
                </a:tc>
                <a:tc>
                  <a:txBody>
                    <a:bodyPr/>
                    <a:lstStyle/>
                    <a:p>
                      <a:pPr algn="l">
                        <a:buNone/>
                      </a:pPr>
                      <a:r>
                        <a:rPr lang="en-US" sz="1000" dirty="0">
                          <a:solidFill>
                            <a:srgbClr val="334155"/>
                          </a:solidFill>
                        </a:rPr>
                        <a:t>Prior agent findings injected into each subsequent agent within the same session.</a:t>
                      </a:r>
                    </a:p>
                  </a:txBody>
                  <a:tcPr>
                    <a:solidFill>
                      <a:srgbClr val="F8FAFC"/>
                    </a:solidFill>
                  </a:tcPr>
                </a:tc>
                <a:extLst>
                  <a:ext uri="{0D108BD9-81ED-4DB2-BD59-A6C34878D82A}">
                    <a16:rowId xmlns:a16="http://schemas.microsoft.com/office/drawing/2014/main" val="10006"/>
                  </a:ext>
                </a:extLst>
              </a:tr>
              <a:tr h="420000">
                <a:tc>
                  <a:txBody>
                    <a:bodyPr/>
                    <a:lstStyle/>
                    <a:p>
                      <a:pPr algn="ctr">
                        <a:buNone/>
                      </a:pPr>
                      <a:r>
                        <a:rPr lang="en-US" sz="1000" b="1" dirty="0">
                          <a:solidFill>
                            <a:srgbClr val="64748B"/>
                          </a:solidFill>
                        </a:rPr>
                        <a:t>7</a:t>
                      </a:r>
                    </a:p>
                  </a:txBody>
                  <a:tcPr>
                    <a:solidFill>
                      <a:srgbClr val="FFFFFF"/>
                    </a:solidFill>
                  </a:tcPr>
                </a:tc>
                <a:tc>
                  <a:txBody>
                    <a:bodyPr/>
                    <a:lstStyle/>
                    <a:p>
                      <a:pPr algn="l">
                        <a:buNone/>
                      </a:pPr>
                      <a:r>
                        <a:rPr lang="en-US" sz="1000" b="1" dirty="0">
                          <a:solidFill>
                            <a:srgbClr val="0F172A"/>
                          </a:solidFill>
                        </a:rPr>
                        <a:t>Cross-session Jira memory</a:t>
                      </a:r>
                    </a:p>
                  </a:txBody>
                  <a:tcPr>
                    <a:solidFill>
                      <a:srgbClr val="FFFFFF"/>
                    </a:solidFill>
                  </a:tcPr>
                </a:tc>
                <a:tc>
                  <a:txBody>
                    <a:bodyPr/>
                    <a:lstStyle/>
                    <a:p>
                      <a:pPr algn="l">
                        <a:buNone/>
                      </a:pPr>
                      <a:r>
                        <a:rPr lang="en-US" sz="1000" dirty="0">
                          <a:solidFill>
                            <a:srgbClr val="334155"/>
                          </a:solidFill>
                        </a:rPr>
                        <a:t>Past ADR decisions retrieved from Jira. Agents reconcile: resolved, persists, escalated, or contradicted.</a:t>
                      </a:r>
                    </a:p>
                  </a:txBody>
                  <a:tcPr>
                    <a:solidFill>
                      <a:srgbClr val="FFFFFF"/>
                    </a:solidFill>
                  </a:tcPr>
                </a:tc>
                <a:extLst>
                  <a:ext uri="{0D108BD9-81ED-4DB2-BD59-A6C34878D82A}">
                    <a16:rowId xmlns:a16="http://schemas.microsoft.com/office/drawing/2014/main" val="10007"/>
                  </a:ext>
                </a:extLst>
              </a:tr>
              <a:tr h="420000">
                <a:tc>
                  <a:txBody>
                    <a:bodyPr/>
                    <a:lstStyle/>
                    <a:p>
                      <a:pPr algn="ctr">
                        <a:buNone/>
                      </a:pPr>
                      <a:r>
                        <a:rPr lang="en-US" sz="1000" b="1" dirty="0">
                          <a:solidFill>
                            <a:srgbClr val="64748B"/>
                          </a:solidFill>
                        </a:rPr>
                        <a:t>8</a:t>
                      </a:r>
                    </a:p>
                  </a:txBody>
                  <a:tcPr>
                    <a:solidFill>
                      <a:srgbClr val="F8FAFC"/>
                    </a:solidFill>
                  </a:tcPr>
                </a:tc>
                <a:tc>
                  <a:txBody>
                    <a:bodyPr/>
                    <a:lstStyle/>
                    <a:p>
                      <a:pPr algn="l">
                        <a:buNone/>
                      </a:pPr>
                      <a:r>
                        <a:rPr lang="en-US" sz="1000" b="1" dirty="0">
                          <a:solidFill>
                            <a:srgbClr val="0F172A"/>
                          </a:solidFill>
                        </a:rPr>
                        <a:t>Org learnings</a:t>
                      </a:r>
                    </a:p>
                  </a:txBody>
                  <a:tcPr>
                    <a:solidFill>
                      <a:srgbClr val="F8FAFC"/>
                    </a:solidFill>
                  </a:tcPr>
                </a:tc>
                <a:tc>
                  <a:txBody>
                    <a:bodyPr/>
                    <a:lstStyle/>
                    <a:p>
                      <a:pPr algn="l">
                        <a:buNone/>
                      </a:pPr>
                      <a:r>
                        <a:rPr lang="en-US" sz="1000" dirty="0">
                          <a:solidFill>
                            <a:srgbClr val="334155"/>
                          </a:solidFill>
                        </a:rPr>
                        <a:t>Org-specific learnings extracted each session, persisted in Supabase, injected into future sessions. Compounds over time.</a:t>
                      </a:r>
                    </a:p>
                  </a:txBody>
                  <a:tcPr>
                    <a:solidFill>
                      <a:srgbClr val="F8FAFC"/>
                    </a:solidFill>
                  </a:tcPr>
                </a:tc>
                <a:extLst>
                  <a:ext uri="{0D108BD9-81ED-4DB2-BD59-A6C34878D82A}">
                    <a16:rowId xmlns:a16="http://schemas.microsoft.com/office/drawing/2014/main" val="10008"/>
                  </a:ext>
                </a:extLst>
              </a:tr>
              <a:tr h="420000">
                <a:tc>
                  <a:txBody>
                    <a:bodyPr/>
                    <a:lstStyle/>
                    <a:p>
                      <a:pPr algn="ctr">
                        <a:buNone/>
                      </a:pPr>
                      <a:r>
                        <a:rPr lang="en-US" sz="1000" b="1" dirty="0">
                          <a:solidFill>
                            <a:srgbClr val="64748B"/>
                          </a:solidFill>
                        </a:rPr>
                        <a:t>9</a:t>
                      </a:r>
                    </a:p>
                  </a:txBody>
                  <a:tcPr>
                    <a:solidFill>
                      <a:srgbClr val="FFFFFF"/>
                    </a:solidFill>
                  </a:tcPr>
                </a:tc>
                <a:tc>
                  <a:txBody>
                    <a:bodyPr/>
                    <a:lstStyle/>
                    <a:p>
                      <a:pPr algn="l">
                        <a:buNone/>
                      </a:pPr>
                      <a:r>
                        <a:rPr lang="en-US" sz="1000" b="1" dirty="0">
                          <a:solidFill>
                            <a:srgbClr val="0F172A"/>
                          </a:solidFill>
                        </a:rPr>
                        <a:t>Live org context</a:t>
                      </a:r>
                    </a:p>
                  </a:txBody>
                  <a:tcPr>
                    <a:solidFill>
                      <a:srgbClr val="FFFFFF"/>
                    </a:solidFill>
                  </a:tcPr>
                </a:tc>
                <a:tc>
                  <a:txBody>
                    <a:bodyPr/>
                    <a:lstStyle/>
                    <a:p>
                      <a:pPr algn="l">
                        <a:buNone/>
                      </a:pPr>
                      <a:r>
                        <a:rPr lang="en-US" sz="1000" dirty="0">
                          <a:solidFill>
                            <a:srgbClr val="334155"/>
                          </a:solidFill>
                        </a:rPr>
                        <a:t>Live Salesforce org metadata via MCP/jsforce — deployed triggers, flows, API version, custom objects (when connected).</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~$0.08 per full session (optimised)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55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62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62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62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94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200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200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200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32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39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39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39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71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77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77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77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309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315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315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315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47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54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54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54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86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92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92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92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424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31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31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31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63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69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69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69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631600"/>
            <a:ext cx="1965960" cy="309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72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208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Sequential pipeline — review, judge, record</a:t>
            </a:r>
            <a:endParaRPr lang="en-US" sz="950" dirty="0"/>
          </a:p>
        </p:txBody>
      </p:sp>
      <p:sp>
        <p:nvSpPr>
          <p:cNvPr id="10" name="Text 8"/>
          <p:cNvSpPr/>
          <p:nvPr/>
        </p:nvSpPr>
        <p:spPr>
          <a:xfrm>
            <a:off x="52120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631600"/>
            <a:ext cx="1965960" cy="309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72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208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631600"/>
            <a:ext cx="1965960" cy="309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72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208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631600"/>
            <a:ext cx="1965960" cy="309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72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208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216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a:t>
            </a:r>
            <a:endParaRPr lang="en-US" sz="950" dirty="0"/>
          </a:p>
        </p:txBody>
      </p:sp>
      <p:sp>
        <p:nvSpPr>
          <p:cNvPr id="27" name="Text 25"/>
          <p:cNvSpPr/>
          <p:nvPr/>
        </p:nvSpPr>
        <p:spPr>
          <a:xfrm>
            <a:off x="6967728" y="263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311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201168"/>
          </a:xfrm>
          <a:prstGeom prst="rect">
            <a:avLst/>
          </a:prstGeom>
          <a:noFill/>
          <a:ln/>
        </p:spPr>
        <p:txBody>
          <a:bodyPr wrap="square" lIns="0" tIns="0" rIns="0" bIns="0" rtlCol="0" anchor="ctr"/>
          <a:lstStyle/>
          <a:p>
            <a:pPr marL="0" indent="0">
              <a:buNone/>
            </a:pPr>
            <a:r>
              <a:rPr lang="en-US" sz="1000" b="1" kern="0" spc="300" dirty="0">
                <a:solidFill>
                  <a:srgbClr val="0891B2"/>
                </a:solidFill>
              </a:rPr>
              <a:t>COST ENGINEERING — LEARNINGS</a:t>
            </a:r>
            <a:endParaRPr lang="en-US" sz="1000" dirty="0"/>
          </a:p>
        </p:txBody>
      </p:sp>
      <p:sp>
        <p:nvSpPr>
          <p:cNvPr id="3" name="Text 1"/>
          <p:cNvSpPr/>
          <p:nvPr/>
        </p:nvSpPr>
        <p:spPr>
          <a:xfrm>
            <a:off x="457200" y="502920"/>
            <a:ext cx="8229600" cy="1005840"/>
          </a:xfrm>
          <a:prstGeom prst="rect">
            <a:avLst/>
          </a:prstGeom>
          <a:noFill/>
          <a:ln/>
        </p:spPr>
        <p:txBody>
          <a:bodyPr wrap="square" lIns="0" tIns="0" rIns="0" bIns="0" rtlCol="0" anchor="ctr"/>
          <a:lstStyle/>
          <a:p>
            <a:pPr marL="0" indent="0">
              <a:buNone/>
            </a:pPr>
            <a:r>
              <a:rPr lang="en-US" sz="3600" b="1" dirty="0">
                <a:solidFill>
                  <a:srgbClr val="111827"/>
                </a:solidFill>
              </a:rPr>
              <a:t>Token consumption: measured,</a:t>
            </a:r>
            <a:endParaRPr lang="en-US" sz="3600" dirty="0"/>
          </a:p>
          <a:p>
            <a:pPr marL="0" indent="0">
              <a:buNone/>
            </a:pPr>
            <a:r>
              <a:rPr lang="en-US" sz="3600" b="1" dirty="0">
                <a:solidFill>
                  <a:srgbClr val="111827"/>
                </a:solidFill>
              </a:rPr>
              <a:t>then engineered down</a:t>
            </a:r>
            <a:endParaRPr lang="en-US" sz="3600" dirty="0"/>
          </a:p>
        </p:txBody>
      </p:sp>
      <p:sp>
        <p:nvSpPr>
          <p:cNvPr id="4" name="Text 2"/>
          <p:cNvSpPr/>
          <p:nvPr/>
        </p:nvSpPr>
        <p:spPr>
          <a:xfrm>
            <a:off x="457200" y="1600200"/>
            <a:ext cx="4572000" cy="256032"/>
          </a:xfrm>
          <a:prstGeom prst="rect">
            <a:avLst/>
          </a:prstGeom>
          <a:noFill/>
          <a:ln/>
        </p:spPr>
        <p:txBody>
          <a:bodyPr wrap="square" lIns="0" tIns="0" rIns="0" bIns="0" rtlCol="0" anchor="ctr"/>
          <a:lstStyle/>
          <a:p>
            <a:pPr marL="0" indent="0">
              <a:buNone/>
            </a:pPr>
            <a:r>
              <a:rPr lang="en-US" sz="1200" b="1" dirty="0">
                <a:solidFill>
                  <a:srgbClr val="111827"/>
                </a:solidFill>
              </a:rPr>
              <a:t>Baseline per session (10 agents, real doc)</a:t>
            </a:r>
            <a:endParaRPr lang="en-US" sz="1200" dirty="0"/>
          </a:p>
        </p:txBody>
      </p:sp>
      <p:graphicFrame>
        <p:nvGraphicFramePr>
          <p:cNvPr id="5" name="Table 0"/>
          <p:cNvGraphicFramePr>
            <a:graphicFrameLocks noGrp="1"/>
          </p:cNvGraphicFramePr>
          <p:nvPr/>
        </p:nvGraphicFramePr>
        <p:xfrm>
          <a:off x="457200" y="1901952"/>
          <a:ext cx="4572000" cy="2176272"/>
        </p:xfrm>
        <a:graphic>
          <a:graphicData uri="http://schemas.openxmlformats.org/drawingml/2006/table">
            <a:tbl>
              <a:tblPr/>
              <a:tblGrid>
                <a:gridCol w="2560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rPr>
                        <a:t>Source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Tokens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rPr>
                        <a:t>Model</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374151"/>
                          </a:solidFill>
                        </a:rPr>
                        <a:t>Document input (NovaPeak SDD)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~4,000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i="1" dirty="0">
                          <a:solidFill>
                            <a:srgbClr val="6B7280"/>
                          </a:solidFill>
                        </a:rPr>
                        <a:t>All agents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dirty="0">
                          <a:solidFill>
                            <a:srgbClr val="374151"/>
                          </a:solidFill>
                        </a:rPr>
                        <a:t>9 agent system prompts</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~9,000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00" dirty="0">
                          <a:solidFill>
                            <a:srgbClr val="374151"/>
                          </a:solidFill>
                        </a:rPr>
                        <a:t>Jira memory (10 tickets, filtered)</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~5,000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6B7280"/>
                          </a:solidFill>
                        </a:rPr>
                        <a: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dirty="0">
                          <a:solidFill>
                            <a:srgbClr val="374151"/>
                          </a:solidFill>
                        </a:rPr>
                        <a:t>Scribe + Learner (Judge output only)</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~3,000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7C3AED"/>
                          </a:solidFill>
                        </a:rPr>
                        <a:t>Haiku</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00" dirty="0">
                          <a:solidFill>
                            <a:srgbClr val="374151"/>
                          </a:solidFill>
                        </a:rPr>
                        <a:t>Specialists + Judge</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74151"/>
                          </a:solidFill>
                        </a:rPr>
                        <a:t>~16,000</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Sonnet</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0891B2"/>
                          </a:solidFill>
                        </a:rPr>
                        <a:t>Total (live run, Jul 2026)</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55.4k</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891B2"/>
                          </a:solidFill>
                        </a:rPr>
                        <a:t>$0.221</a:t>
                      </a:r>
                      <a:endParaRPr lang="en-US" sz="1100" dirty="0"/>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3"/>
          <p:cNvSpPr/>
          <p:nvPr/>
        </p:nvSpPr>
        <p:spPr>
          <a:xfrm>
            <a:off x="5349240" y="1600200"/>
            <a:ext cx="3566160" cy="256032"/>
          </a:xfrm>
          <a:prstGeom prst="rect">
            <a:avLst/>
          </a:prstGeom>
          <a:noFill/>
          <a:ln/>
        </p:spPr>
        <p:txBody>
          <a:bodyPr wrap="square" lIns="0" tIns="0" rIns="0" bIns="0" rtlCol="0" anchor="ctr"/>
          <a:lstStyle/>
          <a:p>
            <a:pPr marL="0" indent="0">
              <a:buNone/>
            </a:pPr>
            <a:r>
              <a:rPr lang="en-US" sz="1200" b="1" dirty="0">
                <a:solidFill>
                  <a:srgbClr val="111827"/>
                </a:solidFill>
              </a:rPr>
              <a:t>Optimisations implemented</a:t>
            </a:r>
            <a:endParaRPr lang="en-US" sz="1200" dirty="0"/>
          </a:p>
        </p:txBody>
      </p:sp>
      <p:sp>
        <p:nvSpPr>
          <p:cNvPr id="7" name="Shape 4"/>
          <p:cNvSpPr/>
          <p:nvPr/>
        </p:nvSpPr>
        <p:spPr>
          <a:xfrm>
            <a:off x="5349240" y="1901952"/>
            <a:ext cx="3566160" cy="438912"/>
          </a:xfrm>
          <a:prstGeom prst="roundRect">
            <a:avLst>
              <a:gd name="adj" fmla="val 12500"/>
            </a:avLst>
          </a:prstGeom>
          <a:solidFill>
            <a:srgbClr val="EFF6FF"/>
          </a:solidFill>
          <a:ln w="12700">
            <a:solidFill>
              <a:srgbClr val="BFDBFE"/>
            </a:solidFill>
            <a:prstDash val="solid"/>
          </a:ln>
        </p:spPr>
        <p:txBody>
          <a:bodyPr/>
          <a:lstStyle/>
          <a:p>
            <a:endParaRPr lang="en-US"/>
          </a:p>
        </p:txBody>
      </p:sp>
      <p:sp>
        <p:nvSpPr>
          <p:cNvPr id="8" name="Text 5"/>
          <p:cNvSpPr/>
          <p:nvPr/>
        </p:nvSpPr>
        <p:spPr>
          <a:xfrm>
            <a:off x="5532120" y="1938528"/>
            <a:ext cx="3291840" cy="182880"/>
          </a:xfrm>
          <a:prstGeom prst="rect">
            <a:avLst/>
          </a:prstGeom>
          <a:noFill/>
          <a:ln/>
        </p:spPr>
        <p:txBody>
          <a:bodyPr wrap="square" lIns="0" tIns="0" rIns="0" bIns="0" rtlCol="0" anchor="ctr"/>
          <a:lstStyle/>
          <a:p>
            <a:pPr marL="0" indent="0">
              <a:buNone/>
            </a:pPr>
            <a:r>
              <a:rPr lang="en-US" sz="1100" b="1" dirty="0">
                <a:solidFill>
                  <a:srgbClr val="1E3A5F"/>
                </a:solidFill>
              </a:rPr>
              <a:t>Jira JQL tightening</a:t>
            </a:r>
            <a:endParaRPr lang="en-US" sz="1100" dirty="0"/>
          </a:p>
        </p:txBody>
      </p:sp>
      <p:sp>
        <p:nvSpPr>
          <p:cNvPr id="9" name="Text 6"/>
          <p:cNvSpPr/>
          <p:nvPr/>
        </p:nvSpPr>
        <p:spPr>
          <a:xfrm>
            <a:off x="5532120" y="2130552"/>
            <a:ext cx="3291840" cy="164592"/>
          </a:xfrm>
          <a:prstGeom prst="rect">
            <a:avLst/>
          </a:prstGeom>
          <a:noFill/>
          <a:ln/>
        </p:spPr>
        <p:txBody>
          <a:bodyPr wrap="square" lIns="0" tIns="0" rIns="0" bIns="0" rtlCol="0" anchor="ctr"/>
          <a:lstStyle/>
          <a:p>
            <a:pPr marL="0" indent="0">
              <a:buNone/>
            </a:pPr>
            <a:r>
              <a:rPr lang="en-US" sz="950" dirty="0">
                <a:solidFill>
                  <a:srgbClr val="1E3A5F"/>
                </a:solidFill>
              </a:rPr>
              <a:t>saves ~30,000 tokens</a:t>
            </a:r>
            <a:endParaRPr lang="en-US" sz="950" dirty="0"/>
          </a:p>
        </p:txBody>
      </p:sp>
      <p:sp>
        <p:nvSpPr>
          <p:cNvPr id="10" name="Shape 7"/>
          <p:cNvSpPr/>
          <p:nvPr/>
        </p:nvSpPr>
        <p:spPr>
          <a:xfrm>
            <a:off x="5349240" y="2414016"/>
            <a:ext cx="3566160" cy="438912"/>
          </a:xfrm>
          <a:prstGeom prst="roundRect">
            <a:avLst>
              <a:gd name="adj" fmla="val 12500"/>
            </a:avLst>
          </a:prstGeom>
          <a:solidFill>
            <a:srgbClr val="FFFBEB"/>
          </a:solidFill>
          <a:ln w="12700">
            <a:solidFill>
              <a:srgbClr val="FDE68A"/>
            </a:solidFill>
            <a:prstDash val="solid"/>
          </a:ln>
        </p:spPr>
        <p:txBody>
          <a:bodyPr/>
          <a:lstStyle/>
          <a:p>
            <a:endParaRPr lang="en-US"/>
          </a:p>
        </p:txBody>
      </p:sp>
      <p:sp>
        <p:nvSpPr>
          <p:cNvPr id="11" name="Text 8"/>
          <p:cNvSpPr/>
          <p:nvPr/>
        </p:nvSpPr>
        <p:spPr>
          <a:xfrm>
            <a:off x="5532120" y="2450592"/>
            <a:ext cx="3291840" cy="182880"/>
          </a:xfrm>
          <a:prstGeom prst="rect">
            <a:avLst/>
          </a:prstGeom>
          <a:noFill/>
          <a:ln/>
        </p:spPr>
        <p:txBody>
          <a:bodyPr wrap="square" lIns="0" tIns="0" rIns="0" bIns="0" rtlCol="0" anchor="ctr"/>
          <a:lstStyle/>
          <a:p>
            <a:pPr marL="0" indent="0">
              <a:buNone/>
            </a:pPr>
            <a:r>
              <a:rPr lang="en-US" sz="1100" b="1" dirty="0">
                <a:solidFill>
                  <a:srgbClr val="92400E"/>
                </a:solidFill>
              </a:rPr>
              <a:t>Scribe/Learner context trim</a:t>
            </a:r>
            <a:endParaRPr lang="en-US" sz="1100" dirty="0"/>
          </a:p>
        </p:txBody>
      </p:sp>
      <p:sp>
        <p:nvSpPr>
          <p:cNvPr id="12" name="Text 9"/>
          <p:cNvSpPr/>
          <p:nvPr/>
        </p:nvSpPr>
        <p:spPr>
          <a:xfrm>
            <a:off x="5532120" y="2642616"/>
            <a:ext cx="3291840" cy="164592"/>
          </a:xfrm>
          <a:prstGeom prst="rect">
            <a:avLst/>
          </a:prstGeom>
          <a:noFill/>
          <a:ln/>
        </p:spPr>
        <p:txBody>
          <a:bodyPr wrap="square" lIns="0" tIns="0" rIns="0" bIns="0" rtlCol="0" anchor="ctr"/>
          <a:lstStyle/>
          <a:p>
            <a:pPr marL="0" indent="0">
              <a:buNone/>
            </a:pPr>
            <a:r>
              <a:rPr lang="en-US" sz="950" dirty="0">
                <a:solidFill>
                  <a:srgbClr val="92400E"/>
                </a:solidFill>
              </a:rPr>
              <a:t>saves ~6,000 tokens</a:t>
            </a:r>
            <a:endParaRPr lang="en-US" sz="950" dirty="0"/>
          </a:p>
        </p:txBody>
      </p:sp>
      <p:sp>
        <p:nvSpPr>
          <p:cNvPr id="13" name="Shape 10"/>
          <p:cNvSpPr/>
          <p:nvPr/>
        </p:nvSpPr>
        <p:spPr>
          <a:xfrm>
            <a:off x="5349240" y="2926080"/>
            <a:ext cx="3566160" cy="438912"/>
          </a:xfrm>
          <a:prstGeom prst="roundRect">
            <a:avLst>
              <a:gd name="adj" fmla="val 12500"/>
            </a:avLst>
          </a:prstGeom>
          <a:solidFill>
            <a:srgbClr val="F5F3FF"/>
          </a:solidFill>
          <a:ln w="12700">
            <a:solidFill>
              <a:srgbClr val="DDD6FE"/>
            </a:solidFill>
            <a:prstDash val="solid"/>
          </a:ln>
        </p:spPr>
        <p:txBody>
          <a:bodyPr/>
          <a:lstStyle/>
          <a:p>
            <a:endParaRPr lang="en-US"/>
          </a:p>
        </p:txBody>
      </p:sp>
      <p:sp>
        <p:nvSpPr>
          <p:cNvPr id="14" name="Text 11"/>
          <p:cNvSpPr/>
          <p:nvPr/>
        </p:nvSpPr>
        <p:spPr>
          <a:xfrm>
            <a:off x="5532120" y="2962656"/>
            <a:ext cx="3291840" cy="182880"/>
          </a:xfrm>
          <a:prstGeom prst="rect">
            <a:avLst/>
          </a:prstGeom>
          <a:noFill/>
          <a:ln/>
        </p:spPr>
        <p:txBody>
          <a:bodyPr wrap="square" lIns="0" tIns="0" rIns="0" bIns="0" rtlCol="0" anchor="ctr"/>
          <a:lstStyle/>
          <a:p>
            <a:pPr marL="0" indent="0">
              <a:buNone/>
            </a:pPr>
            <a:r>
              <a:rPr lang="en-US" sz="1100" b="1" dirty="0">
                <a:solidFill>
                  <a:srgbClr val="5B21B6"/>
                </a:solidFill>
              </a:rPr>
              <a:t>Tiered model strategy</a:t>
            </a:r>
            <a:endParaRPr lang="en-US" sz="1100" dirty="0"/>
          </a:p>
        </p:txBody>
      </p:sp>
      <p:sp>
        <p:nvSpPr>
          <p:cNvPr id="15" name="Text 12"/>
          <p:cNvSpPr/>
          <p:nvPr/>
        </p:nvSpPr>
        <p:spPr>
          <a:xfrm>
            <a:off x="5532120" y="3154680"/>
            <a:ext cx="3291840" cy="164592"/>
          </a:xfrm>
          <a:prstGeom prst="rect">
            <a:avLst/>
          </a:prstGeom>
          <a:noFill/>
          <a:ln/>
        </p:spPr>
        <p:txBody>
          <a:bodyPr wrap="square" lIns="0" tIns="0" rIns="0" bIns="0" rtlCol="0" anchor="ctr"/>
          <a:lstStyle/>
          <a:p>
            <a:pPr marL="0" indent="0">
              <a:buNone/>
            </a:pPr>
            <a:r>
              <a:rPr lang="en-US" sz="950" dirty="0">
                <a:solidFill>
                  <a:srgbClr val="5B21B6"/>
                </a:solidFill>
              </a:rPr>
              <a:t>Haiku for Scribe/Learner · Sonnet for specialists</a:t>
            </a:r>
            <a:endParaRPr lang="en-US" sz="950" dirty="0"/>
          </a:p>
        </p:txBody>
      </p:sp>
      <p:sp>
        <p:nvSpPr>
          <p:cNvPr id="16" name="Shape 13"/>
          <p:cNvSpPr/>
          <p:nvPr/>
        </p:nvSpPr>
        <p:spPr>
          <a:xfrm>
            <a:off x="5349240" y="3438144"/>
            <a:ext cx="3566160" cy="438912"/>
          </a:xfrm>
          <a:prstGeom prst="roundRect">
            <a:avLst>
              <a:gd name="adj" fmla="val 12500"/>
            </a:avLst>
          </a:prstGeom>
          <a:solidFill>
            <a:srgbClr val="F0FDF4"/>
          </a:solidFill>
          <a:ln w="12700">
            <a:solidFill>
              <a:srgbClr val="BBF7D0"/>
            </a:solidFill>
            <a:prstDash val="solid"/>
          </a:ln>
        </p:spPr>
        <p:txBody>
          <a:bodyPr/>
          <a:lstStyle/>
          <a:p>
            <a:endParaRPr lang="en-US"/>
          </a:p>
        </p:txBody>
      </p:sp>
      <p:sp>
        <p:nvSpPr>
          <p:cNvPr id="17" name="Text 14"/>
          <p:cNvSpPr/>
          <p:nvPr/>
        </p:nvSpPr>
        <p:spPr>
          <a:xfrm>
            <a:off x="5532120" y="3474720"/>
            <a:ext cx="3291840" cy="182880"/>
          </a:xfrm>
          <a:prstGeom prst="rect">
            <a:avLst/>
          </a:prstGeom>
          <a:noFill/>
          <a:ln/>
        </p:spPr>
        <p:txBody>
          <a:bodyPr wrap="square" lIns="0" tIns="0" rIns="0" bIns="0" rtlCol="0" anchor="ctr"/>
          <a:lstStyle/>
          <a:p>
            <a:pPr marL="0" indent="0">
              <a:buNone/>
            </a:pPr>
            <a:r>
              <a:rPr lang="en-US" sz="1100" b="1" dirty="0">
                <a:solidFill>
                  <a:srgbClr val="14532D"/>
                </a:solidFill>
              </a:rPr>
              <a:t>Shared base prompt dedup</a:t>
            </a:r>
            <a:endParaRPr lang="en-US" sz="1100" dirty="0"/>
          </a:p>
        </p:txBody>
      </p:sp>
      <p:sp>
        <p:nvSpPr>
          <p:cNvPr id="18" name="Text 15"/>
          <p:cNvSpPr/>
          <p:nvPr/>
        </p:nvSpPr>
        <p:spPr>
          <a:xfrm>
            <a:off x="5532120" y="3666744"/>
            <a:ext cx="3291840" cy="164592"/>
          </a:xfrm>
          <a:prstGeom prst="rect">
            <a:avLst/>
          </a:prstGeom>
          <a:noFill/>
          <a:ln/>
        </p:spPr>
        <p:txBody>
          <a:bodyPr wrap="square" lIns="0" tIns="0" rIns="0" bIns="0" rtlCol="0" anchor="ctr"/>
          <a:lstStyle/>
          <a:p>
            <a:pPr marL="0" indent="0">
              <a:buNone/>
            </a:pPr>
            <a:r>
              <a:rPr lang="en-US" sz="950" dirty="0">
                <a:solidFill>
                  <a:srgbClr val="14532D"/>
                </a:solidFill>
              </a:rPr>
              <a:t>saves ~5,000 tokens</a:t>
            </a:r>
            <a:endParaRPr lang="en-US" sz="950" dirty="0"/>
          </a:p>
        </p:txBody>
      </p:sp>
      <p:sp>
        <p:nvSpPr>
          <p:cNvPr id="19" name="Shape 16"/>
          <p:cNvSpPr/>
          <p:nvPr/>
        </p:nvSpPr>
        <p:spPr>
          <a:xfrm>
            <a:off x="5349240" y="3950208"/>
            <a:ext cx="3566160" cy="438912"/>
          </a:xfrm>
          <a:prstGeom prst="roundRect">
            <a:avLst>
              <a:gd name="adj" fmla="val 12500"/>
            </a:avLst>
          </a:prstGeom>
          <a:solidFill>
            <a:srgbClr val="F9FAFB"/>
          </a:solidFill>
          <a:ln w="12700">
            <a:solidFill>
              <a:srgbClr val="E5E7EB"/>
            </a:solidFill>
            <a:prstDash val="solid"/>
          </a:ln>
        </p:spPr>
        <p:txBody>
          <a:bodyPr/>
          <a:lstStyle/>
          <a:p>
            <a:endParaRPr lang="en-US"/>
          </a:p>
        </p:txBody>
      </p:sp>
      <p:sp>
        <p:nvSpPr>
          <p:cNvPr id="20" name="Text 17"/>
          <p:cNvSpPr/>
          <p:nvPr/>
        </p:nvSpPr>
        <p:spPr>
          <a:xfrm>
            <a:off x="5532120" y="3986784"/>
            <a:ext cx="3291840" cy="182880"/>
          </a:xfrm>
          <a:prstGeom prst="rect">
            <a:avLst/>
          </a:prstGeom>
          <a:noFill/>
          <a:ln/>
        </p:spPr>
        <p:txBody>
          <a:bodyPr wrap="square" lIns="0" tIns="0" rIns="0" bIns="0" rtlCol="0" anchor="ctr"/>
          <a:lstStyle/>
          <a:p>
            <a:pPr marL="0" indent="0">
              <a:buNone/>
            </a:pPr>
            <a:r>
              <a:rPr lang="en-US" sz="1100" b="1" dirty="0">
                <a:solidFill>
                  <a:srgbClr val="6B7280"/>
                </a:solidFill>
              </a:rPr>
              <a:t>Prompt caching (planned)</a:t>
            </a:r>
            <a:endParaRPr lang="en-US" sz="1100" dirty="0"/>
          </a:p>
        </p:txBody>
      </p:sp>
      <p:sp>
        <p:nvSpPr>
          <p:cNvPr id="21" name="Text 18"/>
          <p:cNvSpPr/>
          <p:nvPr/>
        </p:nvSpPr>
        <p:spPr>
          <a:xfrm>
            <a:off x="5532120" y="4178808"/>
            <a:ext cx="3291840" cy="164592"/>
          </a:xfrm>
          <a:prstGeom prst="rect">
            <a:avLst/>
          </a:prstGeom>
          <a:noFill/>
          <a:ln/>
        </p:spPr>
        <p:txBody>
          <a:bodyPr wrap="square" lIns="0" tIns="0" rIns="0" bIns="0" rtlCol="0" anchor="ctr"/>
          <a:lstStyle/>
          <a:p>
            <a:pPr marL="0" indent="0">
              <a:buNone/>
            </a:pPr>
            <a:r>
              <a:rPr lang="en-US" sz="950" dirty="0">
                <a:solidFill>
                  <a:srgbClr val="6B7280"/>
                </a:solidFill>
              </a:rPr>
              <a:t>saves 90% on system prompts</a:t>
            </a:r>
            <a:endParaRPr lang="en-US" sz="950" dirty="0"/>
          </a:p>
        </p:txBody>
      </p:sp>
      <p:sp>
        <p:nvSpPr>
          <p:cNvPr id="22" name="Shape 19"/>
          <p:cNvSpPr/>
          <p:nvPr/>
        </p:nvSpPr>
        <p:spPr>
          <a:xfrm>
            <a:off x="457200" y="4572000"/>
            <a:ext cx="8458200" cy="347472"/>
          </a:xfrm>
          <a:prstGeom prst="rect">
            <a:avLst/>
          </a:prstGeom>
          <a:solidFill>
            <a:srgbClr val="F0FDF4"/>
          </a:solidFill>
          <a:ln w="12700">
            <a:solidFill>
              <a:srgbClr val="BBF7D0"/>
            </a:solidFill>
            <a:prstDash val="solid"/>
          </a:ln>
        </p:spPr>
        <p:txBody>
          <a:bodyPr/>
          <a:lstStyle/>
          <a:p>
            <a:endParaRPr lang="en-US"/>
          </a:p>
        </p:txBody>
      </p:sp>
      <p:sp>
        <p:nvSpPr>
          <p:cNvPr id="23" name="Text 20"/>
          <p:cNvSpPr/>
          <p:nvPr/>
        </p:nvSpPr>
        <p:spPr>
          <a:xfrm>
            <a:off x="457200" y="4572000"/>
            <a:ext cx="8458200" cy="347472"/>
          </a:xfrm>
          <a:prstGeom prst="rect">
            <a:avLst/>
          </a:prstGeom>
          <a:noFill/>
          <a:ln/>
        </p:spPr>
        <p:txBody>
          <a:bodyPr wrap="square" lIns="0" tIns="0" rIns="0" bIns="0" rtlCol="0" anchor="ctr"/>
          <a:lstStyle/>
          <a:p>
            <a:pPr marL="0" indent="0" algn="ctr">
              <a:buNone/>
            </a:pPr>
            <a:r>
              <a:rPr lang="en-US" sz="1050" b="1" i="1" dirty="0">
                <a:solidFill>
                  <a:srgbClr val="166534"/>
                </a:solidFill>
              </a:rPr>
              <a:t>Live run (Jul 2026):  55.4k tokens · $0.221 · 1m 37s · 8 agents (Designer skipped)   ·   Tiered model: Sonnet for specialists + Judge, Haiku for Scribe &amp; Learner · Skills library + episodic memory active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8229600" cy="182880"/>
          </a:xfrm>
          <a:prstGeom prst="rect">
            <a:avLst/>
          </a:prstGeom>
          <a:noFill/>
          <a:ln/>
        </p:spPr>
        <p:txBody>
          <a:bodyPr wrap="square" rtlCol="0" anchor="ctr"/>
          <a:lstStyle/>
          <a:p>
            <a:pPr marL="0" indent="0">
              <a:buNone/>
            </a:pPr>
            <a:r>
              <a:rPr lang="en-US" sz="900" b="1" kern="0" spc="300" dirty="0">
                <a:solidFill>
                  <a:srgbClr val="0891B2"/>
                </a:solidFill>
              </a:rPr>
              <a:t>ROADMAP</a:t>
            </a:r>
            <a:endParaRPr lang="en-US" sz="900" dirty="0"/>
          </a:p>
        </p:txBody>
      </p:sp>
      <p:sp>
        <p:nvSpPr>
          <p:cNvPr id="3" name="Text 1"/>
          <p:cNvSpPr/>
          <p:nvPr/>
        </p:nvSpPr>
        <p:spPr>
          <a:xfrm>
            <a:off x="457200" y="384048"/>
            <a:ext cx="8229600" cy="411480"/>
          </a:xfrm>
          <a:prstGeom prst="rect">
            <a:avLst/>
          </a:prstGeom>
          <a:noFill/>
          <a:ln/>
        </p:spPr>
        <p:txBody>
          <a:bodyPr wrap="square" rtlCol="0" anchor="ctr"/>
          <a:lstStyle/>
          <a:p>
            <a:pPr marL="0" indent="0">
              <a:buNone/>
            </a:pPr>
            <a:r>
              <a:rPr lang="en-US" sz="2600" b="1" dirty="0">
                <a:solidFill>
                  <a:srgbClr val="1A1A1A"/>
                </a:solidFill>
              </a:rPr>
              <a:t>Engineered to deepen over time — not a one-shot tool</a:t>
            </a:r>
            <a:endParaRPr lang="en-US" sz="2600" dirty="0"/>
          </a:p>
        </p:txBody>
      </p:sp>
      <p:sp>
        <p:nvSpPr>
          <p:cNvPr id="4" name="Shape 2"/>
          <p:cNvSpPr/>
          <p:nvPr/>
        </p:nvSpPr>
        <p:spPr>
          <a:xfrm>
            <a:off x="274320" y="932688"/>
            <a:ext cx="5486400" cy="292608"/>
          </a:xfrm>
          <a:prstGeom prst="roundRect">
            <a:avLst>
              <a:gd name="adj" fmla="val 15625"/>
            </a:avLst>
          </a:prstGeom>
          <a:solidFill>
            <a:srgbClr val="2E7D32"/>
          </a:solidFill>
          <a:ln w="12700">
            <a:solidFill>
              <a:srgbClr val="2E7D32"/>
            </a:solidFill>
            <a:prstDash val="solid"/>
          </a:ln>
        </p:spPr>
        <p:txBody>
          <a:bodyPr/>
          <a:lstStyle/>
          <a:p>
            <a:endParaRPr lang="en-US"/>
          </a:p>
        </p:txBody>
      </p:sp>
      <p:sp>
        <p:nvSpPr>
          <p:cNvPr id="5" name="Text 3"/>
          <p:cNvSpPr/>
          <p:nvPr/>
        </p:nvSpPr>
        <p:spPr>
          <a:xfrm>
            <a:off x="1508760" y="920496"/>
            <a:ext cx="2651760" cy="292608"/>
          </a:xfrm>
          <a:prstGeom prst="rect">
            <a:avLst/>
          </a:prstGeom>
          <a:noFill/>
          <a:ln/>
        </p:spPr>
        <p:txBody>
          <a:bodyPr wrap="square" rtlCol="0" anchor="ctr"/>
          <a:lstStyle/>
          <a:p>
            <a:pPr marL="0" indent="0" algn="ctr">
              <a:buNone/>
            </a:pPr>
            <a:r>
              <a:rPr lang="en-US" sz="1100" b="1" dirty="0">
                <a:solidFill>
                  <a:srgbClr val="FFFFFF"/>
                </a:solidFill>
              </a:rPr>
              <a:t>Now — done</a:t>
            </a:r>
            <a:endParaRPr lang="en-US" sz="1100" dirty="0"/>
          </a:p>
        </p:txBody>
      </p:sp>
      <p:sp>
        <p:nvSpPr>
          <p:cNvPr id="6" name="Shape 4"/>
          <p:cNvSpPr/>
          <p:nvPr/>
        </p:nvSpPr>
        <p:spPr>
          <a:xfrm>
            <a:off x="274320" y="1316736"/>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7" name="Text 5"/>
          <p:cNvSpPr/>
          <p:nvPr/>
        </p:nvSpPr>
        <p:spPr>
          <a:xfrm>
            <a:off x="365760" y="1316736"/>
            <a:ext cx="2468880" cy="329184"/>
          </a:xfrm>
          <a:prstGeom prst="rect">
            <a:avLst/>
          </a:prstGeom>
          <a:noFill/>
          <a:ln/>
        </p:spPr>
        <p:txBody>
          <a:bodyPr wrap="square" rtlCol="0" anchor="ctr"/>
          <a:lstStyle/>
          <a:p>
            <a:pPr marL="0" indent="0">
              <a:buNone/>
            </a:pPr>
            <a:r>
              <a:rPr lang="en-US" sz="1000" dirty="0">
                <a:solidFill>
                  <a:srgbClr val="1A1A1A"/>
                </a:solidFill>
              </a:rPr>
              <a:t>✓  Cross-session Jira memory</a:t>
            </a:r>
            <a:endParaRPr lang="en-US" sz="1000" dirty="0"/>
          </a:p>
        </p:txBody>
      </p:sp>
      <p:sp>
        <p:nvSpPr>
          <p:cNvPr id="8" name="Shape 6"/>
          <p:cNvSpPr/>
          <p:nvPr/>
        </p:nvSpPr>
        <p:spPr>
          <a:xfrm>
            <a:off x="274320" y="1700784"/>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365760" y="1700784"/>
            <a:ext cx="2468880" cy="329184"/>
          </a:xfrm>
          <a:prstGeom prst="rect">
            <a:avLst/>
          </a:prstGeom>
          <a:noFill/>
          <a:ln/>
        </p:spPr>
        <p:txBody>
          <a:bodyPr wrap="square" rtlCol="0" anchor="ctr"/>
          <a:lstStyle/>
          <a:p>
            <a:pPr marL="0" indent="0">
              <a:buNone/>
            </a:pPr>
            <a:r>
              <a:rPr lang="en-US" sz="1000" dirty="0">
                <a:solidFill>
                  <a:srgbClr val="1A1A1A"/>
                </a:solidFill>
              </a:rPr>
              <a:t>✓  SI failure pattern library</a:t>
            </a:r>
            <a:endParaRPr lang="en-US" sz="1000" dirty="0"/>
          </a:p>
        </p:txBody>
      </p:sp>
      <p:sp>
        <p:nvSpPr>
          <p:cNvPr id="10" name="Shape 8"/>
          <p:cNvSpPr/>
          <p:nvPr/>
        </p:nvSpPr>
        <p:spPr>
          <a:xfrm>
            <a:off x="274320" y="2084832"/>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1" name="Text 9"/>
          <p:cNvSpPr/>
          <p:nvPr/>
        </p:nvSpPr>
        <p:spPr>
          <a:xfrm>
            <a:off x="365760" y="2084832"/>
            <a:ext cx="2468880" cy="329184"/>
          </a:xfrm>
          <a:prstGeom prst="rect">
            <a:avLst/>
          </a:prstGeom>
          <a:noFill/>
          <a:ln/>
        </p:spPr>
        <p:txBody>
          <a:bodyPr wrap="square" rtlCol="0" anchor="ctr"/>
          <a:lstStyle/>
          <a:p>
            <a:pPr marL="0" indent="0">
              <a:buNone/>
            </a:pPr>
            <a:r>
              <a:rPr lang="en-US" sz="1000" dirty="0">
                <a:solidFill>
                  <a:srgbClr val="1A1A1A"/>
                </a:solidFill>
              </a:rPr>
              <a:t>✓  Confidence badges + endorsement</a:t>
            </a:r>
            <a:endParaRPr lang="en-US" sz="1000" dirty="0"/>
          </a:p>
        </p:txBody>
      </p:sp>
      <p:sp>
        <p:nvSpPr>
          <p:cNvPr id="12" name="Shape 10"/>
          <p:cNvSpPr/>
          <p:nvPr/>
        </p:nvSpPr>
        <p:spPr>
          <a:xfrm>
            <a:off x="274320" y="2468880"/>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3" name="Text 11"/>
          <p:cNvSpPr/>
          <p:nvPr/>
        </p:nvSpPr>
        <p:spPr>
          <a:xfrm>
            <a:off x="365760" y="2468880"/>
            <a:ext cx="2468880" cy="329184"/>
          </a:xfrm>
          <a:prstGeom prst="rect">
            <a:avLst/>
          </a:prstGeom>
          <a:noFill/>
          <a:ln/>
        </p:spPr>
        <p:txBody>
          <a:bodyPr wrap="square" rtlCol="0" anchor="ctr"/>
          <a:lstStyle/>
          <a:p>
            <a:pPr marL="0" indent="0">
              <a:buNone/>
            </a:pPr>
            <a:r>
              <a:rPr lang="en-US" sz="1000" dirty="0">
                <a:solidFill>
                  <a:srgbClr val="1A1A1A"/>
                </a:solidFill>
              </a:rPr>
              <a:t>✓  Salesforce org metadata injection</a:t>
            </a:r>
            <a:endParaRPr lang="en-US" sz="1000" dirty="0"/>
          </a:p>
        </p:txBody>
      </p:sp>
      <p:sp>
        <p:nvSpPr>
          <p:cNvPr id="14" name="Shape 12"/>
          <p:cNvSpPr/>
          <p:nvPr/>
        </p:nvSpPr>
        <p:spPr>
          <a:xfrm>
            <a:off x="274320" y="2852928"/>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5" name="Text 13"/>
          <p:cNvSpPr/>
          <p:nvPr/>
        </p:nvSpPr>
        <p:spPr>
          <a:xfrm>
            <a:off x="365760" y="2852928"/>
            <a:ext cx="2468880" cy="329184"/>
          </a:xfrm>
          <a:prstGeom prst="rect">
            <a:avLst/>
          </a:prstGeom>
          <a:noFill/>
          <a:ln/>
        </p:spPr>
        <p:txBody>
          <a:bodyPr wrap="square" rtlCol="0" anchor="ctr"/>
          <a:lstStyle/>
          <a:p>
            <a:pPr marL="0" indent="0">
              <a:buNone/>
            </a:pPr>
            <a:r>
              <a:rPr lang="en-US" sz="1000" dirty="0">
                <a:solidFill>
                  <a:srgbClr val="1A1A1A"/>
                </a:solidFill>
              </a:rPr>
              <a:t>✓  Supabase cost analytics</a:t>
            </a:r>
            <a:endParaRPr lang="en-US" sz="1000" dirty="0"/>
          </a:p>
        </p:txBody>
      </p:sp>
      <p:sp>
        <p:nvSpPr>
          <p:cNvPr id="18" name="Shape 16"/>
          <p:cNvSpPr/>
          <p:nvPr/>
        </p:nvSpPr>
        <p:spPr>
          <a:xfrm>
            <a:off x="3108960" y="1316736"/>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19" name="Text 17"/>
          <p:cNvSpPr/>
          <p:nvPr/>
        </p:nvSpPr>
        <p:spPr>
          <a:xfrm>
            <a:off x="3200400" y="1316736"/>
            <a:ext cx="2468880" cy="329184"/>
          </a:xfrm>
          <a:prstGeom prst="rect">
            <a:avLst/>
          </a:prstGeom>
          <a:noFill/>
          <a:ln/>
        </p:spPr>
        <p:txBody>
          <a:bodyPr wrap="square" rtlCol="0" anchor="ctr"/>
          <a:lstStyle/>
          <a:p>
            <a:pPr marL="0" indent="0">
              <a:buNone/>
            </a:pPr>
            <a:r>
              <a:rPr lang="en-US" sz="1000" dirty="0">
                <a:solidFill>
                  <a:srgbClr val="1A1A1A"/>
                </a:solidFill>
              </a:rPr>
              <a:t>✓  Document review mode</a:t>
            </a:r>
            <a:endParaRPr lang="en-US" sz="1000" dirty="0"/>
          </a:p>
        </p:txBody>
      </p:sp>
      <p:sp>
        <p:nvSpPr>
          <p:cNvPr id="20" name="Shape 18"/>
          <p:cNvSpPr/>
          <p:nvPr/>
        </p:nvSpPr>
        <p:spPr>
          <a:xfrm>
            <a:off x="3108960" y="1700784"/>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1" name="Text 19"/>
          <p:cNvSpPr/>
          <p:nvPr/>
        </p:nvSpPr>
        <p:spPr>
          <a:xfrm>
            <a:off x="3200400" y="1700784"/>
            <a:ext cx="2468880" cy="329184"/>
          </a:xfrm>
          <a:prstGeom prst="rect">
            <a:avLst/>
          </a:prstGeom>
          <a:noFill/>
          <a:ln/>
        </p:spPr>
        <p:txBody>
          <a:bodyPr wrap="square" rtlCol="0" anchor="ctr"/>
          <a:lstStyle/>
          <a:p>
            <a:pPr marL="0" indent="0">
              <a:buNone/>
            </a:pPr>
            <a:r>
              <a:rPr lang="en-US" sz="1000" dirty="0">
                <a:solidFill>
                  <a:srgbClr val="1A1A1A"/>
                </a:solidFill>
              </a:rPr>
              <a:t>✓  Well-Architected principles</a:t>
            </a:r>
            <a:endParaRPr lang="en-US" sz="1000" dirty="0"/>
          </a:p>
        </p:txBody>
      </p:sp>
      <p:sp>
        <p:nvSpPr>
          <p:cNvPr id="22" name="Shape 20"/>
          <p:cNvSpPr/>
          <p:nvPr/>
        </p:nvSpPr>
        <p:spPr>
          <a:xfrm>
            <a:off x="3108960" y="2084832"/>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3" name="Text 21"/>
          <p:cNvSpPr/>
          <p:nvPr/>
        </p:nvSpPr>
        <p:spPr>
          <a:xfrm>
            <a:off x="3200400" y="2084832"/>
            <a:ext cx="2468880" cy="329184"/>
          </a:xfrm>
          <a:prstGeom prst="rect">
            <a:avLst/>
          </a:prstGeom>
          <a:noFill/>
          <a:ln/>
        </p:spPr>
        <p:txBody>
          <a:bodyPr wrap="square" rtlCol="0" anchor="ctr"/>
          <a:lstStyle/>
          <a:p>
            <a:pPr marL="0" indent="0">
              <a:buNone/>
            </a:pPr>
            <a:r>
              <a:rPr lang="en-US" sz="1000" dirty="0">
                <a:solidFill>
                  <a:srgbClr val="1A1A1A"/>
                </a:solidFill>
              </a:rPr>
              <a:t>✓  Token optimisations (3 fixes)</a:t>
            </a:r>
            <a:endParaRPr lang="en-US" sz="1000" dirty="0"/>
          </a:p>
        </p:txBody>
      </p:sp>
      <p:sp>
        <p:nvSpPr>
          <p:cNvPr id="24" name="Shape 22"/>
          <p:cNvSpPr/>
          <p:nvPr/>
        </p:nvSpPr>
        <p:spPr>
          <a:xfrm>
            <a:off x="3108960" y="2468880"/>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5" name="Text 23"/>
          <p:cNvSpPr/>
          <p:nvPr/>
        </p:nvSpPr>
        <p:spPr>
          <a:xfrm>
            <a:off x="3200400" y="2468880"/>
            <a:ext cx="2468880" cy="329184"/>
          </a:xfrm>
          <a:prstGeom prst="rect">
            <a:avLst/>
          </a:prstGeom>
          <a:noFill/>
          <a:ln/>
        </p:spPr>
        <p:txBody>
          <a:bodyPr wrap="square" rtlCol="0" anchor="ctr"/>
          <a:lstStyle/>
          <a:p>
            <a:pPr marL="0" indent="0">
              <a:buNone/>
            </a:pPr>
            <a:r>
              <a:rPr lang="en-US" sz="1000" dirty="0">
                <a:solidFill>
                  <a:srgbClr val="1A1A1A"/>
                </a:solidFill>
              </a:rPr>
              <a:t>✓  Gated endorsement — Jira assign</a:t>
            </a:r>
            <a:endParaRPr lang="en-US" sz="1000" dirty="0"/>
          </a:p>
        </p:txBody>
      </p:sp>
      <p:sp>
        <p:nvSpPr>
          <p:cNvPr id="26" name="Shape 24"/>
          <p:cNvSpPr/>
          <p:nvPr/>
        </p:nvSpPr>
        <p:spPr>
          <a:xfrm>
            <a:off x="3108960" y="2852928"/>
            <a:ext cx="265176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27" name="Text 25"/>
          <p:cNvSpPr/>
          <p:nvPr/>
        </p:nvSpPr>
        <p:spPr>
          <a:xfrm>
            <a:off x="3200400" y="2852928"/>
            <a:ext cx="2468880" cy="329184"/>
          </a:xfrm>
          <a:prstGeom prst="rect">
            <a:avLst/>
          </a:prstGeom>
          <a:noFill/>
          <a:ln/>
        </p:spPr>
        <p:txBody>
          <a:bodyPr wrap="square" rtlCol="0" anchor="ctr"/>
          <a:lstStyle/>
          <a:p>
            <a:pPr marL="0" indent="0">
              <a:buNone/>
            </a:pPr>
            <a:r>
              <a:rPr lang="en-US" sz="1000" dirty="0">
                <a:solidFill>
                  <a:srgbClr val="1A1A1A"/>
                </a:solidFill>
              </a:rPr>
              <a:t>✓  Fix Revision Round + sf-data agent + Skills library + Episodic memory</a:t>
            </a:r>
            <a:endParaRPr lang="en-US" sz="1000" dirty="0"/>
          </a:p>
        </p:txBody>
      </p:sp>
      <p:sp>
        <p:nvSpPr>
          <p:cNvPr id="28" name="Shape 26"/>
          <p:cNvSpPr/>
          <p:nvPr/>
        </p:nvSpPr>
        <p:spPr>
          <a:xfrm>
            <a:off x="5943600" y="932688"/>
            <a:ext cx="2926080" cy="292608"/>
          </a:xfrm>
          <a:prstGeom prst="roundRect">
            <a:avLst>
              <a:gd name="adj" fmla="val 15625"/>
            </a:avLst>
          </a:prstGeom>
          <a:solidFill>
            <a:srgbClr val="BA7517"/>
          </a:solidFill>
          <a:ln w="12700">
            <a:solidFill>
              <a:srgbClr val="BA7517"/>
            </a:solidFill>
            <a:prstDash val="solid"/>
          </a:ln>
        </p:spPr>
        <p:txBody>
          <a:bodyPr/>
          <a:lstStyle/>
          <a:p>
            <a:endParaRPr lang="en-US"/>
          </a:p>
        </p:txBody>
      </p:sp>
      <p:sp>
        <p:nvSpPr>
          <p:cNvPr id="29" name="Text 27"/>
          <p:cNvSpPr/>
          <p:nvPr/>
        </p:nvSpPr>
        <p:spPr>
          <a:xfrm>
            <a:off x="5943600" y="932688"/>
            <a:ext cx="2926080" cy="292608"/>
          </a:xfrm>
          <a:prstGeom prst="rect">
            <a:avLst/>
          </a:prstGeom>
          <a:noFill/>
          <a:ln/>
        </p:spPr>
        <p:txBody>
          <a:bodyPr wrap="square" rtlCol="0" anchor="ctr"/>
          <a:lstStyle/>
          <a:p>
            <a:pPr marL="0" indent="0" algn="ctr">
              <a:buNone/>
            </a:pPr>
            <a:r>
              <a:rPr lang="en-US" sz="1100" b="1" dirty="0">
                <a:solidFill>
                  <a:srgbClr val="FFFFFF"/>
                </a:solidFill>
              </a:rPr>
              <a:t>Planned</a:t>
            </a:r>
            <a:endParaRPr lang="en-US" sz="1100" dirty="0"/>
          </a:p>
        </p:txBody>
      </p:sp>
      <p:sp>
        <p:nvSpPr>
          <p:cNvPr id="30" name="Shape 28"/>
          <p:cNvSpPr/>
          <p:nvPr/>
        </p:nvSpPr>
        <p:spPr>
          <a:xfrm>
            <a:off x="5943600" y="1316736"/>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1" name="Text 29"/>
          <p:cNvSpPr/>
          <p:nvPr/>
        </p:nvSpPr>
        <p:spPr>
          <a:xfrm>
            <a:off x="6035040" y="1316736"/>
            <a:ext cx="2743200" cy="329184"/>
          </a:xfrm>
          <a:prstGeom prst="rect">
            <a:avLst/>
          </a:prstGeom>
          <a:noFill/>
          <a:ln/>
        </p:spPr>
        <p:txBody>
          <a:bodyPr wrap="square" rtlCol="0" anchor="ctr"/>
          <a:lstStyle/>
          <a:p>
            <a:pPr marL="0" indent="0">
              <a:buNone/>
            </a:pPr>
            <a:r>
              <a:rPr lang="en-US" sz="1000" dirty="0">
                <a:solidFill>
                  <a:srgbClr val="1A1A1A"/>
                </a:solidFill>
              </a:rPr>
              <a:t>  pgvector — semantic org memory retrieval</a:t>
            </a:r>
            <a:endParaRPr lang="en-US" sz="1000" dirty="0"/>
          </a:p>
        </p:txBody>
      </p:sp>
      <p:sp>
        <p:nvSpPr>
          <p:cNvPr id="32" name="Shape 30"/>
          <p:cNvSpPr/>
          <p:nvPr/>
        </p:nvSpPr>
        <p:spPr>
          <a:xfrm>
            <a:off x="5943600" y="1700784"/>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3" name="Text 31"/>
          <p:cNvSpPr/>
          <p:nvPr/>
        </p:nvSpPr>
        <p:spPr>
          <a:xfrm>
            <a:off x="6035040" y="1700784"/>
            <a:ext cx="2743200" cy="329184"/>
          </a:xfrm>
          <a:prstGeom prst="rect">
            <a:avLst/>
          </a:prstGeom>
          <a:noFill/>
          <a:ln/>
        </p:spPr>
        <p:txBody>
          <a:bodyPr wrap="square" rtlCol="0" anchor="ctr"/>
          <a:lstStyle/>
          <a:p>
            <a:pPr marL="0" indent="0">
              <a:buNone/>
            </a:pPr>
            <a:r>
              <a:rPr lang="en-US" sz="1000" dirty="0">
                <a:solidFill>
                  <a:srgbClr val="1A1A1A"/>
                </a:solidFill>
              </a:rPr>
              <a:t> Round 2 Rebuttal flow</a:t>
            </a:r>
            <a:endParaRPr lang="en-US" sz="1000" dirty="0"/>
          </a:p>
        </p:txBody>
      </p:sp>
      <p:sp>
        <p:nvSpPr>
          <p:cNvPr id="34" name="Shape 32"/>
          <p:cNvSpPr/>
          <p:nvPr/>
        </p:nvSpPr>
        <p:spPr>
          <a:xfrm>
            <a:off x="5943600" y="2084832"/>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5" name="Text 33"/>
          <p:cNvSpPr/>
          <p:nvPr/>
        </p:nvSpPr>
        <p:spPr>
          <a:xfrm>
            <a:off x="6035040" y="2084832"/>
            <a:ext cx="2743200" cy="329184"/>
          </a:xfrm>
          <a:prstGeom prst="rect">
            <a:avLst/>
          </a:prstGeom>
          <a:noFill/>
          <a:ln/>
        </p:spPr>
        <p:txBody>
          <a:bodyPr wrap="square" rtlCol="0" anchor="ctr"/>
          <a:lstStyle/>
          <a:p>
            <a:pPr marL="0" indent="0">
              <a:buNone/>
            </a:pPr>
            <a:r>
              <a:rPr lang="en-US" sz="1000" dirty="0">
                <a:solidFill>
                  <a:srgbClr val="1A1A1A"/>
                </a:solidFill>
              </a:rPr>
              <a:t> Domain-agnostic multi-tenant config</a:t>
            </a:r>
            <a:endParaRPr lang="en-US" sz="1000" dirty="0"/>
          </a:p>
        </p:txBody>
      </p:sp>
      <p:sp>
        <p:nvSpPr>
          <p:cNvPr id="36" name="Shape 34"/>
          <p:cNvSpPr/>
          <p:nvPr/>
        </p:nvSpPr>
        <p:spPr>
          <a:xfrm>
            <a:off x="5943600" y="3275076"/>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7" name="Text 35"/>
          <p:cNvSpPr/>
          <p:nvPr/>
        </p:nvSpPr>
        <p:spPr>
          <a:xfrm>
            <a:off x="5943600" y="3293364"/>
            <a:ext cx="2743200" cy="329184"/>
          </a:xfrm>
          <a:prstGeom prst="rect">
            <a:avLst/>
          </a:prstGeom>
          <a:noFill/>
          <a:ln/>
        </p:spPr>
        <p:txBody>
          <a:bodyPr wrap="square" rtlCol="0" anchor="ctr"/>
          <a:lstStyle/>
          <a:p>
            <a:pPr marL="0" indent="0">
              <a:buNone/>
            </a:pPr>
            <a:r>
              <a:rPr lang="en-US" sz="1000" dirty="0">
                <a:solidFill>
                  <a:srgbClr val="1A1A1A"/>
                </a:solidFill>
              </a:rPr>
              <a:t> Prompt caching (90% cost reduction)</a:t>
            </a:r>
            <a:endParaRPr lang="en-US" sz="1000" dirty="0"/>
          </a:p>
        </p:txBody>
      </p:sp>
      <p:sp>
        <p:nvSpPr>
          <p:cNvPr id="38" name="Shape 36"/>
          <p:cNvSpPr/>
          <p:nvPr/>
        </p:nvSpPr>
        <p:spPr>
          <a:xfrm>
            <a:off x="5943600" y="2852928"/>
            <a:ext cx="2926080" cy="329184"/>
          </a:xfrm>
          <a:prstGeom prst="roundRect">
            <a:avLst>
              <a:gd name="adj" fmla="val 13889"/>
            </a:avLst>
          </a:prstGeom>
          <a:solidFill>
            <a:srgbClr val="F8FAFC"/>
          </a:solidFill>
          <a:ln w="12700">
            <a:solidFill>
              <a:srgbClr val="E2E8F0"/>
            </a:solidFill>
            <a:prstDash val="solid"/>
          </a:ln>
        </p:spPr>
        <p:txBody>
          <a:bodyPr/>
          <a:lstStyle/>
          <a:p>
            <a:endParaRPr lang="en-US"/>
          </a:p>
        </p:txBody>
      </p:sp>
      <p:sp>
        <p:nvSpPr>
          <p:cNvPr id="39" name="Text 37"/>
          <p:cNvSpPr/>
          <p:nvPr/>
        </p:nvSpPr>
        <p:spPr>
          <a:xfrm>
            <a:off x="6035040" y="2852928"/>
            <a:ext cx="2743200" cy="329184"/>
          </a:xfrm>
          <a:prstGeom prst="rect">
            <a:avLst/>
          </a:prstGeom>
          <a:noFill/>
          <a:ln/>
        </p:spPr>
        <p:txBody>
          <a:bodyPr wrap="square" rtlCol="0" anchor="ctr"/>
          <a:lstStyle/>
          <a:p>
            <a:pPr marL="0" indent="0">
              <a:buNone/>
            </a:pPr>
            <a:r>
              <a:rPr lang="en-US" sz="1000" dirty="0">
                <a:solidFill>
                  <a:srgbClr val="1A1A1A"/>
                </a:solidFill>
              </a:rPr>
              <a:t> Doc section routing per agent</a:t>
            </a:r>
            <a:endParaRPr lang="en-US" sz="1000" dirty="0"/>
          </a:p>
        </p:txBody>
      </p:sp>
      <p:sp>
        <p:nvSpPr>
          <p:cNvPr id="42" name="Shape 40"/>
          <p:cNvSpPr/>
          <p:nvPr/>
        </p:nvSpPr>
        <p:spPr>
          <a:xfrm>
            <a:off x="246888" y="3425952"/>
            <a:ext cx="2834640" cy="804672"/>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3" name="Text 41"/>
          <p:cNvSpPr/>
          <p:nvPr/>
        </p:nvSpPr>
        <p:spPr>
          <a:xfrm>
            <a:off x="356616" y="3480816"/>
            <a:ext cx="2615184" cy="201168"/>
          </a:xfrm>
          <a:prstGeom prst="rect">
            <a:avLst/>
          </a:prstGeom>
          <a:noFill/>
          <a:ln/>
        </p:spPr>
        <p:txBody>
          <a:bodyPr wrap="square" rtlCol="0" anchor="ctr"/>
          <a:lstStyle/>
          <a:p>
            <a:pPr marL="0" indent="0">
              <a:buNone/>
            </a:pPr>
            <a:r>
              <a:rPr lang="en-US" sz="1000" b="1" dirty="0">
                <a:solidFill>
                  <a:srgbClr val="BA7517"/>
                </a:solidFill>
              </a:rPr>
              <a:t>pgvector / Semantic Memory</a:t>
            </a:r>
            <a:endParaRPr lang="en-US" sz="1000" dirty="0"/>
          </a:p>
        </p:txBody>
      </p:sp>
      <p:sp>
        <p:nvSpPr>
          <p:cNvPr id="44" name="Text 42"/>
          <p:cNvSpPr/>
          <p:nvPr/>
        </p:nvSpPr>
        <p:spPr>
          <a:xfrm>
            <a:off x="356616" y="3700272"/>
            <a:ext cx="2615184" cy="475488"/>
          </a:xfrm>
          <a:prstGeom prst="rect">
            <a:avLst/>
          </a:prstGeom>
          <a:noFill/>
          <a:ln/>
        </p:spPr>
        <p:txBody>
          <a:bodyPr wrap="square" rtlCol="0" anchor="ctr"/>
          <a:lstStyle/>
          <a:p>
            <a:pPr marL="0" indent="0">
              <a:buNone/>
            </a:pPr>
            <a:r>
              <a:rPr lang="en-US" sz="900" dirty="0">
                <a:solidFill>
                  <a:srgbClr val="6B7280"/>
                </a:solidFill>
              </a:rPr>
              <a:t>Instead of retrieving all org learnings by domain filter, use vector embeddings to pull only the most relevant past learnings for this specific design. Like a smart search, not a keyword match.</a:t>
            </a:r>
            <a:endParaRPr lang="en-US" sz="900" dirty="0"/>
          </a:p>
        </p:txBody>
      </p:sp>
      <p:sp>
        <p:nvSpPr>
          <p:cNvPr id="45" name="Shape 43"/>
          <p:cNvSpPr/>
          <p:nvPr/>
        </p:nvSpPr>
        <p:spPr>
          <a:xfrm>
            <a:off x="246888" y="4300728"/>
            <a:ext cx="2834640" cy="804672"/>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6" name="Text 44"/>
          <p:cNvSpPr/>
          <p:nvPr/>
        </p:nvSpPr>
        <p:spPr>
          <a:xfrm>
            <a:off x="356616" y="4355592"/>
            <a:ext cx="2615184" cy="201168"/>
          </a:xfrm>
          <a:prstGeom prst="rect">
            <a:avLst/>
          </a:prstGeom>
          <a:noFill/>
          <a:ln/>
        </p:spPr>
        <p:txBody>
          <a:bodyPr wrap="square" rtlCol="0" anchor="ctr"/>
          <a:lstStyle/>
          <a:p>
            <a:pPr marL="0" indent="0">
              <a:buNone/>
            </a:pPr>
            <a:r>
              <a:rPr lang="en-US" sz="1000" b="1" dirty="0">
                <a:solidFill>
                  <a:srgbClr val="7C3AED"/>
                </a:solidFill>
              </a:rPr>
              <a:t>Round 2 Rebuttal</a:t>
            </a:r>
            <a:endParaRPr lang="en-US" sz="1000" dirty="0"/>
          </a:p>
        </p:txBody>
      </p:sp>
      <p:sp>
        <p:nvSpPr>
          <p:cNvPr id="47" name="Text 45"/>
          <p:cNvSpPr/>
          <p:nvPr/>
        </p:nvSpPr>
        <p:spPr>
          <a:xfrm>
            <a:off x="356616" y="4575048"/>
            <a:ext cx="2615184" cy="475488"/>
          </a:xfrm>
          <a:prstGeom prst="rect">
            <a:avLst/>
          </a:prstGeom>
          <a:noFill/>
          <a:ln/>
        </p:spPr>
        <p:txBody>
          <a:bodyPr wrap="square" rtlCol="0" anchor="ctr"/>
          <a:lstStyle/>
          <a:p>
            <a:pPr marL="0" indent="0">
              <a:buNone/>
            </a:pPr>
            <a:r>
              <a:rPr lang="en-US" sz="900" dirty="0">
                <a:solidFill>
                  <a:srgbClr val="6B7280"/>
                </a:solidFill>
              </a:rPr>
              <a:t>Design team responds to each must-fix condition from the prior ADR. Agents evaluate whether the response is adequate — ruling per condition: Accepted / Partially Accepted / Still Failing.</a:t>
            </a:r>
            <a:endParaRPr lang="en-US" sz="900" dirty="0"/>
          </a:p>
        </p:txBody>
      </p:sp>
      <p:sp>
        <p:nvSpPr>
          <p:cNvPr id="48" name="Shape 46"/>
          <p:cNvSpPr/>
          <p:nvPr/>
        </p:nvSpPr>
        <p:spPr>
          <a:xfrm>
            <a:off x="3154680" y="4128516"/>
            <a:ext cx="2724912" cy="928116"/>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49" name="Text 47"/>
          <p:cNvSpPr/>
          <p:nvPr/>
        </p:nvSpPr>
        <p:spPr>
          <a:xfrm>
            <a:off x="3264408" y="4183380"/>
            <a:ext cx="2615184" cy="201168"/>
          </a:xfrm>
          <a:prstGeom prst="rect">
            <a:avLst/>
          </a:prstGeom>
          <a:noFill/>
          <a:ln/>
        </p:spPr>
        <p:txBody>
          <a:bodyPr wrap="square" rtlCol="0" anchor="ctr"/>
          <a:lstStyle/>
          <a:p>
            <a:pPr marL="0" indent="0">
              <a:buNone/>
            </a:pPr>
            <a:r>
              <a:rPr lang="en-US" sz="1000" b="1" dirty="0">
                <a:solidFill>
                  <a:srgbClr val="1B3A6B"/>
                </a:solidFill>
              </a:rPr>
              <a:t>Domain-agnostic Multi-tenant</a:t>
            </a:r>
            <a:endParaRPr lang="en-US" sz="1000" dirty="0"/>
          </a:p>
        </p:txBody>
      </p:sp>
      <p:sp>
        <p:nvSpPr>
          <p:cNvPr id="50" name="Text 48"/>
          <p:cNvSpPr/>
          <p:nvPr/>
        </p:nvSpPr>
        <p:spPr>
          <a:xfrm>
            <a:off x="3264408" y="4448556"/>
            <a:ext cx="2615184" cy="475488"/>
          </a:xfrm>
          <a:prstGeom prst="rect">
            <a:avLst/>
          </a:prstGeom>
          <a:noFill/>
          <a:ln/>
        </p:spPr>
        <p:txBody>
          <a:bodyPr wrap="square" rtlCol="0" anchor="ctr"/>
          <a:lstStyle/>
          <a:p>
            <a:pPr marL="0" indent="0">
              <a:buNone/>
            </a:pPr>
            <a:r>
              <a:rPr lang="en-US" sz="900" dirty="0">
                <a:solidFill>
                  <a:srgbClr val="6B7280"/>
                </a:solidFill>
              </a:rPr>
              <a:t>Same 10-agent engine, different knowledge layers per client/domain. Health Cloud gets aged-care compliance context. Financial Services gets APRA. Each client's org learnings are partitioned separately.</a:t>
            </a:r>
            <a:endParaRPr lang="en-US" sz="900" dirty="0"/>
          </a:p>
        </p:txBody>
      </p:sp>
      <p:sp>
        <p:nvSpPr>
          <p:cNvPr id="51" name="Shape 38">
            <a:extLst>
              <a:ext uri="{FF2B5EF4-FFF2-40B4-BE49-F238E27FC236}">
                <a16:creationId xmlns:a16="http://schemas.microsoft.com/office/drawing/2014/main" id="{8642E643-88E5-47F9-4EF3-BA9FE93253F9}"/>
              </a:ext>
            </a:extLst>
          </p:cNvPr>
          <p:cNvSpPr/>
          <p:nvPr/>
        </p:nvSpPr>
        <p:spPr>
          <a:xfrm>
            <a:off x="5943600" y="2458212"/>
            <a:ext cx="2926080" cy="358140"/>
          </a:xfrm>
          <a:prstGeom prst="roundRect">
            <a:avLst>
              <a:gd name="adj" fmla="val 13889"/>
            </a:avLst>
          </a:prstGeom>
          <a:solidFill>
            <a:srgbClr val="F8FAFC"/>
          </a:solidFill>
          <a:ln w="12700">
            <a:solidFill>
              <a:srgbClr val="E2E8F0"/>
            </a:solidFill>
            <a:prstDash val="solid"/>
          </a:ln>
        </p:spPr>
        <p:txBody>
          <a:bodyPr/>
          <a:lstStyle/>
          <a:p>
            <a:r>
              <a:rPr lang="en-US" sz="1000" dirty="0">
                <a:solidFill>
                  <a:srgbClr val="1A1A1A"/>
                </a:solidFill>
              </a:rPr>
              <a:t>   Skills library — DONE</a:t>
            </a:r>
            <a:r>
              <a:rPr lang="en-US" sz="900" dirty="0">
                <a:solidFill>
                  <a:srgbClr val="1A1A1A"/>
                </a:solidFill>
              </a:rPr>
              <a:t> reusable domain knowledge per agent ✓</a:t>
            </a:r>
          </a:p>
        </p:txBody>
      </p:sp>
      <p:sp>
        <p:nvSpPr>
          <p:cNvPr id="52" name="Shape 43">
            <a:extLst>
              <a:ext uri="{FF2B5EF4-FFF2-40B4-BE49-F238E27FC236}">
                <a16:creationId xmlns:a16="http://schemas.microsoft.com/office/drawing/2014/main" id="{09B3AA75-BF50-6949-6B44-957889EB1FCD}"/>
              </a:ext>
            </a:extLst>
          </p:cNvPr>
          <p:cNvSpPr/>
          <p:nvPr/>
        </p:nvSpPr>
        <p:spPr>
          <a:xfrm>
            <a:off x="6062474" y="3922776"/>
            <a:ext cx="2834640" cy="1127760"/>
          </a:xfrm>
          <a:prstGeom prst="roundRect">
            <a:avLst>
              <a:gd name="adj" fmla="val 9091"/>
            </a:avLst>
          </a:prstGeom>
          <a:solidFill>
            <a:srgbClr val="F8FAFC"/>
          </a:solidFill>
          <a:ln w="12700">
            <a:solidFill>
              <a:srgbClr val="E2E8F0"/>
            </a:solidFill>
            <a:prstDash val="solid"/>
          </a:ln>
        </p:spPr>
        <p:txBody>
          <a:bodyPr/>
          <a:lstStyle/>
          <a:p>
            <a:endParaRPr lang="en-US"/>
          </a:p>
        </p:txBody>
      </p:sp>
      <p:sp>
        <p:nvSpPr>
          <p:cNvPr id="53" name="Text 44">
            <a:extLst>
              <a:ext uri="{FF2B5EF4-FFF2-40B4-BE49-F238E27FC236}">
                <a16:creationId xmlns:a16="http://schemas.microsoft.com/office/drawing/2014/main" id="{23AAE547-6BEB-7E3F-D498-689DE5B327C9}"/>
              </a:ext>
            </a:extLst>
          </p:cNvPr>
          <p:cNvSpPr/>
          <p:nvPr/>
        </p:nvSpPr>
        <p:spPr>
          <a:xfrm>
            <a:off x="6172202" y="3977640"/>
            <a:ext cx="2615184" cy="201168"/>
          </a:xfrm>
          <a:prstGeom prst="rect">
            <a:avLst/>
          </a:prstGeom>
          <a:noFill/>
          <a:ln/>
        </p:spPr>
        <p:txBody>
          <a:bodyPr wrap="square" rtlCol="0" anchor="ctr"/>
          <a:lstStyle/>
          <a:p>
            <a:pPr marL="0" indent="0">
              <a:buNone/>
            </a:pPr>
            <a:r>
              <a:rPr lang="en-US" sz="1000" b="1" dirty="0">
                <a:solidFill>
                  <a:srgbClr val="7C3AED"/>
                </a:solidFill>
              </a:rPr>
              <a:t>Skills Library</a:t>
            </a:r>
            <a:endParaRPr lang="en-US" sz="1000" dirty="0"/>
          </a:p>
        </p:txBody>
      </p:sp>
      <p:sp>
        <p:nvSpPr>
          <p:cNvPr id="54" name="Text 45">
            <a:extLst>
              <a:ext uri="{FF2B5EF4-FFF2-40B4-BE49-F238E27FC236}">
                <a16:creationId xmlns:a16="http://schemas.microsoft.com/office/drawing/2014/main" id="{C8B8507A-D3F0-6182-43D3-870BFDB91981}"/>
              </a:ext>
            </a:extLst>
          </p:cNvPr>
          <p:cNvSpPr/>
          <p:nvPr/>
        </p:nvSpPr>
        <p:spPr>
          <a:xfrm>
            <a:off x="6172202" y="4306824"/>
            <a:ext cx="2615184" cy="475488"/>
          </a:xfrm>
          <a:prstGeom prst="rect">
            <a:avLst/>
          </a:prstGeom>
          <a:noFill/>
          <a:ln/>
        </p:spPr>
        <p:txBody>
          <a:bodyPr wrap="square" rtlCol="0" anchor="ctr"/>
          <a:lstStyle/>
          <a:p>
            <a:r>
              <a:rPr lang="en-US" sz="900" dirty="0"/>
              <a:t>Agent expertise moves from static prompts to a callable skills library in </a:t>
            </a:r>
            <a:r>
              <a:rPr lang="en-US" sz="900" dirty="0" err="1"/>
              <a:t>Supabase</a:t>
            </a:r>
            <a:r>
              <a:rPr lang="en-US" sz="900" dirty="0"/>
              <a:t>. sf-data pulls </a:t>
            </a:r>
            <a:r>
              <a:rPr lang="en-US" sz="900" b="1" dirty="0" err="1"/>
              <a:t>skill:ldv-patterns</a:t>
            </a:r>
            <a:r>
              <a:rPr lang="en-US" sz="900" b="1" dirty="0"/>
              <a:t> or </a:t>
            </a:r>
            <a:r>
              <a:rPr lang="en-US" sz="900" b="1" dirty="0" err="1"/>
              <a:t>skill:fsc-sharing-mode</a:t>
            </a:r>
            <a:r>
              <a:rPr lang="en-US" sz="900" dirty="0" err="1"/>
              <a:t>l</a:t>
            </a:r>
            <a:r>
              <a:rPr lang="en-US" sz="900" dirty="0"/>
              <a:t> at runtime based on document context. New domains added without rewriting agents. Skills are client-partitioned and compound across engagements.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10</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Sequential, building on prior context</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27248" y="1728216"/>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27248" y="2752344"/>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27248" y="3776472"/>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733288" y="2139696"/>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733288" y="3328416"/>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11480" y="160000"/>
            <a:ext cx="8291040" cy="15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APPENDIX — ENGINEERING ARCHITECTURE</a:t>
            </a:r>
          </a:p>
        </p:txBody>
      </p:sp>
      <p:sp>
        <p:nvSpPr>
          <p:cNvPr id="3" name="Text 1"/>
          <p:cNvSpPr/>
          <p:nvPr/>
        </p:nvSpPr>
        <p:spPr>
          <a:xfrm>
            <a:off x="411480" y="320000"/>
            <a:ext cx="8291040" cy="340000"/>
          </a:xfrm>
          <a:prstGeom prst="rect">
            <a:avLst/>
          </a:prstGeom>
          <a:noFill/>
          <a:ln/>
        </p:spPr>
        <p:txBody>
          <a:bodyPr wrap="square" rtlCol="0" anchor="ctr"/>
          <a:lstStyle/>
          <a:p>
            <a:pPr marL="0" indent="0" algn="l">
              <a:buNone/>
            </a:pPr>
            <a:r>
              <a:rPr lang="en-US" sz="1800" b="1" dirty="0">
                <a:solidFill>
                  <a:srgbClr val="1A1A1A"/>
                </a:solidFill>
                <a:latin typeface="Arial" pitchFamily="34" charset="0"/>
              </a:rPr>
              <a:t>The full stack, top to bottom</a:t>
            </a:r>
          </a:p>
        </p:txBody>
      </p:sp>
      <p:sp>
        <p:nvSpPr>
          <p:cNvPr id="4" name="Shape divider"/>
          <p:cNvSpPr/>
          <p:nvPr/>
        </p:nvSpPr>
        <p:spPr>
          <a:xfrm>
            <a:off x="411480" y="690000"/>
            <a:ext cx="8291040" cy="0"/>
          </a:xfrm>
          <a:prstGeom prst="line">
            <a:avLst/>
          </a:prstGeom>
          <a:noFill/>
          <a:ln w="9525">
            <a:solidFill>
              <a:srgbClr val="EBEBEB"/>
            </a:solidFill>
            <a:prstDash val="solid"/>
          </a:ln>
        </p:spPr>
        <p:txBody>
          <a:bodyPr/>
          <a:lstStyle/>
          <a:p>
            <a:endParaRPr lang="en-US"/>
          </a:p>
        </p:txBody>
      </p:sp>
      <p:sp>
        <p:nvSpPr>
          <p:cNvPr id="10" name="L1Bg"/>
          <p:cNvSpPr/>
          <p:nvPr/>
        </p:nvSpPr>
        <p:spPr>
          <a:xfrm>
            <a:off x="411480" y="760000"/>
            <a:ext cx="8291040" cy="420000"/>
          </a:xfrm>
          <a:prstGeom prst="roundRect">
            <a:avLst>
              <a:gd name="adj" fmla="val 8000"/>
            </a:avLst>
          </a:prstGeom>
          <a:solidFill>
            <a:srgbClr val="E6F1FB"/>
          </a:solidFill>
          <a:ln w="6350">
            <a:solidFill>
              <a:srgbClr val="378ADD"/>
            </a:solidFill>
          </a:ln>
        </p:spPr>
        <p:txBody>
          <a:bodyPr wrap="square" lIns="140000" tIns="60000" anchor="t"/>
          <a:lstStyle/>
          <a:p>
            <a:pPr marL="0" indent="0">
              <a:buNone/>
            </a:pPr>
            <a:r>
              <a:rPr lang="en-US" sz="1100" b="1" dirty="0">
                <a:solidFill>
                  <a:srgbClr val="0C447C"/>
                </a:solidFill>
                <a:latin typeface="Arial" pitchFamily="34" charset="0"/>
              </a:rPr>
              <a:t>Frontend</a:t>
            </a:r>
          </a:p>
          <a:p>
            <a:pPr marL="0" indent="0">
              <a:buNone/>
            </a:pPr>
            <a:r>
              <a:rPr lang="en-US" sz="850" dirty="0">
                <a:solidFill>
                  <a:srgbClr val="185FA5"/>
                </a:solidFill>
                <a:latin typeface="Arial" pitchFamily="34" charset="0"/>
              </a:rPr>
              <a:t>Next.js 14 App Router  ·  React  ·  TypeScript  —  ForumTestUI.tsx, 3-mode landing page, SalesforceOrgBanner</a:t>
            </a:r>
          </a:p>
        </p:txBody>
      </p:sp>
      <p:cxnSp>
        <p:nvCxnSpPr>
          <p:cNvPr id="11" name="Arrow1"/>
          <p:cNvCxnSpPr/>
          <p:nvPr/>
        </p:nvCxnSpPr>
        <p:spPr>
          <a:xfrm>
            <a:off x="4557000" y="1180000"/>
            <a:ext cx="0" cy="90000"/>
          </a:xfrm>
          <a:prstGeom prst="straightConnector1">
            <a:avLst/>
          </a:prstGeom>
          <a:ln w="15875">
            <a:solidFill>
              <a:srgbClr val="888780"/>
            </a:solidFill>
            <a:tailEnd type="triangle" w="med" len="med"/>
          </a:ln>
        </p:spPr>
      </p:cxnSp>
      <p:sp>
        <p:nvSpPr>
          <p:cNvPr id="12" name="L2Bg"/>
          <p:cNvSpPr/>
          <p:nvPr/>
        </p:nvSpPr>
        <p:spPr>
          <a:xfrm>
            <a:off x="411480" y="1270000"/>
            <a:ext cx="8291040" cy="420000"/>
          </a:xfrm>
          <a:prstGeom prst="roundRect">
            <a:avLst>
              <a:gd name="adj" fmla="val 8000"/>
            </a:avLst>
          </a:prstGeom>
          <a:solidFill>
            <a:srgbClr val="E1F5EE"/>
          </a:solidFill>
          <a:ln w="6350">
            <a:solidFill>
              <a:srgbClr val="0F6E56"/>
            </a:solidFill>
          </a:ln>
        </p:spPr>
        <p:txBody>
          <a:bodyPr wrap="square" lIns="140000" tIns="60000" anchor="t"/>
          <a:lstStyle/>
          <a:p>
            <a:pPr marL="0" indent="0">
              <a:buNone/>
            </a:pPr>
            <a:r>
              <a:rPr lang="en-US" sz="1100" b="1" dirty="0">
                <a:solidFill>
                  <a:srgbClr val="085041"/>
                </a:solidFill>
                <a:latin typeface="Arial" pitchFamily="34" charset="0"/>
              </a:rPr>
              <a:t>API routes</a:t>
            </a:r>
          </a:p>
          <a:p>
            <a:pPr marL="0" indent="0">
              <a:buNone/>
            </a:pPr>
            <a:r>
              <a:rPr lang="en-US" sz="850" dirty="0">
                <a:solidFill>
                  <a:srgbClr val="0F6E56"/>
                </a:solidFill>
                <a:latin typeface="Arial" pitchFamily="34" charset="0"/>
              </a:rPr>
              <a:t>Node.js runtime  —  /api/upload, /api/analyse, /api/forum, /api/salesforce/status, /api/seed-patterns</a:t>
            </a:r>
          </a:p>
        </p:txBody>
      </p:sp>
      <p:cxnSp>
        <p:nvCxnSpPr>
          <p:cNvPr id="13" name="Arrow2"/>
          <p:cNvCxnSpPr/>
          <p:nvPr/>
        </p:nvCxnSpPr>
        <p:spPr>
          <a:xfrm>
            <a:off x="4557000" y="1690000"/>
            <a:ext cx="0" cy="90000"/>
          </a:xfrm>
          <a:prstGeom prst="straightConnector1">
            <a:avLst/>
          </a:prstGeom>
          <a:ln w="15875">
            <a:solidFill>
              <a:srgbClr val="888780"/>
            </a:solidFill>
            <a:tailEnd type="triangle" w="med" len="med"/>
          </a:ln>
        </p:spPr>
      </p:cxnSp>
      <p:sp>
        <p:nvSpPr>
          <p:cNvPr id="14" name="L3Bg"/>
          <p:cNvSpPr/>
          <p:nvPr/>
        </p:nvSpPr>
        <p:spPr>
          <a:xfrm>
            <a:off x="411480" y="1780000"/>
            <a:ext cx="8291040" cy="420000"/>
          </a:xfrm>
          <a:prstGeom prst="roundRect">
            <a:avLst>
              <a:gd name="adj" fmla="val 8000"/>
            </a:avLst>
          </a:prstGeom>
          <a:solidFill>
            <a:srgbClr val="EEEDFE"/>
          </a:solidFill>
          <a:ln w="6350">
            <a:solidFill>
              <a:srgbClr val="534AB7"/>
            </a:solidFill>
          </a:ln>
        </p:spPr>
        <p:txBody>
          <a:bodyPr wrap="square" lIns="140000" tIns="60000" anchor="t"/>
          <a:lstStyle/>
          <a:p>
            <a:pPr marL="0" indent="0">
              <a:buNone/>
            </a:pPr>
            <a:r>
              <a:rPr lang="en-US" sz="1100" b="1" dirty="0">
                <a:solidFill>
                  <a:srgbClr val="3C3489"/>
                </a:solidFill>
                <a:latin typeface="Arial" pitchFamily="34" charset="0"/>
              </a:rPr>
              <a:t>ForumOrchestrator.ts</a:t>
            </a:r>
          </a:p>
          <a:p>
            <a:pPr marL="0" indent="0">
              <a:buNone/>
            </a:pPr>
            <a:r>
              <a:rPr lang="en-US" sz="850" dirty="0">
                <a:solidFill>
                  <a:srgbClr val="534AB7"/>
                </a:solidFill>
                <a:latin typeface="Arial" pitchFamily="34" charset="0"/>
              </a:rPr>
              <a:t>ImpactAnalyser  ·  retrieveMemory + retrieveOrgLearnings  ·  contextInjector.ts</a:t>
            </a:r>
          </a:p>
        </p:txBody>
      </p:sp>
      <p:cxnSp>
        <p:nvCxnSpPr>
          <p:cNvPr id="15" name="Arrow3"/>
          <p:cNvCxnSpPr/>
          <p:nvPr/>
        </p:nvCxnSpPr>
        <p:spPr>
          <a:xfrm>
            <a:off x="4557000" y="2200000"/>
            <a:ext cx="0" cy="90000"/>
          </a:xfrm>
          <a:prstGeom prst="straightConnector1">
            <a:avLst/>
          </a:prstGeom>
          <a:ln w="15875">
            <a:solidFill>
              <a:srgbClr val="888780"/>
            </a:solidFill>
            <a:tailEnd type="triangle" w="med" len="med"/>
          </a:ln>
        </p:spPr>
      </p:cxnSp>
      <p:sp>
        <p:nvSpPr>
          <p:cNvPr id="16" name="L4Bg"/>
          <p:cNvSpPr/>
          <p:nvPr/>
        </p:nvSpPr>
        <p:spPr>
          <a:xfrm>
            <a:off x="411480" y="2290000"/>
            <a:ext cx="8291040" cy="560000"/>
          </a:xfrm>
          <a:prstGeom prst="roundRect">
            <a:avLst>
              <a:gd name="adj" fmla="val 6000"/>
            </a:avLst>
          </a:prstGeom>
          <a:solidFill>
            <a:srgbClr val="FAECE7"/>
          </a:solidFill>
          <a:ln w="6350">
            <a:solidFill>
              <a:srgbClr val="D85A30"/>
            </a:solidFill>
          </a:ln>
        </p:spPr>
        <p:txBody>
          <a:bodyPr wrap="square" lIns="140000" tIns="60000" anchor="t"/>
          <a:lstStyle/>
          <a:p>
            <a:pPr marL="0" indent="0">
              <a:buNone/>
            </a:pPr>
            <a:r>
              <a:rPr lang="en-US" sz="1100" b="1" dirty="0">
                <a:solidFill>
                  <a:srgbClr val="712B13"/>
                </a:solidFill>
                <a:latin typeface="Arial" pitchFamily="34" charset="0"/>
              </a:rPr>
              <a:t>Agent pipeline — 9 specialists, sequential</a:t>
            </a:r>
          </a:p>
          <a:p>
            <a:pPr marL="0" indent="0">
              <a:buNone/>
            </a:pPr>
            <a:r>
              <a:rPr lang="en-US" sz="850" dirty="0">
                <a:solidFill>
                  <a:srgbClr val="993C1D"/>
                </a:solidFill>
                <a:latin typeface="Arial" pitchFamily="34" charset="0"/>
              </a:rPr>
              <a:t>Designer → Apex → LWC → Flow → OmniStudio → Integration → Patterns → Judge → Scribe → Learner</a:t>
            </a:r>
          </a:p>
          <a:p>
            <a:pPr marL="0" indent="0">
              <a:buNone/>
            </a:pPr>
            <a:r>
              <a:rPr lang="en-US" sz="850" i="1" dirty="0">
                <a:solidFill>
                  <a:srgbClr val="993C1D"/>
                </a:solidFill>
                <a:latin typeface="Arial" pitchFamily="34" charset="0"/>
              </a:rPr>
              <a:t>Each agent call is a single Anthropic API request — output of one feeds the next</a:t>
            </a:r>
          </a:p>
        </p:txBody>
      </p:sp>
      <p:cxnSp>
        <p:nvCxnSpPr>
          <p:cNvPr id="17" name="Arrow4a"/>
          <p:cNvCxnSpPr/>
          <p:nvPr/>
        </p:nvCxnSpPr>
        <p:spPr>
          <a:xfrm>
            <a:off x="1700000" y="2850000"/>
            <a:ext cx="0" cy="100000"/>
          </a:xfrm>
          <a:prstGeom prst="straightConnector1">
            <a:avLst/>
          </a:prstGeom>
          <a:ln w="15875">
            <a:solidFill>
              <a:srgbClr val="888780"/>
            </a:solidFill>
            <a:tailEnd type="triangle" w="med" len="med"/>
          </a:ln>
        </p:spPr>
      </p:cxnSp>
      <p:cxnSp>
        <p:nvCxnSpPr>
          <p:cNvPr id="18" name="Arrow4b"/>
          <p:cNvCxnSpPr/>
          <p:nvPr/>
        </p:nvCxnSpPr>
        <p:spPr>
          <a:xfrm>
            <a:off x="4557000" y="2850000"/>
            <a:ext cx="0" cy="100000"/>
          </a:xfrm>
          <a:prstGeom prst="straightConnector1">
            <a:avLst/>
          </a:prstGeom>
          <a:ln w="15875">
            <a:solidFill>
              <a:srgbClr val="888780"/>
            </a:solidFill>
            <a:tailEnd type="triangle" w="med" len="med"/>
          </a:ln>
        </p:spPr>
      </p:cxnSp>
      <p:cxnSp>
        <p:nvCxnSpPr>
          <p:cNvPr id="19" name="Arrow4c"/>
          <p:cNvCxnSpPr/>
          <p:nvPr/>
        </p:nvCxnSpPr>
        <p:spPr>
          <a:xfrm>
            <a:off x="7400000" y="2850000"/>
            <a:ext cx="0" cy="100000"/>
          </a:xfrm>
          <a:prstGeom prst="straightConnector1">
            <a:avLst/>
          </a:prstGeom>
          <a:ln w="15875">
            <a:solidFill>
              <a:srgbClr val="888780"/>
            </a:solidFill>
            <a:tailEnd type="triangle" w="med" len="med"/>
          </a:ln>
        </p:spPr>
      </p:cxnSp>
      <p:sp>
        <p:nvSpPr>
          <p:cNvPr id="20" name="SvcAnthropic"/>
          <p:cNvSpPr/>
          <p:nvPr/>
        </p:nvSpPr>
        <p:spPr>
          <a:xfrm>
            <a:off x="411480" y="2950000"/>
            <a:ext cx="2651760" cy="780000"/>
          </a:xfrm>
          <a:prstGeom prst="roundRect">
            <a:avLst>
              <a:gd name="adj" fmla="val 6000"/>
            </a:avLst>
          </a:prstGeom>
          <a:solidFill>
            <a:srgbClr val="EAF3DE"/>
          </a:solidFill>
          <a:ln w="6350">
            <a:solidFill>
              <a:srgbClr val="639922"/>
            </a:solidFill>
          </a:ln>
        </p:spPr>
        <p:txBody>
          <a:bodyPr wrap="square" lIns="120000" tIns="80000" anchor="t"/>
          <a:lstStyle/>
          <a:p>
            <a:pPr marL="0" indent="0" algn="ctr">
              <a:buNone/>
            </a:pPr>
            <a:r>
              <a:rPr lang="en-US" sz="1050" b="1" dirty="0">
                <a:solidFill>
                  <a:srgbClr val="27500A"/>
                </a:solidFill>
                <a:latin typeface="Arial" pitchFamily="34" charset="0"/>
              </a:rPr>
              <a:t>Anthropic API</a:t>
            </a:r>
          </a:p>
          <a:p>
            <a:pPr marL="0" indent="0" algn="ctr">
              <a:buNone/>
            </a:pPr>
            <a:r>
              <a:rPr lang="en-US" sz="850" dirty="0">
                <a:solidFill>
                  <a:srgbClr val="3B6D11"/>
                </a:solidFill>
                <a:latin typeface="Arial" pitchFamily="34" charset="0"/>
              </a:rPr>
              <a:t>Claude Sonnet</a:t>
            </a:r>
          </a:p>
          <a:p>
            <a:pPr marL="0" indent="0" algn="ctr">
              <a:buNone/>
            </a:pPr>
            <a:r>
              <a:rPr lang="en-US" sz="850" dirty="0">
                <a:solidFill>
                  <a:srgbClr val="3B6D11"/>
                </a:solidFill>
                <a:latin typeface="Arial" pitchFamily="34" charset="0"/>
              </a:rPr>
              <a:t>9 sequential calls / session</a:t>
            </a:r>
          </a:p>
          <a:p>
            <a:pPr marL="0" indent="0" algn="ctr">
              <a:buNone/>
            </a:pPr>
            <a:r>
              <a:rPr lang="en-US" sz="850" dirty="0">
                <a:solidFill>
                  <a:srgbClr val="3B6D11"/>
                </a:solidFill>
                <a:latin typeface="Arial" pitchFamily="34" charset="0"/>
              </a:rPr>
              <a:t>Mock / Live toggle</a:t>
            </a:r>
          </a:p>
        </p:txBody>
      </p:sp>
      <p:sp>
        <p:nvSpPr>
          <p:cNvPr id="21" name="SvcSupabase"/>
          <p:cNvSpPr/>
          <p:nvPr/>
        </p:nvSpPr>
        <p:spPr>
          <a:xfrm>
            <a:off x="3227832" y="2950000"/>
            <a:ext cx="2651760" cy="780000"/>
          </a:xfrm>
          <a:prstGeom prst="roundRect">
            <a:avLst>
              <a:gd name="adj" fmla="val 6000"/>
            </a:avLst>
          </a:prstGeom>
          <a:solidFill>
            <a:srgbClr val="FAEEDA"/>
          </a:solidFill>
          <a:ln w="6350">
            <a:solidFill>
              <a:srgbClr val="BA7517"/>
            </a:solidFill>
          </a:ln>
        </p:spPr>
        <p:txBody>
          <a:bodyPr wrap="square" lIns="120000" tIns="80000" anchor="t"/>
          <a:lstStyle/>
          <a:p>
            <a:pPr marL="0" indent="0" algn="ctr">
              <a:buNone/>
            </a:pPr>
            <a:r>
              <a:rPr lang="en-US" sz="1050" b="1" dirty="0">
                <a:solidFill>
                  <a:srgbClr val="633806"/>
                </a:solidFill>
                <a:latin typeface="Arial" pitchFamily="34" charset="0"/>
              </a:rPr>
              <a:t>Supabase</a:t>
            </a:r>
          </a:p>
          <a:p>
            <a:pPr marL="0" indent="0" algn="ctr">
              <a:buNone/>
            </a:pPr>
            <a:r>
              <a:rPr lang="en-US" sz="850" dirty="0">
                <a:solidFill>
                  <a:srgbClr val="854F0B"/>
                </a:solidFill>
                <a:latin typeface="Arial" pitchFamily="34" charset="0"/>
              </a:rPr>
              <a:t>failure_patterns</a:t>
            </a:r>
          </a:p>
          <a:p>
            <a:pPr marL="0" indent="0" algn="ctr">
              <a:buNone/>
            </a:pPr>
            <a:r>
              <a:rPr lang="en-US" sz="850" dirty="0">
                <a:solidFill>
                  <a:srgbClr val="854F0B"/>
                </a:solidFill>
                <a:latin typeface="Arial" pitchFamily="34" charset="0"/>
              </a:rPr>
              <a:t>org_learnings</a:t>
            </a:r>
          </a:p>
          <a:p>
            <a:pPr marL="0" indent="0" algn="ctr">
              <a:buNone/>
            </a:pPr>
            <a:r>
              <a:rPr lang="en-US" sz="850" dirty="0">
                <a:solidFill>
                  <a:srgbClr val="854F0B"/>
                </a:solidFill>
                <a:latin typeface="Arial" pitchFamily="34" charset="0"/>
              </a:rPr>
              <a:t>sessions · signoffs</a:t>
            </a:r>
          </a:p>
        </p:txBody>
      </p:sp>
      <p:sp>
        <p:nvSpPr>
          <p:cNvPr id="22" name="SvcJira"/>
          <p:cNvSpPr/>
          <p:nvPr/>
        </p:nvSpPr>
        <p:spPr>
          <a:xfrm>
            <a:off x="6044184" y="2950000"/>
            <a:ext cx="2658336" cy="780000"/>
          </a:xfrm>
          <a:prstGeom prst="roundRect">
            <a:avLst>
              <a:gd name="adj" fmla="val 6000"/>
            </a:avLst>
          </a:prstGeom>
          <a:solidFill>
            <a:srgbClr val="FBEAF0"/>
          </a:solidFill>
          <a:ln w="6350">
            <a:solidFill>
              <a:srgbClr val="D4537E"/>
            </a:solidFill>
          </a:ln>
        </p:spPr>
        <p:txBody>
          <a:bodyPr wrap="square" lIns="120000" tIns="80000" anchor="t"/>
          <a:lstStyle/>
          <a:p>
            <a:pPr marL="0" indent="0" algn="ctr">
              <a:buNone/>
            </a:pPr>
            <a:r>
              <a:rPr lang="en-US" sz="1050" b="1" dirty="0">
                <a:solidFill>
                  <a:srgbClr val="4B1528"/>
                </a:solidFill>
                <a:latin typeface="Arial" pitchFamily="34" charset="0"/>
              </a:rPr>
              <a:t>Jira</a:t>
            </a:r>
          </a:p>
          <a:p>
            <a:pPr marL="0" indent="0" algn="ctr">
              <a:buNone/>
            </a:pPr>
            <a:r>
              <a:rPr lang="en-US" sz="850" dirty="0">
                <a:solidFill>
                  <a:srgbClr val="72243E"/>
                </a:solidFill>
                <a:latin typeface="Arial" pitchFamily="34" charset="0"/>
              </a:rPr>
              <a:t>Project ARBOARD</a:t>
            </a:r>
          </a:p>
          <a:p>
            <a:pPr marL="0" indent="0" algn="ctr">
              <a:buNone/>
            </a:pPr>
            <a:r>
              <a:rPr lang="en-US" sz="850" dirty="0">
                <a:solidFill>
                  <a:srgbClr val="72243E"/>
                </a:solidFill>
                <a:latin typeface="Arial" pitchFamily="34" charset="0"/>
              </a:rPr>
              <a:t>ADR storage</a:t>
            </a:r>
          </a:p>
          <a:p>
            <a:pPr marL="0" indent="0" algn="ctr">
              <a:buNone/>
            </a:pPr>
            <a:r>
              <a:rPr lang="en-US" sz="850" dirty="0">
                <a:solidFill>
                  <a:srgbClr val="72243E"/>
                </a:solidFill>
                <a:latin typeface="Arial" pitchFamily="34" charset="0"/>
              </a:rPr>
              <a:t>JQL retrieval</a:t>
            </a:r>
          </a:p>
        </p:txBody>
      </p:sp>
      <p:cxnSp>
        <p:nvCxnSpPr>
          <p:cNvPr id="23" name="Arrow5"/>
          <p:cNvCxnSpPr/>
          <p:nvPr/>
        </p:nvCxnSpPr>
        <p:spPr>
          <a:xfrm>
            <a:off x="4557000" y="3730000"/>
            <a:ext cx="0" cy="100000"/>
          </a:xfrm>
          <a:prstGeom prst="straightConnector1">
            <a:avLst/>
          </a:prstGeom>
          <a:ln w="15875">
            <a:solidFill>
              <a:srgbClr val="888780"/>
            </a:solidFill>
            <a:tailEnd type="triangle" w="med" len="med"/>
          </a:ln>
        </p:spPr>
      </p:cxnSp>
      <p:sp>
        <p:nvSpPr>
          <p:cNvPr id="24" name="FooterBg"/>
          <p:cNvSpPr/>
          <p:nvPr/>
        </p:nvSpPr>
        <p:spPr>
          <a:xfrm>
            <a:off x="411480" y="3830000"/>
            <a:ext cx="8291040" cy="380000"/>
          </a:xfrm>
          <a:prstGeom prst="roundRect">
            <a:avLst>
              <a:gd name="adj" fmla="val 8000"/>
            </a:avLst>
          </a:prstGeom>
          <a:solidFill>
            <a:srgbClr val="F1EFE8"/>
          </a:solidFill>
          <a:ln w="6350">
            <a:solidFill>
              <a:srgbClr val="B4B2A9"/>
            </a:solidFill>
          </a:ln>
        </p:spPr>
        <p:txBody>
          <a:bodyPr wrap="square" lIns="140000" anchor="ctr"/>
          <a:lstStyle/>
          <a:p>
            <a:pPr marL="0" indent="0">
              <a:buNone/>
            </a:pPr>
            <a:r>
              <a:rPr lang="en-US" sz="950" b="1" dirty="0">
                <a:solidFill>
                  <a:srgbClr val="2C2C2A"/>
                </a:solidFill>
                <a:latin typeface="Arial" pitchFamily="34" charset="0"/>
              </a:rPr>
              <a:t>Salesforce org connectivity:  </a:t>
            </a:r>
            <a:r>
              <a:rPr lang="en-US" sz="850" dirty="0">
                <a:solidFill>
                  <a:srgbClr val="5F5E5A"/>
                </a:solidFill>
                <a:latin typeface="Arial" pitchFamily="34" charset="0"/>
              </a:rPr>
              <a:t>Hosted MCP gateway → jsforce fallback — live metadata for grounding</a:t>
            </a:r>
          </a:p>
        </p:txBody>
      </p:sp>
      <p:sp>
        <p:nvSpPr>
          <p:cNvPr id="25" name="DeployFooter"/>
          <p:cNvSpPr/>
          <p:nvPr/>
        </p:nvSpPr>
        <p:spPr>
          <a:xfrm>
            <a:off x="411480" y="4260000"/>
            <a:ext cx="8291040" cy="220000"/>
          </a:xfrm>
          <a:prstGeom prst="rect">
            <a:avLst/>
          </a:prstGeom>
          <a:noFill/>
          <a:ln/>
        </p:spPr>
        <p:txBody>
          <a:bodyPr wrap="square" lIns="140000" anchor="ctr"/>
          <a:lstStyle/>
          <a:p>
            <a:pPr marL="0" indent="0" algn="ctr">
              <a:buNone/>
            </a:pPr>
            <a:r>
              <a:rPr lang="en-US" sz="800" i="1" dirty="0">
                <a:solidFill>
                  <a:srgbClr val="888780"/>
                </a:solidFill>
                <a:latin typeface="Arial" pitchFamily="34" charset="0"/>
              </a:rPr>
              <a:t>Deployed on Vercel — arboard.vercel.app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591</TotalTime>
  <Words>4365</Words>
  <Application>Microsoft Office PowerPoint</Application>
  <PresentationFormat>On-screen Show (16:9)</PresentationFormat>
  <Paragraphs>653</Paragraphs>
  <Slides>25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6</cp:revision>
  <dcterms:created xsi:type="dcterms:W3CDTF">2026-06-27T03:16:30Z</dcterms:created>
  <dcterms:modified xsi:type="dcterms:W3CDTF">2026-07-03T05:38:14Z</dcterms:modified>
</cp:coreProperties>
</file>