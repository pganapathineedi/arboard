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8"/>
    <p:sldId id="268" r:id="rId19"/>
    <p:sldId id="269" r:id="rId20"/>
    <p:sldId id="270" r:id="rId21"/>
    <p:sldId id="271" r:id="rId22"/>
    <p:sldId id="272" r:id="rId23"/>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p:bgPr>
    </p:bg>
    <p:spTree>
      <p:nvGrpSpPr>
        <p:cNvPr id="1" name=""/>
        <p:cNvGrpSpPr/>
        <p:nvPr/>
      </p:nvGrpSpPr>
      <p:grpSpPr>
        <a:xfrm>
          <a:off x="0" y="0"/>
          <a:ext cx="0" cy="0"/>
          <a:chOff x="0" y="0"/>
          <a:chExt cx="0" cy="0"/>
        </a:xfrm>
      </p:grpSpPr>
      <p:sp>
        <p:nvSpPr>
          <p:cNvPr id="2" name="Text 0"/>
          <p:cNvSpPr/>
          <p:nvPr/>
        </p:nvSpPr>
        <p:spPr>
          <a:xfrm>
            <a:off x="502920" y="1005840"/>
            <a:ext cx="8229600" cy="1005840"/>
          </a:xfrm>
          <a:prstGeom prst="rect">
            <a:avLst/>
          </a:prstGeom>
          <a:noFill/>
          <a:ln/>
        </p:spPr>
        <p:txBody>
          <a:bodyPr wrap="square" rtlCol="0" anchor="ctr"/>
          <a:lstStyle/>
          <a:p>
            <a:pPr indent="0" marL="0">
              <a:buNone/>
            </a:pPr>
            <a:r>
              <a:rPr lang="en-US" sz="5600" b="1" dirty="0">
                <a:solidFill>
                  <a:srgbClr val="FFFFFF"/>
                </a:solidFill>
                <a:latin typeface="Arial" pitchFamily="34" charset="0"/>
                <a:ea typeface="Arial" pitchFamily="34" charset="-122"/>
                <a:cs typeface="Arial" pitchFamily="34" charset="-120"/>
              </a:rPr>
              <a:t>ARBoard</a:t>
            </a:r>
            <a:endParaRPr lang="en-US" sz="5600" dirty="0"/>
          </a:p>
        </p:txBody>
      </p:sp>
      <p:sp>
        <p:nvSpPr>
          <p:cNvPr id="3" name="Text 1"/>
          <p:cNvSpPr/>
          <p:nvPr/>
        </p:nvSpPr>
        <p:spPr>
          <a:xfrm>
            <a:off x="502920" y="1965960"/>
            <a:ext cx="7315200" cy="457200"/>
          </a:xfrm>
          <a:prstGeom prst="rect">
            <a:avLst/>
          </a:prstGeom>
          <a:noFill/>
          <a:ln/>
        </p:spPr>
        <p:txBody>
          <a:bodyPr wrap="square" rtlCol="0" anchor="ctr"/>
          <a:lstStyle/>
          <a:p>
            <a:pPr indent="0" marL="0">
              <a:buNone/>
            </a:pPr>
            <a:r>
              <a:rPr lang="en-US" sz="1800" dirty="0">
                <a:solidFill>
                  <a:srgbClr val="A0B8D8"/>
                </a:solidFill>
                <a:latin typeface="Arial" pitchFamily="34" charset="0"/>
                <a:ea typeface="Arial" pitchFamily="34" charset="-122"/>
                <a:cs typeface="Arial" pitchFamily="34" charset="-120"/>
              </a:rPr>
              <a:t>AI-Powered Salesforce Architecture Review Board</a:t>
            </a:r>
            <a:endParaRPr lang="en-US" sz="1800" dirty="0"/>
          </a:p>
        </p:txBody>
      </p:sp>
      <p:sp>
        <p:nvSpPr>
          <p:cNvPr id="4" name="Shape 2"/>
          <p:cNvSpPr/>
          <p:nvPr/>
        </p:nvSpPr>
        <p:spPr>
          <a:xfrm>
            <a:off x="502920" y="1920240"/>
            <a:ext cx="3200400" cy="0"/>
          </a:xfrm>
          <a:prstGeom prst="line">
            <a:avLst/>
          </a:prstGeom>
          <a:noFill/>
          <a:ln w="25400">
            <a:solidFill>
              <a:srgbClr val="2E6DA4"/>
            </a:solidFill>
            <a:prstDash val="solid"/>
          </a:ln>
        </p:spPr>
      </p:sp>
      <p:sp>
        <p:nvSpPr>
          <p:cNvPr id="5" name="Text 3"/>
          <p:cNvSpPr/>
          <p:nvPr/>
        </p:nvSpPr>
        <p:spPr>
          <a:xfrm>
            <a:off x="502920" y="2743200"/>
            <a:ext cx="8138160" cy="320040"/>
          </a:xfrm>
          <a:prstGeom prst="rect">
            <a:avLst/>
          </a:prstGeom>
          <a:noFill/>
          <a:ln/>
        </p:spPr>
        <p:txBody>
          <a:bodyPr wrap="square" rtlCol="0" anchor="ctr"/>
          <a:lstStyle/>
          <a:p>
            <a:pPr indent="0" marL="0">
              <a:buNone/>
            </a:pPr>
            <a:r>
              <a:rPr lang="en-US" sz="1100" i="1" dirty="0">
                <a:solidFill>
                  <a:srgbClr val="6A84A8"/>
                </a:solidFill>
                <a:latin typeface="Arial" pitchFamily="34" charset="0"/>
                <a:ea typeface="Arial" pitchFamily="34" charset="-122"/>
                <a:cs typeface="Arial" pitchFamily="34" charset="-120"/>
              </a:rPr>
              <a:t>9 specialist agents · Multi-phase debate · ADR output · Jira integration · Cross-session memory</a:t>
            </a:r>
            <a:endParaRPr lang="en-US" sz="1100" dirty="0"/>
          </a:p>
        </p:txBody>
      </p:sp>
      <p:sp>
        <p:nvSpPr>
          <p:cNvPr id="6" name="Text 4"/>
          <p:cNvSpPr/>
          <p:nvPr/>
        </p:nvSpPr>
        <p:spPr>
          <a:xfrm>
            <a:off x="502920" y="4480560"/>
            <a:ext cx="8138160" cy="274320"/>
          </a:xfrm>
          <a:prstGeom prst="rect">
            <a:avLst/>
          </a:prstGeom>
          <a:noFill/>
          <a:ln/>
        </p:spPr>
        <p:txBody>
          <a:bodyPr wrap="square" rtlCol="0" anchor="ctr"/>
          <a:lstStyle/>
          <a:p>
            <a:pPr indent="0" marL="0">
              <a:buNone/>
            </a:pPr>
            <a:r>
              <a:rPr lang="en-US" sz="1000" dirty="0">
                <a:solidFill>
                  <a:srgbClr val="445566"/>
                </a:solidFill>
                <a:latin typeface="Arial" pitchFamily="34" charset="0"/>
                <a:ea typeface="Arial" pitchFamily="34" charset="-122"/>
                <a:cs typeface="Arial" pitchFamily="34" charset="-120"/>
              </a:rPr>
              <a:t>Built with Claude API · Next.js 14 · Supabase · Vercel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Architecture reviews are slow, inconsistent, and often too late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502920"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502920"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502920"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Too slow</a:t>
            </a:r>
            <a:endParaRPr lang="en-US" sz="1300" dirty="0"/>
          </a:p>
        </p:txBody>
      </p:sp>
      <p:sp>
        <p:nvSpPr>
          <p:cNvPr id="8" name="Text 6"/>
          <p:cNvSpPr/>
          <p:nvPr/>
        </p:nvSpPr>
        <p:spPr>
          <a:xfrm>
            <a:off x="502920"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ARB meetings take weeks to schedule. Design decisions cannot wait.</a:t>
            </a:r>
            <a:endParaRPr lang="en-US" sz="1050" dirty="0"/>
          </a:p>
        </p:txBody>
      </p:sp>
      <p:sp>
        <p:nvSpPr>
          <p:cNvPr id="9" name="Shape 7"/>
          <p:cNvSpPr/>
          <p:nvPr/>
        </p:nvSpPr>
        <p:spPr>
          <a:xfrm>
            <a:off x="2679192"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0" name="Text 8"/>
          <p:cNvSpPr/>
          <p:nvPr/>
        </p:nvSpPr>
        <p:spPr>
          <a:xfrm>
            <a:off x="2679192"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2679192"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Inconsistent</a:t>
            </a:r>
            <a:endParaRPr lang="en-US" sz="1300" dirty="0"/>
          </a:p>
        </p:txBody>
      </p:sp>
      <p:sp>
        <p:nvSpPr>
          <p:cNvPr id="12" name="Text 10"/>
          <p:cNvSpPr/>
          <p:nvPr/>
        </p:nvSpPr>
        <p:spPr>
          <a:xfrm>
            <a:off x="2679192"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Quality depends on who is in the room. Same pattern, different outcome.</a:t>
            </a:r>
            <a:endParaRPr lang="en-US" sz="1050" dirty="0"/>
          </a:p>
        </p:txBody>
      </p:sp>
      <p:sp>
        <p:nvSpPr>
          <p:cNvPr id="13" name="Shape 11"/>
          <p:cNvSpPr/>
          <p:nvPr/>
        </p:nvSpPr>
        <p:spPr>
          <a:xfrm>
            <a:off x="4855464"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4" name="Text 12"/>
          <p:cNvSpPr/>
          <p:nvPr/>
        </p:nvSpPr>
        <p:spPr>
          <a:xfrm>
            <a:off x="4855464"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855464"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Too late</a:t>
            </a:r>
            <a:endParaRPr lang="en-US" sz="1300" dirty="0"/>
          </a:p>
        </p:txBody>
      </p:sp>
      <p:sp>
        <p:nvSpPr>
          <p:cNvPr id="16" name="Text 14"/>
          <p:cNvSpPr/>
          <p:nvPr/>
        </p:nvSpPr>
        <p:spPr>
          <a:xfrm>
            <a:off x="4855464"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Review happens after build starts. Rework is expensive.</a:t>
            </a:r>
            <a:endParaRPr lang="en-US" sz="1050" dirty="0"/>
          </a:p>
        </p:txBody>
      </p:sp>
      <p:sp>
        <p:nvSpPr>
          <p:cNvPr id="17" name="Shape 15"/>
          <p:cNvSpPr/>
          <p:nvPr/>
        </p:nvSpPr>
        <p:spPr>
          <a:xfrm>
            <a:off x="7031736" y="1417320"/>
            <a:ext cx="2011680" cy="2560320"/>
          </a:xfrm>
          <a:prstGeom prst="roundRect">
            <a:avLst>
              <a:gd name="adj" fmla="val 363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7031736" y="1554480"/>
            <a:ext cx="2011680" cy="457200"/>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7031736" y="2011680"/>
            <a:ext cx="201168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No memory</a:t>
            </a:r>
            <a:endParaRPr lang="en-US" sz="1300" dirty="0"/>
          </a:p>
        </p:txBody>
      </p:sp>
      <p:sp>
        <p:nvSpPr>
          <p:cNvPr id="20" name="Text 18"/>
          <p:cNvSpPr/>
          <p:nvPr/>
        </p:nvSpPr>
        <p:spPr>
          <a:xfrm>
            <a:off x="7031736" y="2331720"/>
            <a:ext cx="2011680" cy="822960"/>
          </a:xfrm>
          <a:prstGeom prst="rect">
            <a:avLst/>
          </a:prstGeom>
          <a:noFill/>
          <a:ln/>
        </p:spPr>
        <p:txBody>
          <a:bodyPr wrap="square" rtlCol="0" anchor="t"/>
          <a:lstStyle/>
          <a:p>
            <a:pPr algn="ctr" indent="0" marL="0">
              <a:buNone/>
            </a:pPr>
            <a:r>
              <a:rPr lang="en-US" sz="1050" dirty="0">
                <a:solidFill>
                  <a:srgbClr val="64635E"/>
                </a:solidFill>
                <a:latin typeface="Arial" pitchFamily="34" charset="0"/>
                <a:ea typeface="Arial" pitchFamily="34" charset="-122"/>
                <a:cs typeface="Arial" pitchFamily="34" charset="-120"/>
              </a:rPr>
              <a:t>Each review starts from scratch. Past decisions are not enforced.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THE SOLUTION</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ARBoard runs a full architecture review in minutes, not weeks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65760" y="1371600"/>
            <a:ext cx="1965960" cy="2651760"/>
          </a:xfrm>
          <a:prstGeom prst="roundRect">
            <a:avLst>
              <a:gd name="adj" fmla="val 3721"/>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Shape 4"/>
          <p:cNvSpPr/>
          <p:nvPr/>
        </p:nvSpPr>
        <p:spPr>
          <a:xfrm>
            <a:off x="1097280" y="1481328"/>
            <a:ext cx="502920" cy="502920"/>
          </a:xfrm>
          <a:prstGeom prst="ellipse">
            <a:avLst/>
          </a:prstGeom>
          <a:solidFill>
            <a:srgbClr val="1B4F9B"/>
          </a:solidFill>
          <a:ln w="12700">
            <a:solidFill>
              <a:srgbClr val="1B4F9B"/>
            </a:solidFill>
            <a:prstDash val="solid"/>
          </a:ln>
        </p:spPr>
      </p:sp>
      <p:sp>
        <p:nvSpPr>
          <p:cNvPr id="7" name="Text 5"/>
          <p:cNvSpPr/>
          <p:nvPr/>
        </p:nvSpPr>
        <p:spPr>
          <a:xfrm>
            <a:off x="109728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36576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Input</a:t>
            </a:r>
            <a:endParaRPr lang="en-US" sz="1300" dirty="0"/>
          </a:p>
        </p:txBody>
      </p:sp>
      <p:sp>
        <p:nvSpPr>
          <p:cNvPr id="9" name="Text 7"/>
          <p:cNvSpPr/>
          <p:nvPr/>
        </p:nvSpPr>
        <p:spPr>
          <a:xfrm>
            <a:off x="36576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Requirement text or</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Solution Design doc</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(PDF / Word upload)</a:t>
            </a:r>
            <a:endParaRPr lang="en-US" sz="1000" dirty="0"/>
          </a:p>
        </p:txBody>
      </p:sp>
      <p:sp>
        <p:nvSpPr>
          <p:cNvPr id="10" name="Shape 8"/>
          <p:cNvSpPr/>
          <p:nvPr/>
        </p:nvSpPr>
        <p:spPr>
          <a:xfrm>
            <a:off x="2331720" y="1810512"/>
            <a:ext cx="182880" cy="0"/>
          </a:xfrm>
          <a:prstGeom prst="line">
            <a:avLst/>
          </a:prstGeom>
          <a:noFill/>
          <a:ln w="19050">
            <a:solidFill>
              <a:srgbClr val="2E6DA4"/>
            </a:solidFill>
            <a:prstDash val="solid"/>
          </a:ln>
        </p:spPr>
      </p:sp>
      <p:sp>
        <p:nvSpPr>
          <p:cNvPr id="11" name="Text 9"/>
          <p:cNvSpPr/>
          <p:nvPr/>
        </p:nvSpPr>
        <p:spPr>
          <a:xfrm>
            <a:off x="2359152" y="1700784"/>
            <a:ext cx="182880" cy="228600"/>
          </a:xfrm>
          <a:prstGeom prst="rect">
            <a:avLst/>
          </a:prstGeom>
          <a:noFill/>
          <a:ln/>
        </p:spPr>
        <p:txBody>
          <a:bodyPr wrap="square" rtlCol="0" anchor="ctr"/>
          <a:lstStyle/>
          <a:p>
            <a:pPr algn="ctr" indent="0" marL="0">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514600" y="1371600"/>
            <a:ext cx="1965960" cy="2651760"/>
          </a:xfrm>
          <a:prstGeom prst="roundRect">
            <a:avLst>
              <a:gd name="adj" fmla="val 3721"/>
            </a:avLst>
          </a:prstGeom>
          <a:solidFill>
            <a:srgbClr val="EBF2FA"/>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3" name="Shape 11"/>
          <p:cNvSpPr/>
          <p:nvPr/>
        </p:nvSpPr>
        <p:spPr>
          <a:xfrm>
            <a:off x="3246120" y="1481328"/>
            <a:ext cx="502920" cy="502920"/>
          </a:xfrm>
          <a:prstGeom prst="ellipse">
            <a:avLst/>
          </a:prstGeom>
          <a:solidFill>
            <a:srgbClr val="1B4F9B"/>
          </a:solidFill>
          <a:ln w="12700">
            <a:solidFill>
              <a:srgbClr val="1B4F9B"/>
            </a:solidFill>
            <a:prstDash val="solid"/>
          </a:ln>
        </p:spPr>
      </p:sp>
      <p:sp>
        <p:nvSpPr>
          <p:cNvPr id="14" name="Text 12"/>
          <p:cNvSpPr/>
          <p:nvPr/>
        </p:nvSpPr>
        <p:spPr>
          <a:xfrm>
            <a:off x="324612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251460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Debate</a:t>
            </a:r>
            <a:endParaRPr lang="en-US" sz="1300" dirty="0"/>
          </a:p>
        </p:txBody>
      </p:sp>
      <p:sp>
        <p:nvSpPr>
          <p:cNvPr id="16" name="Text 14"/>
          <p:cNvSpPr/>
          <p:nvPr/>
        </p:nvSpPr>
        <p:spPr>
          <a:xfrm>
            <a:off x="251460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9 specialist agents run</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in parallel, each critiquing</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from their domain</a:t>
            </a:r>
            <a:endParaRPr lang="en-US" sz="1000" dirty="0"/>
          </a:p>
        </p:txBody>
      </p:sp>
      <p:sp>
        <p:nvSpPr>
          <p:cNvPr id="17" name="Shape 15"/>
          <p:cNvSpPr/>
          <p:nvPr/>
        </p:nvSpPr>
        <p:spPr>
          <a:xfrm>
            <a:off x="4480560" y="1810512"/>
            <a:ext cx="182880" cy="0"/>
          </a:xfrm>
          <a:prstGeom prst="line">
            <a:avLst/>
          </a:prstGeom>
          <a:noFill/>
          <a:ln w="19050">
            <a:solidFill>
              <a:srgbClr val="2E6DA4"/>
            </a:solidFill>
            <a:prstDash val="solid"/>
          </a:ln>
        </p:spPr>
      </p:sp>
      <p:sp>
        <p:nvSpPr>
          <p:cNvPr id="18" name="Text 16"/>
          <p:cNvSpPr/>
          <p:nvPr/>
        </p:nvSpPr>
        <p:spPr>
          <a:xfrm>
            <a:off x="4507992" y="1700784"/>
            <a:ext cx="182880" cy="228600"/>
          </a:xfrm>
          <a:prstGeom prst="rect">
            <a:avLst/>
          </a:prstGeom>
          <a:noFill/>
          <a:ln/>
        </p:spPr>
        <p:txBody>
          <a:bodyPr wrap="square" rtlCol="0" anchor="ctr"/>
          <a:lstStyle/>
          <a:p>
            <a:pPr algn="ctr" indent="0" marL="0">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4663440" y="1371600"/>
            <a:ext cx="1965960" cy="2651760"/>
          </a:xfrm>
          <a:prstGeom prst="roundRect">
            <a:avLst>
              <a:gd name="adj" fmla="val 3721"/>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0" name="Shape 18"/>
          <p:cNvSpPr/>
          <p:nvPr/>
        </p:nvSpPr>
        <p:spPr>
          <a:xfrm>
            <a:off x="5394960" y="1481328"/>
            <a:ext cx="502920" cy="502920"/>
          </a:xfrm>
          <a:prstGeom prst="ellipse">
            <a:avLst/>
          </a:prstGeom>
          <a:solidFill>
            <a:srgbClr val="1B4F9B"/>
          </a:solidFill>
          <a:ln w="12700">
            <a:solidFill>
              <a:srgbClr val="1B4F9B"/>
            </a:solidFill>
            <a:prstDash val="solid"/>
          </a:ln>
        </p:spPr>
      </p:sp>
      <p:sp>
        <p:nvSpPr>
          <p:cNvPr id="21" name="Text 19"/>
          <p:cNvSpPr/>
          <p:nvPr/>
        </p:nvSpPr>
        <p:spPr>
          <a:xfrm>
            <a:off x="539496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466344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Judge</a:t>
            </a:r>
            <a:endParaRPr lang="en-US" sz="1300" dirty="0"/>
          </a:p>
        </p:txBody>
      </p:sp>
      <p:sp>
        <p:nvSpPr>
          <p:cNvPr id="23" name="Text 21"/>
          <p:cNvSpPr/>
          <p:nvPr/>
        </p:nvSpPr>
        <p:spPr>
          <a:xfrm>
            <a:off x="466344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Judge agent arbitrates</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conflicts, assigns</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confidence score</a:t>
            </a:r>
            <a:endParaRPr lang="en-US" sz="1000" dirty="0"/>
          </a:p>
        </p:txBody>
      </p:sp>
      <p:sp>
        <p:nvSpPr>
          <p:cNvPr id="24" name="Shape 22"/>
          <p:cNvSpPr/>
          <p:nvPr/>
        </p:nvSpPr>
        <p:spPr>
          <a:xfrm>
            <a:off x="6629400" y="1810512"/>
            <a:ext cx="182880" cy="0"/>
          </a:xfrm>
          <a:prstGeom prst="line">
            <a:avLst/>
          </a:prstGeom>
          <a:noFill/>
          <a:ln w="19050">
            <a:solidFill>
              <a:srgbClr val="2E6DA4"/>
            </a:solidFill>
            <a:prstDash val="solid"/>
          </a:ln>
        </p:spPr>
      </p:sp>
      <p:sp>
        <p:nvSpPr>
          <p:cNvPr id="25" name="Text 23"/>
          <p:cNvSpPr/>
          <p:nvPr/>
        </p:nvSpPr>
        <p:spPr>
          <a:xfrm>
            <a:off x="6656832" y="1700784"/>
            <a:ext cx="182880" cy="228600"/>
          </a:xfrm>
          <a:prstGeom prst="rect">
            <a:avLst/>
          </a:prstGeom>
          <a:noFill/>
          <a:ln/>
        </p:spPr>
        <p:txBody>
          <a:bodyPr wrap="square" rtlCol="0" anchor="ctr"/>
          <a:lstStyle/>
          <a:p>
            <a:pPr algn="ctr" indent="0" marL="0">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6812280" y="1371600"/>
            <a:ext cx="1965960" cy="2651760"/>
          </a:xfrm>
          <a:prstGeom prst="roundRect">
            <a:avLst>
              <a:gd name="adj" fmla="val 3721"/>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7" name="Shape 25"/>
          <p:cNvSpPr/>
          <p:nvPr/>
        </p:nvSpPr>
        <p:spPr>
          <a:xfrm>
            <a:off x="7543800" y="1481328"/>
            <a:ext cx="502920" cy="502920"/>
          </a:xfrm>
          <a:prstGeom prst="ellipse">
            <a:avLst/>
          </a:prstGeom>
          <a:solidFill>
            <a:srgbClr val="1B4F9B"/>
          </a:solidFill>
          <a:ln w="12700">
            <a:solidFill>
              <a:srgbClr val="1B4F9B"/>
            </a:solidFill>
            <a:prstDash val="solid"/>
          </a:ln>
        </p:spPr>
      </p:sp>
      <p:sp>
        <p:nvSpPr>
          <p:cNvPr id="28" name="Text 26"/>
          <p:cNvSpPr/>
          <p:nvPr/>
        </p:nvSpPr>
        <p:spPr>
          <a:xfrm>
            <a:off x="7543800" y="148132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6812280" y="2057400"/>
            <a:ext cx="1965960" cy="320040"/>
          </a:xfrm>
          <a:prstGeom prst="rect">
            <a:avLst/>
          </a:prstGeom>
          <a:noFill/>
          <a:ln/>
        </p:spPr>
        <p:txBody>
          <a:bodyPr wrap="square" rtlCol="0" anchor="ctr"/>
          <a:lstStyle/>
          <a:p>
            <a:pPr algn="ctr" indent="0" marL="0">
              <a:buNone/>
            </a:pPr>
            <a:r>
              <a:rPr lang="en-US" sz="1300" b="1" dirty="0">
                <a:solidFill>
                  <a:srgbClr val="0F1E3C"/>
                </a:solidFill>
                <a:latin typeface="Arial" pitchFamily="34" charset="0"/>
                <a:ea typeface="Arial" pitchFamily="34" charset="-122"/>
                <a:cs typeface="Arial" pitchFamily="34" charset="-120"/>
              </a:rPr>
              <a:t>Endorse</a:t>
            </a:r>
            <a:endParaRPr lang="en-US" sz="1300" dirty="0"/>
          </a:p>
        </p:txBody>
      </p:sp>
      <p:sp>
        <p:nvSpPr>
          <p:cNvPr id="30" name="Text 28"/>
          <p:cNvSpPr/>
          <p:nvPr/>
        </p:nvSpPr>
        <p:spPr>
          <a:xfrm>
            <a:off x="6812280" y="2377440"/>
            <a:ext cx="1965960" cy="777240"/>
          </a:xfrm>
          <a:prstGeom prst="rect">
            <a:avLst/>
          </a:prstGeom>
          <a:noFill/>
          <a:ln/>
        </p:spPr>
        <p:txBody>
          <a:bodyPr wrap="square" rtlCol="0" anchor="t"/>
          <a:lstStyle/>
          <a:p>
            <a:pPr algn="ctr" indent="0" marL="0">
              <a:buNone/>
            </a:pPr>
            <a:r>
              <a:rPr lang="en-US" sz="1000" dirty="0">
                <a:solidFill>
                  <a:srgbClr val="64635E"/>
                </a:solidFill>
                <a:latin typeface="Arial" pitchFamily="34" charset="0"/>
                <a:ea typeface="Arial" pitchFamily="34" charset="-122"/>
                <a:cs typeface="Arial" pitchFamily="34" charset="-120"/>
              </a:rPr>
              <a:t>Admin countersigns</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or assigns to architect</a:t>
            </a:r>
            <a:endParaRPr lang="en-US" sz="1000" dirty="0"/>
          </a:p>
          <a:p>
            <a:pPr algn="ctr" indent="0" marL="0">
              <a:buNone/>
            </a:pPr>
            <a:r>
              <a:rPr lang="en-US" sz="1000" dirty="0">
                <a:solidFill>
                  <a:srgbClr val="64635E"/>
                </a:solidFill>
                <a:latin typeface="Arial" pitchFamily="34" charset="0"/>
                <a:ea typeface="Arial" pitchFamily="34" charset="-122"/>
                <a:cs typeface="Arial" pitchFamily="34" charset="-120"/>
              </a:rPr>
              <a:t>via Jira</a:t>
            </a:r>
            <a:endParaRPr lang="en-US" sz="1000" dirty="0"/>
          </a:p>
        </p:txBody>
      </p:sp>
      <p:sp>
        <p:nvSpPr>
          <p:cNvPr id="31" name="Text 29"/>
          <p:cNvSpPr/>
          <p:nvPr/>
        </p:nvSpPr>
        <p:spPr>
          <a:xfrm>
            <a:off x="502920" y="4206240"/>
            <a:ext cx="8138160" cy="274320"/>
          </a:xfrm>
          <a:prstGeom prst="rect">
            <a:avLst/>
          </a:prstGeom>
          <a:noFill/>
          <a:ln/>
        </p:spPr>
        <p:txBody>
          <a:bodyPr wrap="square" rtlCol="0" anchor="ctr"/>
          <a:lstStyle/>
          <a:p>
            <a:pPr indent="0" marL="0">
              <a:buNone/>
            </a:pPr>
            <a:r>
              <a:rPr lang="en-US" sz="1000" b="1" i="1" dirty="0">
                <a:solidFill>
                  <a:srgbClr val="0F6E56"/>
                </a:solidFill>
                <a:latin typeface="Arial" pitchFamily="34" charset="0"/>
                <a:ea typeface="Arial" pitchFamily="34" charset="-122"/>
                <a:cs typeface="Arial" pitchFamily="34" charset="-120"/>
              </a:rPr>
              <a:t>NEW: Document Review mode — upload a solution design doc and agents critique it section by section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MULTI-AGENT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Each agent brings genuine domain expertise — and they disagree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6576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36576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Designer</a:t>
            </a:r>
            <a:endParaRPr lang="en-US" sz="1200" dirty="0"/>
          </a:p>
        </p:txBody>
      </p:sp>
      <p:sp>
        <p:nvSpPr>
          <p:cNvPr id="7" name="Text 5"/>
          <p:cNvSpPr/>
          <p:nvPr/>
        </p:nvSpPr>
        <p:spPr>
          <a:xfrm>
            <a:off x="36576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Overall architecture</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and patterns</a:t>
            </a:r>
            <a:endParaRPr lang="en-US" sz="900" dirty="0"/>
          </a:p>
        </p:txBody>
      </p:sp>
      <p:sp>
        <p:nvSpPr>
          <p:cNvPr id="8" name="Shape 6"/>
          <p:cNvSpPr/>
          <p:nvPr/>
        </p:nvSpPr>
        <p:spPr>
          <a:xfrm>
            <a:off x="205740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9" name="Text 7"/>
          <p:cNvSpPr/>
          <p:nvPr/>
        </p:nvSpPr>
        <p:spPr>
          <a:xfrm>
            <a:off x="205740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Apex</a:t>
            </a:r>
            <a:endParaRPr lang="en-US" sz="1200" dirty="0"/>
          </a:p>
        </p:txBody>
      </p:sp>
      <p:sp>
        <p:nvSpPr>
          <p:cNvPr id="10" name="Text 8"/>
          <p:cNvSpPr/>
          <p:nvPr/>
        </p:nvSpPr>
        <p:spPr>
          <a:xfrm>
            <a:off x="205740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Governor limits,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triggers, async</a:t>
            </a:r>
            <a:endParaRPr lang="en-US" sz="900" dirty="0"/>
          </a:p>
        </p:txBody>
      </p:sp>
      <p:sp>
        <p:nvSpPr>
          <p:cNvPr id="11" name="Shape 9"/>
          <p:cNvSpPr/>
          <p:nvPr/>
        </p:nvSpPr>
        <p:spPr>
          <a:xfrm>
            <a:off x="374904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2" name="Text 10"/>
          <p:cNvSpPr/>
          <p:nvPr/>
        </p:nvSpPr>
        <p:spPr>
          <a:xfrm>
            <a:off x="374904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LWC</a:t>
            </a:r>
            <a:endParaRPr lang="en-US" sz="1200" dirty="0"/>
          </a:p>
        </p:txBody>
      </p:sp>
      <p:sp>
        <p:nvSpPr>
          <p:cNvPr id="13" name="Text 11"/>
          <p:cNvSpPr/>
          <p:nvPr/>
        </p:nvSpPr>
        <p:spPr>
          <a:xfrm>
            <a:off x="374904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UI components,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portal performance</a:t>
            </a:r>
            <a:endParaRPr lang="en-US" sz="900" dirty="0"/>
          </a:p>
        </p:txBody>
      </p:sp>
      <p:sp>
        <p:nvSpPr>
          <p:cNvPr id="14" name="Shape 12"/>
          <p:cNvSpPr/>
          <p:nvPr/>
        </p:nvSpPr>
        <p:spPr>
          <a:xfrm>
            <a:off x="544068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5" name="Text 13"/>
          <p:cNvSpPr/>
          <p:nvPr/>
        </p:nvSpPr>
        <p:spPr>
          <a:xfrm>
            <a:off x="544068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Flow</a:t>
            </a:r>
            <a:endParaRPr lang="en-US" sz="1200" dirty="0"/>
          </a:p>
        </p:txBody>
      </p:sp>
      <p:sp>
        <p:nvSpPr>
          <p:cNvPr id="16" name="Text 14"/>
          <p:cNvSpPr/>
          <p:nvPr/>
        </p:nvSpPr>
        <p:spPr>
          <a:xfrm>
            <a:off x="544068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Automation,</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declarative logic</a:t>
            </a:r>
            <a:endParaRPr lang="en-US" sz="900" dirty="0"/>
          </a:p>
        </p:txBody>
      </p:sp>
      <p:sp>
        <p:nvSpPr>
          <p:cNvPr id="17" name="Shape 15"/>
          <p:cNvSpPr/>
          <p:nvPr/>
        </p:nvSpPr>
        <p:spPr>
          <a:xfrm>
            <a:off x="7132320" y="137160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7132320" y="148132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Integration</a:t>
            </a:r>
            <a:endParaRPr lang="en-US" sz="1200" dirty="0"/>
          </a:p>
        </p:txBody>
      </p:sp>
      <p:sp>
        <p:nvSpPr>
          <p:cNvPr id="19" name="Text 17"/>
          <p:cNvSpPr/>
          <p:nvPr/>
        </p:nvSpPr>
        <p:spPr>
          <a:xfrm>
            <a:off x="7132320" y="182880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APIs, events,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middleware</a:t>
            </a:r>
            <a:endParaRPr lang="en-US" sz="900" dirty="0"/>
          </a:p>
        </p:txBody>
      </p:sp>
      <p:sp>
        <p:nvSpPr>
          <p:cNvPr id="20" name="Shape 18"/>
          <p:cNvSpPr/>
          <p:nvPr/>
        </p:nvSpPr>
        <p:spPr>
          <a:xfrm>
            <a:off x="365760" y="278892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1" name="Text 19"/>
          <p:cNvSpPr/>
          <p:nvPr/>
        </p:nvSpPr>
        <p:spPr>
          <a:xfrm>
            <a:off x="365760" y="289864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Data</a:t>
            </a:r>
            <a:endParaRPr lang="en-US" sz="1200" dirty="0"/>
          </a:p>
        </p:txBody>
      </p:sp>
      <p:sp>
        <p:nvSpPr>
          <p:cNvPr id="22" name="Text 20"/>
          <p:cNvSpPr/>
          <p:nvPr/>
        </p:nvSpPr>
        <p:spPr>
          <a:xfrm>
            <a:off x="365760" y="324612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Schema, volume,</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security model</a:t>
            </a:r>
            <a:endParaRPr lang="en-US" sz="900" dirty="0"/>
          </a:p>
        </p:txBody>
      </p:sp>
      <p:sp>
        <p:nvSpPr>
          <p:cNvPr id="23" name="Shape 21"/>
          <p:cNvSpPr/>
          <p:nvPr/>
        </p:nvSpPr>
        <p:spPr>
          <a:xfrm>
            <a:off x="2057400" y="278892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4" name="Text 22"/>
          <p:cNvSpPr/>
          <p:nvPr/>
        </p:nvSpPr>
        <p:spPr>
          <a:xfrm>
            <a:off x="2057400" y="289864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OmniStudio</a:t>
            </a:r>
            <a:endParaRPr lang="en-US" sz="1200" dirty="0"/>
          </a:p>
        </p:txBody>
      </p:sp>
      <p:sp>
        <p:nvSpPr>
          <p:cNvPr id="25" name="Text 23"/>
          <p:cNvSpPr/>
          <p:nvPr/>
        </p:nvSpPr>
        <p:spPr>
          <a:xfrm>
            <a:off x="2057400" y="324612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Vlocity, DataRaptor,</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OmniScript</a:t>
            </a:r>
            <a:endParaRPr lang="en-US" sz="900" dirty="0"/>
          </a:p>
        </p:txBody>
      </p:sp>
      <p:sp>
        <p:nvSpPr>
          <p:cNvPr id="26" name="Shape 24"/>
          <p:cNvSpPr/>
          <p:nvPr/>
        </p:nvSpPr>
        <p:spPr>
          <a:xfrm>
            <a:off x="3749040" y="2788920"/>
            <a:ext cx="1554480" cy="1234440"/>
          </a:xfrm>
          <a:prstGeom prst="roundRect">
            <a:avLst>
              <a:gd name="adj" fmla="val 5926"/>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7" name="Text 25"/>
          <p:cNvSpPr/>
          <p:nvPr/>
        </p:nvSpPr>
        <p:spPr>
          <a:xfrm>
            <a:off x="3749040" y="2898648"/>
            <a:ext cx="155448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Patterns</a:t>
            </a:r>
            <a:endParaRPr lang="en-US" sz="1200" dirty="0"/>
          </a:p>
        </p:txBody>
      </p:sp>
      <p:sp>
        <p:nvSpPr>
          <p:cNvPr id="28" name="Text 26"/>
          <p:cNvSpPr/>
          <p:nvPr/>
        </p:nvSpPr>
        <p:spPr>
          <a:xfrm>
            <a:off x="3749040" y="3246120"/>
            <a:ext cx="1554480" cy="640080"/>
          </a:xfrm>
          <a:prstGeom prst="rect">
            <a:avLst/>
          </a:prstGeom>
          <a:noFill/>
          <a:ln/>
        </p:spPr>
        <p:txBody>
          <a:bodyPr wrap="square" rtlCol="0" anchor="t"/>
          <a:lstStyle/>
          <a:p>
            <a:pPr algn="ctr" indent="0" marL="0">
              <a:buNone/>
            </a:pPr>
            <a:r>
              <a:rPr lang="en-US" sz="900" dirty="0">
                <a:solidFill>
                  <a:srgbClr val="64635E"/>
                </a:solidFill>
                <a:latin typeface="Arial" pitchFamily="34" charset="0"/>
                <a:ea typeface="Arial" pitchFamily="34" charset="-122"/>
                <a:cs typeface="Arial" pitchFamily="34" charset="-120"/>
              </a:rPr>
              <a:t>SI failure patterns,</a:t>
            </a:r>
            <a:endParaRPr lang="en-US" sz="900" dirty="0"/>
          </a:p>
          <a:p>
            <a:pPr algn="ctr" indent="0" marL="0">
              <a:buNone/>
            </a:pPr>
            <a:r>
              <a:rPr lang="en-US" sz="900" dirty="0">
                <a:solidFill>
                  <a:srgbClr val="64635E"/>
                </a:solidFill>
                <a:latin typeface="Arial" pitchFamily="34" charset="0"/>
                <a:ea typeface="Arial" pitchFamily="34" charset="-122"/>
                <a:cs typeface="Arial" pitchFamily="34" charset="-120"/>
              </a:rPr>
              <a:t>anti-patterns</a:t>
            </a:r>
            <a:endParaRPr lang="en-US" sz="900" dirty="0"/>
          </a:p>
        </p:txBody>
      </p:sp>
      <p:sp>
        <p:nvSpPr>
          <p:cNvPr id="29" name="Shape 27"/>
          <p:cNvSpPr/>
          <p:nvPr/>
        </p:nvSpPr>
        <p:spPr>
          <a:xfrm>
            <a:off x="5440680" y="2788920"/>
            <a:ext cx="1554480" cy="1234440"/>
          </a:xfrm>
          <a:prstGeom prst="roundRect">
            <a:avLst>
              <a:gd name="adj" fmla="val 5926"/>
            </a:avLst>
          </a:prstGeom>
          <a:solidFill>
            <a:srgbClr val="0F1E3C"/>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30" name="Text 28"/>
          <p:cNvSpPr/>
          <p:nvPr/>
        </p:nvSpPr>
        <p:spPr>
          <a:xfrm>
            <a:off x="5440680" y="2898648"/>
            <a:ext cx="155448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Judge</a:t>
            </a:r>
            <a:endParaRPr lang="en-US" sz="1200" dirty="0"/>
          </a:p>
        </p:txBody>
      </p:sp>
      <p:sp>
        <p:nvSpPr>
          <p:cNvPr id="31" name="Text 29"/>
          <p:cNvSpPr/>
          <p:nvPr/>
        </p:nvSpPr>
        <p:spPr>
          <a:xfrm>
            <a:off x="5440680" y="3246120"/>
            <a:ext cx="1554480" cy="640080"/>
          </a:xfrm>
          <a:prstGeom prst="rect">
            <a:avLst/>
          </a:prstGeom>
          <a:noFill/>
          <a:ln/>
        </p:spPr>
        <p:txBody>
          <a:bodyPr wrap="square" rtlCol="0" anchor="t"/>
          <a:lstStyle/>
          <a:p>
            <a:pPr algn="ctr" indent="0" marL="0">
              <a:buNone/>
            </a:pPr>
            <a:r>
              <a:rPr lang="en-US" sz="900" dirty="0">
                <a:solidFill>
                  <a:srgbClr val="A0B8D8"/>
                </a:solidFill>
                <a:latin typeface="Arial" pitchFamily="34" charset="0"/>
                <a:ea typeface="Arial" pitchFamily="34" charset="-122"/>
                <a:cs typeface="Arial" pitchFamily="34" charset="-120"/>
              </a:rPr>
              <a:t>Arbitrates conflicts,</a:t>
            </a:r>
            <a:endParaRPr lang="en-US" sz="900" dirty="0"/>
          </a:p>
          <a:p>
            <a:pPr algn="ctr" indent="0" marL="0">
              <a:buNone/>
            </a:pPr>
            <a:r>
              <a:rPr lang="en-US" sz="900" dirty="0">
                <a:solidFill>
                  <a:srgbClr val="A0B8D8"/>
                </a:solidFill>
                <a:latin typeface="Arial" pitchFamily="34" charset="0"/>
                <a:ea typeface="Arial" pitchFamily="34" charset="-122"/>
                <a:cs typeface="Arial" pitchFamily="34" charset="-120"/>
              </a:rPr>
              <a:t>final verdict</a:t>
            </a:r>
            <a:endParaRPr lang="en-US" sz="900" dirty="0"/>
          </a:p>
        </p:txBody>
      </p:sp>
      <p:sp>
        <p:nvSpPr>
          <p:cNvPr id="32" name="Text 30"/>
          <p:cNvSpPr/>
          <p:nvPr/>
        </p:nvSpPr>
        <p:spPr>
          <a:xfrm>
            <a:off x="502920" y="4480560"/>
            <a:ext cx="8138160" cy="256032"/>
          </a:xfrm>
          <a:prstGeom prst="rect">
            <a:avLst/>
          </a:prstGeom>
          <a:noFill/>
          <a:ln/>
        </p:spPr>
        <p:txBody>
          <a:bodyPr wrap="square" rtlCol="0" anchor="ctr"/>
          <a:lstStyle/>
          <a:p>
            <a:pPr algn="ctr" indent="0" marL="0">
              <a:buNone/>
            </a:pPr>
            <a:r>
              <a:rPr lang="en-US" sz="1000" i="1" dirty="0">
                <a:solidFill>
                  <a:srgbClr val="64635E"/>
                </a:solidFill>
                <a:latin typeface="Arial" pitchFamily="34" charset="0"/>
                <a:ea typeface="Arial" pitchFamily="34" charset="-122"/>
                <a:cs typeface="Arial" pitchFamily="34" charset="-120"/>
              </a:rPr>
              <a:t>Phase 1: Designer → Phase 2: 7 specialists in parallel → Phase 3: Judge + Scribe + Learner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AGENT GROUNDING</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Agents are grounded in four layers of knowledge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502920" y="1371600"/>
            <a:ext cx="8138160" cy="640080"/>
          </a:xfrm>
          <a:prstGeom prst="roundRect">
            <a:avLst>
              <a:gd name="adj" fmla="val 11429"/>
            </a:avLst>
          </a:prstGeom>
          <a:solidFill>
            <a:srgbClr val="EBEBEB"/>
          </a:solidFill>
          <a:ln w="6350">
            <a:solidFill>
              <a:srgbClr val="D3D1C7"/>
            </a:solidFill>
            <a:prstDash val="solid"/>
          </a:ln>
        </p:spPr>
      </p:sp>
      <p:sp>
        <p:nvSpPr>
          <p:cNvPr id="6" name="Shape 4"/>
          <p:cNvSpPr/>
          <p:nvPr/>
        </p:nvSpPr>
        <p:spPr>
          <a:xfrm>
            <a:off x="658368" y="1463040"/>
            <a:ext cx="411480" cy="411480"/>
          </a:xfrm>
          <a:prstGeom prst="ellipse">
            <a:avLst/>
          </a:prstGeom>
          <a:solidFill>
            <a:srgbClr val="0F1E3C"/>
          </a:solidFill>
          <a:ln w="12700">
            <a:solidFill>
              <a:srgbClr val="0F1E3C"/>
            </a:solidFill>
            <a:prstDash val="solid"/>
          </a:ln>
        </p:spPr>
      </p:sp>
      <p:sp>
        <p:nvSpPr>
          <p:cNvPr id="7" name="Text 5"/>
          <p:cNvSpPr/>
          <p:nvPr/>
        </p:nvSpPr>
        <p:spPr>
          <a:xfrm>
            <a:off x="658368" y="14630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207008" y="1426464"/>
            <a:ext cx="2926080" cy="256032"/>
          </a:xfrm>
          <a:prstGeom prst="rect">
            <a:avLst/>
          </a:prstGeom>
          <a:noFill/>
          <a:ln/>
        </p:spPr>
        <p:txBody>
          <a:bodyPr wrap="square" rtlCol="0" anchor="ctr"/>
          <a:lstStyle/>
          <a:p>
            <a:pPr indent="0" marL="0">
              <a:buNone/>
            </a:pPr>
            <a:r>
              <a:rPr lang="en-US" sz="1200" b="1" dirty="0">
                <a:solidFill>
                  <a:srgbClr val="0F1E3C"/>
                </a:solidFill>
                <a:latin typeface="Arial" pitchFamily="34" charset="0"/>
                <a:ea typeface="Arial" pitchFamily="34" charset="-122"/>
                <a:cs typeface="Arial" pitchFamily="34" charset="-120"/>
              </a:rPr>
              <a:t>Base model knowledge</a:t>
            </a:r>
            <a:endParaRPr lang="en-US" sz="1200" dirty="0"/>
          </a:p>
        </p:txBody>
      </p:sp>
      <p:sp>
        <p:nvSpPr>
          <p:cNvPr id="9" name="Text 7"/>
          <p:cNvSpPr/>
          <p:nvPr/>
        </p:nvSpPr>
        <p:spPr>
          <a:xfrm>
            <a:off x="1207008" y="1700784"/>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Claude's training — Salesforce patterns, anti-patterns, best practices</a:t>
            </a:r>
            <a:endParaRPr lang="en-US" sz="1000" dirty="0"/>
          </a:p>
        </p:txBody>
      </p:sp>
      <p:sp>
        <p:nvSpPr>
          <p:cNvPr id="10" name="Shape 8"/>
          <p:cNvSpPr/>
          <p:nvPr/>
        </p:nvSpPr>
        <p:spPr>
          <a:xfrm>
            <a:off x="502920" y="2121408"/>
            <a:ext cx="8138160" cy="640080"/>
          </a:xfrm>
          <a:prstGeom prst="roundRect">
            <a:avLst>
              <a:gd name="adj" fmla="val 11429"/>
            </a:avLst>
          </a:prstGeom>
          <a:solidFill>
            <a:srgbClr val="EBF2FA"/>
          </a:solidFill>
          <a:ln w="6350">
            <a:solidFill>
              <a:srgbClr val="D3D1C7"/>
            </a:solidFill>
            <a:prstDash val="solid"/>
          </a:ln>
        </p:spPr>
      </p:sp>
      <p:sp>
        <p:nvSpPr>
          <p:cNvPr id="11" name="Shape 9"/>
          <p:cNvSpPr/>
          <p:nvPr/>
        </p:nvSpPr>
        <p:spPr>
          <a:xfrm>
            <a:off x="658368" y="2212848"/>
            <a:ext cx="411480" cy="411480"/>
          </a:xfrm>
          <a:prstGeom prst="ellipse">
            <a:avLst/>
          </a:prstGeom>
          <a:solidFill>
            <a:srgbClr val="1B4F9B"/>
          </a:solidFill>
          <a:ln w="12700">
            <a:solidFill>
              <a:srgbClr val="1B4F9B"/>
            </a:solidFill>
            <a:prstDash val="solid"/>
          </a:ln>
        </p:spPr>
      </p:sp>
      <p:sp>
        <p:nvSpPr>
          <p:cNvPr id="12" name="Text 10"/>
          <p:cNvSpPr/>
          <p:nvPr/>
        </p:nvSpPr>
        <p:spPr>
          <a:xfrm>
            <a:off x="658368" y="221284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207008" y="2176272"/>
            <a:ext cx="2926080" cy="256032"/>
          </a:xfrm>
          <a:prstGeom prst="rect">
            <a:avLst/>
          </a:prstGeom>
          <a:noFill/>
          <a:ln/>
        </p:spPr>
        <p:txBody>
          <a:bodyPr wrap="square" rtlCol="0" anchor="ctr"/>
          <a:lstStyle/>
          <a:p>
            <a:pPr indent="0" marL="0">
              <a:buNone/>
            </a:pPr>
            <a:r>
              <a:rPr lang="en-US" sz="1200" b="1" dirty="0">
                <a:solidFill>
                  <a:srgbClr val="1B4F9B"/>
                </a:solidFill>
                <a:latin typeface="Arial" pitchFamily="34" charset="0"/>
                <a:ea typeface="Arial" pitchFamily="34" charset="-122"/>
                <a:cs typeface="Arial" pitchFamily="34" charset="-120"/>
              </a:rPr>
              <a:t>Static principles</a:t>
            </a:r>
            <a:endParaRPr lang="en-US" sz="1200" dirty="0"/>
          </a:p>
        </p:txBody>
      </p:sp>
      <p:sp>
        <p:nvSpPr>
          <p:cNvPr id="14" name="Text 12"/>
          <p:cNvSpPr/>
          <p:nvPr/>
        </p:nvSpPr>
        <p:spPr>
          <a:xfrm>
            <a:off x="1207008" y="2450592"/>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Curated Salesforce Well-Architected principles injected per agent. Zero latency.</a:t>
            </a:r>
            <a:endParaRPr lang="en-US" sz="1000" dirty="0"/>
          </a:p>
        </p:txBody>
      </p:sp>
      <p:sp>
        <p:nvSpPr>
          <p:cNvPr id="15" name="Shape 13"/>
          <p:cNvSpPr/>
          <p:nvPr/>
        </p:nvSpPr>
        <p:spPr>
          <a:xfrm>
            <a:off x="502920" y="2871216"/>
            <a:ext cx="8138160" cy="640080"/>
          </a:xfrm>
          <a:prstGeom prst="roundRect">
            <a:avLst>
              <a:gd name="adj" fmla="val 11429"/>
            </a:avLst>
          </a:prstGeom>
          <a:solidFill>
            <a:srgbClr val="E1F5EE"/>
          </a:solidFill>
          <a:ln w="6350">
            <a:solidFill>
              <a:srgbClr val="D3D1C7"/>
            </a:solidFill>
            <a:prstDash val="solid"/>
          </a:ln>
        </p:spPr>
      </p:sp>
      <p:sp>
        <p:nvSpPr>
          <p:cNvPr id="16" name="Shape 14"/>
          <p:cNvSpPr/>
          <p:nvPr/>
        </p:nvSpPr>
        <p:spPr>
          <a:xfrm>
            <a:off x="658368" y="2962656"/>
            <a:ext cx="411480" cy="411480"/>
          </a:xfrm>
          <a:prstGeom prst="ellipse">
            <a:avLst/>
          </a:prstGeom>
          <a:solidFill>
            <a:srgbClr val="0F6E56"/>
          </a:solidFill>
          <a:ln w="12700">
            <a:solidFill>
              <a:srgbClr val="0F6E56"/>
            </a:solidFill>
            <a:prstDash val="solid"/>
          </a:ln>
        </p:spPr>
      </p:sp>
      <p:sp>
        <p:nvSpPr>
          <p:cNvPr id="17" name="Text 15"/>
          <p:cNvSpPr/>
          <p:nvPr/>
        </p:nvSpPr>
        <p:spPr>
          <a:xfrm>
            <a:off x="658368" y="296265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1207008" y="2926080"/>
            <a:ext cx="2926080" cy="256032"/>
          </a:xfrm>
          <a:prstGeom prst="rect">
            <a:avLst/>
          </a:prstGeom>
          <a:noFill/>
          <a:ln/>
        </p:spPr>
        <p:txBody>
          <a:bodyPr wrap="square" rtlCol="0" anchor="ctr"/>
          <a:lstStyle/>
          <a:p>
            <a:pPr indent="0" marL="0">
              <a:buNone/>
            </a:pPr>
            <a:r>
              <a:rPr lang="en-US" sz="1200" b="1" dirty="0">
                <a:solidFill>
                  <a:srgbClr val="0F6E56"/>
                </a:solidFill>
                <a:latin typeface="Arial" pitchFamily="34" charset="0"/>
                <a:ea typeface="Arial" pitchFamily="34" charset="-122"/>
                <a:cs typeface="Arial" pitchFamily="34" charset="-120"/>
              </a:rPr>
              <a:t>SI failure pattern library</a:t>
            </a:r>
            <a:endParaRPr lang="en-US" sz="1200" dirty="0"/>
          </a:p>
        </p:txBody>
      </p:sp>
      <p:sp>
        <p:nvSpPr>
          <p:cNvPr id="19" name="Text 17"/>
          <p:cNvSpPr/>
          <p:nvPr/>
        </p:nvSpPr>
        <p:spPr>
          <a:xfrm>
            <a:off x="1207008" y="3200400"/>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Real patterns from past engagements (FP-004 to FP-007+). Agents cite by ID.</a:t>
            </a:r>
            <a:endParaRPr lang="en-US" sz="1000" dirty="0"/>
          </a:p>
        </p:txBody>
      </p:sp>
      <p:sp>
        <p:nvSpPr>
          <p:cNvPr id="20" name="Shape 18"/>
          <p:cNvSpPr/>
          <p:nvPr/>
        </p:nvSpPr>
        <p:spPr>
          <a:xfrm>
            <a:off x="502920" y="3621024"/>
            <a:ext cx="8138160" cy="640080"/>
          </a:xfrm>
          <a:prstGeom prst="roundRect">
            <a:avLst>
              <a:gd name="adj" fmla="val 11429"/>
            </a:avLst>
          </a:prstGeom>
          <a:solidFill>
            <a:srgbClr val="FAEEDA"/>
          </a:solidFill>
          <a:ln w="6350">
            <a:solidFill>
              <a:srgbClr val="D3D1C7"/>
            </a:solidFill>
            <a:prstDash val="solid"/>
          </a:ln>
        </p:spPr>
      </p:sp>
      <p:sp>
        <p:nvSpPr>
          <p:cNvPr id="21" name="Shape 19"/>
          <p:cNvSpPr/>
          <p:nvPr/>
        </p:nvSpPr>
        <p:spPr>
          <a:xfrm>
            <a:off x="658368" y="3712464"/>
            <a:ext cx="411480" cy="411480"/>
          </a:xfrm>
          <a:prstGeom prst="ellipse">
            <a:avLst/>
          </a:prstGeom>
          <a:solidFill>
            <a:srgbClr val="BA7517"/>
          </a:solidFill>
          <a:ln w="12700">
            <a:solidFill>
              <a:srgbClr val="BA7517"/>
            </a:solidFill>
            <a:prstDash val="solid"/>
          </a:ln>
        </p:spPr>
      </p:sp>
      <p:sp>
        <p:nvSpPr>
          <p:cNvPr id="22" name="Text 20"/>
          <p:cNvSpPr/>
          <p:nvPr/>
        </p:nvSpPr>
        <p:spPr>
          <a:xfrm>
            <a:off x="658368" y="371246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1207008" y="3675888"/>
            <a:ext cx="2926080" cy="256032"/>
          </a:xfrm>
          <a:prstGeom prst="rect">
            <a:avLst/>
          </a:prstGeom>
          <a:noFill/>
          <a:ln/>
        </p:spPr>
        <p:txBody>
          <a:bodyPr wrap="square" rtlCol="0" anchor="ctr"/>
          <a:lstStyle/>
          <a:p>
            <a:pPr indent="0" marL="0">
              <a:buNone/>
            </a:pPr>
            <a:r>
              <a:rPr lang="en-US" sz="1200" b="1" dirty="0">
                <a:solidFill>
                  <a:srgbClr val="BA7517"/>
                </a:solidFill>
                <a:latin typeface="Arial" pitchFamily="34" charset="0"/>
                <a:ea typeface="Arial" pitchFamily="34" charset="-122"/>
                <a:cs typeface="Arial" pitchFamily="34" charset="-120"/>
              </a:rPr>
              <a:t>Cross-session memory</a:t>
            </a:r>
            <a:endParaRPr lang="en-US" sz="1200" dirty="0"/>
          </a:p>
        </p:txBody>
      </p:sp>
      <p:sp>
        <p:nvSpPr>
          <p:cNvPr id="24" name="Text 22"/>
          <p:cNvSpPr/>
          <p:nvPr/>
        </p:nvSpPr>
        <p:spPr>
          <a:xfrm>
            <a:off x="1207008" y="3950208"/>
            <a:ext cx="7223760" cy="219456"/>
          </a:xfrm>
          <a:prstGeom prst="rect">
            <a:avLst/>
          </a:prstGeom>
          <a:noFill/>
          <a:ln/>
        </p:spPr>
        <p:txBody>
          <a:bodyPr wrap="square" rtlCol="0" anchor="ctr"/>
          <a:lstStyle/>
          <a:p>
            <a:pPr indent="0" marL="0">
              <a:buNone/>
            </a:pPr>
            <a:r>
              <a:rPr lang="en-US" sz="1000" dirty="0">
                <a:solidFill>
                  <a:srgbClr val="64635E"/>
                </a:solidFill>
                <a:latin typeface="Arial" pitchFamily="34" charset="0"/>
                <a:ea typeface="Arial" pitchFamily="34" charset="-122"/>
                <a:cs typeface="Arial" pitchFamily="34" charset="-120"/>
              </a:rPr>
              <a:t>Past ADR decisions retrieved from Jira. Agents enforce consistency across sessions.</a:t>
            </a:r>
            <a:endParaRPr lang="en-US" sz="1000" dirty="0"/>
          </a:p>
        </p:txBody>
      </p:sp>
      <p:sp>
        <p:nvSpPr>
          <p:cNvPr id="25" name="Text 23"/>
          <p:cNvSpPr/>
          <p:nvPr/>
        </p:nvSpPr>
        <p:spPr>
          <a:xfrm>
            <a:off x="502920" y="4480560"/>
            <a:ext cx="8138160" cy="256032"/>
          </a:xfrm>
          <a:prstGeom prst="rect">
            <a:avLst/>
          </a:prstGeom>
          <a:noFill/>
          <a:ln/>
        </p:spPr>
        <p:txBody>
          <a:bodyPr wrap="square" rtlCol="0" anchor="ctr"/>
          <a:lstStyle/>
          <a:p>
            <a:pPr indent="0" marL="0">
              <a:buNone/>
            </a:pPr>
            <a:r>
              <a:rPr lang="en-US" sz="1000" b="1" i="1" dirty="0">
                <a:solidFill>
                  <a:srgbClr val="0F6E56"/>
                </a:solidFill>
                <a:latin typeface="Arial" pitchFamily="34" charset="0"/>
                <a:ea typeface="Arial" pitchFamily="34" charset="-122"/>
                <a:cs typeface="Arial" pitchFamily="34" charset="-120"/>
              </a:rPr>
              <a:t>Post-Friday: pgvector RAG in Supabase — Well-Architected Framework + delivery standards as searchable vector store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COST ENGINEERING — LEARNINGS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Token consumption: measured, then engineered down</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Text 3"/>
          <p:cNvSpPr/>
          <p:nvPr/>
        </p:nvSpPr>
        <p:spPr>
          <a:xfrm>
            <a:off x="502920" y="1325880"/>
            <a:ext cx="3840480" cy="274320"/>
          </a:xfrm>
          <a:prstGeom prst="rect">
            <a:avLst/>
          </a:prstGeom>
          <a:noFill/>
          <a:ln/>
        </p:spPr>
        <p:txBody>
          <a:bodyPr wrap="square" rtlCol="0" anchor="ctr"/>
          <a:lstStyle/>
          <a:p>
            <a:pPr indent="0" marL="0">
              <a:buNone/>
            </a:pPr>
            <a:r>
              <a:rPr lang="en-US" sz="1200" b="1" dirty="0">
                <a:solidFill>
                  <a:srgbClr val="0F1E3C"/>
                </a:solidFill>
                <a:latin typeface="Arial" pitchFamily="34" charset="0"/>
                <a:ea typeface="Arial" pitchFamily="34" charset="-122"/>
                <a:cs typeface="Arial" pitchFamily="34" charset="-120"/>
              </a:rPr>
              <a:t>Baseline per session (9 agents, real doc)</a:t>
            </a:r>
            <a:endParaRPr lang="en-US" sz="1200" dirty="0"/>
          </a:p>
        </p:txBody>
      </p:sp>
      <p:sp>
        <p:nvSpPr>
          <p:cNvPr id="6" name="Shape 4"/>
          <p:cNvSpPr/>
          <p:nvPr/>
        </p:nvSpPr>
        <p:spPr>
          <a:xfrm>
            <a:off x="502920" y="1627632"/>
            <a:ext cx="5029200" cy="329184"/>
          </a:xfrm>
          <a:prstGeom prst="rect">
            <a:avLst/>
          </a:prstGeom>
          <a:solidFill>
            <a:srgbClr val="0F1E3C"/>
          </a:solidFill>
          <a:ln w="6350">
            <a:solidFill>
              <a:srgbClr val="EBEBEB"/>
            </a:solidFill>
            <a:prstDash val="solid"/>
          </a:ln>
        </p:spPr>
      </p:sp>
      <p:sp>
        <p:nvSpPr>
          <p:cNvPr id="7" name="Text 5"/>
          <p:cNvSpPr/>
          <p:nvPr/>
        </p:nvSpPr>
        <p:spPr>
          <a:xfrm>
            <a:off x="594360" y="1673352"/>
            <a:ext cx="283464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Source</a:t>
            </a:r>
            <a:endParaRPr lang="en-US" sz="900" dirty="0"/>
          </a:p>
        </p:txBody>
      </p:sp>
      <p:sp>
        <p:nvSpPr>
          <p:cNvPr id="8" name="Text 6"/>
          <p:cNvSpPr/>
          <p:nvPr/>
        </p:nvSpPr>
        <p:spPr>
          <a:xfrm>
            <a:off x="3474720" y="1673352"/>
            <a:ext cx="68580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Tokens</a:t>
            </a:r>
            <a:endParaRPr lang="en-US" sz="900" dirty="0"/>
          </a:p>
        </p:txBody>
      </p:sp>
      <p:sp>
        <p:nvSpPr>
          <p:cNvPr id="9" name="Text 7"/>
          <p:cNvSpPr/>
          <p:nvPr/>
        </p:nvSpPr>
        <p:spPr>
          <a:xfrm>
            <a:off x="4206240" y="1673352"/>
            <a:ext cx="123444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Notes</a:t>
            </a:r>
            <a:endParaRPr lang="en-US" sz="900" dirty="0"/>
          </a:p>
        </p:txBody>
      </p:sp>
      <p:sp>
        <p:nvSpPr>
          <p:cNvPr id="10" name="Shape 8"/>
          <p:cNvSpPr/>
          <p:nvPr/>
        </p:nvSpPr>
        <p:spPr>
          <a:xfrm>
            <a:off x="502920" y="1975104"/>
            <a:ext cx="5029200" cy="329184"/>
          </a:xfrm>
          <a:prstGeom prst="rect">
            <a:avLst/>
          </a:prstGeom>
          <a:solidFill>
            <a:srgbClr val="F7F8FA"/>
          </a:solidFill>
          <a:ln w="6350">
            <a:solidFill>
              <a:srgbClr val="EBEBEB"/>
            </a:solidFill>
            <a:prstDash val="solid"/>
          </a:ln>
        </p:spPr>
      </p:sp>
      <p:sp>
        <p:nvSpPr>
          <p:cNvPr id="11" name="Text 9"/>
          <p:cNvSpPr/>
          <p:nvPr/>
        </p:nvSpPr>
        <p:spPr>
          <a:xfrm>
            <a:off x="594360" y="2020824"/>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Document input (NovaPeak SDD)</a:t>
            </a:r>
            <a:endParaRPr lang="en-US" sz="950" dirty="0"/>
          </a:p>
        </p:txBody>
      </p:sp>
      <p:sp>
        <p:nvSpPr>
          <p:cNvPr id="12" name="Text 10"/>
          <p:cNvSpPr/>
          <p:nvPr/>
        </p:nvSpPr>
        <p:spPr>
          <a:xfrm>
            <a:off x="3474720" y="2020824"/>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~4,000</a:t>
            </a:r>
            <a:endParaRPr lang="en-US" sz="950" dirty="0"/>
          </a:p>
        </p:txBody>
      </p:sp>
      <p:sp>
        <p:nvSpPr>
          <p:cNvPr id="13" name="Text 11"/>
          <p:cNvSpPr/>
          <p:nvPr/>
        </p:nvSpPr>
        <p:spPr>
          <a:xfrm>
            <a:off x="4206240" y="2020824"/>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Injected to all agents</a:t>
            </a:r>
            <a:endParaRPr lang="en-US" sz="950" dirty="0"/>
          </a:p>
        </p:txBody>
      </p:sp>
      <p:sp>
        <p:nvSpPr>
          <p:cNvPr id="14" name="Shape 12"/>
          <p:cNvSpPr/>
          <p:nvPr/>
        </p:nvSpPr>
        <p:spPr>
          <a:xfrm>
            <a:off x="502920" y="2322576"/>
            <a:ext cx="5029200" cy="329184"/>
          </a:xfrm>
          <a:prstGeom prst="rect">
            <a:avLst/>
          </a:prstGeom>
          <a:solidFill>
            <a:srgbClr val="FFFFFF"/>
          </a:solidFill>
          <a:ln w="6350">
            <a:solidFill>
              <a:srgbClr val="EBEBEB"/>
            </a:solidFill>
            <a:prstDash val="solid"/>
          </a:ln>
        </p:spPr>
      </p:sp>
      <p:sp>
        <p:nvSpPr>
          <p:cNvPr id="15" name="Text 13"/>
          <p:cNvSpPr/>
          <p:nvPr/>
        </p:nvSpPr>
        <p:spPr>
          <a:xfrm>
            <a:off x="594360" y="2368296"/>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9 agent system prompts</a:t>
            </a:r>
            <a:endParaRPr lang="en-US" sz="950" dirty="0"/>
          </a:p>
        </p:txBody>
      </p:sp>
      <p:sp>
        <p:nvSpPr>
          <p:cNvPr id="16" name="Text 14"/>
          <p:cNvSpPr/>
          <p:nvPr/>
        </p:nvSpPr>
        <p:spPr>
          <a:xfrm>
            <a:off x="3474720" y="2368296"/>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~18,000</a:t>
            </a:r>
            <a:endParaRPr lang="en-US" sz="950" dirty="0"/>
          </a:p>
        </p:txBody>
      </p:sp>
      <p:sp>
        <p:nvSpPr>
          <p:cNvPr id="17" name="Text 15"/>
          <p:cNvSpPr/>
          <p:nvPr/>
        </p:nvSpPr>
        <p:spPr>
          <a:xfrm>
            <a:off x="4206240" y="2368296"/>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Duplicated boilerplate = waste</a:t>
            </a:r>
            <a:endParaRPr lang="en-US" sz="950" dirty="0"/>
          </a:p>
        </p:txBody>
      </p:sp>
      <p:sp>
        <p:nvSpPr>
          <p:cNvPr id="18" name="Shape 16"/>
          <p:cNvSpPr/>
          <p:nvPr/>
        </p:nvSpPr>
        <p:spPr>
          <a:xfrm>
            <a:off x="502920" y="2670048"/>
            <a:ext cx="5029200" cy="329184"/>
          </a:xfrm>
          <a:prstGeom prst="rect">
            <a:avLst/>
          </a:prstGeom>
          <a:solidFill>
            <a:srgbClr val="F7F8FA"/>
          </a:solidFill>
          <a:ln w="6350">
            <a:solidFill>
              <a:srgbClr val="EBEBEB"/>
            </a:solidFill>
            <a:prstDash val="solid"/>
          </a:ln>
        </p:spPr>
      </p:sp>
      <p:sp>
        <p:nvSpPr>
          <p:cNvPr id="19" name="Text 17"/>
          <p:cNvSpPr/>
          <p:nvPr/>
        </p:nvSpPr>
        <p:spPr>
          <a:xfrm>
            <a:off x="594360" y="2715768"/>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Jira memory (50 tickets fetched)</a:t>
            </a:r>
            <a:endParaRPr lang="en-US" sz="950" dirty="0"/>
          </a:p>
        </p:txBody>
      </p:sp>
      <p:sp>
        <p:nvSpPr>
          <p:cNvPr id="20" name="Text 18"/>
          <p:cNvSpPr/>
          <p:nvPr/>
        </p:nvSpPr>
        <p:spPr>
          <a:xfrm>
            <a:off x="3474720" y="2715768"/>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~50,000</a:t>
            </a:r>
            <a:endParaRPr lang="en-US" sz="950" dirty="0"/>
          </a:p>
        </p:txBody>
      </p:sp>
      <p:sp>
        <p:nvSpPr>
          <p:cNvPr id="21" name="Text 19"/>
          <p:cNvSpPr/>
          <p:nvPr/>
        </p:nvSpPr>
        <p:spPr>
          <a:xfrm>
            <a:off x="4206240" y="2715768"/>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Over-fetching, scored client-side</a:t>
            </a:r>
            <a:endParaRPr lang="en-US" sz="950" dirty="0"/>
          </a:p>
        </p:txBody>
      </p:sp>
      <p:sp>
        <p:nvSpPr>
          <p:cNvPr id="22" name="Shape 20"/>
          <p:cNvSpPr/>
          <p:nvPr/>
        </p:nvSpPr>
        <p:spPr>
          <a:xfrm>
            <a:off x="502920" y="3017520"/>
            <a:ext cx="5029200" cy="329184"/>
          </a:xfrm>
          <a:prstGeom prst="rect">
            <a:avLst/>
          </a:prstGeom>
          <a:solidFill>
            <a:srgbClr val="FFFFFF"/>
          </a:solidFill>
          <a:ln w="6350">
            <a:solidFill>
              <a:srgbClr val="EBEBEB"/>
            </a:solidFill>
            <a:prstDash val="solid"/>
          </a:ln>
        </p:spPr>
      </p:sp>
      <p:sp>
        <p:nvSpPr>
          <p:cNvPr id="23" name="Text 21"/>
          <p:cNvSpPr/>
          <p:nvPr/>
        </p:nvSpPr>
        <p:spPr>
          <a:xfrm>
            <a:off x="594360" y="3063240"/>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Scribe + Learner full context</a:t>
            </a:r>
            <a:endParaRPr lang="en-US" sz="950" dirty="0"/>
          </a:p>
        </p:txBody>
      </p:sp>
      <p:sp>
        <p:nvSpPr>
          <p:cNvPr id="24" name="Text 22"/>
          <p:cNvSpPr/>
          <p:nvPr/>
        </p:nvSpPr>
        <p:spPr>
          <a:xfrm>
            <a:off x="3474720" y="3063240"/>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~6,000</a:t>
            </a:r>
            <a:endParaRPr lang="en-US" sz="950" dirty="0"/>
          </a:p>
        </p:txBody>
      </p:sp>
      <p:sp>
        <p:nvSpPr>
          <p:cNvPr id="25" name="Text 23"/>
          <p:cNvSpPr/>
          <p:nvPr/>
        </p:nvSpPr>
        <p:spPr>
          <a:xfrm>
            <a:off x="4206240" y="3063240"/>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Unnecessary — only need Judge output</a:t>
            </a:r>
            <a:endParaRPr lang="en-US" sz="950" dirty="0"/>
          </a:p>
        </p:txBody>
      </p:sp>
      <p:sp>
        <p:nvSpPr>
          <p:cNvPr id="26" name="Shape 24"/>
          <p:cNvSpPr/>
          <p:nvPr/>
        </p:nvSpPr>
        <p:spPr>
          <a:xfrm>
            <a:off x="502920" y="3364992"/>
            <a:ext cx="5029200" cy="329184"/>
          </a:xfrm>
          <a:prstGeom prst="rect">
            <a:avLst/>
          </a:prstGeom>
          <a:solidFill>
            <a:srgbClr val="F7F8FA"/>
          </a:solidFill>
          <a:ln w="6350">
            <a:solidFill>
              <a:srgbClr val="EBEBEB"/>
            </a:solidFill>
            <a:prstDash val="solid"/>
          </a:ln>
        </p:spPr>
      </p:sp>
      <p:sp>
        <p:nvSpPr>
          <p:cNvPr id="27" name="Text 25"/>
          <p:cNvSpPr/>
          <p:nvPr/>
        </p:nvSpPr>
        <p:spPr>
          <a:xfrm>
            <a:off x="594360" y="3410712"/>
            <a:ext cx="28346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Agent outputs (9 × 500)</a:t>
            </a:r>
            <a:endParaRPr lang="en-US" sz="950" dirty="0"/>
          </a:p>
        </p:txBody>
      </p:sp>
      <p:sp>
        <p:nvSpPr>
          <p:cNvPr id="28" name="Text 26"/>
          <p:cNvSpPr/>
          <p:nvPr/>
        </p:nvSpPr>
        <p:spPr>
          <a:xfrm>
            <a:off x="3474720" y="3410712"/>
            <a:ext cx="6858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~4,500</a:t>
            </a:r>
            <a:endParaRPr lang="en-US" sz="950" dirty="0"/>
          </a:p>
        </p:txBody>
      </p:sp>
      <p:sp>
        <p:nvSpPr>
          <p:cNvPr id="29" name="Text 27"/>
          <p:cNvSpPr/>
          <p:nvPr/>
        </p:nvSpPr>
        <p:spPr>
          <a:xfrm>
            <a:off x="4206240" y="3410712"/>
            <a:ext cx="123444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Output tokens</a:t>
            </a:r>
            <a:endParaRPr lang="en-US" sz="950" dirty="0"/>
          </a:p>
        </p:txBody>
      </p:sp>
      <p:sp>
        <p:nvSpPr>
          <p:cNvPr id="30" name="Shape 28"/>
          <p:cNvSpPr/>
          <p:nvPr/>
        </p:nvSpPr>
        <p:spPr>
          <a:xfrm>
            <a:off x="502920" y="3712464"/>
            <a:ext cx="5029200" cy="329184"/>
          </a:xfrm>
          <a:prstGeom prst="rect">
            <a:avLst/>
          </a:prstGeom>
          <a:solidFill>
            <a:srgbClr val="EBF2FA"/>
          </a:solidFill>
          <a:ln w="6350">
            <a:solidFill>
              <a:srgbClr val="EBEBEB"/>
            </a:solidFill>
            <a:prstDash val="solid"/>
          </a:ln>
        </p:spPr>
      </p:sp>
      <p:sp>
        <p:nvSpPr>
          <p:cNvPr id="31" name="Text 29"/>
          <p:cNvSpPr/>
          <p:nvPr/>
        </p:nvSpPr>
        <p:spPr>
          <a:xfrm>
            <a:off x="594360" y="3758184"/>
            <a:ext cx="2834640" cy="237744"/>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Total baseline</a:t>
            </a:r>
            <a:endParaRPr lang="en-US" sz="950" dirty="0"/>
          </a:p>
        </p:txBody>
      </p:sp>
      <p:sp>
        <p:nvSpPr>
          <p:cNvPr id="32" name="Text 30"/>
          <p:cNvSpPr/>
          <p:nvPr/>
        </p:nvSpPr>
        <p:spPr>
          <a:xfrm>
            <a:off x="3474720" y="3758184"/>
            <a:ext cx="685800" cy="237744"/>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~82,500</a:t>
            </a:r>
            <a:endParaRPr lang="en-US" sz="950" dirty="0"/>
          </a:p>
        </p:txBody>
      </p:sp>
      <p:sp>
        <p:nvSpPr>
          <p:cNvPr id="33" name="Text 31"/>
          <p:cNvSpPr/>
          <p:nvPr/>
        </p:nvSpPr>
        <p:spPr>
          <a:xfrm>
            <a:off x="4206240" y="3758184"/>
            <a:ext cx="1234440" cy="237744"/>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~$0.29 per session on Sonnet</a:t>
            </a:r>
            <a:endParaRPr lang="en-US" sz="950" dirty="0"/>
          </a:p>
        </p:txBody>
      </p:sp>
      <p:sp>
        <p:nvSpPr>
          <p:cNvPr id="34" name="Text 32"/>
          <p:cNvSpPr/>
          <p:nvPr/>
        </p:nvSpPr>
        <p:spPr>
          <a:xfrm>
            <a:off x="5806440" y="1325880"/>
            <a:ext cx="2880360" cy="274320"/>
          </a:xfrm>
          <a:prstGeom prst="rect">
            <a:avLst/>
          </a:prstGeom>
          <a:noFill/>
          <a:ln/>
        </p:spPr>
        <p:txBody>
          <a:bodyPr wrap="square" rtlCol="0" anchor="ctr"/>
          <a:lstStyle/>
          <a:p>
            <a:pPr indent="0" marL="0">
              <a:buNone/>
            </a:pPr>
            <a:r>
              <a:rPr lang="en-US" sz="1200" b="1" dirty="0">
                <a:solidFill>
                  <a:srgbClr val="0F1E3C"/>
                </a:solidFill>
                <a:latin typeface="Arial" pitchFamily="34" charset="0"/>
                <a:ea typeface="Arial" pitchFamily="34" charset="-122"/>
                <a:cs typeface="Arial" pitchFamily="34" charset="-120"/>
              </a:rPr>
              <a:t>Optimisations implemented</a:t>
            </a:r>
            <a:endParaRPr lang="en-US" sz="1200" dirty="0"/>
          </a:p>
        </p:txBody>
      </p:sp>
      <p:sp>
        <p:nvSpPr>
          <p:cNvPr id="35" name="Shape 33"/>
          <p:cNvSpPr/>
          <p:nvPr/>
        </p:nvSpPr>
        <p:spPr>
          <a:xfrm>
            <a:off x="5806440" y="1627632"/>
            <a:ext cx="2880360" cy="402336"/>
          </a:xfrm>
          <a:prstGeom prst="roundRect">
            <a:avLst>
              <a:gd name="adj" fmla="val 18182"/>
            </a:avLst>
          </a:prstGeom>
          <a:solidFill>
            <a:srgbClr val="E1F5EE"/>
          </a:solidFill>
          <a:ln w="6350">
            <a:solidFill>
              <a:srgbClr val="D3D1C7"/>
            </a:solidFill>
            <a:prstDash val="solid"/>
          </a:ln>
        </p:spPr>
      </p:sp>
      <p:sp>
        <p:nvSpPr>
          <p:cNvPr id="36" name="Text 34"/>
          <p:cNvSpPr/>
          <p:nvPr/>
        </p:nvSpPr>
        <p:spPr>
          <a:xfrm>
            <a:off x="5897880" y="1664208"/>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Jira JQL tightening</a:t>
            </a:r>
            <a:endParaRPr lang="en-US" sz="950" dirty="0"/>
          </a:p>
        </p:txBody>
      </p:sp>
      <p:sp>
        <p:nvSpPr>
          <p:cNvPr id="37" name="Text 35"/>
          <p:cNvSpPr/>
          <p:nvPr/>
        </p:nvSpPr>
        <p:spPr>
          <a:xfrm>
            <a:off x="5897880" y="1847088"/>
            <a:ext cx="2697480" cy="164592"/>
          </a:xfrm>
          <a:prstGeom prst="rect">
            <a:avLst/>
          </a:prstGeom>
          <a:noFill/>
          <a:ln/>
        </p:spPr>
        <p:txBody>
          <a:bodyPr wrap="square" rtlCol="0" anchor="ctr"/>
          <a:lstStyle/>
          <a:p>
            <a:pPr indent="0" marL="0">
              <a:buNone/>
            </a:pPr>
            <a:r>
              <a:rPr lang="en-US" sz="900" b="1" dirty="0">
                <a:solidFill>
                  <a:srgbClr val="0F6E56"/>
                </a:solidFill>
                <a:latin typeface="Arial" pitchFamily="34" charset="0"/>
                <a:ea typeface="Arial" pitchFamily="34" charset="-122"/>
                <a:cs typeface="Arial" pitchFamily="34" charset="-120"/>
              </a:rPr>
              <a:t>saves ~30,000 tokens</a:t>
            </a:r>
            <a:endParaRPr lang="en-US" sz="900" dirty="0"/>
          </a:p>
        </p:txBody>
      </p:sp>
      <p:sp>
        <p:nvSpPr>
          <p:cNvPr id="38" name="Shape 36"/>
          <p:cNvSpPr/>
          <p:nvPr/>
        </p:nvSpPr>
        <p:spPr>
          <a:xfrm>
            <a:off x="5806440" y="2103120"/>
            <a:ext cx="2880360" cy="402336"/>
          </a:xfrm>
          <a:prstGeom prst="roundRect">
            <a:avLst>
              <a:gd name="adj" fmla="val 18182"/>
            </a:avLst>
          </a:prstGeom>
          <a:solidFill>
            <a:srgbClr val="FAEEDA"/>
          </a:solidFill>
          <a:ln w="6350">
            <a:solidFill>
              <a:srgbClr val="D3D1C7"/>
            </a:solidFill>
            <a:prstDash val="solid"/>
          </a:ln>
        </p:spPr>
      </p:sp>
      <p:sp>
        <p:nvSpPr>
          <p:cNvPr id="39" name="Text 37"/>
          <p:cNvSpPr/>
          <p:nvPr/>
        </p:nvSpPr>
        <p:spPr>
          <a:xfrm>
            <a:off x="5897880" y="2139696"/>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Scribe/Learner context trim</a:t>
            </a:r>
            <a:endParaRPr lang="en-US" sz="950" dirty="0"/>
          </a:p>
        </p:txBody>
      </p:sp>
      <p:sp>
        <p:nvSpPr>
          <p:cNvPr id="40" name="Text 38"/>
          <p:cNvSpPr/>
          <p:nvPr/>
        </p:nvSpPr>
        <p:spPr>
          <a:xfrm>
            <a:off x="5897880" y="2322576"/>
            <a:ext cx="2697480" cy="164592"/>
          </a:xfrm>
          <a:prstGeom prst="rect">
            <a:avLst/>
          </a:prstGeom>
          <a:noFill/>
          <a:ln/>
        </p:spPr>
        <p:txBody>
          <a:bodyPr wrap="square" rtlCol="0" anchor="ctr"/>
          <a:lstStyle/>
          <a:p>
            <a:pPr indent="0" marL="0">
              <a:buNone/>
            </a:pPr>
            <a:r>
              <a:rPr lang="en-US" sz="900" b="1" dirty="0">
                <a:solidFill>
                  <a:srgbClr val="BA7517"/>
                </a:solidFill>
                <a:latin typeface="Arial" pitchFamily="34" charset="0"/>
                <a:ea typeface="Arial" pitchFamily="34" charset="-122"/>
                <a:cs typeface="Arial" pitchFamily="34" charset="-120"/>
              </a:rPr>
              <a:t>saves ~6,000 tokens</a:t>
            </a:r>
            <a:endParaRPr lang="en-US" sz="900" dirty="0"/>
          </a:p>
        </p:txBody>
      </p:sp>
      <p:sp>
        <p:nvSpPr>
          <p:cNvPr id="41" name="Shape 39"/>
          <p:cNvSpPr/>
          <p:nvPr/>
        </p:nvSpPr>
        <p:spPr>
          <a:xfrm>
            <a:off x="5806440" y="2578608"/>
            <a:ext cx="2880360" cy="402336"/>
          </a:xfrm>
          <a:prstGeom prst="roundRect">
            <a:avLst>
              <a:gd name="adj" fmla="val 18182"/>
            </a:avLst>
          </a:prstGeom>
          <a:solidFill>
            <a:srgbClr val="EBF2FA"/>
          </a:solidFill>
          <a:ln w="6350">
            <a:solidFill>
              <a:srgbClr val="D3D1C7"/>
            </a:solidFill>
            <a:prstDash val="solid"/>
          </a:ln>
        </p:spPr>
      </p:sp>
      <p:sp>
        <p:nvSpPr>
          <p:cNvPr id="42" name="Text 40"/>
          <p:cNvSpPr/>
          <p:nvPr/>
        </p:nvSpPr>
        <p:spPr>
          <a:xfrm>
            <a:off x="5897880" y="2615184"/>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Shared base prompt</a:t>
            </a:r>
            <a:endParaRPr lang="en-US" sz="950" dirty="0"/>
          </a:p>
        </p:txBody>
      </p:sp>
      <p:sp>
        <p:nvSpPr>
          <p:cNvPr id="43" name="Text 41"/>
          <p:cNvSpPr/>
          <p:nvPr/>
        </p:nvSpPr>
        <p:spPr>
          <a:xfrm>
            <a:off x="5897880" y="2798064"/>
            <a:ext cx="2697480" cy="164592"/>
          </a:xfrm>
          <a:prstGeom prst="rect">
            <a:avLst/>
          </a:prstGeom>
          <a:noFill/>
          <a:ln/>
        </p:spPr>
        <p:txBody>
          <a:bodyPr wrap="square" rtlCol="0" anchor="ctr"/>
          <a:lstStyle/>
          <a:p>
            <a:pPr indent="0" marL="0">
              <a:buNone/>
            </a:pPr>
            <a:r>
              <a:rPr lang="en-US" sz="900" b="1" dirty="0">
                <a:solidFill>
                  <a:srgbClr val="1B4F9B"/>
                </a:solidFill>
                <a:latin typeface="Arial" pitchFamily="34" charset="0"/>
                <a:ea typeface="Arial" pitchFamily="34" charset="-122"/>
                <a:cs typeface="Arial" pitchFamily="34" charset="-120"/>
              </a:rPr>
              <a:t>saves ~5,000 tokens</a:t>
            </a:r>
            <a:endParaRPr lang="en-US" sz="900" dirty="0"/>
          </a:p>
        </p:txBody>
      </p:sp>
      <p:sp>
        <p:nvSpPr>
          <p:cNvPr id="44" name="Shape 42"/>
          <p:cNvSpPr/>
          <p:nvPr/>
        </p:nvSpPr>
        <p:spPr>
          <a:xfrm>
            <a:off x="5806440" y="3054096"/>
            <a:ext cx="2880360" cy="402336"/>
          </a:xfrm>
          <a:prstGeom prst="roundRect">
            <a:avLst>
              <a:gd name="adj" fmla="val 18182"/>
            </a:avLst>
          </a:prstGeom>
          <a:solidFill>
            <a:srgbClr val="EBEBEB"/>
          </a:solidFill>
          <a:ln w="6350">
            <a:solidFill>
              <a:srgbClr val="D3D1C7"/>
            </a:solidFill>
            <a:prstDash val="solid"/>
          </a:ln>
        </p:spPr>
      </p:sp>
      <p:sp>
        <p:nvSpPr>
          <p:cNvPr id="45" name="Text 43"/>
          <p:cNvSpPr/>
          <p:nvPr/>
        </p:nvSpPr>
        <p:spPr>
          <a:xfrm>
            <a:off x="5897880" y="3090672"/>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Doc section routing (post-Fri)</a:t>
            </a:r>
            <a:endParaRPr lang="en-US" sz="950" dirty="0"/>
          </a:p>
        </p:txBody>
      </p:sp>
      <p:sp>
        <p:nvSpPr>
          <p:cNvPr id="46" name="Text 44"/>
          <p:cNvSpPr/>
          <p:nvPr/>
        </p:nvSpPr>
        <p:spPr>
          <a:xfrm>
            <a:off x="5897880" y="3273552"/>
            <a:ext cx="2697480" cy="164592"/>
          </a:xfrm>
          <a:prstGeom prst="rect">
            <a:avLst/>
          </a:prstGeom>
          <a:noFill/>
          <a:ln/>
        </p:spPr>
        <p:txBody>
          <a:bodyPr wrap="square" rtlCol="0" anchor="ctr"/>
          <a:lstStyle/>
          <a:p>
            <a:pPr indent="0" marL="0">
              <a:buNone/>
            </a:pPr>
            <a:r>
              <a:rPr lang="en-US" sz="900" b="1" dirty="0">
                <a:solidFill>
                  <a:srgbClr val="64635E"/>
                </a:solidFill>
                <a:latin typeface="Arial" pitchFamily="34" charset="0"/>
                <a:ea typeface="Arial" pitchFamily="34" charset="-122"/>
                <a:cs typeface="Arial" pitchFamily="34" charset="-120"/>
              </a:rPr>
              <a:t>saves ~20,000 tokens</a:t>
            </a:r>
            <a:endParaRPr lang="en-US" sz="900" dirty="0"/>
          </a:p>
        </p:txBody>
      </p:sp>
      <p:sp>
        <p:nvSpPr>
          <p:cNvPr id="47" name="Shape 45"/>
          <p:cNvSpPr/>
          <p:nvPr/>
        </p:nvSpPr>
        <p:spPr>
          <a:xfrm>
            <a:off x="5806440" y="3529584"/>
            <a:ext cx="2880360" cy="402336"/>
          </a:xfrm>
          <a:prstGeom prst="roundRect">
            <a:avLst>
              <a:gd name="adj" fmla="val 18182"/>
            </a:avLst>
          </a:prstGeom>
          <a:solidFill>
            <a:srgbClr val="E1F5EE"/>
          </a:solidFill>
          <a:ln w="6350">
            <a:solidFill>
              <a:srgbClr val="D3D1C7"/>
            </a:solidFill>
            <a:prstDash val="solid"/>
          </a:ln>
        </p:spPr>
      </p:sp>
      <p:sp>
        <p:nvSpPr>
          <p:cNvPr id="48" name="Text 46"/>
          <p:cNvSpPr/>
          <p:nvPr/>
        </p:nvSpPr>
        <p:spPr>
          <a:xfrm>
            <a:off x="5897880" y="3566160"/>
            <a:ext cx="1828800" cy="182880"/>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Prompt caching (post-Fri)</a:t>
            </a:r>
            <a:endParaRPr lang="en-US" sz="950" dirty="0"/>
          </a:p>
        </p:txBody>
      </p:sp>
      <p:sp>
        <p:nvSpPr>
          <p:cNvPr id="49" name="Text 47"/>
          <p:cNvSpPr/>
          <p:nvPr/>
        </p:nvSpPr>
        <p:spPr>
          <a:xfrm>
            <a:off x="5897880" y="3749040"/>
            <a:ext cx="2697480" cy="164592"/>
          </a:xfrm>
          <a:prstGeom prst="rect">
            <a:avLst/>
          </a:prstGeom>
          <a:noFill/>
          <a:ln/>
        </p:spPr>
        <p:txBody>
          <a:bodyPr wrap="square" rtlCol="0" anchor="ctr"/>
          <a:lstStyle/>
          <a:p>
            <a:pPr indent="0" marL="0">
              <a:buNone/>
            </a:pPr>
            <a:r>
              <a:rPr lang="en-US" sz="900" b="1" dirty="0">
                <a:solidFill>
                  <a:srgbClr val="0F6E56"/>
                </a:solidFill>
                <a:latin typeface="Arial" pitchFamily="34" charset="0"/>
                <a:ea typeface="Arial" pitchFamily="34" charset="-122"/>
                <a:cs typeface="Arial" pitchFamily="34" charset="-120"/>
              </a:rPr>
              <a:t>saves 90% on system prompts</a:t>
            </a:r>
            <a:endParaRPr lang="en-US" sz="900" dirty="0"/>
          </a:p>
        </p:txBody>
      </p:sp>
      <p:sp>
        <p:nvSpPr>
          <p:cNvPr id="50" name="Text 48"/>
          <p:cNvSpPr/>
          <p:nvPr/>
        </p:nvSpPr>
        <p:spPr>
          <a:xfrm>
            <a:off x="502920" y="4462272"/>
            <a:ext cx="8138160" cy="256032"/>
          </a:xfrm>
          <a:prstGeom prst="rect">
            <a:avLst/>
          </a:prstGeom>
          <a:noFill/>
          <a:ln/>
        </p:spPr>
        <p:txBody>
          <a:bodyPr wrap="square" rtlCol="0" anchor="ctr"/>
          <a:lstStyle/>
          <a:p>
            <a:pPr indent="0" marL="0">
              <a:buNone/>
            </a:pPr>
            <a:r>
              <a:rPr lang="en-US" sz="1000" b="1" i="1" dirty="0">
                <a:solidFill>
                  <a:srgbClr val="0F6E56"/>
                </a:solidFill>
                <a:latin typeface="Arial" pitchFamily="34" charset="0"/>
                <a:ea typeface="Arial" pitchFamily="34" charset="-122"/>
                <a:cs typeface="Arial" pitchFamily="34" charset="-120"/>
              </a:rPr>
              <a:t>After optimisations: ~$0.08–0.12 per session  ·  Full 9-agent run reserved for demo rehearsal only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SYSTEM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Every user action maps to a deliberate backend decision</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8321040" cy="365760"/>
          </a:xfrm>
          <a:prstGeom prst="rect">
            <a:avLst/>
          </a:prstGeom>
          <a:solidFill>
            <a:srgbClr val="0F1E3C"/>
          </a:solidFill>
          <a:ln w="6350">
            <a:solidFill>
              <a:srgbClr val="EBEBEB"/>
            </a:solidFill>
            <a:prstDash val="solid"/>
          </a:ln>
        </p:spPr>
      </p:sp>
      <p:sp>
        <p:nvSpPr>
          <p:cNvPr id="6" name="Text 4"/>
          <p:cNvSpPr/>
          <p:nvPr/>
        </p:nvSpPr>
        <p:spPr>
          <a:xfrm>
            <a:off x="502920" y="1362456"/>
            <a:ext cx="256032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User action</a:t>
            </a:r>
            <a:endParaRPr lang="en-US" sz="900" dirty="0"/>
          </a:p>
        </p:txBody>
      </p:sp>
      <p:sp>
        <p:nvSpPr>
          <p:cNvPr id="7" name="Text 5"/>
          <p:cNvSpPr/>
          <p:nvPr/>
        </p:nvSpPr>
        <p:spPr>
          <a:xfrm>
            <a:off x="3108960" y="1362456"/>
            <a:ext cx="274320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8" name="Text 6"/>
          <p:cNvSpPr/>
          <p:nvPr/>
        </p:nvSpPr>
        <p:spPr>
          <a:xfrm>
            <a:off x="5897880" y="1362456"/>
            <a:ext cx="2697480"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Backend system</a:t>
            </a:r>
            <a:endParaRPr lang="en-US" sz="900" dirty="0"/>
          </a:p>
        </p:txBody>
      </p:sp>
      <p:sp>
        <p:nvSpPr>
          <p:cNvPr id="9" name="Shape 7"/>
          <p:cNvSpPr/>
          <p:nvPr/>
        </p:nvSpPr>
        <p:spPr>
          <a:xfrm>
            <a:off x="411480" y="1682496"/>
            <a:ext cx="8321040" cy="365760"/>
          </a:xfrm>
          <a:prstGeom prst="rect">
            <a:avLst/>
          </a:prstGeom>
          <a:solidFill>
            <a:srgbClr val="F7F8FA"/>
          </a:solidFill>
          <a:ln w="6350">
            <a:solidFill>
              <a:srgbClr val="EBEBEB"/>
            </a:solidFill>
            <a:prstDash val="solid"/>
          </a:ln>
        </p:spPr>
      </p:sp>
      <p:sp>
        <p:nvSpPr>
          <p:cNvPr id="10" name="Text 8"/>
          <p:cNvSpPr/>
          <p:nvPr/>
        </p:nvSpPr>
        <p:spPr>
          <a:xfrm>
            <a:off x="502920" y="1746504"/>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Submit requirement or doc</a:t>
            </a:r>
            <a:endParaRPr lang="en-US" sz="950" dirty="0"/>
          </a:p>
        </p:txBody>
      </p:sp>
      <p:sp>
        <p:nvSpPr>
          <p:cNvPr id="11" name="Text 9"/>
          <p:cNvSpPr/>
          <p:nvPr/>
        </p:nvSpPr>
        <p:spPr>
          <a:xfrm>
            <a:off x="3108960" y="1746504"/>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ForumOrchestrator triggers 3-phase pipeline</a:t>
            </a:r>
            <a:endParaRPr lang="en-US" sz="950" dirty="0"/>
          </a:p>
        </p:txBody>
      </p:sp>
      <p:sp>
        <p:nvSpPr>
          <p:cNvPr id="12" name="Text 10"/>
          <p:cNvSpPr/>
          <p:nvPr/>
        </p:nvSpPr>
        <p:spPr>
          <a:xfrm>
            <a:off x="5897880" y="1746504"/>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Anthropic Claude API (SSE streaming)</a:t>
            </a:r>
            <a:endParaRPr lang="en-US" sz="950" dirty="0"/>
          </a:p>
        </p:txBody>
      </p:sp>
      <p:sp>
        <p:nvSpPr>
          <p:cNvPr id="13" name="Shape 11"/>
          <p:cNvSpPr/>
          <p:nvPr/>
        </p:nvSpPr>
        <p:spPr>
          <a:xfrm>
            <a:off x="411480" y="2066544"/>
            <a:ext cx="8321040" cy="365760"/>
          </a:xfrm>
          <a:prstGeom prst="rect">
            <a:avLst/>
          </a:prstGeom>
          <a:solidFill>
            <a:srgbClr val="FFFFFF"/>
          </a:solidFill>
          <a:ln w="6350">
            <a:solidFill>
              <a:srgbClr val="EBEBEB"/>
            </a:solidFill>
            <a:prstDash val="solid"/>
          </a:ln>
        </p:spPr>
      </p:sp>
      <p:sp>
        <p:nvSpPr>
          <p:cNvPr id="14" name="Text 12"/>
          <p:cNvSpPr/>
          <p:nvPr/>
        </p:nvSpPr>
        <p:spPr>
          <a:xfrm>
            <a:off x="502920" y="2130552"/>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Doc upload (PDF/Word)</a:t>
            </a:r>
            <a:endParaRPr lang="en-US" sz="950" dirty="0"/>
          </a:p>
        </p:txBody>
      </p:sp>
      <p:sp>
        <p:nvSpPr>
          <p:cNvPr id="15" name="Text 13"/>
          <p:cNvSpPr/>
          <p:nvPr/>
        </p:nvSpPr>
        <p:spPr>
          <a:xfrm>
            <a:off x="3108960" y="2130552"/>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Text extracted, chunked by section</a:t>
            </a:r>
            <a:endParaRPr lang="en-US" sz="950" dirty="0"/>
          </a:p>
        </p:txBody>
      </p:sp>
      <p:sp>
        <p:nvSpPr>
          <p:cNvPr id="16" name="Text 14"/>
          <p:cNvSpPr/>
          <p:nvPr/>
        </p:nvSpPr>
        <p:spPr>
          <a:xfrm>
            <a:off x="5897880" y="2130552"/>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Next.js API route → agent context</a:t>
            </a:r>
            <a:endParaRPr lang="en-US" sz="950" dirty="0"/>
          </a:p>
        </p:txBody>
      </p:sp>
      <p:sp>
        <p:nvSpPr>
          <p:cNvPr id="17" name="Shape 15"/>
          <p:cNvSpPr/>
          <p:nvPr/>
        </p:nvSpPr>
        <p:spPr>
          <a:xfrm>
            <a:off x="411480" y="2450592"/>
            <a:ext cx="8321040" cy="365760"/>
          </a:xfrm>
          <a:prstGeom prst="rect">
            <a:avLst/>
          </a:prstGeom>
          <a:solidFill>
            <a:srgbClr val="F7F8FA"/>
          </a:solidFill>
          <a:ln w="6350">
            <a:solidFill>
              <a:srgbClr val="EBEBEB"/>
            </a:solidFill>
            <a:prstDash val="solid"/>
          </a:ln>
        </p:spPr>
      </p:sp>
      <p:sp>
        <p:nvSpPr>
          <p:cNvPr id="18" name="Text 16"/>
          <p:cNvSpPr/>
          <p:nvPr/>
        </p:nvSpPr>
        <p:spPr>
          <a:xfrm>
            <a:off x="502920" y="2514600"/>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Session runs</a:t>
            </a:r>
            <a:endParaRPr lang="en-US" sz="950" dirty="0"/>
          </a:p>
        </p:txBody>
      </p:sp>
      <p:sp>
        <p:nvSpPr>
          <p:cNvPr id="19" name="Text 17"/>
          <p:cNvSpPr/>
          <p:nvPr/>
        </p:nvSpPr>
        <p:spPr>
          <a:xfrm>
            <a:off x="3108960" y="2514600"/>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Jira memory retrieved before agents start</a:t>
            </a:r>
            <a:endParaRPr lang="en-US" sz="950" dirty="0"/>
          </a:p>
        </p:txBody>
      </p:sp>
      <p:sp>
        <p:nvSpPr>
          <p:cNvPr id="20" name="Text 18"/>
          <p:cNvSpPr/>
          <p:nvPr/>
        </p:nvSpPr>
        <p:spPr>
          <a:xfrm>
            <a:off x="5897880" y="2514600"/>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Jira REST API (ARBOARD project)</a:t>
            </a:r>
            <a:endParaRPr lang="en-US" sz="950" dirty="0"/>
          </a:p>
        </p:txBody>
      </p:sp>
      <p:sp>
        <p:nvSpPr>
          <p:cNvPr id="21" name="Shape 19"/>
          <p:cNvSpPr/>
          <p:nvPr/>
        </p:nvSpPr>
        <p:spPr>
          <a:xfrm>
            <a:off x="411480" y="2834640"/>
            <a:ext cx="8321040" cy="365760"/>
          </a:xfrm>
          <a:prstGeom prst="rect">
            <a:avLst/>
          </a:prstGeom>
          <a:solidFill>
            <a:srgbClr val="FFFFFF"/>
          </a:solidFill>
          <a:ln w="6350">
            <a:solidFill>
              <a:srgbClr val="EBEBEB"/>
            </a:solidFill>
            <a:prstDash val="solid"/>
          </a:ln>
        </p:spPr>
      </p:sp>
      <p:sp>
        <p:nvSpPr>
          <p:cNvPr id="22" name="Text 20"/>
          <p:cNvSpPr/>
          <p:nvPr/>
        </p:nvSpPr>
        <p:spPr>
          <a:xfrm>
            <a:off x="502920" y="2898648"/>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Agent outputs</a:t>
            </a:r>
            <a:endParaRPr lang="en-US" sz="950" dirty="0"/>
          </a:p>
        </p:txBody>
      </p:sp>
      <p:sp>
        <p:nvSpPr>
          <p:cNvPr id="23" name="Text 21"/>
          <p:cNvSpPr/>
          <p:nvPr/>
        </p:nvSpPr>
        <p:spPr>
          <a:xfrm>
            <a:off x="3108960" y="2898648"/>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Failure patterns matched, FP-xxx cited</a:t>
            </a:r>
            <a:endParaRPr lang="en-US" sz="950" dirty="0"/>
          </a:p>
        </p:txBody>
      </p:sp>
      <p:sp>
        <p:nvSpPr>
          <p:cNvPr id="24" name="Text 22"/>
          <p:cNvSpPr/>
          <p:nvPr/>
        </p:nvSpPr>
        <p:spPr>
          <a:xfrm>
            <a:off x="5897880" y="2898648"/>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Supabase — failure_patterns table</a:t>
            </a:r>
            <a:endParaRPr lang="en-US" sz="950" dirty="0"/>
          </a:p>
        </p:txBody>
      </p:sp>
      <p:sp>
        <p:nvSpPr>
          <p:cNvPr id="25" name="Shape 23"/>
          <p:cNvSpPr/>
          <p:nvPr/>
        </p:nvSpPr>
        <p:spPr>
          <a:xfrm>
            <a:off x="411480" y="3218688"/>
            <a:ext cx="8321040" cy="365760"/>
          </a:xfrm>
          <a:prstGeom prst="rect">
            <a:avLst/>
          </a:prstGeom>
          <a:solidFill>
            <a:srgbClr val="F7F8FA"/>
          </a:solidFill>
          <a:ln w="6350">
            <a:solidFill>
              <a:srgbClr val="EBEBEB"/>
            </a:solidFill>
            <a:prstDash val="solid"/>
          </a:ln>
        </p:spPr>
      </p:sp>
      <p:sp>
        <p:nvSpPr>
          <p:cNvPr id="26" name="Text 24"/>
          <p:cNvSpPr/>
          <p:nvPr/>
        </p:nvSpPr>
        <p:spPr>
          <a:xfrm>
            <a:off x="502920" y="3282696"/>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Session completes</a:t>
            </a:r>
            <a:endParaRPr lang="en-US" sz="950" dirty="0"/>
          </a:p>
        </p:txBody>
      </p:sp>
      <p:sp>
        <p:nvSpPr>
          <p:cNvPr id="27" name="Text 25"/>
          <p:cNvSpPr/>
          <p:nvPr/>
        </p:nvSpPr>
        <p:spPr>
          <a:xfrm>
            <a:off x="3108960" y="3282696"/>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Admin makes endorsement decision</a:t>
            </a:r>
            <a:endParaRPr lang="en-US" sz="950" dirty="0"/>
          </a:p>
        </p:txBody>
      </p:sp>
      <p:sp>
        <p:nvSpPr>
          <p:cNvPr id="28" name="Text 26"/>
          <p:cNvSpPr/>
          <p:nvPr/>
        </p:nvSpPr>
        <p:spPr>
          <a:xfrm>
            <a:off x="5897880" y="3282696"/>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Endorsement Review Panel (new)</a:t>
            </a:r>
            <a:endParaRPr lang="en-US" sz="950" dirty="0"/>
          </a:p>
        </p:txBody>
      </p:sp>
      <p:sp>
        <p:nvSpPr>
          <p:cNvPr id="29" name="Shape 27"/>
          <p:cNvSpPr/>
          <p:nvPr/>
        </p:nvSpPr>
        <p:spPr>
          <a:xfrm>
            <a:off x="411480" y="3602736"/>
            <a:ext cx="8321040" cy="365760"/>
          </a:xfrm>
          <a:prstGeom prst="rect">
            <a:avLst/>
          </a:prstGeom>
          <a:solidFill>
            <a:srgbClr val="FFFFFF"/>
          </a:solidFill>
          <a:ln w="6350">
            <a:solidFill>
              <a:srgbClr val="EBEBEB"/>
            </a:solidFill>
            <a:prstDash val="solid"/>
          </a:ln>
        </p:spPr>
      </p:sp>
      <p:sp>
        <p:nvSpPr>
          <p:cNvPr id="30" name="Text 28"/>
          <p:cNvSpPr/>
          <p:nvPr/>
        </p:nvSpPr>
        <p:spPr>
          <a:xfrm>
            <a:off x="502920" y="3666744"/>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Endorse / assign</a:t>
            </a:r>
            <a:endParaRPr lang="en-US" sz="950" dirty="0"/>
          </a:p>
        </p:txBody>
      </p:sp>
      <p:sp>
        <p:nvSpPr>
          <p:cNvPr id="31" name="Text 29"/>
          <p:cNvSpPr/>
          <p:nvPr/>
        </p:nvSpPr>
        <p:spPr>
          <a:xfrm>
            <a:off x="3108960" y="3666744"/>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Jira ticket created with assignee + comment</a:t>
            </a:r>
            <a:endParaRPr lang="en-US" sz="950" dirty="0"/>
          </a:p>
        </p:txBody>
      </p:sp>
      <p:sp>
        <p:nvSpPr>
          <p:cNvPr id="32" name="Text 30"/>
          <p:cNvSpPr/>
          <p:nvPr/>
        </p:nvSpPr>
        <p:spPr>
          <a:xfrm>
            <a:off x="5897880" y="3666744"/>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Jira REST — arboard-adr / arboard-signed</a:t>
            </a:r>
            <a:endParaRPr lang="en-US" sz="950" dirty="0"/>
          </a:p>
        </p:txBody>
      </p:sp>
      <p:sp>
        <p:nvSpPr>
          <p:cNvPr id="33" name="Shape 31"/>
          <p:cNvSpPr/>
          <p:nvPr/>
        </p:nvSpPr>
        <p:spPr>
          <a:xfrm>
            <a:off x="411480" y="3986784"/>
            <a:ext cx="8321040" cy="365760"/>
          </a:xfrm>
          <a:prstGeom prst="rect">
            <a:avLst/>
          </a:prstGeom>
          <a:solidFill>
            <a:srgbClr val="F7F8FA"/>
          </a:solidFill>
          <a:ln w="6350">
            <a:solidFill>
              <a:srgbClr val="EBEBEB"/>
            </a:solidFill>
            <a:prstDash val="solid"/>
          </a:ln>
        </p:spPr>
      </p:sp>
      <p:sp>
        <p:nvSpPr>
          <p:cNvPr id="34" name="Text 32"/>
          <p:cNvSpPr/>
          <p:nvPr/>
        </p:nvSpPr>
        <p:spPr>
          <a:xfrm>
            <a:off x="502920" y="4050792"/>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Countersign</a:t>
            </a:r>
            <a:endParaRPr lang="en-US" sz="950" dirty="0"/>
          </a:p>
        </p:txBody>
      </p:sp>
      <p:sp>
        <p:nvSpPr>
          <p:cNvPr id="35" name="Text 33"/>
          <p:cNvSpPr/>
          <p:nvPr/>
        </p:nvSpPr>
        <p:spPr>
          <a:xfrm>
            <a:off x="3108960" y="4050792"/>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Sign-off written to Supabase audit trail</a:t>
            </a:r>
            <a:endParaRPr lang="en-US" sz="950" dirty="0"/>
          </a:p>
        </p:txBody>
      </p:sp>
      <p:sp>
        <p:nvSpPr>
          <p:cNvPr id="36" name="Text 34"/>
          <p:cNvSpPr/>
          <p:nvPr/>
        </p:nvSpPr>
        <p:spPr>
          <a:xfrm>
            <a:off x="5897880" y="4050792"/>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Supabase — signoffs table</a:t>
            </a:r>
            <a:endParaRPr lang="en-US" sz="950" dirty="0"/>
          </a:p>
        </p:txBody>
      </p:sp>
      <p:sp>
        <p:nvSpPr>
          <p:cNvPr id="37" name="Shape 35"/>
          <p:cNvSpPr/>
          <p:nvPr/>
        </p:nvSpPr>
        <p:spPr>
          <a:xfrm>
            <a:off x="411480" y="4370832"/>
            <a:ext cx="8321040" cy="365760"/>
          </a:xfrm>
          <a:prstGeom prst="rect">
            <a:avLst/>
          </a:prstGeom>
          <a:solidFill>
            <a:srgbClr val="FFFFFF"/>
          </a:solidFill>
          <a:ln w="6350">
            <a:solidFill>
              <a:srgbClr val="EBEBEB"/>
            </a:solidFill>
            <a:prstDash val="solid"/>
          </a:ln>
        </p:spPr>
      </p:sp>
      <p:sp>
        <p:nvSpPr>
          <p:cNvPr id="38" name="Text 36"/>
          <p:cNvSpPr/>
          <p:nvPr/>
        </p:nvSpPr>
        <p:spPr>
          <a:xfrm>
            <a:off x="502920" y="4434840"/>
            <a:ext cx="2560320" cy="237744"/>
          </a:xfrm>
          <a:prstGeom prst="rect">
            <a:avLst/>
          </a:prstGeom>
          <a:noFill/>
          <a:ln/>
        </p:spPr>
        <p:txBody>
          <a:bodyPr wrap="square" rtlCol="0" anchor="ctr"/>
          <a:lstStyle/>
          <a:p>
            <a:pPr indent="0" marL="0">
              <a:buNone/>
            </a:pPr>
            <a:r>
              <a:rPr lang="en-US" sz="950" dirty="0">
                <a:solidFill>
                  <a:srgbClr val="0F1E3C"/>
                </a:solidFill>
                <a:latin typeface="Arial" pitchFamily="34" charset="0"/>
                <a:ea typeface="Arial" pitchFamily="34" charset="-122"/>
                <a:cs typeface="Arial" pitchFamily="34" charset="-120"/>
              </a:rPr>
              <a:t>Org connect</a:t>
            </a:r>
            <a:endParaRPr lang="en-US" sz="950" dirty="0"/>
          </a:p>
        </p:txBody>
      </p:sp>
      <p:sp>
        <p:nvSpPr>
          <p:cNvPr id="39" name="Text 37"/>
          <p:cNvSpPr/>
          <p:nvPr/>
        </p:nvSpPr>
        <p:spPr>
          <a:xfrm>
            <a:off x="3108960" y="4434840"/>
            <a:ext cx="2743200" cy="237744"/>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Live metadata injected into agent prompts</a:t>
            </a:r>
            <a:endParaRPr lang="en-US" sz="950" dirty="0"/>
          </a:p>
        </p:txBody>
      </p:sp>
      <p:sp>
        <p:nvSpPr>
          <p:cNvPr id="40" name="Text 38"/>
          <p:cNvSpPr/>
          <p:nvPr/>
        </p:nvSpPr>
        <p:spPr>
          <a:xfrm>
            <a:off x="5897880" y="4434840"/>
            <a:ext cx="2697480" cy="237744"/>
          </a:xfrm>
          <a:prstGeom prst="rect">
            <a:avLst/>
          </a:prstGeom>
          <a:noFill/>
          <a:ln/>
        </p:spPr>
        <p:txBody>
          <a:bodyPr wrap="square" rtlCol="0" anchor="ctr"/>
          <a:lstStyle/>
          <a:p>
            <a:pPr indent="0" marL="0">
              <a:buNone/>
            </a:pPr>
            <a:r>
              <a:rPr lang="en-US" sz="950" dirty="0">
                <a:solidFill>
                  <a:srgbClr val="2E6DA4"/>
                </a:solidFill>
                <a:latin typeface="Arial" pitchFamily="34" charset="0"/>
                <a:ea typeface="Arial" pitchFamily="34" charset="-122"/>
                <a:cs typeface="Arial" pitchFamily="34" charset="-120"/>
              </a:rPr>
              <a:t>Salesforce MCP / jsforce fallback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BUILD JOURNEY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From requirement input to production-grade review platform</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71600"/>
            <a:ext cx="1965960" cy="2834640"/>
          </a:xfrm>
          <a:prstGeom prst="roundRect">
            <a:avLst>
              <a:gd name="adj" fmla="val 3721"/>
            </a:avLst>
          </a:prstGeom>
          <a:solidFill>
            <a:srgbClr val="EBF2FA"/>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411480" y="1463040"/>
            <a:ext cx="1965960" cy="320040"/>
          </a:xfrm>
          <a:prstGeom prst="rect">
            <a:avLst/>
          </a:prstGeom>
          <a:noFill/>
          <a:ln/>
        </p:spPr>
        <p:txBody>
          <a:bodyPr wrap="square" rtlCol="0" anchor="ctr"/>
          <a:lstStyle/>
          <a:p>
            <a:pPr algn="ctr" indent="0" marL="0">
              <a:buNone/>
            </a:pPr>
            <a:r>
              <a:rPr lang="en-US" sz="1200" b="1" dirty="0">
                <a:solidFill>
                  <a:srgbClr val="1B4F9B"/>
                </a:solidFill>
                <a:latin typeface="Arial" pitchFamily="34" charset="0"/>
                <a:ea typeface="Arial" pitchFamily="34" charset="-122"/>
                <a:cs typeface="Arial" pitchFamily="34" charset="-120"/>
              </a:rPr>
              <a:t>Foundation</a:t>
            </a:r>
            <a:endParaRPr lang="en-US" sz="1200" dirty="0"/>
          </a:p>
        </p:txBody>
      </p:sp>
      <p:sp>
        <p:nvSpPr>
          <p:cNvPr id="7" name="Shape 5"/>
          <p:cNvSpPr/>
          <p:nvPr/>
        </p:nvSpPr>
        <p:spPr>
          <a:xfrm>
            <a:off x="594360" y="1828800"/>
            <a:ext cx="1600200" cy="0"/>
          </a:xfrm>
          <a:prstGeom prst="line">
            <a:avLst/>
          </a:prstGeom>
          <a:noFill/>
          <a:ln w="6350">
            <a:solidFill>
              <a:srgbClr val="EBEBEB"/>
            </a:solidFill>
            <a:prstDash val="solid"/>
          </a:ln>
        </p:spPr>
      </p:sp>
      <p:sp>
        <p:nvSpPr>
          <p:cNvPr id="8" name="Text 6"/>
          <p:cNvSpPr/>
          <p:nvPr/>
        </p:nvSpPr>
        <p:spPr>
          <a:xfrm>
            <a:off x="521208" y="1901952"/>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9 specialist agents + ForumOrchestrator</a:t>
            </a:r>
            <a:endParaRPr lang="en-US" sz="950" dirty="0"/>
          </a:p>
        </p:txBody>
      </p:sp>
      <p:sp>
        <p:nvSpPr>
          <p:cNvPr id="9" name="Text 7"/>
          <p:cNvSpPr/>
          <p:nvPr/>
        </p:nvSpPr>
        <p:spPr>
          <a:xfrm>
            <a:off x="521208" y="2377440"/>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3-phase parallel execution</a:t>
            </a:r>
            <a:endParaRPr lang="en-US" sz="950" dirty="0"/>
          </a:p>
        </p:txBody>
      </p:sp>
      <p:sp>
        <p:nvSpPr>
          <p:cNvPr id="10" name="Text 8"/>
          <p:cNvSpPr/>
          <p:nvPr/>
        </p:nvSpPr>
        <p:spPr>
          <a:xfrm>
            <a:off x="521208" y="2852928"/>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Impact Analyser — selective agent loading</a:t>
            </a:r>
            <a:endParaRPr lang="en-US" sz="950" dirty="0"/>
          </a:p>
        </p:txBody>
      </p:sp>
      <p:sp>
        <p:nvSpPr>
          <p:cNvPr id="11" name="Shape 9"/>
          <p:cNvSpPr/>
          <p:nvPr/>
        </p:nvSpPr>
        <p:spPr>
          <a:xfrm>
            <a:off x="2560320" y="1371600"/>
            <a:ext cx="1965960" cy="2834640"/>
          </a:xfrm>
          <a:prstGeom prst="roundRect">
            <a:avLst>
              <a:gd name="adj" fmla="val 3721"/>
            </a:avLst>
          </a:prstGeom>
          <a:solidFill>
            <a:srgbClr val="E1F5EE"/>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2" name="Text 10"/>
          <p:cNvSpPr/>
          <p:nvPr/>
        </p:nvSpPr>
        <p:spPr>
          <a:xfrm>
            <a:off x="2560320" y="1463040"/>
            <a:ext cx="1965960" cy="320040"/>
          </a:xfrm>
          <a:prstGeom prst="rect">
            <a:avLst/>
          </a:prstGeom>
          <a:noFill/>
          <a:ln/>
        </p:spPr>
        <p:txBody>
          <a:bodyPr wrap="square" rtlCol="0" anchor="ctr"/>
          <a:lstStyle/>
          <a:p>
            <a:pPr algn="ctr" indent="0" marL="0">
              <a:buNone/>
            </a:pPr>
            <a:r>
              <a:rPr lang="en-US" sz="1200" b="1" dirty="0">
                <a:solidFill>
                  <a:srgbClr val="0F6E56"/>
                </a:solidFill>
                <a:latin typeface="Arial" pitchFamily="34" charset="0"/>
                <a:ea typeface="Arial" pitchFamily="34" charset="-122"/>
                <a:cs typeface="Arial" pitchFamily="34" charset="-120"/>
              </a:rPr>
              <a:t>Integrations</a:t>
            </a:r>
            <a:endParaRPr lang="en-US" sz="1200" dirty="0"/>
          </a:p>
        </p:txBody>
      </p:sp>
      <p:sp>
        <p:nvSpPr>
          <p:cNvPr id="13" name="Shape 11"/>
          <p:cNvSpPr/>
          <p:nvPr/>
        </p:nvSpPr>
        <p:spPr>
          <a:xfrm>
            <a:off x="2743200" y="1828800"/>
            <a:ext cx="1600200" cy="0"/>
          </a:xfrm>
          <a:prstGeom prst="line">
            <a:avLst/>
          </a:prstGeom>
          <a:noFill/>
          <a:ln w="6350">
            <a:solidFill>
              <a:srgbClr val="EBEBEB"/>
            </a:solidFill>
            <a:prstDash val="solid"/>
          </a:ln>
        </p:spPr>
      </p:sp>
      <p:sp>
        <p:nvSpPr>
          <p:cNvPr id="14" name="Text 12"/>
          <p:cNvSpPr/>
          <p:nvPr/>
        </p:nvSpPr>
        <p:spPr>
          <a:xfrm>
            <a:off x="2670048" y="1901952"/>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Jira ADR ticket creation + countersign</a:t>
            </a:r>
            <a:endParaRPr lang="en-US" sz="950" dirty="0"/>
          </a:p>
        </p:txBody>
      </p:sp>
      <p:sp>
        <p:nvSpPr>
          <p:cNvPr id="15" name="Text 13"/>
          <p:cNvSpPr/>
          <p:nvPr/>
        </p:nvSpPr>
        <p:spPr>
          <a:xfrm>
            <a:off x="2670048" y="2377440"/>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Supabase operational store</a:t>
            </a:r>
            <a:endParaRPr lang="en-US" sz="950" dirty="0"/>
          </a:p>
        </p:txBody>
      </p:sp>
      <p:sp>
        <p:nvSpPr>
          <p:cNvPr id="16" name="Text 14"/>
          <p:cNvSpPr/>
          <p:nvPr/>
        </p:nvSpPr>
        <p:spPr>
          <a:xfrm>
            <a:off x="2670048" y="2852928"/>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Salesforce MCP + jsforce fallback</a:t>
            </a:r>
            <a:endParaRPr lang="en-US" sz="950" dirty="0"/>
          </a:p>
        </p:txBody>
      </p:sp>
      <p:sp>
        <p:nvSpPr>
          <p:cNvPr id="17" name="Shape 15"/>
          <p:cNvSpPr/>
          <p:nvPr/>
        </p:nvSpPr>
        <p:spPr>
          <a:xfrm>
            <a:off x="4709160" y="1371600"/>
            <a:ext cx="1965960" cy="2834640"/>
          </a:xfrm>
          <a:prstGeom prst="roundRect">
            <a:avLst>
              <a:gd name="adj" fmla="val 3721"/>
            </a:avLst>
          </a:prstGeom>
          <a:solidFill>
            <a:srgbClr val="FAEEDA"/>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4709160" y="1463040"/>
            <a:ext cx="1965960" cy="320040"/>
          </a:xfrm>
          <a:prstGeom prst="rect">
            <a:avLst/>
          </a:prstGeom>
          <a:noFill/>
          <a:ln/>
        </p:spPr>
        <p:txBody>
          <a:bodyPr wrap="square" rtlCol="0" anchor="ctr"/>
          <a:lstStyle/>
          <a:p>
            <a:pPr algn="ctr" indent="0" marL="0">
              <a:buNone/>
            </a:pPr>
            <a:r>
              <a:rPr lang="en-US" sz="1200" b="1" dirty="0">
                <a:solidFill>
                  <a:srgbClr val="BA7517"/>
                </a:solidFill>
                <a:latin typeface="Arial" pitchFamily="34" charset="0"/>
                <a:ea typeface="Arial" pitchFamily="34" charset="-122"/>
                <a:cs typeface="Arial" pitchFamily="34" charset="-120"/>
              </a:rPr>
              <a:t>Intelligence</a:t>
            </a:r>
            <a:endParaRPr lang="en-US" sz="1200" dirty="0"/>
          </a:p>
        </p:txBody>
      </p:sp>
      <p:sp>
        <p:nvSpPr>
          <p:cNvPr id="19" name="Shape 17"/>
          <p:cNvSpPr/>
          <p:nvPr/>
        </p:nvSpPr>
        <p:spPr>
          <a:xfrm>
            <a:off x="4892040" y="1828800"/>
            <a:ext cx="1600200" cy="0"/>
          </a:xfrm>
          <a:prstGeom prst="line">
            <a:avLst/>
          </a:prstGeom>
          <a:noFill/>
          <a:ln w="6350">
            <a:solidFill>
              <a:srgbClr val="EBEBEB"/>
            </a:solidFill>
            <a:prstDash val="solid"/>
          </a:ln>
        </p:spPr>
      </p:sp>
      <p:sp>
        <p:nvSpPr>
          <p:cNvPr id="20" name="Text 18"/>
          <p:cNvSpPr/>
          <p:nvPr/>
        </p:nvSpPr>
        <p:spPr>
          <a:xfrm>
            <a:off x="4818888" y="1901952"/>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SI failure pattern library (FP-004→FP-007)</a:t>
            </a:r>
            <a:endParaRPr lang="en-US" sz="950" dirty="0"/>
          </a:p>
        </p:txBody>
      </p:sp>
      <p:sp>
        <p:nvSpPr>
          <p:cNvPr id="21" name="Text 19"/>
          <p:cNvSpPr/>
          <p:nvPr/>
        </p:nvSpPr>
        <p:spPr>
          <a:xfrm>
            <a:off x="4818888" y="2377440"/>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Cross-session memory via Jira</a:t>
            </a:r>
            <a:endParaRPr lang="en-US" sz="950" dirty="0"/>
          </a:p>
        </p:txBody>
      </p:sp>
      <p:sp>
        <p:nvSpPr>
          <p:cNvPr id="22" name="Text 20"/>
          <p:cNvSpPr/>
          <p:nvPr/>
        </p:nvSpPr>
        <p:spPr>
          <a:xfrm>
            <a:off x="4818888" y="2852928"/>
            <a:ext cx="1737360" cy="420624"/>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  Endorsement Review Panel</a:t>
            </a:r>
            <a:endParaRPr lang="en-US" sz="950" dirty="0"/>
          </a:p>
        </p:txBody>
      </p:sp>
      <p:sp>
        <p:nvSpPr>
          <p:cNvPr id="23" name="Shape 21"/>
          <p:cNvSpPr/>
          <p:nvPr/>
        </p:nvSpPr>
        <p:spPr>
          <a:xfrm>
            <a:off x="6858000" y="1371600"/>
            <a:ext cx="1965960" cy="2834640"/>
          </a:xfrm>
          <a:prstGeom prst="roundRect">
            <a:avLst>
              <a:gd name="adj" fmla="val 3721"/>
            </a:avLst>
          </a:prstGeom>
          <a:solidFill>
            <a:srgbClr val="0F1E3C"/>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4" name="Text 22"/>
          <p:cNvSpPr/>
          <p:nvPr/>
        </p:nvSpPr>
        <p:spPr>
          <a:xfrm>
            <a:off x="6858000" y="1463040"/>
            <a:ext cx="196596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Friday</a:t>
            </a:r>
            <a:endParaRPr lang="en-US" sz="1200" dirty="0"/>
          </a:p>
        </p:txBody>
      </p:sp>
      <p:sp>
        <p:nvSpPr>
          <p:cNvPr id="25" name="Shape 23"/>
          <p:cNvSpPr/>
          <p:nvPr/>
        </p:nvSpPr>
        <p:spPr>
          <a:xfrm>
            <a:off x="7040880" y="1828800"/>
            <a:ext cx="1600200" cy="0"/>
          </a:xfrm>
          <a:prstGeom prst="line">
            <a:avLst/>
          </a:prstGeom>
          <a:noFill/>
          <a:ln w="6350">
            <a:solidFill>
              <a:srgbClr val="445566"/>
            </a:solidFill>
            <a:prstDash val="solid"/>
          </a:ln>
        </p:spPr>
      </p:sp>
      <p:sp>
        <p:nvSpPr>
          <p:cNvPr id="26" name="Text 24"/>
          <p:cNvSpPr/>
          <p:nvPr/>
        </p:nvSpPr>
        <p:spPr>
          <a:xfrm>
            <a:off x="6967728" y="1901952"/>
            <a:ext cx="1737360" cy="420624"/>
          </a:xfrm>
          <a:prstGeom prst="rect">
            <a:avLst/>
          </a:prstGeom>
          <a:noFill/>
          <a:ln/>
        </p:spPr>
        <p:txBody>
          <a:bodyPr wrap="square" rtlCol="0" anchor="t"/>
          <a:lstStyle/>
          <a:p>
            <a:pPr indent="0" marL="0">
              <a:buNone/>
            </a:pPr>
            <a:r>
              <a:rPr lang="en-US" sz="950" dirty="0">
                <a:solidFill>
                  <a:srgbClr val="A0B8D8"/>
                </a:solidFill>
                <a:latin typeface="Arial" pitchFamily="34" charset="0"/>
                <a:ea typeface="Arial" pitchFamily="34" charset="-122"/>
                <a:cs typeface="Arial" pitchFamily="34" charset="-120"/>
              </a:rPr>
              <a:t>→  Document review mode (NEW)</a:t>
            </a:r>
            <a:endParaRPr lang="en-US" sz="950" dirty="0"/>
          </a:p>
        </p:txBody>
      </p:sp>
      <p:sp>
        <p:nvSpPr>
          <p:cNvPr id="27" name="Text 25"/>
          <p:cNvSpPr/>
          <p:nvPr/>
        </p:nvSpPr>
        <p:spPr>
          <a:xfrm>
            <a:off x="6967728" y="2377440"/>
            <a:ext cx="1737360" cy="420624"/>
          </a:xfrm>
          <a:prstGeom prst="rect">
            <a:avLst/>
          </a:prstGeom>
          <a:noFill/>
          <a:ln/>
        </p:spPr>
        <p:txBody>
          <a:bodyPr wrap="square" rtlCol="0" anchor="t"/>
          <a:lstStyle/>
          <a:p>
            <a:pPr indent="0" marL="0">
              <a:buNone/>
            </a:pPr>
            <a:r>
              <a:rPr lang="en-US" sz="950" dirty="0">
                <a:solidFill>
                  <a:srgbClr val="A0B8D8"/>
                </a:solidFill>
                <a:latin typeface="Arial" pitchFamily="34" charset="0"/>
                <a:ea typeface="Arial" pitchFamily="34" charset="-122"/>
                <a:cs typeface="Arial" pitchFamily="34" charset="-120"/>
              </a:rPr>
              <a:t>→  Well-Architected principles injection</a:t>
            </a:r>
            <a:endParaRPr lang="en-US" sz="950" dirty="0"/>
          </a:p>
        </p:txBody>
      </p:sp>
      <p:sp>
        <p:nvSpPr>
          <p:cNvPr id="28" name="Text 26"/>
          <p:cNvSpPr/>
          <p:nvPr/>
        </p:nvSpPr>
        <p:spPr>
          <a:xfrm>
            <a:off x="6967728" y="2852928"/>
            <a:ext cx="1737360" cy="420624"/>
          </a:xfrm>
          <a:prstGeom prst="rect">
            <a:avLst/>
          </a:prstGeom>
          <a:noFill/>
          <a:ln/>
        </p:spPr>
        <p:txBody>
          <a:bodyPr wrap="square" rtlCol="0" anchor="t"/>
          <a:lstStyle/>
          <a:p>
            <a:pPr indent="0" marL="0">
              <a:buNone/>
            </a:pPr>
            <a:r>
              <a:rPr lang="en-US" sz="950" dirty="0">
                <a:solidFill>
                  <a:srgbClr val="A0B8D8"/>
                </a:solidFill>
                <a:latin typeface="Arial" pitchFamily="34" charset="0"/>
                <a:ea typeface="Arial" pitchFamily="34" charset="-122"/>
                <a:cs typeface="Arial" pitchFamily="34" charset="-120"/>
              </a:rPr>
              <a:t>→  Token optimisation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ROADMAP</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Engineered to deepen over time — not a one-shot tool</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25880"/>
            <a:ext cx="2651760" cy="3246120"/>
          </a:xfrm>
          <a:prstGeom prst="roundRect">
            <a:avLst>
              <a:gd name="adj" fmla="val 2759"/>
            </a:avLst>
          </a:prstGeom>
          <a:solidFill>
            <a:srgbClr val="E1F5EE"/>
          </a:solidFill>
          <a:ln w="6350">
            <a:solidFill>
              <a:srgbClr val="D3D1C7"/>
            </a:solidFill>
            <a:prstDash val="solid"/>
          </a:ln>
        </p:spPr>
      </p:sp>
      <p:sp>
        <p:nvSpPr>
          <p:cNvPr id="6" name="Shape 4"/>
          <p:cNvSpPr/>
          <p:nvPr/>
        </p:nvSpPr>
        <p:spPr>
          <a:xfrm>
            <a:off x="411480" y="1325880"/>
            <a:ext cx="2651760" cy="384048"/>
          </a:xfrm>
          <a:prstGeom prst="roundRect">
            <a:avLst>
              <a:gd name="adj" fmla="val 19048"/>
            </a:avLst>
          </a:prstGeom>
          <a:solidFill>
            <a:srgbClr val="0F6E56"/>
          </a:solidFill>
          <a:ln w="12700">
            <a:solidFill>
              <a:srgbClr val="0F6E56"/>
            </a:solidFill>
            <a:prstDash val="solid"/>
          </a:ln>
        </p:spPr>
      </p:sp>
      <p:sp>
        <p:nvSpPr>
          <p:cNvPr id="7" name="Text 5"/>
          <p:cNvSpPr/>
          <p:nvPr/>
        </p:nvSpPr>
        <p:spPr>
          <a:xfrm>
            <a:off x="411480"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Now — done</a:t>
            </a:r>
            <a:endParaRPr lang="en-US" sz="1200" dirty="0"/>
          </a:p>
        </p:txBody>
      </p:sp>
      <p:sp>
        <p:nvSpPr>
          <p:cNvPr id="8" name="Text 6"/>
          <p:cNvSpPr/>
          <p:nvPr/>
        </p:nvSpPr>
        <p:spPr>
          <a:xfrm>
            <a:off x="548640" y="1792224"/>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Cross-session Jira memory</a:t>
            </a:r>
            <a:endParaRPr lang="en-US" sz="1000" dirty="0"/>
          </a:p>
        </p:txBody>
      </p:sp>
      <p:sp>
        <p:nvSpPr>
          <p:cNvPr id="9" name="Text 7"/>
          <p:cNvSpPr/>
          <p:nvPr/>
        </p:nvSpPr>
        <p:spPr>
          <a:xfrm>
            <a:off x="548640" y="2304288"/>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SI failure pattern library</a:t>
            </a:r>
            <a:endParaRPr lang="en-US" sz="1000" dirty="0"/>
          </a:p>
        </p:txBody>
      </p:sp>
      <p:sp>
        <p:nvSpPr>
          <p:cNvPr id="10" name="Text 8"/>
          <p:cNvSpPr/>
          <p:nvPr/>
        </p:nvSpPr>
        <p:spPr>
          <a:xfrm>
            <a:off x="548640" y="2816352"/>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Confidence badges + endorsement flow</a:t>
            </a:r>
            <a:endParaRPr lang="en-US" sz="1000" dirty="0"/>
          </a:p>
        </p:txBody>
      </p:sp>
      <p:sp>
        <p:nvSpPr>
          <p:cNvPr id="11" name="Text 9"/>
          <p:cNvSpPr/>
          <p:nvPr/>
        </p:nvSpPr>
        <p:spPr>
          <a:xfrm>
            <a:off x="548640" y="3328416"/>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Salesforce org metadata injection</a:t>
            </a:r>
            <a:endParaRPr lang="en-US" sz="1000" dirty="0"/>
          </a:p>
        </p:txBody>
      </p:sp>
      <p:sp>
        <p:nvSpPr>
          <p:cNvPr id="12" name="Text 10"/>
          <p:cNvSpPr/>
          <p:nvPr/>
        </p:nvSpPr>
        <p:spPr>
          <a:xfrm>
            <a:off x="548640" y="3840480"/>
            <a:ext cx="2377440" cy="457200"/>
          </a:xfrm>
          <a:prstGeom prst="rect">
            <a:avLst/>
          </a:prstGeom>
          <a:noFill/>
          <a:ln/>
        </p:spPr>
        <p:txBody>
          <a:bodyPr wrap="square" rtlCol="0" anchor="t"/>
          <a:lstStyle/>
          <a:p>
            <a:pPr indent="0" marL="0">
              <a:buNone/>
            </a:pPr>
            <a:r>
              <a:rPr lang="en-US" sz="1000" b="1" dirty="0">
                <a:solidFill>
                  <a:srgbClr val="0F6E56"/>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Supabase cost analytics</a:t>
            </a:r>
            <a:endParaRPr lang="en-US" sz="1000" dirty="0"/>
          </a:p>
        </p:txBody>
      </p:sp>
      <p:sp>
        <p:nvSpPr>
          <p:cNvPr id="13" name="Shape 11"/>
          <p:cNvSpPr/>
          <p:nvPr/>
        </p:nvSpPr>
        <p:spPr>
          <a:xfrm>
            <a:off x="3227832" y="1325880"/>
            <a:ext cx="2651760" cy="3246120"/>
          </a:xfrm>
          <a:prstGeom prst="roundRect">
            <a:avLst>
              <a:gd name="adj" fmla="val 2759"/>
            </a:avLst>
          </a:prstGeom>
          <a:solidFill>
            <a:srgbClr val="EBF2FA"/>
          </a:solidFill>
          <a:ln w="6350">
            <a:solidFill>
              <a:srgbClr val="D3D1C7"/>
            </a:solidFill>
            <a:prstDash val="solid"/>
          </a:ln>
        </p:spPr>
      </p:sp>
      <p:sp>
        <p:nvSpPr>
          <p:cNvPr id="14" name="Shape 12"/>
          <p:cNvSpPr/>
          <p:nvPr/>
        </p:nvSpPr>
        <p:spPr>
          <a:xfrm>
            <a:off x="3227832" y="1325880"/>
            <a:ext cx="2651760" cy="384048"/>
          </a:xfrm>
          <a:prstGeom prst="roundRect">
            <a:avLst>
              <a:gd name="adj" fmla="val 19048"/>
            </a:avLst>
          </a:prstGeom>
          <a:solidFill>
            <a:srgbClr val="1B4F9B"/>
          </a:solidFill>
          <a:ln w="12700">
            <a:solidFill>
              <a:srgbClr val="1B4F9B"/>
            </a:solidFill>
            <a:prstDash val="solid"/>
          </a:ln>
        </p:spPr>
      </p:sp>
      <p:sp>
        <p:nvSpPr>
          <p:cNvPr id="15" name="Text 13"/>
          <p:cNvSpPr/>
          <p:nvPr/>
        </p:nvSpPr>
        <p:spPr>
          <a:xfrm>
            <a:off x="3227832"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Friday</a:t>
            </a:r>
            <a:endParaRPr lang="en-US" sz="1200" dirty="0"/>
          </a:p>
        </p:txBody>
      </p:sp>
      <p:sp>
        <p:nvSpPr>
          <p:cNvPr id="16" name="Text 14"/>
          <p:cNvSpPr/>
          <p:nvPr/>
        </p:nvSpPr>
        <p:spPr>
          <a:xfrm>
            <a:off x="3364992" y="1792224"/>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Document review mode</a:t>
            </a:r>
            <a:endParaRPr lang="en-US" sz="1000" dirty="0"/>
          </a:p>
        </p:txBody>
      </p:sp>
      <p:sp>
        <p:nvSpPr>
          <p:cNvPr id="17" name="Text 15"/>
          <p:cNvSpPr/>
          <p:nvPr/>
        </p:nvSpPr>
        <p:spPr>
          <a:xfrm>
            <a:off x="3364992" y="2304288"/>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Well-Architected principles in prompts</a:t>
            </a:r>
            <a:endParaRPr lang="en-US" sz="1000" dirty="0"/>
          </a:p>
        </p:txBody>
      </p:sp>
      <p:sp>
        <p:nvSpPr>
          <p:cNvPr id="18" name="Text 16"/>
          <p:cNvSpPr/>
          <p:nvPr/>
        </p:nvSpPr>
        <p:spPr>
          <a:xfrm>
            <a:off x="3364992" y="2816352"/>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Token optimisations (3 fixes)</a:t>
            </a:r>
            <a:endParaRPr lang="en-US" sz="1000" dirty="0"/>
          </a:p>
        </p:txBody>
      </p:sp>
      <p:sp>
        <p:nvSpPr>
          <p:cNvPr id="19" name="Text 17"/>
          <p:cNvSpPr/>
          <p:nvPr/>
        </p:nvSpPr>
        <p:spPr>
          <a:xfrm>
            <a:off x="3364992" y="3328416"/>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Gated endorsement — Jira assign</a:t>
            </a:r>
            <a:endParaRPr lang="en-US" sz="1000" dirty="0"/>
          </a:p>
        </p:txBody>
      </p:sp>
      <p:sp>
        <p:nvSpPr>
          <p:cNvPr id="20" name="Text 18"/>
          <p:cNvSpPr/>
          <p:nvPr/>
        </p:nvSpPr>
        <p:spPr>
          <a:xfrm>
            <a:off x="3364992" y="3840480"/>
            <a:ext cx="2377440" cy="457200"/>
          </a:xfrm>
          <a:prstGeom prst="rect">
            <a:avLst/>
          </a:prstGeom>
          <a:noFill/>
          <a:ln/>
        </p:spPr>
        <p:txBody>
          <a:bodyPr wrap="square" rtlCol="0" anchor="t"/>
          <a:lstStyle/>
          <a:p>
            <a:pPr indent="0" marL="0">
              <a:buNone/>
            </a:pPr>
            <a:r>
              <a:rPr lang="en-US" sz="1000" b="1" dirty="0">
                <a:solidFill>
                  <a:srgbClr val="1B4F9B"/>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Fix Revision Round</a:t>
            </a:r>
            <a:endParaRPr lang="en-US" sz="1000" dirty="0"/>
          </a:p>
        </p:txBody>
      </p:sp>
      <p:sp>
        <p:nvSpPr>
          <p:cNvPr id="21" name="Shape 19"/>
          <p:cNvSpPr/>
          <p:nvPr/>
        </p:nvSpPr>
        <p:spPr>
          <a:xfrm>
            <a:off x="6044184" y="1325880"/>
            <a:ext cx="2651760" cy="3246120"/>
          </a:xfrm>
          <a:prstGeom prst="roundRect">
            <a:avLst>
              <a:gd name="adj" fmla="val 2759"/>
            </a:avLst>
          </a:prstGeom>
          <a:solidFill>
            <a:srgbClr val="FAEEDA"/>
          </a:solidFill>
          <a:ln w="6350">
            <a:solidFill>
              <a:srgbClr val="D3D1C7"/>
            </a:solidFill>
            <a:prstDash val="solid"/>
          </a:ln>
        </p:spPr>
      </p:sp>
      <p:sp>
        <p:nvSpPr>
          <p:cNvPr id="22" name="Shape 20"/>
          <p:cNvSpPr/>
          <p:nvPr/>
        </p:nvSpPr>
        <p:spPr>
          <a:xfrm>
            <a:off x="6044184" y="1325880"/>
            <a:ext cx="2651760" cy="384048"/>
          </a:xfrm>
          <a:prstGeom prst="roundRect">
            <a:avLst>
              <a:gd name="adj" fmla="val 19048"/>
            </a:avLst>
          </a:prstGeom>
          <a:solidFill>
            <a:srgbClr val="BA7517"/>
          </a:solidFill>
          <a:ln w="12700">
            <a:solidFill>
              <a:srgbClr val="BA7517"/>
            </a:solidFill>
            <a:prstDash val="solid"/>
          </a:ln>
        </p:spPr>
      </p:sp>
      <p:sp>
        <p:nvSpPr>
          <p:cNvPr id="23" name="Text 21"/>
          <p:cNvSpPr/>
          <p:nvPr/>
        </p:nvSpPr>
        <p:spPr>
          <a:xfrm>
            <a:off x="6044184" y="1335024"/>
            <a:ext cx="2651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Post-Friday</a:t>
            </a:r>
            <a:endParaRPr lang="en-US" sz="1200" dirty="0"/>
          </a:p>
        </p:txBody>
      </p:sp>
      <p:sp>
        <p:nvSpPr>
          <p:cNvPr id="24" name="Text 22"/>
          <p:cNvSpPr/>
          <p:nvPr/>
        </p:nvSpPr>
        <p:spPr>
          <a:xfrm>
            <a:off x="6181344" y="1792224"/>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pgvector RAG — full framework corpus</a:t>
            </a:r>
            <a:endParaRPr lang="en-US" sz="1000" dirty="0"/>
          </a:p>
        </p:txBody>
      </p:sp>
      <p:sp>
        <p:nvSpPr>
          <p:cNvPr id="25" name="Text 23"/>
          <p:cNvSpPr/>
          <p:nvPr/>
        </p:nvSpPr>
        <p:spPr>
          <a:xfrm>
            <a:off x="6181344" y="2304288"/>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Multi-tenant client config in Supabase</a:t>
            </a:r>
            <a:endParaRPr lang="en-US" sz="1000" dirty="0"/>
          </a:p>
        </p:txBody>
      </p:sp>
      <p:sp>
        <p:nvSpPr>
          <p:cNvPr id="26" name="Text 24"/>
          <p:cNvSpPr/>
          <p:nvPr/>
        </p:nvSpPr>
        <p:spPr>
          <a:xfrm>
            <a:off x="6181344" y="2816352"/>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Prompt caching (90% cost reduction)</a:t>
            </a:r>
            <a:endParaRPr lang="en-US" sz="1000" dirty="0"/>
          </a:p>
        </p:txBody>
      </p:sp>
      <p:sp>
        <p:nvSpPr>
          <p:cNvPr id="27" name="Text 25"/>
          <p:cNvSpPr/>
          <p:nvPr/>
        </p:nvSpPr>
        <p:spPr>
          <a:xfrm>
            <a:off x="6181344" y="3328416"/>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Doc section routing per agent</a:t>
            </a:r>
            <a:endParaRPr lang="en-US" sz="1000" dirty="0"/>
          </a:p>
        </p:txBody>
      </p:sp>
      <p:sp>
        <p:nvSpPr>
          <p:cNvPr id="28" name="Text 26"/>
          <p:cNvSpPr/>
          <p:nvPr/>
        </p:nvSpPr>
        <p:spPr>
          <a:xfrm>
            <a:off x="6181344" y="3840480"/>
            <a:ext cx="2377440" cy="457200"/>
          </a:xfrm>
          <a:prstGeom prst="rect">
            <a:avLst/>
          </a:prstGeom>
          <a:noFill/>
          <a:ln/>
        </p:spPr>
        <p:txBody>
          <a:bodyPr wrap="square" rtlCol="0" anchor="t"/>
          <a:lstStyle/>
          <a:p>
            <a:pPr indent="0" marL="0">
              <a:buNone/>
            </a:pPr>
            <a:r>
              <a:rPr lang="en-US" sz="1000" b="1" dirty="0">
                <a:solidFill>
                  <a:srgbClr val="BA7517"/>
                </a:solidFill>
                <a:latin typeface="Arial" pitchFamily="34" charset="0"/>
                <a:ea typeface="Arial" pitchFamily="34" charset="-122"/>
                <a:cs typeface="Arial" pitchFamily="34" charset="-120"/>
              </a:rPr>
              <a:t>✓  </a:t>
            </a:r>
            <a:pPr indent="0" marL="0">
              <a:buNone/>
            </a:pPr>
            <a:r>
              <a:rPr lang="en-US" sz="1000" dirty="0">
                <a:solidFill>
                  <a:srgbClr val="1A1A1A"/>
                </a:solidFill>
                <a:latin typeface="Arial" pitchFamily="34" charset="0"/>
                <a:ea typeface="Arial" pitchFamily="34" charset="-122"/>
                <a:cs typeface="Arial" pitchFamily="34" charset="-120"/>
              </a:rPr>
              <a:t>Confluence write-back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LEARNINGS FOR OTHERS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800" b="1" dirty="0">
                <a:solidFill>
                  <a:srgbClr val="1A1A1A"/>
                </a:solidFill>
                <a:latin typeface="Arial" pitchFamily="34" charset="0"/>
                <a:ea typeface="Arial" pitchFamily="34" charset="-122"/>
                <a:cs typeface="Arial" pitchFamily="34" charset="-120"/>
              </a:rPr>
              <a:t>What we would do differently — and what surprised us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7160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6" name="Text 4"/>
          <p:cNvSpPr/>
          <p:nvPr/>
        </p:nvSpPr>
        <p:spPr>
          <a:xfrm>
            <a:off x="411480" y="146304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521208" y="182880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Measure before optimising</a:t>
            </a:r>
            <a:endParaRPr lang="en-US" sz="1100" dirty="0"/>
          </a:p>
        </p:txBody>
      </p:sp>
      <p:sp>
        <p:nvSpPr>
          <p:cNvPr id="8" name="Text 6"/>
          <p:cNvSpPr/>
          <p:nvPr/>
        </p:nvSpPr>
        <p:spPr>
          <a:xfrm>
            <a:off x="521208" y="210312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We hit ~$0.29/session baseline. Targeted 3 fixes cut it to ~$0.08. Know your token breakdown before building.</a:t>
            </a:r>
            <a:endParaRPr lang="en-US" sz="950" dirty="0"/>
          </a:p>
        </p:txBody>
      </p:sp>
      <p:sp>
        <p:nvSpPr>
          <p:cNvPr id="9" name="Shape 7"/>
          <p:cNvSpPr/>
          <p:nvPr/>
        </p:nvSpPr>
        <p:spPr>
          <a:xfrm>
            <a:off x="3227832" y="137160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0" name="Text 8"/>
          <p:cNvSpPr/>
          <p:nvPr/>
        </p:nvSpPr>
        <p:spPr>
          <a:xfrm>
            <a:off x="3227832" y="146304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3337560" y="182880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Architecture beats prompt engineering</a:t>
            </a:r>
            <a:endParaRPr lang="en-US" sz="1100" dirty="0"/>
          </a:p>
        </p:txBody>
      </p:sp>
      <p:sp>
        <p:nvSpPr>
          <p:cNvPr id="12" name="Text 10"/>
          <p:cNvSpPr/>
          <p:nvPr/>
        </p:nvSpPr>
        <p:spPr>
          <a:xfrm>
            <a:off x="3337560" y="210312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The biggest quality gains came from structured grounding (memory, patterns, principles) — not tweaking prompts.</a:t>
            </a:r>
            <a:endParaRPr lang="en-US" sz="950" dirty="0"/>
          </a:p>
        </p:txBody>
      </p:sp>
      <p:sp>
        <p:nvSpPr>
          <p:cNvPr id="13" name="Shape 11"/>
          <p:cNvSpPr/>
          <p:nvPr/>
        </p:nvSpPr>
        <p:spPr>
          <a:xfrm>
            <a:off x="6044184" y="137160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4" name="Text 12"/>
          <p:cNvSpPr/>
          <p:nvPr/>
        </p:nvSpPr>
        <p:spPr>
          <a:xfrm>
            <a:off x="6044184" y="146304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6153912" y="182880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Fail gracefully everywhere</a:t>
            </a:r>
            <a:endParaRPr lang="en-US" sz="1100" dirty="0"/>
          </a:p>
        </p:txBody>
      </p:sp>
      <p:sp>
        <p:nvSpPr>
          <p:cNvPr id="16" name="Text 14"/>
          <p:cNvSpPr/>
          <p:nvPr/>
        </p:nvSpPr>
        <p:spPr>
          <a:xfrm>
            <a:off x="6153912" y="210312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Every external call (Jira, Supabase, MCP) must be try/catch with fallback. A broken integration cannot kill a session.</a:t>
            </a:r>
            <a:endParaRPr lang="en-US" sz="950" dirty="0"/>
          </a:p>
        </p:txBody>
      </p:sp>
      <p:sp>
        <p:nvSpPr>
          <p:cNvPr id="17" name="Shape 15"/>
          <p:cNvSpPr/>
          <p:nvPr/>
        </p:nvSpPr>
        <p:spPr>
          <a:xfrm>
            <a:off x="411480" y="278892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18" name="Text 16"/>
          <p:cNvSpPr/>
          <p:nvPr/>
        </p:nvSpPr>
        <p:spPr>
          <a:xfrm>
            <a:off x="411480" y="288036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521208" y="324612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Separate content from ops</a:t>
            </a:r>
            <a:endParaRPr lang="en-US" sz="1100" dirty="0"/>
          </a:p>
        </p:txBody>
      </p:sp>
      <p:sp>
        <p:nvSpPr>
          <p:cNvPr id="20" name="Text 18"/>
          <p:cNvSpPr/>
          <p:nvPr/>
        </p:nvSpPr>
        <p:spPr>
          <a:xfrm>
            <a:off x="521208" y="352044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Jira owns ADR content. Supabase owns operational data. Never duplicate. This decision made memory retrieval trivial.</a:t>
            </a:r>
            <a:endParaRPr lang="en-US" sz="950" dirty="0"/>
          </a:p>
        </p:txBody>
      </p:sp>
      <p:sp>
        <p:nvSpPr>
          <p:cNvPr id="21" name="Shape 19"/>
          <p:cNvSpPr/>
          <p:nvPr/>
        </p:nvSpPr>
        <p:spPr>
          <a:xfrm>
            <a:off x="3227832" y="278892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2" name="Text 20"/>
          <p:cNvSpPr/>
          <p:nvPr/>
        </p:nvSpPr>
        <p:spPr>
          <a:xfrm>
            <a:off x="3227832" y="288036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3337560" y="324612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Mock mode is not optional</a:t>
            </a:r>
            <a:endParaRPr lang="en-US" sz="1100" dirty="0"/>
          </a:p>
        </p:txBody>
      </p:sp>
      <p:sp>
        <p:nvSpPr>
          <p:cNvPr id="24" name="Text 22"/>
          <p:cNvSpPr/>
          <p:nvPr/>
        </p:nvSpPr>
        <p:spPr>
          <a:xfrm>
            <a:off x="3337560" y="352044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ANTHROPIC_API_KEY=mock saved significant cost during build. Reserve real API calls for quality validation only.</a:t>
            </a:r>
            <a:endParaRPr lang="en-US" sz="950" dirty="0"/>
          </a:p>
        </p:txBody>
      </p:sp>
      <p:sp>
        <p:nvSpPr>
          <p:cNvPr id="25" name="Shape 23"/>
          <p:cNvSpPr/>
          <p:nvPr/>
        </p:nvSpPr>
        <p:spPr>
          <a:xfrm>
            <a:off x="6044184" y="2788920"/>
            <a:ext cx="2651760" cy="1261872"/>
          </a:xfrm>
          <a:prstGeom prst="roundRect">
            <a:avLst>
              <a:gd name="adj" fmla="val 5797"/>
            </a:avLst>
          </a:prstGeom>
          <a:solidFill>
            <a:srgbClr val="FFFFFF"/>
          </a:solidFill>
          <a:ln w="6350">
            <a:solidFill>
              <a:srgbClr val="D3D1C7"/>
            </a:solidFill>
            <a:prstDash val="solid"/>
          </a:ln>
          <a:effectLst>
            <a:outerShdw sx="100000" sy="100000" kx="0" ky="0" algn="bl" rotWithShape="0" blurRad="76200" dist="25400" dir="2700000">
              <a:srgbClr val="000000">
                <a:alpha val="7000"/>
              </a:srgbClr>
            </a:outerShdw>
          </a:effectLst>
        </p:spPr>
      </p:sp>
      <p:sp>
        <p:nvSpPr>
          <p:cNvPr id="26" name="Text 24"/>
          <p:cNvSpPr/>
          <p:nvPr/>
        </p:nvSpPr>
        <p:spPr>
          <a:xfrm>
            <a:off x="6044184" y="2880360"/>
            <a:ext cx="2651760" cy="36576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7" name="Text 25"/>
          <p:cNvSpPr/>
          <p:nvPr/>
        </p:nvSpPr>
        <p:spPr>
          <a:xfrm>
            <a:off x="6153912" y="3246120"/>
            <a:ext cx="2432304" cy="274320"/>
          </a:xfrm>
          <a:prstGeom prst="rect">
            <a:avLst/>
          </a:prstGeom>
          <a:noFill/>
          <a:ln/>
        </p:spPr>
        <p:txBody>
          <a:bodyPr wrap="square" rtlCol="0" anchor="ctr"/>
          <a:lstStyle/>
          <a:p>
            <a:pPr indent="0" marL="0">
              <a:buNone/>
            </a:pPr>
            <a:r>
              <a:rPr lang="en-US" sz="1100" b="1" dirty="0">
                <a:solidFill>
                  <a:srgbClr val="0F1E3C"/>
                </a:solidFill>
                <a:latin typeface="Arial" pitchFamily="34" charset="0"/>
                <a:ea typeface="Arial" pitchFamily="34" charset="-122"/>
                <a:cs typeface="Arial" pitchFamily="34" charset="-120"/>
              </a:rPr>
              <a:t>The IP is the reasoning layer</a:t>
            </a:r>
            <a:endParaRPr lang="en-US" sz="1100" dirty="0"/>
          </a:p>
        </p:txBody>
      </p:sp>
      <p:sp>
        <p:nvSpPr>
          <p:cNvPr id="28" name="Text 26"/>
          <p:cNvSpPr/>
          <p:nvPr/>
        </p:nvSpPr>
        <p:spPr>
          <a:xfrm>
            <a:off x="6153912" y="3520440"/>
            <a:ext cx="2432304" cy="475488"/>
          </a:xfrm>
          <a:prstGeom prst="rect">
            <a:avLst/>
          </a:prstGeom>
          <a:noFill/>
          <a:ln/>
        </p:spPr>
        <p:txBody>
          <a:bodyPr wrap="square" rtlCol="0" anchor="t"/>
          <a:lstStyle/>
          <a:p>
            <a:pPr indent="0" marL="0">
              <a:buNone/>
            </a:pPr>
            <a:r>
              <a:rPr lang="en-US" sz="950" dirty="0">
                <a:solidFill>
                  <a:srgbClr val="64635E"/>
                </a:solidFill>
                <a:latin typeface="Arial" pitchFamily="34" charset="0"/>
                <a:ea typeface="Arial" pitchFamily="34" charset="-122"/>
                <a:cs typeface="Arial" pitchFamily="34" charset="-120"/>
              </a:rPr>
              <a:t>Anyone can wire MCP to Claude. The defensible moat is the accumulated prompt engineering and pattern library.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E3C"/>
        </a:solidFill>
      </p:bgPr>
    </p:bg>
    <p:spTree>
      <p:nvGrpSpPr>
        <p:cNvPr id="1" name=""/>
        <p:cNvGrpSpPr/>
        <p:nvPr/>
      </p:nvGrpSpPr>
      <p:grpSpPr>
        <a:xfrm>
          <a:off x="0" y="0"/>
          <a:ext cx="0" cy="0"/>
          <a:chOff x="0" y="0"/>
          <a:chExt cx="0" cy="0"/>
        </a:xfrm>
      </p:grpSpPr>
      <p:sp>
        <p:nvSpPr>
          <p:cNvPr id="2" name="Text 0"/>
          <p:cNvSpPr/>
          <p:nvPr/>
        </p:nvSpPr>
        <p:spPr>
          <a:xfrm>
            <a:off x="502920" y="1371600"/>
            <a:ext cx="8138160" cy="822960"/>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The Review Board is open.</a:t>
            </a:r>
            <a:endParaRPr lang="en-US" sz="3800" dirty="0"/>
          </a:p>
        </p:txBody>
      </p:sp>
      <p:sp>
        <p:nvSpPr>
          <p:cNvPr id="3" name="Text 1"/>
          <p:cNvSpPr/>
          <p:nvPr/>
        </p:nvSpPr>
        <p:spPr>
          <a:xfrm>
            <a:off x="502920" y="2331720"/>
            <a:ext cx="8138160" cy="411480"/>
          </a:xfrm>
          <a:prstGeom prst="rect">
            <a:avLst/>
          </a:prstGeom>
          <a:noFill/>
          <a:ln/>
        </p:spPr>
        <p:txBody>
          <a:bodyPr wrap="square" rtlCol="0" anchor="ctr"/>
          <a:lstStyle/>
          <a:p>
            <a:pPr algn="ctr" indent="0" marL="0">
              <a:buNone/>
            </a:pPr>
            <a:r>
              <a:rPr lang="en-US" sz="1800" dirty="0">
                <a:solidFill>
                  <a:srgbClr val="6A84A8"/>
                </a:solidFill>
                <a:latin typeface="Arial" pitchFamily="34" charset="0"/>
                <a:ea typeface="Arial" pitchFamily="34" charset="-122"/>
                <a:cs typeface="Arial" pitchFamily="34" charset="-120"/>
              </a:rPr>
              <a:t>arboard.vercel.app</a:t>
            </a:r>
            <a:endParaRPr lang="en-US" sz="1800" dirty="0"/>
          </a:p>
        </p:txBody>
      </p:sp>
      <p:sp>
        <p:nvSpPr>
          <p:cNvPr id="4" name="Shape 2"/>
          <p:cNvSpPr/>
          <p:nvPr/>
        </p:nvSpPr>
        <p:spPr>
          <a:xfrm>
            <a:off x="2743200" y="2834640"/>
            <a:ext cx="3657600" cy="0"/>
          </a:xfrm>
          <a:prstGeom prst="line">
            <a:avLst/>
          </a:prstGeom>
          <a:noFill/>
          <a:ln w="12700">
            <a:solidFill>
              <a:srgbClr val="2E6DA4"/>
            </a:solidFill>
            <a:prstDash val="solid"/>
          </a:ln>
        </p:spPr>
      </p:sp>
      <p:sp>
        <p:nvSpPr>
          <p:cNvPr id="5" name="Text 3"/>
          <p:cNvSpPr/>
          <p:nvPr/>
        </p:nvSpPr>
        <p:spPr>
          <a:xfrm>
            <a:off x="91440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9</a:t>
            </a:r>
            <a:endParaRPr lang="en-US" sz="2800" dirty="0"/>
          </a:p>
        </p:txBody>
      </p:sp>
      <p:sp>
        <p:nvSpPr>
          <p:cNvPr id="6" name="Text 4"/>
          <p:cNvSpPr/>
          <p:nvPr/>
        </p:nvSpPr>
        <p:spPr>
          <a:xfrm>
            <a:off x="91440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specialist agents</a:t>
            </a:r>
            <a:endParaRPr lang="en-US" sz="1000" dirty="0"/>
          </a:p>
        </p:txBody>
      </p:sp>
      <p:sp>
        <p:nvSpPr>
          <p:cNvPr id="7" name="Text 5"/>
          <p:cNvSpPr/>
          <p:nvPr/>
        </p:nvSpPr>
        <p:spPr>
          <a:xfrm>
            <a:off x="283464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8" name="Text 6"/>
          <p:cNvSpPr/>
          <p:nvPr/>
        </p:nvSpPr>
        <p:spPr>
          <a:xfrm>
            <a:off x="283464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grounding layers</a:t>
            </a:r>
            <a:endParaRPr lang="en-US" sz="1000" dirty="0"/>
          </a:p>
        </p:txBody>
      </p:sp>
      <p:sp>
        <p:nvSpPr>
          <p:cNvPr id="9" name="Text 7"/>
          <p:cNvSpPr/>
          <p:nvPr/>
        </p:nvSpPr>
        <p:spPr>
          <a:xfrm>
            <a:off x="475488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~$0.08</a:t>
            </a:r>
            <a:endParaRPr lang="en-US" sz="2800" dirty="0"/>
          </a:p>
        </p:txBody>
      </p:sp>
      <p:sp>
        <p:nvSpPr>
          <p:cNvPr id="10" name="Text 8"/>
          <p:cNvSpPr/>
          <p:nvPr/>
        </p:nvSpPr>
        <p:spPr>
          <a:xfrm>
            <a:off x="475488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per session (optimised)</a:t>
            </a:r>
            <a:endParaRPr lang="en-US" sz="1000" dirty="0"/>
          </a:p>
        </p:txBody>
      </p:sp>
      <p:sp>
        <p:nvSpPr>
          <p:cNvPr id="11" name="Text 9"/>
          <p:cNvSpPr/>
          <p:nvPr/>
        </p:nvSpPr>
        <p:spPr>
          <a:xfrm>
            <a:off x="6675120" y="3017520"/>
            <a:ext cx="1828800" cy="50292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2" name="Text 10"/>
          <p:cNvSpPr/>
          <p:nvPr/>
        </p:nvSpPr>
        <p:spPr>
          <a:xfrm>
            <a:off x="6675120" y="3520440"/>
            <a:ext cx="1828800" cy="274320"/>
          </a:xfrm>
          <a:prstGeom prst="rect">
            <a:avLst/>
          </a:prstGeom>
          <a:noFill/>
          <a:ln/>
        </p:spPr>
        <p:txBody>
          <a:bodyPr wrap="square" rtlCol="0" anchor="ctr"/>
          <a:lstStyle/>
          <a:p>
            <a:pPr algn="ctr" indent="0" marL="0">
              <a:buNone/>
            </a:pPr>
            <a:r>
              <a:rPr lang="en-US" sz="1000" dirty="0">
                <a:solidFill>
                  <a:srgbClr val="6A84A8"/>
                </a:solidFill>
                <a:latin typeface="Arial" pitchFamily="34" charset="0"/>
                <a:ea typeface="Arial" pitchFamily="34" charset="-122"/>
                <a:cs typeface="Arial" pitchFamily="34" charset="-120"/>
              </a:rPr>
              <a:t>institutional memory</a:t>
            </a:r>
            <a:endParaRPr lang="en-US" sz="1000" dirty="0"/>
          </a:p>
        </p:txBody>
      </p:sp>
      <p:sp>
        <p:nvSpPr>
          <p:cNvPr id="13" name="Text 11"/>
          <p:cNvSpPr/>
          <p:nvPr/>
        </p:nvSpPr>
        <p:spPr>
          <a:xfrm>
            <a:off x="502920" y="4480560"/>
            <a:ext cx="8138160" cy="256032"/>
          </a:xfrm>
          <a:prstGeom prst="rect">
            <a:avLst/>
          </a:prstGeom>
          <a:noFill/>
          <a:ln/>
        </p:spPr>
        <p:txBody>
          <a:bodyPr wrap="square" rtlCol="0" anchor="ctr"/>
          <a:lstStyle/>
          <a:p>
            <a:pPr algn="ctr" indent="0" marL="0">
              <a:buNone/>
            </a:pPr>
            <a:r>
              <a:rPr lang="en-US" sz="950" dirty="0">
                <a:solidFill>
                  <a:srgbClr val="445566"/>
                </a:solidFill>
                <a:latin typeface="Arial" pitchFamily="34" charset="0"/>
                <a:ea typeface="Arial" pitchFamily="34" charset="-122"/>
                <a:cs typeface="Arial" pitchFamily="34" charset="-120"/>
              </a:rPr>
              <a:t>Built on Claude API · Next.js 14 · Supabase · Vercel · Jira · Salesforce MCP</a:t>
            </a:r>
            <a:endParaRPr lang="en-US" sz="95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1645920"/>
            <a:ext cx="8138160" cy="73152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algn="ctr" indent="0" marL="0">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sp>
      <p:sp>
        <p:nvSpPr>
          <p:cNvPr id="5" name="Text 3"/>
          <p:cNvSpPr/>
          <p:nvPr/>
        </p:nvSpPr>
        <p:spPr>
          <a:xfrm>
            <a:off x="502920" y="4480560"/>
            <a:ext cx="8138160" cy="256032"/>
          </a:xfrm>
          <a:prstGeom prst="rect">
            <a:avLst/>
          </a:prstGeom>
          <a:noFill/>
          <a:ln/>
        </p:spPr>
        <p:txBody>
          <a:bodyPr wrap="square" rtlCol="0" anchor="ctr"/>
          <a:lstStyle/>
          <a:p>
            <a:pPr algn="ctr" indent="0" marL="0">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bg>
      <p:bgPr>
        <a:solidFill>
          <a:srgbClr val="0F1E3C"/>
        </a:solidFill>
      </p:bgPr>
    </p:bg>
    <p:spTree>
      <p:nvGrpSpPr>
        <p:cNvPr id="1" name=""/>
        <p:cNvGrpSpPr/>
        <p:nvPr/>
      </p:nvGrpSpPr>
      <p:grpSpPr>
        <a:xfrm>
          <a:off x="0" y="0"/>
          <a:ext cx="0" cy="0"/>
          <a:chOff x="0" y="0"/>
          <a:chExt cx="0" cy="0"/>
        </a:xfrm>
      </p:grpSpPr>
      <p:sp>
        <p:nvSpPr>
          <p:cNvPr id="2" name="Text 0"/>
          <p:cNvSpPr/>
          <p:nvPr/>
        </p:nvSpPr>
        <p:spPr>
          <a:xfrm>
            <a:off x="502920" y="1645920"/>
            <a:ext cx="8138160" cy="73152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algn="ctr" indent="0" marL="0">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sp>
      <p:sp>
        <p:nvSpPr>
          <p:cNvPr id="5" name="Text 3"/>
          <p:cNvSpPr/>
          <p:nvPr/>
        </p:nvSpPr>
        <p:spPr>
          <a:xfrm>
            <a:off x="502920" y="4480560"/>
            <a:ext cx="8138160" cy="256032"/>
          </a:xfrm>
          <a:prstGeom prst="rect">
            <a:avLst/>
          </a:prstGeom>
          <a:noFill/>
          <a:ln/>
        </p:spPr>
        <p:txBody>
          <a:bodyPr wrap="square" rtlCol="0" anchor="ctr"/>
          <a:lstStyle/>
          <a:p>
            <a:pPr algn="ctr" indent="0" marL="0">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sp>
      <p:sp>
        <p:nvSpPr>
          <p:cNvPr id="7" name="Text 5"/>
          <p:cNvSpPr/>
          <p:nvPr/>
        </p:nvSpPr>
        <p:spPr>
          <a:xfrm>
            <a:off x="41148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sp>
      <p:sp>
        <p:nvSpPr>
          <p:cNvPr id="12" name="Text 10"/>
          <p:cNvSpPr/>
          <p:nvPr/>
        </p:nvSpPr>
        <p:spPr>
          <a:xfrm>
            <a:off x="466344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sp>
      <p:sp>
        <p:nvSpPr>
          <p:cNvPr id="17" name="Text 15"/>
          <p:cNvSpPr/>
          <p:nvPr/>
        </p:nvSpPr>
        <p:spPr>
          <a:xfrm>
            <a:off x="41148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sp>
      <p:sp>
        <p:nvSpPr>
          <p:cNvPr id="22" name="Text 20"/>
          <p:cNvSpPr/>
          <p:nvPr/>
        </p:nvSpPr>
        <p:spPr>
          <a:xfrm>
            <a:off x="466344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sp>
      <p:sp>
        <p:nvSpPr>
          <p:cNvPr id="27" name="Text 25"/>
          <p:cNvSpPr/>
          <p:nvPr/>
        </p:nvSpPr>
        <p:spPr>
          <a:xfrm>
            <a:off x="41148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sp>
      <p:sp>
        <p:nvSpPr>
          <p:cNvPr id="32" name="Text 30"/>
          <p:cNvSpPr/>
          <p:nvPr/>
        </p:nvSpPr>
        <p:spPr>
          <a:xfrm>
            <a:off x="466344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sp>
      <p:sp>
        <p:nvSpPr>
          <p:cNvPr id="37" name="Text 35"/>
          <p:cNvSpPr/>
          <p:nvPr/>
        </p:nvSpPr>
        <p:spPr>
          <a:xfrm>
            <a:off x="41148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sp>
      <p:sp>
        <p:nvSpPr>
          <p:cNvPr id="42" name="Text 40"/>
          <p:cNvSpPr/>
          <p:nvPr/>
        </p:nvSpPr>
        <p:spPr>
          <a:xfrm>
            <a:off x="466344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sp>
      <p:sp>
        <p:nvSpPr>
          <p:cNvPr id="47" name="Text 45"/>
          <p:cNvSpPr/>
          <p:nvPr/>
        </p:nvSpPr>
        <p:spPr>
          <a:xfrm>
            <a:off x="411480" y="4343400"/>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sp>
      <p:sp>
        <p:nvSpPr>
          <p:cNvPr id="7" name="Text 5"/>
          <p:cNvSpPr/>
          <p:nvPr/>
        </p:nvSpPr>
        <p:spPr>
          <a:xfrm>
            <a:off x="41148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sp>
      <p:sp>
        <p:nvSpPr>
          <p:cNvPr id="12" name="Text 10"/>
          <p:cNvSpPr/>
          <p:nvPr/>
        </p:nvSpPr>
        <p:spPr>
          <a:xfrm>
            <a:off x="4663440" y="1344168"/>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sp>
      <p:sp>
        <p:nvSpPr>
          <p:cNvPr id="17" name="Text 15"/>
          <p:cNvSpPr/>
          <p:nvPr/>
        </p:nvSpPr>
        <p:spPr>
          <a:xfrm>
            <a:off x="41148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sp>
      <p:sp>
        <p:nvSpPr>
          <p:cNvPr id="22" name="Text 20"/>
          <p:cNvSpPr/>
          <p:nvPr/>
        </p:nvSpPr>
        <p:spPr>
          <a:xfrm>
            <a:off x="4663440" y="2093976"/>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sp>
      <p:sp>
        <p:nvSpPr>
          <p:cNvPr id="27" name="Text 25"/>
          <p:cNvSpPr/>
          <p:nvPr/>
        </p:nvSpPr>
        <p:spPr>
          <a:xfrm>
            <a:off x="41148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sp>
      <p:sp>
        <p:nvSpPr>
          <p:cNvPr id="32" name="Text 30"/>
          <p:cNvSpPr/>
          <p:nvPr/>
        </p:nvSpPr>
        <p:spPr>
          <a:xfrm>
            <a:off x="4663440" y="2843784"/>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sp>
      <p:sp>
        <p:nvSpPr>
          <p:cNvPr id="37" name="Text 35"/>
          <p:cNvSpPr/>
          <p:nvPr/>
        </p:nvSpPr>
        <p:spPr>
          <a:xfrm>
            <a:off x="41148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sp>
      <p:sp>
        <p:nvSpPr>
          <p:cNvPr id="42" name="Text 40"/>
          <p:cNvSpPr/>
          <p:nvPr/>
        </p:nvSpPr>
        <p:spPr>
          <a:xfrm>
            <a:off x="4663440" y="3593592"/>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sp>
      <p:sp>
        <p:nvSpPr>
          <p:cNvPr id="47" name="Text 45"/>
          <p:cNvSpPr/>
          <p:nvPr/>
        </p:nvSpPr>
        <p:spPr>
          <a:xfrm>
            <a:off x="411480" y="4343400"/>
            <a:ext cx="1005840" cy="256032"/>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indent="0" marL="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indent="0" marL="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sp>
      <p:sp>
        <p:nvSpPr>
          <p:cNvPr id="7" name="Text 5"/>
          <p:cNvSpPr/>
          <p:nvPr/>
        </p:nvSpPr>
        <p:spPr>
          <a:xfrm>
            <a:off x="117043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sp>
      <p:sp>
        <p:nvSpPr>
          <p:cNvPr id="14" name="Text 12"/>
          <p:cNvSpPr/>
          <p:nvPr/>
        </p:nvSpPr>
        <p:spPr>
          <a:xfrm>
            <a:off x="331927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algn="ctr" indent="0" marL="0">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sp>
      <p:sp>
        <p:nvSpPr>
          <p:cNvPr id="21" name="Text 19"/>
          <p:cNvSpPr/>
          <p:nvPr/>
        </p:nvSpPr>
        <p:spPr>
          <a:xfrm>
            <a:off x="546811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Designer agent runs first</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sp>
      <p:sp>
        <p:nvSpPr>
          <p:cNvPr id="28" name="Text 26"/>
          <p:cNvSpPr/>
          <p:nvPr/>
        </p:nvSpPr>
        <p:spPr>
          <a:xfrm>
            <a:off x="761695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Parallel, independent critique</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sp>
      <p:sp>
        <p:nvSpPr>
          <p:cNvPr id="34" name="Text 32"/>
          <p:cNvSpPr/>
          <p:nvPr/>
        </p:nvSpPr>
        <p:spPr>
          <a:xfrm>
            <a:off x="117043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algn="ctr" indent="0" marL="0">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sp>
      <p:sp>
        <p:nvSpPr>
          <p:cNvPr id="41" name="Text 39"/>
          <p:cNvSpPr/>
          <p:nvPr/>
        </p:nvSpPr>
        <p:spPr>
          <a:xfrm>
            <a:off x="331927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algn="ctr" indent="0" marL="0">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sp>
      <p:sp>
        <p:nvSpPr>
          <p:cNvPr id="48" name="Text 46"/>
          <p:cNvSpPr/>
          <p:nvPr/>
        </p:nvSpPr>
        <p:spPr>
          <a:xfrm>
            <a:off x="546811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algn="ctr" indent="0" marL="0">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sp>
      <p:sp>
        <p:nvSpPr>
          <p:cNvPr id="55" name="Text 53"/>
          <p:cNvSpPr/>
          <p:nvPr/>
        </p:nvSpPr>
        <p:spPr>
          <a:xfrm>
            <a:off x="761695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sp>
      <p:sp>
        <p:nvSpPr>
          <p:cNvPr id="7" name="Text 5"/>
          <p:cNvSpPr/>
          <p:nvPr/>
        </p:nvSpPr>
        <p:spPr>
          <a:xfrm>
            <a:off x="117043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sp>
      <p:sp>
        <p:nvSpPr>
          <p:cNvPr id="14" name="Text 12"/>
          <p:cNvSpPr/>
          <p:nvPr/>
        </p:nvSpPr>
        <p:spPr>
          <a:xfrm>
            <a:off x="331927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algn="ctr" indent="0" marL="0">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sp>
      <p:sp>
        <p:nvSpPr>
          <p:cNvPr id="21" name="Text 19"/>
          <p:cNvSpPr/>
          <p:nvPr/>
        </p:nvSpPr>
        <p:spPr>
          <a:xfrm>
            <a:off x="546811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Designer agent runs first</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sp>
      <p:sp>
        <p:nvSpPr>
          <p:cNvPr id="28" name="Text 26"/>
          <p:cNvSpPr/>
          <p:nvPr/>
        </p:nvSpPr>
        <p:spPr>
          <a:xfrm>
            <a:off x="7616952" y="141732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algn="ctr" indent="0" marL="0">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Parallel, independent critique</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sp>
      <p:sp>
        <p:nvSpPr>
          <p:cNvPr id="34" name="Text 32"/>
          <p:cNvSpPr/>
          <p:nvPr/>
        </p:nvSpPr>
        <p:spPr>
          <a:xfrm>
            <a:off x="117043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algn="ctr" indent="0" marL="0">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sp>
      <p:sp>
        <p:nvSpPr>
          <p:cNvPr id="41" name="Text 39"/>
          <p:cNvSpPr/>
          <p:nvPr/>
        </p:nvSpPr>
        <p:spPr>
          <a:xfrm>
            <a:off x="331927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algn="ctr" indent="0" marL="0">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sp>
      <p:sp>
        <p:nvSpPr>
          <p:cNvPr id="48" name="Text 46"/>
          <p:cNvSpPr/>
          <p:nvPr/>
        </p:nvSpPr>
        <p:spPr>
          <a:xfrm>
            <a:off x="546811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algn="ctr" indent="0" marL="0">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algn="ctr" indent="0" marL="0">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sp>
      <p:sp>
        <p:nvSpPr>
          <p:cNvPr id="55" name="Text 53"/>
          <p:cNvSpPr/>
          <p:nvPr/>
        </p:nvSpPr>
        <p:spPr>
          <a:xfrm>
            <a:off x="7616952" y="29260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algn="ctr" indent="0" marL="0">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algn="ctr" indent="0" marL="0">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algn="ctr" indent="0" marL="0">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sp>
      <p:sp>
        <p:nvSpPr>
          <p:cNvPr id="6" name="Text 4"/>
          <p:cNvSpPr/>
          <p:nvPr/>
        </p:nvSpPr>
        <p:spPr>
          <a:xfrm>
            <a:off x="566928" y="1261872"/>
            <a:ext cx="4114800" cy="201168"/>
          </a:xfrm>
          <a:prstGeom prst="rect">
            <a:avLst/>
          </a:prstGeom>
          <a:noFill/>
          <a:ln/>
        </p:spPr>
        <p:txBody>
          <a:bodyPr wrap="square" rtlCol="0" anchor="ctr"/>
          <a:lstStyle/>
          <a:p>
            <a:pPr indent="0" marL="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sp>
      <p:sp>
        <p:nvSpPr>
          <p:cNvPr id="10" name="Text 8"/>
          <p:cNvSpPr/>
          <p:nvPr/>
        </p:nvSpPr>
        <p:spPr>
          <a:xfrm>
            <a:off x="566928" y="2157984"/>
            <a:ext cx="4114800" cy="201168"/>
          </a:xfrm>
          <a:prstGeom prst="rect">
            <a:avLst/>
          </a:prstGeom>
          <a:noFill/>
          <a:ln/>
        </p:spPr>
        <p:txBody>
          <a:bodyPr wrap="square" rtlCol="0" anchor="ctr"/>
          <a:lstStyle/>
          <a:p>
            <a:pPr indent="0" marL="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sp>
      <p:sp>
        <p:nvSpPr>
          <p:cNvPr id="14" name="Text 12"/>
          <p:cNvSpPr/>
          <p:nvPr/>
        </p:nvSpPr>
        <p:spPr>
          <a:xfrm>
            <a:off x="566928" y="3054096"/>
            <a:ext cx="4114800" cy="201168"/>
          </a:xfrm>
          <a:prstGeom prst="rect">
            <a:avLst/>
          </a:prstGeom>
          <a:noFill/>
          <a:ln/>
        </p:spPr>
        <p:txBody>
          <a:bodyPr wrap="square" rtlCol="0" anchor="ctr"/>
          <a:lstStyle/>
          <a:p>
            <a:pPr indent="0" marL="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INSTITUTIONAL MEMORY — PAST ARB DECISIONS</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Requirement: Bulk case update via API</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sp>
      <p:sp>
        <p:nvSpPr>
          <p:cNvPr id="18" name="Text 16"/>
          <p:cNvSpPr/>
          <p:nvPr/>
        </p:nvSpPr>
        <p:spPr>
          <a:xfrm>
            <a:off x="566928" y="3950208"/>
            <a:ext cx="4114800" cy="201168"/>
          </a:xfrm>
          <a:prstGeom prst="rect">
            <a:avLst/>
          </a:prstGeom>
          <a:noFill/>
          <a:ln/>
        </p:spPr>
        <p:txBody>
          <a:bodyPr wrap="square" rtlCol="0" anchor="ctr"/>
          <a:lstStyle/>
          <a:p>
            <a:pPr indent="0" marL="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algn="ctr" indent="0" marL="0">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bg>
      <p:bgPr>
        <a:solidFill>
          <a:srgbClr val="1E1E2E"/>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sp>
      <p:sp>
        <p:nvSpPr>
          <p:cNvPr id="6" name="Text 4"/>
          <p:cNvSpPr/>
          <p:nvPr/>
        </p:nvSpPr>
        <p:spPr>
          <a:xfrm>
            <a:off x="566928" y="1261872"/>
            <a:ext cx="4114800" cy="201168"/>
          </a:xfrm>
          <a:prstGeom prst="rect">
            <a:avLst/>
          </a:prstGeom>
          <a:noFill/>
          <a:ln/>
        </p:spPr>
        <p:txBody>
          <a:bodyPr wrap="square" rtlCol="0" anchor="ctr"/>
          <a:lstStyle/>
          <a:p>
            <a:pPr indent="0" marL="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sp>
      <p:sp>
        <p:nvSpPr>
          <p:cNvPr id="10" name="Text 8"/>
          <p:cNvSpPr/>
          <p:nvPr/>
        </p:nvSpPr>
        <p:spPr>
          <a:xfrm>
            <a:off x="566928" y="2157984"/>
            <a:ext cx="4114800" cy="201168"/>
          </a:xfrm>
          <a:prstGeom prst="rect">
            <a:avLst/>
          </a:prstGeom>
          <a:noFill/>
          <a:ln/>
        </p:spPr>
        <p:txBody>
          <a:bodyPr wrap="square" rtlCol="0" anchor="ctr"/>
          <a:lstStyle/>
          <a:p>
            <a:pPr indent="0" marL="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sp>
      <p:sp>
        <p:nvSpPr>
          <p:cNvPr id="14" name="Text 12"/>
          <p:cNvSpPr/>
          <p:nvPr/>
        </p:nvSpPr>
        <p:spPr>
          <a:xfrm>
            <a:off x="566928" y="3054096"/>
            <a:ext cx="4114800" cy="201168"/>
          </a:xfrm>
          <a:prstGeom prst="rect">
            <a:avLst/>
          </a:prstGeom>
          <a:noFill/>
          <a:ln/>
        </p:spPr>
        <p:txBody>
          <a:bodyPr wrap="square" rtlCol="0" anchor="ctr"/>
          <a:lstStyle/>
          <a:p>
            <a:pPr indent="0" marL="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INSTITUTIONAL MEMORY — PAST ARB DECISIONS</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Requirement: Bulk case update via API</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sp>
      <p:sp>
        <p:nvSpPr>
          <p:cNvPr id="18" name="Text 16"/>
          <p:cNvSpPr/>
          <p:nvPr/>
        </p:nvSpPr>
        <p:spPr>
          <a:xfrm>
            <a:off x="566928" y="3950208"/>
            <a:ext cx="4114800" cy="201168"/>
          </a:xfrm>
          <a:prstGeom prst="rect">
            <a:avLst/>
          </a:prstGeom>
          <a:noFill/>
          <a:ln/>
        </p:spPr>
        <p:txBody>
          <a:bodyPr wrap="square" rtlCol="0" anchor="ctr"/>
          <a:lstStyle/>
          <a:p>
            <a:pPr indent="0" marL="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algn="r" indent="0" marL="0">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indent="0" marL="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indent="0" marL="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algn="ctr" indent="0" marL="0">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sp>
      <p:sp>
        <p:nvSpPr>
          <p:cNvPr id="7" name="Text 5"/>
          <p:cNvSpPr/>
          <p:nvPr/>
        </p:nvSpPr>
        <p:spPr>
          <a:xfrm>
            <a:off x="3246120" y="1335024"/>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sp>
      <p:sp>
        <p:nvSpPr>
          <p:cNvPr id="10" name="Text 8"/>
          <p:cNvSpPr/>
          <p:nvPr/>
        </p:nvSpPr>
        <p:spPr>
          <a:xfrm>
            <a:off x="3749040" y="1810512"/>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sp>
      <p:sp>
        <p:nvSpPr>
          <p:cNvPr id="13" name="Text 11"/>
          <p:cNvSpPr/>
          <p:nvPr/>
        </p:nvSpPr>
        <p:spPr>
          <a:xfrm>
            <a:off x="3749040" y="2322576"/>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sp>
      <p:sp>
        <p:nvSpPr>
          <p:cNvPr id="16" name="Text 14"/>
          <p:cNvSpPr/>
          <p:nvPr/>
        </p:nvSpPr>
        <p:spPr>
          <a:xfrm>
            <a:off x="3749040" y="2834640"/>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sp>
      <p:sp>
        <p:nvSpPr>
          <p:cNvPr id="19" name="Text 17"/>
          <p:cNvSpPr/>
          <p:nvPr/>
        </p:nvSpPr>
        <p:spPr>
          <a:xfrm>
            <a:off x="3749040" y="3346704"/>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sp>
      <p:sp>
        <p:nvSpPr>
          <p:cNvPr id="22" name="Text 20"/>
          <p:cNvSpPr/>
          <p:nvPr/>
        </p:nvSpPr>
        <p:spPr>
          <a:xfrm>
            <a:off x="3749040" y="3858768"/>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4" name="Text 22"/>
          <p:cNvSpPr/>
          <p:nvPr/>
        </p:nvSpPr>
        <p:spPr>
          <a:xfrm>
            <a:off x="457200" y="15819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indent="0" marL="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sp>
      <p:sp>
        <p:nvSpPr>
          <p:cNvPr id="27" name="Text 25"/>
          <p:cNvSpPr/>
          <p:nvPr/>
        </p:nvSpPr>
        <p:spPr>
          <a:xfrm>
            <a:off x="3127248" y="1728216"/>
            <a:ext cx="164592" cy="228600"/>
          </a:xfrm>
          <a:prstGeom prst="rect">
            <a:avLst/>
          </a:prstGeom>
          <a:noFill/>
          <a:ln/>
        </p:spPr>
        <p:txBody>
          <a:bodyPr wrap="square" rtlCol="0" anchor="ctr"/>
          <a:lstStyle/>
          <a:p>
            <a:pPr algn="ctr" indent="0" marL="0">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9" name="Text 27"/>
          <p:cNvSpPr/>
          <p:nvPr/>
        </p:nvSpPr>
        <p:spPr>
          <a:xfrm>
            <a:off x="457200" y="2606040"/>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indent="0" marL="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sp>
      <p:sp>
        <p:nvSpPr>
          <p:cNvPr id="32" name="Text 30"/>
          <p:cNvSpPr/>
          <p:nvPr/>
        </p:nvSpPr>
        <p:spPr>
          <a:xfrm>
            <a:off x="3127248" y="2752344"/>
            <a:ext cx="164592" cy="228600"/>
          </a:xfrm>
          <a:prstGeom prst="rect">
            <a:avLst/>
          </a:prstGeom>
          <a:noFill/>
          <a:ln/>
        </p:spPr>
        <p:txBody>
          <a:bodyPr wrap="square" rtlCol="0" anchor="ctr"/>
          <a:lstStyle/>
          <a:p>
            <a:pPr algn="ctr" indent="0" marL="0">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4" name="Text 32"/>
          <p:cNvSpPr/>
          <p:nvPr/>
        </p:nvSpPr>
        <p:spPr>
          <a:xfrm>
            <a:off x="457200" y="3630168"/>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indent="0" marL="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sp>
      <p:sp>
        <p:nvSpPr>
          <p:cNvPr id="37" name="Text 35"/>
          <p:cNvSpPr/>
          <p:nvPr/>
        </p:nvSpPr>
        <p:spPr>
          <a:xfrm>
            <a:off x="3127248" y="3776472"/>
            <a:ext cx="164592" cy="228600"/>
          </a:xfrm>
          <a:prstGeom prst="rect">
            <a:avLst/>
          </a:prstGeom>
          <a:noFill/>
          <a:ln/>
        </p:spPr>
        <p:txBody>
          <a:bodyPr wrap="square" rtlCol="0" anchor="ctr"/>
          <a:lstStyle/>
          <a:p>
            <a:pPr algn="ctr" indent="0" marL="0">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9" name="Text 37"/>
          <p:cNvSpPr/>
          <p:nvPr/>
        </p:nvSpPr>
        <p:spPr>
          <a:xfrm>
            <a:off x="6355080" y="199339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indent="0" marL="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sp>
      <p:sp>
        <p:nvSpPr>
          <p:cNvPr id="42" name="Text 40"/>
          <p:cNvSpPr/>
          <p:nvPr/>
        </p:nvSpPr>
        <p:spPr>
          <a:xfrm>
            <a:off x="5733288" y="2139696"/>
            <a:ext cx="182880" cy="228600"/>
          </a:xfrm>
          <a:prstGeom prst="rect">
            <a:avLst/>
          </a:prstGeom>
          <a:noFill/>
          <a:ln/>
        </p:spPr>
        <p:txBody>
          <a:bodyPr wrap="square" rtlCol="0" anchor="ctr"/>
          <a:lstStyle/>
          <a:p>
            <a:pPr algn="ctr" indent="0" marL="0">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4" name="Text 42"/>
          <p:cNvSpPr/>
          <p:nvPr/>
        </p:nvSpPr>
        <p:spPr>
          <a:xfrm>
            <a:off x="6355080" y="31821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indent="0" marL="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sp>
      <p:sp>
        <p:nvSpPr>
          <p:cNvPr id="47" name="Text 45"/>
          <p:cNvSpPr/>
          <p:nvPr/>
        </p:nvSpPr>
        <p:spPr>
          <a:xfrm>
            <a:off x="5733288" y="3328416"/>
            <a:ext cx="182880" cy="228600"/>
          </a:xfrm>
          <a:prstGeom prst="rect">
            <a:avLst/>
          </a:prstGeom>
          <a:noFill/>
          <a:ln/>
        </p:spPr>
        <p:txBody>
          <a:bodyPr wrap="square" rtlCol="0" anchor="ctr"/>
          <a:lstStyle/>
          <a:p>
            <a:pPr algn="ctr" indent="0" marL="0">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algn="ctr" indent="0" marL="0">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sp>
      <p:sp>
        <p:nvSpPr>
          <p:cNvPr id="7" name="Text 5"/>
          <p:cNvSpPr/>
          <p:nvPr/>
        </p:nvSpPr>
        <p:spPr>
          <a:xfrm>
            <a:off x="3246120" y="1335024"/>
            <a:ext cx="26517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sp>
      <p:sp>
        <p:nvSpPr>
          <p:cNvPr id="10" name="Text 8"/>
          <p:cNvSpPr/>
          <p:nvPr/>
        </p:nvSpPr>
        <p:spPr>
          <a:xfrm>
            <a:off x="3749040" y="1810512"/>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sp>
      <p:sp>
        <p:nvSpPr>
          <p:cNvPr id="13" name="Text 11"/>
          <p:cNvSpPr/>
          <p:nvPr/>
        </p:nvSpPr>
        <p:spPr>
          <a:xfrm>
            <a:off x="3749040" y="2322576"/>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sp>
      <p:sp>
        <p:nvSpPr>
          <p:cNvPr id="16" name="Text 14"/>
          <p:cNvSpPr/>
          <p:nvPr/>
        </p:nvSpPr>
        <p:spPr>
          <a:xfrm>
            <a:off x="3749040" y="2834640"/>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sp>
      <p:sp>
        <p:nvSpPr>
          <p:cNvPr id="19" name="Text 17"/>
          <p:cNvSpPr/>
          <p:nvPr/>
        </p:nvSpPr>
        <p:spPr>
          <a:xfrm>
            <a:off x="3749040" y="3346704"/>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sp>
      <p:sp>
        <p:nvSpPr>
          <p:cNvPr id="22" name="Text 20"/>
          <p:cNvSpPr/>
          <p:nvPr/>
        </p:nvSpPr>
        <p:spPr>
          <a:xfrm>
            <a:off x="3749040" y="3858768"/>
            <a:ext cx="1920240" cy="256032"/>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4" name="Text 22"/>
          <p:cNvSpPr/>
          <p:nvPr/>
        </p:nvSpPr>
        <p:spPr>
          <a:xfrm>
            <a:off x="457200" y="15819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indent="0" marL="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sp>
      <p:sp>
        <p:nvSpPr>
          <p:cNvPr id="27" name="Text 25"/>
          <p:cNvSpPr/>
          <p:nvPr/>
        </p:nvSpPr>
        <p:spPr>
          <a:xfrm>
            <a:off x="3127248" y="1728216"/>
            <a:ext cx="164592" cy="228600"/>
          </a:xfrm>
          <a:prstGeom prst="rect">
            <a:avLst/>
          </a:prstGeom>
          <a:noFill/>
          <a:ln/>
        </p:spPr>
        <p:txBody>
          <a:bodyPr wrap="square" rtlCol="0" anchor="ctr"/>
          <a:lstStyle/>
          <a:p>
            <a:pPr algn="ctr" indent="0" marL="0">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9" name="Text 27"/>
          <p:cNvSpPr/>
          <p:nvPr/>
        </p:nvSpPr>
        <p:spPr>
          <a:xfrm>
            <a:off x="457200" y="2606040"/>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indent="0" marL="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sp>
      <p:sp>
        <p:nvSpPr>
          <p:cNvPr id="32" name="Text 30"/>
          <p:cNvSpPr/>
          <p:nvPr/>
        </p:nvSpPr>
        <p:spPr>
          <a:xfrm>
            <a:off x="3127248" y="2752344"/>
            <a:ext cx="164592" cy="228600"/>
          </a:xfrm>
          <a:prstGeom prst="rect">
            <a:avLst/>
          </a:prstGeom>
          <a:noFill/>
          <a:ln/>
        </p:spPr>
        <p:txBody>
          <a:bodyPr wrap="square" rtlCol="0" anchor="ctr"/>
          <a:lstStyle/>
          <a:p>
            <a:pPr algn="ctr" indent="0" marL="0">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4" name="Text 32"/>
          <p:cNvSpPr/>
          <p:nvPr/>
        </p:nvSpPr>
        <p:spPr>
          <a:xfrm>
            <a:off x="457200" y="3630168"/>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indent="0" marL="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sp>
      <p:sp>
        <p:nvSpPr>
          <p:cNvPr id="37" name="Text 35"/>
          <p:cNvSpPr/>
          <p:nvPr/>
        </p:nvSpPr>
        <p:spPr>
          <a:xfrm>
            <a:off x="3127248" y="3776472"/>
            <a:ext cx="164592" cy="228600"/>
          </a:xfrm>
          <a:prstGeom prst="rect">
            <a:avLst/>
          </a:prstGeom>
          <a:noFill/>
          <a:ln/>
        </p:spPr>
        <p:txBody>
          <a:bodyPr wrap="square" rtlCol="0" anchor="ctr"/>
          <a:lstStyle/>
          <a:p>
            <a:pPr algn="ctr" indent="0" marL="0">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39" name="Text 37"/>
          <p:cNvSpPr/>
          <p:nvPr/>
        </p:nvSpPr>
        <p:spPr>
          <a:xfrm>
            <a:off x="6355080" y="199339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indent="0" marL="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sp>
      <p:sp>
        <p:nvSpPr>
          <p:cNvPr id="42" name="Text 40"/>
          <p:cNvSpPr/>
          <p:nvPr/>
        </p:nvSpPr>
        <p:spPr>
          <a:xfrm>
            <a:off x="5733288" y="2139696"/>
            <a:ext cx="182880" cy="228600"/>
          </a:xfrm>
          <a:prstGeom prst="rect">
            <a:avLst/>
          </a:prstGeom>
          <a:noFill/>
          <a:ln/>
        </p:spPr>
        <p:txBody>
          <a:bodyPr wrap="square" rtlCol="0" anchor="ctr"/>
          <a:lstStyle/>
          <a:p>
            <a:pPr algn="ctr" indent="0" marL="0">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44" name="Text 42"/>
          <p:cNvSpPr/>
          <p:nvPr/>
        </p:nvSpPr>
        <p:spPr>
          <a:xfrm>
            <a:off x="6355080" y="3182112"/>
            <a:ext cx="2331720" cy="237744"/>
          </a:xfrm>
          <a:prstGeom prst="rect">
            <a:avLst/>
          </a:prstGeom>
          <a:noFill/>
          <a:ln/>
        </p:spPr>
        <p:txBody>
          <a:bodyPr wrap="square" rtlCol="0" anchor="ctr"/>
          <a:lstStyle/>
          <a:p>
            <a:pPr indent="0" marL="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indent="0" marL="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sp>
      <p:sp>
        <p:nvSpPr>
          <p:cNvPr id="47" name="Text 45"/>
          <p:cNvSpPr/>
          <p:nvPr/>
        </p:nvSpPr>
        <p:spPr>
          <a:xfrm>
            <a:off x="5733288" y="3328416"/>
            <a:ext cx="182880" cy="228600"/>
          </a:xfrm>
          <a:prstGeom prst="rect">
            <a:avLst/>
          </a:prstGeom>
          <a:noFill/>
          <a:ln/>
        </p:spPr>
        <p:txBody>
          <a:bodyPr wrap="square" rtlCol="0" anchor="ctr"/>
          <a:lstStyle/>
          <a:p>
            <a:pPr algn="ctr" indent="0" marL="0">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algn="ctr" indent="0" marL="0">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sp>
      <p:sp>
        <p:nvSpPr>
          <p:cNvPr id="7" name="Text 5"/>
          <p:cNvSpPr/>
          <p:nvPr/>
        </p:nvSpPr>
        <p:spPr>
          <a:xfrm>
            <a:off x="548640" y="1335024"/>
            <a:ext cx="3886200" cy="256032"/>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indent="0" marL="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sp>
      <p:sp>
        <p:nvSpPr>
          <p:cNvPr id="14" name="Text 12"/>
          <p:cNvSpPr/>
          <p:nvPr/>
        </p:nvSpPr>
        <p:spPr>
          <a:xfrm>
            <a:off x="4800600" y="1335024"/>
            <a:ext cx="3886200" cy="256032"/>
          </a:xfrm>
          <a:prstGeom prst="rect">
            <a:avLst/>
          </a:prstGeom>
          <a:noFill/>
          <a:ln/>
        </p:spPr>
        <p:txBody>
          <a:bodyPr wrap="square" rtlCol="0" anchor="ctr"/>
          <a:lstStyle/>
          <a:p>
            <a:pPr indent="0" marL="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indent="0" marL="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sp>
      <p:sp>
        <p:nvSpPr>
          <p:cNvPr id="21" name="Text 19"/>
          <p:cNvSpPr/>
          <p:nvPr/>
        </p:nvSpPr>
        <p:spPr>
          <a:xfrm>
            <a:off x="548640" y="3145536"/>
            <a:ext cx="3886200" cy="256032"/>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indent="0" marL="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sp>
      <p:sp>
        <p:nvSpPr>
          <p:cNvPr id="28" name="Text 26"/>
          <p:cNvSpPr/>
          <p:nvPr/>
        </p:nvSpPr>
        <p:spPr>
          <a:xfrm>
            <a:off x="4800600" y="3145536"/>
            <a:ext cx="3886200" cy="256032"/>
          </a:xfrm>
          <a:prstGeom prst="rect">
            <a:avLst/>
          </a:prstGeom>
          <a:noFill/>
          <a:ln/>
        </p:spPr>
        <p:txBody>
          <a:bodyPr wrap="square" rtlCol="0" anchor="ctr"/>
          <a:lstStyle/>
          <a:p>
            <a:pPr indent="0" marL="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indent="0" marL="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algn="l" indent="0" marL="0">
              <a:buNone/>
            </a:pPr>
            <a:r>
              <a:rPr lang="en-US" sz="900" b="1" spc="300" kern="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algn="l" indent="0" marL="0">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sp>
      <p:sp>
        <p:nvSpPr>
          <p:cNvPr id="7" name="Text 5"/>
          <p:cNvSpPr/>
          <p:nvPr/>
        </p:nvSpPr>
        <p:spPr>
          <a:xfrm>
            <a:off x="548640" y="1335024"/>
            <a:ext cx="3886200" cy="256032"/>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indent="0" marL="0">
              <a:buNone/>
            </a:pPr>
            <a:r>
              <a:rPr lang="en-US" sz="950" b="1" dirty="0">
                <a:solidFill>
                  <a:srgbClr val="0F6E56"/>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indent="0" marL="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sp>
      <p:sp>
        <p:nvSpPr>
          <p:cNvPr id="14" name="Text 12"/>
          <p:cNvSpPr/>
          <p:nvPr/>
        </p:nvSpPr>
        <p:spPr>
          <a:xfrm>
            <a:off x="4800600" y="1335024"/>
            <a:ext cx="3886200" cy="256032"/>
          </a:xfrm>
          <a:prstGeom prst="rect">
            <a:avLst/>
          </a:prstGeom>
          <a:noFill/>
          <a:ln/>
        </p:spPr>
        <p:txBody>
          <a:bodyPr wrap="square" rtlCol="0" anchor="ctr"/>
          <a:lstStyle/>
          <a:p>
            <a:pPr indent="0" marL="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indent="0" marL="0">
              <a:buNone/>
            </a:pPr>
            <a:r>
              <a:rPr lang="en-US" sz="950" b="1" dirty="0">
                <a:solidFill>
                  <a:srgbClr val="1B4F9B"/>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indent="0" marL="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sp>
      <p:sp>
        <p:nvSpPr>
          <p:cNvPr id="21" name="Text 19"/>
          <p:cNvSpPr/>
          <p:nvPr/>
        </p:nvSpPr>
        <p:spPr>
          <a:xfrm>
            <a:off x="548640" y="3145536"/>
            <a:ext cx="3886200" cy="256032"/>
          </a:xfrm>
          <a:prstGeom prst="rect">
            <a:avLst/>
          </a:prstGeom>
          <a:noFill/>
          <a:ln/>
        </p:spPr>
        <p:txBody>
          <a:bodyPr wrap="square" rtlCol="0" anchor="ctr"/>
          <a:lstStyle/>
          <a:p>
            <a:pPr indent="0" marL="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indent="0" marL="0">
              <a:buNone/>
            </a:pPr>
            <a:r>
              <a:rPr lang="en-US" sz="950" b="1" dirty="0">
                <a:solidFill>
                  <a:srgbClr val="534AB7"/>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indent="0" marL="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sx="100000" sy="100000" kx="0" ky="0" algn="bl" rotWithShape="0" blurRad="63500" dist="25400" dir="2700000">
              <a:srgbClr val="000000">
                <a:alpha val="6000"/>
              </a:srgbClr>
            </a:outerShdw>
          </a:effectLst>
        </p:spPr>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sp>
      <p:sp>
        <p:nvSpPr>
          <p:cNvPr id="28" name="Text 26"/>
          <p:cNvSpPr/>
          <p:nvPr/>
        </p:nvSpPr>
        <p:spPr>
          <a:xfrm>
            <a:off x="4800600" y="3145536"/>
            <a:ext cx="3886200" cy="256032"/>
          </a:xfrm>
          <a:prstGeom prst="rect">
            <a:avLst/>
          </a:prstGeom>
          <a:noFill/>
          <a:ln/>
        </p:spPr>
        <p:txBody>
          <a:bodyPr wrap="square" rtlCol="0" anchor="ctr"/>
          <a:lstStyle/>
          <a:p>
            <a:pPr indent="0" marL="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1.  </a:t>
            </a:r>
            <a:pPr indent="0" marL="0">
              <a:buNone/>
            </a:pP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2.  </a:t>
            </a:r>
            <a:pPr indent="0" marL="0">
              <a:buNone/>
            </a:pP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indent="0" marL="0">
              <a:buNone/>
            </a:pPr>
            <a:r>
              <a:rPr lang="en-US" sz="950" b="1" dirty="0">
                <a:solidFill>
                  <a:srgbClr val="BA7517"/>
                </a:solidFill>
                <a:latin typeface="Arial" pitchFamily="34" charset="0"/>
                <a:ea typeface="Arial" pitchFamily="34" charset="-122"/>
                <a:cs typeface="Arial" pitchFamily="34" charset="-120"/>
              </a:rPr>
              <a:t>3.  </a:t>
            </a:r>
            <a:pPr indent="0" marL="0">
              <a:buNone/>
            </a:pP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indent="0" marL="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ARBoard — AI Architecture Review Board</dc:title>
  <dc:subject>PptxGenJS Presentation</dc:subject>
  <dc:creator>PptxGenJS</dc:creator>
  <cp:lastModifiedBy>PptxGenJS</cp:lastModifiedBy>
  <cp:revision>1</cp:revision>
  <dcterms:created xsi:type="dcterms:W3CDTF">2026-06-27T03:16:30Z</dcterms:created>
  <dcterms:modified xsi:type="dcterms:W3CDTF">2026-06-27T03:16:30Z</dcterms:modified>
</cp:coreProperties>
</file>