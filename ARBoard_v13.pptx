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69" r:id="rId4"/>
    <p:sldId id="258" r:id="rId5"/>
    <p:sldId id="259" r:id="rId6"/>
    <p:sldId id="270" r:id="rId7"/>
    <p:sldId id="271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59677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by saying: This is ARBoard — a multi-agent AI system that runs a full Architecture Review Board in under 2 minutes. Let me show you what that means.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status quo for enterprise Salesforce ARBs is expensive, slow, and inconsistent. ARBoard addresses all four of these directly.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core value proposition. $0.22 vs $27,500 — that's the number that lands with finance and leadership. The quality story is about the deliberative engine, not just cost.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 differentiator is sequential deliberation — each agent builds on prior agent findings. This is not parallel execution; it is structured debate. The dissent panel shows where agents disagree with the final verdict.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grounding stack is the real IP. Competitors can replicate the UI. They cannot replicate the accumulated org learnings, failure patterns, and institutional memory injected into every agent call.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shows ARBoard is production-ready, not just a prototype. Security and operational hardening have been completed before any client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Honest maturity assessment against canonical agentic architecture patterns. The green items are the foundation. Red items are the next sprint — timeout and retry are the most operationally critical before client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Done column shows how rapidly ARBoard has evolved. Next sprint items are prioritised by operational risk — timeout and retry first, then quality improvements like Round 2 Rebuttal and HITL escalation.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$27,500 number to anchor. Then show $0.22. The 99.2% cost reduction is the headline. But also emphasise: this isn't a cost play — it's a quality and consistency play. The cost is just the proof it's worth trying.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system is a clean Next.js monolith on Vercel. No heavyweight orchestration framework — the deliberative pattern is implemented directly in TypeScript, which makes it auditable, debuggable, and extensible.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conversation to have with leadership: which client engagement do we run this on first? The platform is ready. We need a domain package and a client context to make it 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with: The question isn't whether AI belongs in architecture review. The question is whether we build the institutional memory and governance layer to make it trustworthy. ARBoard does that.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Schema went through 4 rounds of design challenge before a line of code was written. 7 queries defined first — schema designed to answer them. Write-before-run means traces survive orchestrator crashes.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0D9488">
              <a:alpha val="85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ARBoard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Architecture Review Board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Specialist Agents  ·  9 Grounding Layers  ·  Governed ADR Trail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64592" y="4224528"/>
            <a:ext cx="804672" cy="347472"/>
          </a:xfrm>
          <a:prstGeom prst="roundRect">
            <a:avLst>
              <a:gd name="adj" fmla="val 15789"/>
            </a:avLst>
          </a:prstGeom>
          <a:solidFill>
            <a:srgbClr val="1E3A5F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64592" y="4224528"/>
            <a:ext cx="804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Designer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033272" y="4224528"/>
            <a:ext cx="804672" cy="347472"/>
          </a:xfrm>
          <a:prstGeom prst="roundRect">
            <a:avLst>
              <a:gd name="adj" fmla="val 15789"/>
            </a:avLst>
          </a:prstGeom>
          <a:solidFill>
            <a:srgbClr val="1E3A5F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33272" y="4224528"/>
            <a:ext cx="804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901952" y="4224528"/>
            <a:ext cx="804672" cy="347472"/>
          </a:xfrm>
          <a:prstGeom prst="roundRect">
            <a:avLst>
              <a:gd name="adj" fmla="val 15789"/>
            </a:avLst>
          </a:prstGeom>
          <a:solidFill>
            <a:srgbClr val="1E3A5F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901952" y="4224528"/>
            <a:ext cx="804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LWC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70632" y="4224528"/>
            <a:ext cx="804672" cy="347472"/>
          </a:xfrm>
          <a:prstGeom prst="roundRect">
            <a:avLst>
              <a:gd name="adj" fmla="val 15789"/>
            </a:avLst>
          </a:prstGeom>
          <a:solidFill>
            <a:srgbClr val="1E3A5F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770632" y="4224528"/>
            <a:ext cx="804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39312" y="4224528"/>
            <a:ext cx="804672" cy="347472"/>
          </a:xfrm>
          <a:prstGeom prst="roundRect">
            <a:avLst>
              <a:gd name="adj" fmla="val 15789"/>
            </a:avLst>
          </a:prstGeom>
          <a:solidFill>
            <a:srgbClr val="1E3A5F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639312" y="4224528"/>
            <a:ext cx="804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07992" y="4224528"/>
            <a:ext cx="804672" cy="347472"/>
          </a:xfrm>
          <a:prstGeom prst="roundRect">
            <a:avLst>
              <a:gd name="adj" fmla="val 15789"/>
            </a:avLst>
          </a:prstGeom>
          <a:solidFill>
            <a:srgbClr val="1E3A5F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07992" y="4224528"/>
            <a:ext cx="804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376672" y="4224528"/>
            <a:ext cx="804672" cy="347472"/>
          </a:xfrm>
          <a:prstGeom prst="roundRect">
            <a:avLst>
              <a:gd name="adj" fmla="val 15789"/>
            </a:avLst>
          </a:prstGeom>
          <a:solidFill>
            <a:srgbClr val="1E3A5F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376672" y="4224528"/>
            <a:ext cx="804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OmniStudio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245352" y="4224528"/>
            <a:ext cx="804672" cy="347472"/>
          </a:xfrm>
          <a:prstGeom prst="roundRect">
            <a:avLst>
              <a:gd name="adj" fmla="val 15789"/>
            </a:avLst>
          </a:prstGeom>
          <a:solidFill>
            <a:srgbClr val="1E3A5F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245352" y="4224528"/>
            <a:ext cx="804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114032" y="4224528"/>
            <a:ext cx="804672" cy="347472"/>
          </a:xfrm>
          <a:prstGeom prst="round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114032" y="4224528"/>
            <a:ext cx="804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982712" y="4224528"/>
            <a:ext cx="804672" cy="347472"/>
          </a:xfrm>
          <a:prstGeom prst="roundRect">
            <a:avLst>
              <a:gd name="adj" fmla="val 15789"/>
            </a:avLst>
          </a:prstGeom>
          <a:solidFill>
            <a:srgbClr val="1E3A5F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982712" y="4224528"/>
            <a:ext cx="804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Scribe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48640" y="47548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Accenture  ·  Lead Architecture Practice  ·  July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406908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05156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103327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Bottleneck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02920" y="146304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ARBs require 4–8 architects, weeks of scheduling, and hours of prep per engagement.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727448" y="868680"/>
            <a:ext cx="406908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0328" y="105156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67528" y="103327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Inconsistency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4910328" y="146304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quality varies by who attends. Different architects flag different risks.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320040" y="2743200"/>
            <a:ext cx="406908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292608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60120" y="290779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institutional memory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502920" y="333756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from past engagements aren't systematically captured or reused.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727448" y="2743200"/>
            <a:ext cx="406908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0328" y="2926080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367528" y="290779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4910328" y="333756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~$27,500 per review at blended $150/hr rates. Unscalable for frequent Salesforce delivery.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Why ARBoard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F3D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</a:rPr>
              <a:t>Why ARBoard — not just Claude</a:t>
            </a:r>
          </a:p>
        </p:txBody>
      </p:sp>
      <p:sp>
        <p:nvSpPr>
          <p:cNvPr id="4" name="Subtitle"/>
          <p:cNvSpPr/>
          <p:nvPr/>
        </p:nvSpPr>
        <p:spPr>
          <a:xfrm>
            <a:off x="457200" y="730000"/>
            <a:ext cx="8229600" cy="3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</a:rPr>
              <a:t>Base Claude gives you ~30-40% of ARBoard. Here is what the other 60-70% looks like.</a:t>
            </a:r>
          </a:p>
        </p:txBody>
      </p:sp>
      <p:sp>
        <p:nvSpPr>
          <p:cNvPr id="5" name="ColHdr1"/>
          <p:cNvSpPr/>
          <p:nvPr/>
        </p:nvSpPr>
        <p:spPr>
          <a:xfrm>
            <a:off x="457200" y="1120000"/>
            <a:ext cx="2743200" cy="330000"/>
          </a:xfrm>
          <a:prstGeom prst="rect">
            <a:avLst/>
          </a:prstGeom>
          <a:solidFill>
            <a:srgbClr val="0F1F3D"/>
          </a:solidFill>
        </p:spPr>
        <p:txBody>
          <a:bodyPr wrap="square" rtlCol="0" anchor="ctr"/>
          <a:lstStyle/>
          <a:p>
            <a:pPr marL="9144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</a:rPr>
              <a:t>Capability</a:t>
            </a:r>
          </a:p>
        </p:txBody>
      </p:sp>
      <p:sp>
        <p:nvSpPr>
          <p:cNvPr id="6" name="ColHdr2"/>
          <p:cNvSpPr/>
          <p:nvPr/>
        </p:nvSpPr>
        <p:spPr>
          <a:xfrm>
            <a:off x="3200400" y="1120000"/>
            <a:ext cx="2743200" cy="330000"/>
          </a:xfrm>
          <a:prstGeom prst="rect">
            <a:avLst/>
          </a:prstGeom>
          <a:solidFill>
            <a:srgbClr val="475569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</a:rPr>
              <a:t>Base Claude</a:t>
            </a:r>
          </a:p>
        </p:txBody>
      </p:sp>
      <p:sp>
        <p:nvSpPr>
          <p:cNvPr id="7" name="ColHdr3"/>
          <p:cNvSpPr/>
          <p:nvPr/>
        </p:nvSpPr>
        <p:spPr>
          <a:xfrm>
            <a:off x="5943600" y="1120000"/>
            <a:ext cx="2743200" cy="330000"/>
          </a:xfrm>
          <a:prstGeom prst="rect">
            <a:avLst/>
          </a:prstGeom>
          <a:solidFill>
            <a:srgbClr val="1E40AF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</a:rPr>
              <a:t>ARBoard</a:t>
            </a:r>
          </a:p>
        </p:txBody>
      </p:sp>
      <p:sp>
        <p:nvSpPr>
          <p:cNvPr id="10" name="R1C1"/>
          <p:cNvSpPr/>
          <p:nvPr/>
        </p:nvSpPr>
        <p:spPr>
          <a:xfrm>
            <a:off x="457200" y="1450000"/>
            <a:ext cx="2743200" cy="380000"/>
          </a:xfrm>
          <a:prstGeom prst="rect">
            <a:avLst/>
          </a:prstGeom>
          <a:solidFill>
            <a:srgbClr val="EFF6FF"/>
          </a:solidFill>
        </p:spPr>
        <p:txBody>
          <a:bodyPr wrap="square" rtlCol="0" anchor="ctr"/>
          <a:lstStyle/>
          <a:p>
            <a:pPr marL="91440" indent="0"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</a:rPr>
              <a:t>Specialist lenses</a:t>
            </a:r>
          </a:p>
        </p:txBody>
      </p:sp>
      <p:sp>
        <p:nvSpPr>
          <p:cNvPr id="11" name="R1C2"/>
          <p:cNvSpPr/>
          <p:nvPr/>
        </p:nvSpPr>
        <p:spPr>
          <a:xfrm>
            <a:off x="3200400" y="1450000"/>
            <a:ext cx="2743200" cy="380000"/>
          </a:xfrm>
          <a:prstGeom prst="rect">
            <a:avLst/>
          </a:prstGeom>
          <a:solidFill>
            <a:srgbClr val="F1F5F9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</a:rPr>
              <a:t>1 generalist opinion</a:t>
            </a:r>
          </a:p>
        </p:txBody>
      </p:sp>
      <p:sp>
        <p:nvSpPr>
          <p:cNvPr id="12" name="R1C3"/>
          <p:cNvSpPr/>
          <p:nvPr/>
        </p:nvSpPr>
        <p:spPr>
          <a:xfrm>
            <a:off x="5943600" y="1450000"/>
            <a:ext cx="2743200" cy="380000"/>
          </a:xfrm>
          <a:prstGeom prst="rect">
            <a:avLst/>
          </a:prstGeom>
          <a:solidFill>
            <a:srgbClr val="DBEAFE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</a:rPr>
              <a:t>9 specialist agents challenge each other</a:t>
            </a:r>
          </a:p>
        </p:txBody>
      </p:sp>
      <p:sp>
        <p:nvSpPr>
          <p:cNvPr id="13" name="R2C1"/>
          <p:cNvSpPr/>
          <p:nvPr/>
        </p:nvSpPr>
        <p:spPr>
          <a:xfrm>
            <a:off x="457200" y="1840000"/>
            <a:ext cx="2743200" cy="380000"/>
          </a:xfrm>
          <a:prstGeom prst="rect">
            <a:avLst/>
          </a:prstGeom>
          <a:solidFill>
            <a:srgbClr val="FFFFFF"/>
          </a:solidFill>
        </p:spPr>
        <p:txBody>
          <a:bodyPr wrap="square" rtlCol="0" anchor="ctr"/>
          <a:lstStyle/>
          <a:p>
            <a:pPr marL="91440" indent="0"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</a:rPr>
              <a:t>Adversarial posture</a:t>
            </a:r>
          </a:p>
        </p:txBody>
      </p:sp>
      <p:sp>
        <p:nvSpPr>
          <p:cNvPr id="14" name="R2C2"/>
          <p:cNvSpPr/>
          <p:nvPr/>
        </p:nvSpPr>
        <p:spPr>
          <a:xfrm>
            <a:off x="3200400" y="1840000"/>
            <a:ext cx="2743200" cy="380000"/>
          </a:xfrm>
          <a:prstGeom prst="rect">
            <a:avLst/>
          </a:prstGeom>
          <a:solidFill>
            <a:srgbClr val="F8FAFC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</a:rPr>
              <a:t>Helpful and agreeable</a:t>
            </a:r>
          </a:p>
        </p:txBody>
      </p:sp>
      <p:sp>
        <p:nvSpPr>
          <p:cNvPr id="15" name="R2C3"/>
          <p:cNvSpPr/>
          <p:nvPr/>
        </p:nvSpPr>
        <p:spPr>
          <a:xfrm>
            <a:off x="5943600" y="1840000"/>
            <a:ext cx="2743200" cy="380000"/>
          </a:xfrm>
          <a:prstGeom prst="rect">
            <a:avLst/>
          </a:prstGeom>
          <a:solidFill>
            <a:srgbClr val="DBEAFE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</a:rPr>
              <a:t>Agents challenge before they assess — by design</a:t>
            </a:r>
          </a:p>
        </p:txBody>
      </p:sp>
      <p:sp>
        <p:nvSpPr>
          <p:cNvPr id="16" name="R3C1"/>
          <p:cNvSpPr/>
          <p:nvPr/>
        </p:nvSpPr>
        <p:spPr>
          <a:xfrm>
            <a:off x="457200" y="2230000"/>
            <a:ext cx="2743200" cy="380000"/>
          </a:xfrm>
          <a:prstGeom prst="rect">
            <a:avLst/>
          </a:prstGeom>
          <a:solidFill>
            <a:srgbClr val="EFF6FF"/>
          </a:solidFill>
        </p:spPr>
        <p:txBody>
          <a:bodyPr wrap="square" rtlCol="0" anchor="ctr"/>
          <a:lstStyle/>
          <a:p>
            <a:pPr marL="91440" indent="0"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</a:rPr>
              <a:t>SI failure patterns</a:t>
            </a:r>
          </a:p>
        </p:txBody>
      </p:sp>
      <p:sp>
        <p:nvSpPr>
          <p:cNvPr id="17" name="R3C2"/>
          <p:cNvSpPr/>
          <p:nvPr/>
        </p:nvSpPr>
        <p:spPr>
          <a:xfrm>
            <a:off x="3200400" y="2230000"/>
            <a:ext cx="2743200" cy="380000"/>
          </a:xfrm>
          <a:prstGeom prst="rect">
            <a:avLst/>
          </a:prstGeom>
          <a:solidFill>
            <a:srgbClr val="F1F5F9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</a:rPr>
              <a:t>Generic Salesforce best practice only</a:t>
            </a:r>
          </a:p>
        </p:txBody>
      </p:sp>
      <p:sp>
        <p:nvSpPr>
          <p:cNvPr id="18" name="R3C3"/>
          <p:cNvSpPr/>
          <p:nvPr/>
        </p:nvSpPr>
        <p:spPr>
          <a:xfrm>
            <a:off x="5943600" y="2230000"/>
            <a:ext cx="2743200" cy="380000"/>
          </a:xfrm>
          <a:prstGeom prst="rect">
            <a:avLst/>
          </a:prstGeom>
          <a:solidFill>
            <a:srgbClr val="DBEAFE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</a:rPr>
              <a:t>FP-004 to FP-012 — Accenture delivery failure library</a:t>
            </a:r>
          </a:p>
        </p:txBody>
      </p:sp>
      <p:sp>
        <p:nvSpPr>
          <p:cNvPr id="19" name="R4C1"/>
          <p:cNvSpPr/>
          <p:nvPr/>
        </p:nvSpPr>
        <p:spPr>
          <a:xfrm>
            <a:off x="457200" y="2620000"/>
            <a:ext cx="2743200" cy="380000"/>
          </a:xfrm>
          <a:prstGeom prst="rect">
            <a:avLst/>
          </a:prstGeom>
          <a:solidFill>
            <a:srgbClr val="FFFFFF"/>
          </a:solidFill>
        </p:spPr>
        <p:txBody>
          <a:bodyPr wrap="square" rtlCol="0" anchor="ctr"/>
          <a:lstStyle/>
          <a:p>
            <a:pPr marL="91440" indent="0"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</a:rPr>
              <a:t>Org memory</a:t>
            </a:r>
          </a:p>
        </p:txBody>
      </p:sp>
      <p:sp>
        <p:nvSpPr>
          <p:cNvPr id="20" name="R4C2"/>
          <p:cNvSpPr/>
          <p:nvPr/>
        </p:nvSpPr>
        <p:spPr>
          <a:xfrm>
            <a:off x="3200400" y="2620000"/>
            <a:ext cx="2743200" cy="380000"/>
          </a:xfrm>
          <a:prstGeom prst="rect">
            <a:avLst/>
          </a:prstGeom>
          <a:solidFill>
            <a:srgbClr val="F8FAFC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</a:rPr>
              <a:t>Forgets everything between sessions</a:t>
            </a:r>
          </a:p>
        </p:txBody>
      </p:sp>
      <p:sp>
        <p:nvSpPr>
          <p:cNvPr id="21" name="R4C3"/>
          <p:cNvSpPr/>
          <p:nvPr/>
        </p:nvSpPr>
        <p:spPr>
          <a:xfrm>
            <a:off x="5943600" y="2620000"/>
            <a:ext cx="2743200" cy="380000"/>
          </a:xfrm>
          <a:prstGeom prst="rect">
            <a:avLst/>
          </a:prstGeom>
          <a:solidFill>
            <a:srgbClr val="DBEAFE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</a:rPr>
              <a:t>Org learnings compound across every session in Supabase</a:t>
            </a:r>
          </a:p>
        </p:txBody>
      </p:sp>
      <p:sp>
        <p:nvSpPr>
          <p:cNvPr id="22" name="R5C1"/>
          <p:cNvSpPr/>
          <p:nvPr/>
        </p:nvSpPr>
        <p:spPr>
          <a:xfrm>
            <a:off x="457200" y="3010000"/>
            <a:ext cx="2743200" cy="380000"/>
          </a:xfrm>
          <a:prstGeom prst="rect">
            <a:avLst/>
          </a:prstGeom>
          <a:solidFill>
            <a:srgbClr val="EFF6FF"/>
          </a:solidFill>
        </p:spPr>
        <p:txBody>
          <a:bodyPr wrap="square" rtlCol="0" anchor="ctr"/>
          <a:lstStyle/>
          <a:p>
            <a:pPr marL="91440" indent="0"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</a:rPr>
              <a:t>Governance trail</a:t>
            </a:r>
          </a:p>
        </p:txBody>
      </p:sp>
      <p:sp>
        <p:nvSpPr>
          <p:cNvPr id="23" name="R5C2"/>
          <p:cNvSpPr/>
          <p:nvPr/>
        </p:nvSpPr>
        <p:spPr>
          <a:xfrm>
            <a:off x="3200400" y="3010000"/>
            <a:ext cx="2743200" cy="380000"/>
          </a:xfrm>
          <a:prstGeom prst="rect">
            <a:avLst/>
          </a:prstGeom>
          <a:solidFill>
            <a:srgbClr val="F1F5F9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</a:rPr>
              <a:t>Text output only — no audit trail</a:t>
            </a:r>
          </a:p>
        </p:txBody>
      </p:sp>
      <p:sp>
        <p:nvSpPr>
          <p:cNvPr id="24" name="R5C3"/>
          <p:cNvSpPr/>
          <p:nvPr/>
        </p:nvSpPr>
        <p:spPr>
          <a:xfrm>
            <a:off x="5943600" y="3010000"/>
            <a:ext cx="2743200" cy="380000"/>
          </a:xfrm>
          <a:prstGeom prst="rect">
            <a:avLst/>
          </a:prstGeom>
          <a:solidFill>
            <a:srgbClr val="DBEAFE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</a:rPr>
              <a:t>Structured ADR — Supabase + Jira, auditable and signed off</a:t>
            </a:r>
          </a:p>
        </p:txBody>
      </p:sp>
      <p:sp>
        <p:nvSpPr>
          <p:cNvPr id="25" name="R6C1"/>
          <p:cNvSpPr/>
          <p:nvPr/>
        </p:nvSpPr>
        <p:spPr>
          <a:xfrm>
            <a:off x="457200" y="3400000"/>
            <a:ext cx="2743200" cy="380000"/>
          </a:xfrm>
          <a:prstGeom prst="rect">
            <a:avLst/>
          </a:prstGeom>
          <a:solidFill>
            <a:srgbClr val="FFFFFF"/>
          </a:solidFill>
        </p:spPr>
        <p:txBody>
          <a:bodyPr wrap="square" rtlCol="0" anchor="ctr"/>
          <a:lstStyle/>
          <a:p>
            <a:pPr marL="91440" indent="0"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</a:rPr>
              <a:t>Delivery standards</a:t>
            </a:r>
          </a:p>
        </p:txBody>
      </p:sp>
      <p:sp>
        <p:nvSpPr>
          <p:cNvPr id="26" name="R6C2"/>
          <p:cNvSpPr/>
          <p:nvPr/>
        </p:nvSpPr>
        <p:spPr>
          <a:xfrm>
            <a:off x="3200400" y="3400000"/>
            <a:ext cx="2743200" cy="380000"/>
          </a:xfrm>
          <a:prstGeom prst="rect">
            <a:avLst/>
          </a:prstGeom>
          <a:solidFill>
            <a:srgbClr val="F8FAFC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</a:rPr>
              <a:t>Generic — not tuned to your practice</a:t>
            </a:r>
          </a:p>
        </p:txBody>
      </p:sp>
      <p:sp>
        <p:nvSpPr>
          <p:cNvPr id="27" name="R6C3"/>
          <p:cNvSpPr/>
          <p:nvPr/>
        </p:nvSpPr>
        <p:spPr>
          <a:xfrm>
            <a:off x="5943600" y="3400000"/>
            <a:ext cx="2743200" cy="380000"/>
          </a:xfrm>
          <a:prstGeom prst="rect">
            <a:avLst/>
          </a:prstGeom>
          <a:solidFill>
            <a:srgbClr val="DBEAFE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</a:rPr>
              <a:t>Guardrails tuned to Accenture delivery standards</a:t>
            </a:r>
          </a:p>
        </p:txBody>
      </p:sp>
      <p:sp>
        <p:nvSpPr>
          <p:cNvPr id="28" name="Callout"/>
          <p:cNvSpPr/>
          <p:nvPr/>
        </p:nvSpPr>
        <p:spPr>
          <a:xfrm>
            <a:off x="457200" y="3870000"/>
            <a:ext cx="8229600" cy="320000"/>
          </a:xfrm>
          <a:prstGeom prst="rect">
            <a:avLst/>
          </a:prstGeom>
          <a:solidFill>
            <a:srgbClr val="1E3A5F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</a:rPr>
              <a:t>The prompt engineering is the product. The adversarial posture, the failure patterns, the org memory — none of that comes free with Claude.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Solution Design Document.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26187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specialist agents debate, critique, and synthesise a binding Architecture Decision Record in under 2 minutes.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1463040" cy="1508760"/>
          </a:xfrm>
          <a:prstGeom prst="roundRect">
            <a:avLst>
              <a:gd name="adj" fmla="val 6250"/>
            </a:avLst>
          </a:prstGeom>
          <a:solidFill>
            <a:srgbClr val="1A3355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23317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SDD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679192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or DOCX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diagrams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938528" y="2624328"/>
            <a:ext cx="274320" cy="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212848" y="1874520"/>
            <a:ext cx="1463040" cy="1508760"/>
          </a:xfrm>
          <a:prstGeom prst="roundRect">
            <a:avLst>
              <a:gd name="adj" fmla="val 6250"/>
            </a:avLst>
          </a:prstGeom>
          <a:solidFill>
            <a:srgbClr val="1A3355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212848" y="196596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212848" y="23317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Analysis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212848" y="2679192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&amp; risks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94176" y="2624328"/>
            <a:ext cx="274320" cy="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968496" y="1874520"/>
            <a:ext cx="1463040" cy="1508760"/>
          </a:xfrm>
          <a:prstGeom prst="roundRect">
            <a:avLst>
              <a:gd name="adj" fmla="val 6250"/>
            </a:avLst>
          </a:prstGeom>
          <a:solidFill>
            <a:srgbClr val="1A3355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968496" y="196596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968496" y="23317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10-Agent Debate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968496" y="2679192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49824" y="2624328"/>
            <a:ext cx="274320" cy="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724144" y="1874520"/>
            <a:ext cx="1463040" cy="1508760"/>
          </a:xfrm>
          <a:prstGeom prst="roundRect">
            <a:avLst>
              <a:gd name="adj" fmla="val 6250"/>
            </a:avLst>
          </a:prstGeom>
          <a:solidFill>
            <a:srgbClr val="0D9488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724144" y="196596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724144" y="23317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Verdict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724144" y="2679192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Binding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 decision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205472" y="2624328"/>
            <a:ext cx="274320" cy="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479792" y="1874520"/>
            <a:ext cx="1463040" cy="1508760"/>
          </a:xfrm>
          <a:prstGeom prst="roundRect">
            <a:avLst>
              <a:gd name="adj" fmla="val 6250"/>
            </a:avLst>
          </a:prstGeom>
          <a:solidFill>
            <a:srgbClr val="1A3355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479792" y="196596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479792" y="23317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 + Jira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479792" y="2679192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Persisted &amp;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361188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0F2D4A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57200" y="3675888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$0.22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457200" y="422452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session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633472" y="361188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0F2D4A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2633472" y="3675888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 min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2633472" y="422452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wall-clock time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809744" y="361188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0F2D4A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809744" y="3675888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$27,500</a:t>
            </a:r>
            <a:endParaRPr lang="en-US" sz="2600" dirty="0"/>
          </a:p>
        </p:txBody>
      </p:sp>
      <p:sp>
        <p:nvSpPr>
          <p:cNvPr id="38" name="Text 36"/>
          <p:cNvSpPr/>
          <p:nvPr/>
        </p:nvSpPr>
        <p:spPr>
          <a:xfrm>
            <a:off x="4809744" y="422452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equivalent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986016" y="361188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0F2D4A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986016" y="3675888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</a:t>
            </a:r>
            <a:endParaRPr lang="en-US" sz="2600" dirty="0"/>
          </a:p>
        </p:txBody>
      </p:sp>
      <p:sp>
        <p:nvSpPr>
          <p:cNvPr id="41" name="Text 39"/>
          <p:cNvSpPr/>
          <p:nvPr/>
        </p:nvSpPr>
        <p:spPr>
          <a:xfrm>
            <a:off x="6986016" y="422452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reduction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deliberative engine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don't just run in parallel — each specialist builds on prior findings. The Judge synthesises all perspectives into a binding verdict.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92608" y="1325880"/>
            <a:ext cx="987552" cy="411480"/>
          </a:xfrm>
          <a:prstGeom prst="roundRect">
            <a:avLst>
              <a:gd name="adj" fmla="val 15556"/>
            </a:avLst>
          </a:prstGeom>
          <a:solidFill>
            <a:srgbClr val="0F1F3D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92608" y="1325880"/>
            <a:ext cx="987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Designer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316736" y="1325880"/>
            <a:ext cx="987552" cy="411480"/>
          </a:xfrm>
          <a:prstGeom prst="roundRect">
            <a:avLst>
              <a:gd name="adj" fmla="val 15556"/>
            </a:avLst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316736" y="1325880"/>
            <a:ext cx="987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340864" y="1325880"/>
            <a:ext cx="987552" cy="411480"/>
          </a:xfrm>
          <a:prstGeom prst="roundRect">
            <a:avLst>
              <a:gd name="adj" fmla="val 15556"/>
            </a:avLst>
          </a:prstGeom>
          <a:solidFill>
            <a:srgbClr val="0F1F3D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340864" y="1325880"/>
            <a:ext cx="987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LWC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364992" y="1325880"/>
            <a:ext cx="987552" cy="411480"/>
          </a:xfrm>
          <a:prstGeom prst="roundRect">
            <a:avLst>
              <a:gd name="adj" fmla="val 15556"/>
            </a:avLst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64992" y="1325880"/>
            <a:ext cx="987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389120" y="1325880"/>
            <a:ext cx="987552" cy="411480"/>
          </a:xfrm>
          <a:prstGeom prst="roundRect">
            <a:avLst>
              <a:gd name="adj" fmla="val 15556"/>
            </a:avLst>
          </a:prstGeom>
          <a:solidFill>
            <a:srgbClr val="0F1F3D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389120" y="1325880"/>
            <a:ext cx="987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413248" y="1325880"/>
            <a:ext cx="987552" cy="411480"/>
          </a:xfrm>
          <a:prstGeom prst="roundRect">
            <a:avLst>
              <a:gd name="adj" fmla="val 15556"/>
            </a:avLst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13248" y="1325880"/>
            <a:ext cx="987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437376" y="1325880"/>
            <a:ext cx="987552" cy="411480"/>
          </a:xfrm>
          <a:prstGeom prst="roundRect">
            <a:avLst>
              <a:gd name="adj" fmla="val 15556"/>
            </a:avLst>
          </a:prstGeom>
          <a:solidFill>
            <a:srgbClr val="0F1F3D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37376" y="1325880"/>
            <a:ext cx="987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OmniStudio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461504" y="1325880"/>
            <a:ext cx="987552" cy="411480"/>
          </a:xfrm>
          <a:prstGeom prst="roundRect">
            <a:avLst>
              <a:gd name="adj" fmla="val 15556"/>
            </a:avLst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461504" y="1325880"/>
            <a:ext cx="987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114800" y="1783080"/>
            <a:ext cx="0" cy="32004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92608" y="2103120"/>
            <a:ext cx="7900416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92608" y="2103120"/>
            <a:ext cx="0" cy="32004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8193024" y="2103120"/>
            <a:ext cx="0" cy="32004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560320" y="2423160"/>
            <a:ext cx="4023360" cy="640080"/>
          </a:xfrm>
          <a:prstGeom prst="roundRect">
            <a:avLst>
              <a:gd name="adj" fmla="val 1428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2496312"/>
            <a:ext cx="320040" cy="32004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3090672" y="242316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 —  Binding ARB Verdict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4572000" y="3063240"/>
            <a:ext cx="0" cy="256032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1371600" y="3319272"/>
            <a:ext cx="3200400" cy="384048"/>
          </a:xfrm>
          <a:prstGeom prst="roundRect">
            <a:avLst>
              <a:gd name="adj" fmla="val 16667"/>
            </a:avLst>
          </a:prstGeom>
          <a:solidFill>
            <a:srgbClr val="1E3A5F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1371600" y="3319272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Scribe — ADR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5486400" y="3319272"/>
            <a:ext cx="3200400" cy="384048"/>
          </a:xfrm>
          <a:prstGeom prst="roundRect">
            <a:avLst>
              <a:gd name="adj" fmla="val 16667"/>
            </a:avLst>
          </a:prstGeom>
          <a:solidFill>
            <a:srgbClr val="1E3A5F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5486400" y="3319272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 — Org Memory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457200" y="37673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Scribe and Learner run in parallel after verdict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320040" y="4114800"/>
            <a:ext cx="3931920" cy="777240"/>
          </a:xfrm>
          <a:prstGeom prst="roundRect">
            <a:avLst>
              <a:gd name="adj" fmla="val 11765"/>
            </a:avLst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4251960"/>
            <a:ext cx="292608" cy="292608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868680" y="4114800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Dissent Panel</a:t>
            </a:r>
            <a:endParaRPr lang="en-US" sz="1200" dirty="0"/>
          </a:p>
        </p:txBody>
      </p:sp>
      <p:sp>
        <p:nvSpPr>
          <p:cNvPr id="37" name="Text 33"/>
          <p:cNvSpPr/>
          <p:nvPr/>
        </p:nvSpPr>
        <p:spPr>
          <a:xfrm>
            <a:off x="868680" y="448056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Haiku call flags where specialists diverged from the Judge verdict</a:t>
            </a:r>
            <a:endParaRPr lang="en-US" sz="1000" dirty="0"/>
          </a:p>
        </p:txBody>
      </p:sp>
      <p:sp>
        <p:nvSpPr>
          <p:cNvPr id="38" name="Shape 34"/>
          <p:cNvSpPr/>
          <p:nvPr/>
        </p:nvSpPr>
        <p:spPr>
          <a:xfrm>
            <a:off x="4892040" y="4114800"/>
            <a:ext cx="3931920" cy="777240"/>
          </a:xfrm>
          <a:prstGeom prst="roundRect">
            <a:avLst>
              <a:gd name="adj" fmla="val 11765"/>
            </a:avLst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4920" y="4251960"/>
            <a:ext cx="292608" cy="292608"/>
          </a:xfrm>
          <a:prstGeom prst="rect">
            <a:avLst/>
          </a:prstGeom>
        </p:spPr>
      </p:pic>
      <p:sp>
        <p:nvSpPr>
          <p:cNvPr id="40" name="Text 35"/>
          <p:cNvSpPr/>
          <p:nvPr/>
        </p:nvSpPr>
        <p:spPr>
          <a:xfrm>
            <a:off x="5440680" y="4114800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ADR Trail</a:t>
            </a:r>
            <a:endParaRPr lang="en-US" sz="1200" dirty="0"/>
          </a:p>
        </p:txBody>
      </p:sp>
      <p:sp>
        <p:nvSpPr>
          <p:cNvPr id="41" name="Text 36"/>
          <p:cNvSpPr/>
          <p:nvPr/>
        </p:nvSpPr>
        <p:spPr>
          <a:xfrm>
            <a:off x="5440680" y="448056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Persisted to Supabase + Jira with verdict, must-fix items, confidence score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Headless Distribution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F3D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</a:rPr>
              <a:t>Headless ARBoard — Brain, Not UI</a:t>
            </a:r>
          </a:p>
        </p:txBody>
      </p:sp>
      <p:sp>
        <p:nvSpPr>
          <p:cNvPr id="4" name="Sub"/>
          <p:cNvSpPr/>
          <p:nvPr/>
        </p:nvSpPr>
        <p:spPr>
          <a:xfrm>
            <a:off x="457200" y="730000"/>
            <a:ext cx="822960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</a:rPr>
              <a:t>The agent brain is decoupled from the UI — consumable via three distribution channels today</a:t>
            </a:r>
          </a:p>
        </p:txBody>
      </p:sp>
      <p:sp>
        <p:nvSpPr>
          <p:cNvPr id="5" name="C1Header"/>
          <p:cNvSpPr/>
          <p:nvPr/>
        </p:nvSpPr>
        <p:spPr>
          <a:xfrm>
            <a:off x="457200" y="1120000"/>
            <a:ext cx="2600000" cy="340000"/>
          </a:xfrm>
          <a:prstGeom prst="rect">
            <a:avLst/>
          </a:prstGeom>
          <a:solidFill>
            <a:srgbClr val="0F1F3D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</a:rPr>
              <a:t>1 — Claude Projects</a:t>
            </a:r>
          </a:p>
        </p:txBody>
      </p:sp>
      <p:sp>
        <p:nvSpPr>
          <p:cNvPr id="6" name="C1Body"/>
          <p:cNvSpPr/>
          <p:nvPr/>
        </p:nvSpPr>
        <p:spPr>
          <a:xfrm>
            <a:off x="457200" y="1460000"/>
            <a:ext cx="2600000" cy="1800000"/>
          </a:xfrm>
          <a:prstGeom prst="rect">
            <a:avLst/>
          </a:prstGeom>
          <a:solidFill>
            <a:srgbClr val="EFF6FF"/>
          </a:solidFill>
        </p:spPr>
        <p:txBody>
          <a:bodyPr wrap="square" rtlCol="0" anchor="t"/>
          <a:lstStyle/>
          <a:p>
            <a:pPr marL="91440" indent="0">
              <a:buNone/>
            </a:pPr>
            <a:r>
              <a:rPr lang="en-US" sz="1200" b="1" dirty="0">
                <a:solidFill>
                  <a:srgbClr val="1E40AF"/>
                </a:solidFill>
                <a:latin typeface="Calibri"/>
              </a:rPr>
              <a:t>Zero infra · Zero API cost</a:t>
            </a:r>
          </a:p>
          <a:p>
            <a:pPr marL="9144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/>
              </a:rPr>
              <a:t>Full 9-agent review via shared Claude Project</a:t>
            </a:r>
          </a:p>
          <a:p>
            <a:pPr marL="9144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/>
              </a:rPr>
              <a:t>Summary-first output · expand on demand</a:t>
            </a:r>
          </a:p>
          <a:p>
            <a:pPr marL="9144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/>
              </a:rPr>
              <a:t>Challenge round · genuine cross-agent debate</a:t>
            </a:r>
          </a:p>
          <a:p>
            <a:pPr marL="9144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/>
              </a:rPr>
              <a:t>Shareable to entire Accenture team today</a:t>
            </a:r>
          </a:p>
          <a:p>
            <a:pPr marL="9144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/>
              </a:rPr>
              <a:t>Best for: Internal architects, ad-hoc reviews</a:t>
            </a:r>
          </a:p>
        </p:txBody>
      </p:sp>
      <p:sp>
        <p:nvSpPr>
          <p:cNvPr id="7" name="C2Header"/>
          <p:cNvSpPr/>
          <p:nvPr/>
        </p:nvSpPr>
        <p:spPr>
          <a:xfrm>
            <a:off x="3272000" y="1120000"/>
            <a:ext cx="2600000" cy="340000"/>
          </a:xfrm>
          <a:prstGeom prst="rect">
            <a:avLst/>
          </a:prstGeom>
          <a:solidFill>
            <a:srgbClr val="1E40AF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</a:rPr>
              <a:t>2 — REST API</a:t>
            </a:r>
          </a:p>
        </p:txBody>
      </p:sp>
      <p:sp>
        <p:nvSpPr>
          <p:cNvPr id="8" name="C2Body"/>
          <p:cNvSpPr/>
          <p:nvPr/>
        </p:nvSpPr>
        <p:spPr>
          <a:xfrm>
            <a:off x="3272000" y="1460000"/>
            <a:ext cx="2600000" cy="1800000"/>
          </a:xfrm>
          <a:prstGeom prst="rect">
            <a:avLst/>
          </a:prstGeom>
          <a:solidFill>
            <a:srgbClr val="DBEAFE"/>
          </a:solidFill>
        </p:spPr>
        <p:txBody>
          <a:bodyPr wrap="square" rtlCol="0" anchor="t"/>
          <a:lstStyle/>
          <a:p>
            <a:pPr marL="91440" indent="0">
              <a:buNone/>
            </a:pPr>
            <a:r>
              <a:rPr lang="en-US" sz="1200" b="1" dirty="0">
                <a:solidFill>
                  <a:srgbClr val="1E40AF"/>
                </a:solidFill>
                <a:latin typeface="Calibri"/>
              </a:rPr>
              <a:t>POST /api/v1/review · Live today</a:t>
            </a:r>
          </a:p>
          <a:p>
            <a:pPr marL="9144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/>
              </a:rPr>
              <a:t>API key auth via Supabase</a:t>
            </a:r>
          </a:p>
          <a:p>
            <a:pPr marL="9144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/>
              </a:rPr>
              <a:t>JSON in → verdict + findings + cost out</a:t>
            </a:r>
          </a:p>
          <a:p>
            <a:pPr marL="9144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/>
              </a:rPr>
              <a:t>Individual agent subsetting via agentIds[]</a:t>
            </a:r>
          </a:p>
          <a:p>
            <a:pPr marL="9144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/>
              </a:rPr>
              <a:t>Caller brings their own Anthropic key</a:t>
            </a:r>
          </a:p>
          <a:p>
            <a:pPr marL="9144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/>
              </a:rPr>
              <a:t>Best for: CI/CD, 3rd party tools, pipelines</a:t>
            </a:r>
          </a:p>
        </p:txBody>
      </p:sp>
      <p:sp>
        <p:nvSpPr>
          <p:cNvPr id="9" name="C3Header"/>
          <p:cNvSpPr/>
          <p:nvPr/>
        </p:nvSpPr>
        <p:spPr>
          <a:xfrm>
            <a:off x="6087000" y="1120000"/>
            <a:ext cx="2600000" cy="340000"/>
          </a:xfrm>
          <a:prstGeom prst="rect">
            <a:avLst/>
          </a:prstGeom>
          <a:solidFill>
            <a:srgbClr val="475569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</a:rPr>
              <a:t>3 — NPM SDK (roadmap)</a:t>
            </a:r>
          </a:p>
        </p:txBody>
      </p:sp>
      <p:sp>
        <p:nvSpPr>
          <p:cNvPr id="10" name="C3Body"/>
          <p:cNvSpPr/>
          <p:nvPr/>
        </p:nvSpPr>
        <p:spPr>
          <a:xfrm>
            <a:off x="6087000" y="1460000"/>
            <a:ext cx="2600000" cy="1800000"/>
          </a:xfrm>
          <a:prstGeom prst="rect">
            <a:avLst/>
          </a:prstGeom>
          <a:solidFill>
            <a:srgbClr val="F1F5F9"/>
          </a:solidFill>
        </p:spPr>
        <p:txBody>
          <a:bodyPr wrap="square" rtlCol="0" anchor="t"/>
          <a:lstStyle/>
          <a:p>
            <a:pPr marL="91440" indent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/>
              </a:rPr>
              <a:t>@accenture/arboard-sdk</a:t>
            </a:r>
          </a:p>
          <a:p>
            <a:pPr marL="9144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/>
              </a:rPr>
              <a:t>Import agents directly into any Node app</a:t>
            </a:r>
          </a:p>
          <a:p>
            <a:pPr marL="9144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/>
              </a:rPr>
              <a:t>VS Code extension · Salesforce CLI plugin</a:t>
            </a:r>
          </a:p>
          <a:p>
            <a:pPr marL="9144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/>
              </a:rPr>
              <a:t>Runs in caller's environment, caller's key</a:t>
            </a:r>
          </a:p>
          <a:p>
            <a:pPr marL="9144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/>
              </a:rPr>
              <a:t>GitHub Actions ARB review on every PR</a:t>
            </a:r>
          </a:p>
          <a:p>
            <a:pPr marL="9144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/>
              </a:rPr>
              <a:t>Best for: IDE plugins, CI pipelines, partners</a:t>
            </a:r>
          </a:p>
        </p:txBody>
      </p:sp>
      <p:sp>
        <p:nvSpPr>
          <p:cNvPr id="11" name="Callout"/>
          <p:cNvSpPr/>
          <p:nvPr/>
        </p:nvSpPr>
        <p:spPr>
          <a:xfrm>
            <a:off x="457200" y="3370000"/>
            <a:ext cx="8229600" cy="340000"/>
          </a:xfrm>
          <a:prstGeom prst="rect">
            <a:avLst/>
          </a:prstGeom>
          <a:solidFill>
            <a:srgbClr val="1E3A5F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</a:rPr>
              <a:t>Channels 1 and 2 validated today. Zero new infrastructure. Zero additional cost.</a:t>
            </a:r>
          </a:p>
        </p:txBody>
      </p:sp>
      <p:sp>
        <p:nvSpPr>
          <p:cNvPr id="12" name="APIBox"/>
          <p:cNvSpPr/>
          <p:nvPr/>
        </p:nvSpPr>
        <p:spPr>
          <a:xfrm>
            <a:off x="457200" y="3810000"/>
            <a:ext cx="8229600" cy="380000"/>
          </a:xfrm>
          <a:prstGeom prst="rect">
            <a:avLst/>
          </a:prstGeom>
          <a:solidFill>
            <a:srgbClr val="0F1F3D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49" charset="0"/>
              </a:rPr>
              <a:t>POST arboard.vercel.app/api/v1/review  |  x-api-key: {key}  |  { "document": "...", "agentIds": ["sf-apex","sf-judge"] 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Beyond Salesforce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F3D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/>
              </a:rPr>
              <a:t>Beyond Salesforce — The Platform Play</a:t>
            </a:r>
          </a:p>
        </p:txBody>
      </p:sp>
      <p:sp>
        <p:nvSpPr>
          <p:cNvPr id="4" name="Sub"/>
          <p:cNvSpPr/>
          <p:nvPr/>
        </p:nvSpPr>
        <p:spPr>
          <a:xfrm>
            <a:off x="457200" y="730000"/>
            <a:ext cx="822960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/>
              </a:rPr>
              <a:t>The engine is domain-agnostic. Salesforce is the first domain pack.</a:t>
            </a:r>
          </a:p>
        </p:txBody>
      </p:sp>
      <p:sp>
        <p:nvSpPr>
          <p:cNvPr id="5" name="LH"/>
          <p:cNvSpPr/>
          <p:nvPr/>
        </p:nvSpPr>
        <p:spPr>
          <a:xfrm>
            <a:off x="457200" y="1120000"/>
            <a:ext cx="3900000" cy="340000"/>
          </a:xfrm>
          <a:prstGeom prst="rect">
            <a:avLst/>
          </a:prstGeom>
          <a:solidFill>
            <a:srgbClr val="1E40AF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/>
              </a:rPr>
              <a:t>Engine — domain-agnostic today</a:t>
            </a:r>
          </a:p>
        </p:txBody>
      </p:sp>
      <p:sp>
        <p:nvSpPr>
          <p:cNvPr id="6" name="LB"/>
          <p:cNvSpPr/>
          <p:nvPr/>
        </p:nvSpPr>
        <p:spPr>
          <a:xfrm>
            <a:off x="457200" y="1460000"/>
            <a:ext cx="3900000" cy="1900000"/>
          </a:xfrm>
          <a:prstGeom prst="rect">
            <a:avLst/>
          </a:prstGeom>
          <a:solidFill>
            <a:srgbClr val="DBEAFE"/>
          </a:solidFill>
        </p:spPr>
        <p:txBody>
          <a:bodyPr wrap="square" rtlCol="0" anchor="t"/>
          <a:lstStyle/>
          <a:p>
            <a:pPr marL="91440" indent="0">
              <a:buChar char="✓"/>
            </a:pPr>
            <a:r>
              <a:rPr lang="en-US" sz="1200" dirty="0">
                <a:solidFill>
                  <a:srgbClr val="1E3A5F"/>
                </a:solidFill>
                <a:latin typeface="Calibri"/>
              </a:rPr>
              <a:t>Deliberation engine — sequential, episodic</a:t>
            </a:r>
          </a:p>
          <a:p>
            <a:pPr marL="91440" indent="0">
              <a:buChar char="✓"/>
            </a:pPr>
            <a:r>
              <a:rPr lang="en-US" sz="1200" dirty="0">
                <a:solidFill>
                  <a:srgbClr val="1E3A5F"/>
                </a:solidFill>
                <a:latin typeface="Calibri"/>
              </a:rPr>
              <a:t>Judge pattern — conflict synthesis, binding verdict</a:t>
            </a:r>
          </a:p>
          <a:p>
            <a:pPr marL="91440" indent="0">
              <a:buChar char="✓"/>
            </a:pPr>
            <a:r>
              <a:rPr lang="en-US" sz="1200" dirty="0">
                <a:solidFill>
                  <a:srgbClr val="1E3A5F"/>
                </a:solidFill>
                <a:latin typeface="Calibri"/>
              </a:rPr>
              <a:t>Memory — org learnings compound across sessions</a:t>
            </a:r>
          </a:p>
          <a:p>
            <a:pPr marL="91440" indent="0">
              <a:buChar char="✓"/>
            </a:pPr>
            <a:r>
              <a:rPr lang="en-US" sz="1200" dirty="0">
                <a:solidFill>
                  <a:srgbClr val="1E3A5F"/>
                </a:solidFill>
                <a:latin typeface="Calibri"/>
              </a:rPr>
              <a:t>Governance trail — ADR, audit, sign-off</a:t>
            </a:r>
          </a:p>
          <a:p>
            <a:pPr marL="91440" indent="0">
              <a:buChar char="✓"/>
            </a:pPr>
            <a:r>
              <a:rPr lang="en-US" sz="1200" dirty="0">
                <a:solidFill>
                  <a:srgbClr val="1E3A5F"/>
                </a:solidFill>
                <a:latin typeface="Calibri"/>
              </a:rPr>
              <a:t>REST API — callable from any tool, any stack</a:t>
            </a:r>
          </a:p>
          <a:p>
            <a:pPr marL="91440" indent="0">
              <a:buChar char="✓"/>
            </a:pPr>
            <a:r>
              <a:rPr lang="en-US" sz="1200" dirty="0">
                <a:solidFill>
                  <a:srgbClr val="1E3A5F"/>
                </a:solidFill>
                <a:latin typeface="Calibri"/>
              </a:rPr>
              <a:t>Multi-tenant — client_id and domain partitioning built in</a:t>
            </a:r>
          </a:p>
        </p:txBody>
      </p:sp>
      <p:sp>
        <p:nvSpPr>
          <p:cNvPr id="7" name="RH"/>
          <p:cNvSpPr/>
          <p:nvPr/>
        </p:nvSpPr>
        <p:spPr>
          <a:xfrm>
            <a:off x="4786800" y="1120000"/>
            <a:ext cx="3900000" cy="340000"/>
          </a:xfrm>
          <a:prstGeom prst="rect">
            <a:avLst/>
          </a:prstGeom>
          <a:solidFill>
            <a:srgbClr val="475569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/>
              </a:rPr>
              <a:t>Domain pack — authoring investment</a:t>
            </a:r>
          </a:p>
        </p:txBody>
      </p:sp>
      <p:sp>
        <p:nvSpPr>
          <p:cNvPr id="8" name="RB"/>
          <p:cNvSpPr/>
          <p:nvPr/>
        </p:nvSpPr>
        <p:spPr>
          <a:xfrm>
            <a:off x="4786800" y="1460000"/>
            <a:ext cx="3900000" cy="1900000"/>
          </a:xfrm>
          <a:prstGeom prst="rect">
            <a:avLst/>
          </a:prstGeom>
          <a:solidFill>
            <a:srgbClr val="F1F5F9"/>
          </a:solidFill>
        </p:spPr>
        <p:txBody>
          <a:bodyPr wrap="square" rtlCol="0" anchor="t"/>
          <a:lstStyle/>
          <a:p>
            <a:pPr marL="91440" indent="0">
              <a:buNone/>
            </a:pPr>
            <a:r>
              <a:rPr lang="en-US" sz="1200" b="1" dirty="0">
                <a:solidFill>
                  <a:srgbClr val="0F1F3D"/>
                </a:solidFill>
                <a:latin typeface="Calibri"/>
              </a:rPr>
              <a:t>To expand to a new domain, author:</a:t>
            </a:r>
          </a:p>
          <a:p>
            <a:pPr marL="91440" indent="0">
              <a:buChar char="→"/>
            </a:pPr>
            <a:r>
              <a:rPr lang="en-US" sz="1200" dirty="0">
                <a:solidFill>
                  <a:srgbClr val="334155"/>
                </a:solidFill>
                <a:latin typeface="Calibri"/>
              </a:rPr>
              <a:t>Specialist agent prompts for that domain</a:t>
            </a:r>
          </a:p>
          <a:p>
            <a:pPr marL="91440" indent="0">
              <a:buChar char="→"/>
            </a:pPr>
            <a:r>
              <a:rPr lang="en-US" sz="1200" dirty="0">
                <a:solidFill>
                  <a:srgbClr val="334155"/>
                </a:solidFill>
                <a:latin typeface="Calibri"/>
              </a:rPr>
              <a:t>Domain + cross-cutting skills library</a:t>
            </a:r>
          </a:p>
          <a:p>
            <a:pPr marL="91440" indent="0">
              <a:buChar char="→"/>
            </a:pPr>
            <a:r>
              <a:rPr lang="en-US" sz="1200" dirty="0">
                <a:solidFill>
                  <a:srgbClr val="334155"/>
                </a:solidFill>
                <a:latin typeface="Calibri"/>
              </a:rPr>
              <a:t>Delivery failure pattern library for that stack</a:t>
            </a:r>
          </a:p>
          <a:p>
            <a:pPr marL="91440" indent="0">
              <a:buNone/>
            </a:pPr>
            <a:r>
              <a:rPr lang="en-US" sz="1200" b="1" dirty="0">
                <a:solidFill>
                  <a:srgbClr val="1E40AF"/>
                </a:solidFill>
                <a:latin typeface="Calibri"/>
              </a:rPr>
              <a:t>Potential domain packs:</a:t>
            </a:r>
          </a:p>
          <a:p>
            <a:pPr marL="91440" indent="0">
              <a:buChar char="·"/>
            </a:pPr>
            <a:r>
              <a:rPr lang="en-US" sz="1200" dirty="0">
                <a:solidFill>
                  <a:srgbClr val="334155"/>
                </a:solidFill>
                <a:latin typeface="Calibri"/>
              </a:rPr>
              <a:t>MuleSoft Integration ARB</a:t>
            </a:r>
          </a:p>
          <a:p>
            <a:pPr marL="91440" indent="0">
              <a:buChar char="·"/>
            </a:pPr>
            <a:r>
              <a:rPr lang="en-US" sz="1200" dirty="0">
                <a:solidFill>
                  <a:srgbClr val="334155"/>
                </a:solidFill>
                <a:latin typeface="Calibri"/>
              </a:rPr>
              <a:t>Azure / AWS Cloud Architecture ARB</a:t>
            </a:r>
          </a:p>
          <a:p>
            <a:pPr marL="91440" indent="0">
              <a:buChar char="·"/>
            </a:pPr>
            <a:r>
              <a:rPr lang="en-US" sz="1200" dirty="0">
                <a:solidFill>
                  <a:srgbClr val="334155"/>
                </a:solidFill>
                <a:latin typeface="Calibri"/>
              </a:rPr>
              <a:t>SAP / ERP Implementation ARB</a:t>
            </a:r>
          </a:p>
        </p:txBody>
      </p:sp>
      <p:sp>
        <p:nvSpPr>
          <p:cNvPr id="9" name="Callout"/>
          <p:cNvSpPr/>
          <p:nvPr/>
        </p:nvSpPr>
        <p:spPr>
          <a:xfrm>
            <a:off x="457200" y="3460000"/>
            <a:ext cx="8229600" cy="380000"/>
          </a:xfrm>
          <a:prstGeom prst="rect">
            <a:avLst/>
          </a:prstGeom>
          <a:solidFill>
            <a:srgbClr val="1E3A5F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/>
              </a:rPr>
              <a:t>The engine is built. Expanding to a new domain is an authoring investment — not an engineering one.</a:t>
            </a:r>
          </a:p>
        </p:txBody>
      </p:sp>
      <p:sp>
        <p:nvSpPr>
          <p:cNvPr id="10" name="Q"/>
          <p:cNvSpPr/>
          <p:nvPr/>
        </p:nvSpPr>
        <p:spPr>
          <a:xfrm>
            <a:off x="457200" y="3940000"/>
            <a:ext cx="8229600" cy="2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/>
              </a:rPr>
              <a:t>"Does this scale beyond Salesforce?" — Yes. The question is which domain pack we build next.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9-layer grounding stack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agent, every session — grounded in institutional knowledge before generating a single finding.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261872"/>
            <a:ext cx="8503920" cy="612648"/>
          </a:xfrm>
          <a:prstGeom prst="roundRect">
            <a:avLst>
              <a:gd name="adj" fmla="val 11940"/>
            </a:avLst>
          </a:prstGeom>
          <a:solidFill>
            <a:srgbClr val="0F1F3D"/>
          </a:solidFill>
          <a:ln w="63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84048" y="1261872"/>
            <a:ext cx="41148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41248" y="1289304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knowledge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41248" y="1581912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training — Salesforce patterns, LWC, Apex, integration, Flow, platform limits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1975104"/>
            <a:ext cx="8503920" cy="612648"/>
          </a:xfrm>
          <a:prstGeom prst="roundRect">
            <a:avLst>
              <a:gd name="adj" fmla="val 11940"/>
            </a:avLst>
          </a:prstGeom>
          <a:solidFill>
            <a:srgbClr val="1A3355"/>
          </a:solidFill>
          <a:ln w="63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84048" y="1975104"/>
            <a:ext cx="41148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41248" y="2002536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grounding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41248" y="2295144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Well-Architected Principles (per agent)  ·  SI Failure Pattern Library (FP-004–FP-012)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2688336"/>
            <a:ext cx="8503920" cy="612648"/>
          </a:xfrm>
          <a:prstGeom prst="roundRect">
            <a:avLst>
              <a:gd name="adj" fmla="val 11940"/>
            </a:avLst>
          </a:prstGeom>
          <a:solidFill>
            <a:srgbClr val="0F4C75"/>
          </a:solidFill>
          <a:ln w="63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84048" y="2688336"/>
            <a:ext cx="41148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41248" y="271576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library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41248" y="3008376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skills always loaded per agent  ·  Cross-cutting skills keyword-triggered from document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3401568"/>
            <a:ext cx="8503920" cy="612648"/>
          </a:xfrm>
          <a:prstGeom prst="roundRect">
            <a:avLst>
              <a:gd name="adj" fmla="val 11940"/>
            </a:avLst>
          </a:prstGeom>
          <a:solidFill>
            <a:srgbClr val="0D6E6E"/>
          </a:solidFill>
          <a:ln w="63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84048" y="3401568"/>
            <a:ext cx="41148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41248" y="34290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memory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41248" y="372160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Episodic memory — prior agent findings injected forward  ·  Jira ADR cross-session reconciliation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4114800"/>
            <a:ext cx="8503920" cy="612648"/>
          </a:xfrm>
          <a:prstGeom prst="roundRect">
            <a:avLst>
              <a:gd name="adj" fmla="val 11940"/>
            </a:avLst>
          </a:prstGeom>
          <a:solidFill>
            <a:srgbClr val="0D9488"/>
          </a:solidFill>
          <a:ln w="63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84048" y="4114800"/>
            <a:ext cx="41148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41248" y="414223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intelligence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41248" y="443484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learnings (Supabase, compounds over time)  ·  Live Salesforce org metadata via MCP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486460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grounding stack is the moat — it compounds with every session as org learnings accumulate.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hardening — completed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406908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941832"/>
            <a:ext cx="347472" cy="34747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41832" y="941832"/>
            <a:ext cx="1097280" cy="256032"/>
          </a:xfrm>
          <a:prstGeom prst="roundRect">
            <a:avLst>
              <a:gd name="adj" fmla="val 17857"/>
            </a:avLst>
          </a:prstGeom>
          <a:solidFill>
            <a:srgbClr val="F0FDF4"/>
          </a:solidFill>
          <a:ln w="63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941832" y="94183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fixed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02920" y="1280160"/>
            <a:ext cx="3703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isolation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02920" y="15544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and Supabase keys server-side only. No NEXT_PUBLIC_ exposure. Key mutation removed from request handlers.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727448" y="804672"/>
            <a:ext cx="406908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0328" y="941832"/>
            <a:ext cx="347472" cy="347472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349240" y="941832"/>
            <a:ext cx="1097280" cy="256032"/>
          </a:xfrm>
          <a:prstGeom prst="roundRect">
            <a:avLst>
              <a:gd name="adj" fmla="val 17857"/>
            </a:avLst>
          </a:prstGeom>
          <a:solidFill>
            <a:srgbClr val="F0FDF4"/>
          </a:solidFill>
          <a:ln w="63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5349240" y="94183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fixed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4910328" y="1280160"/>
            <a:ext cx="3703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authentication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4910328" y="15544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Shared-secret auth guard on all 7 high-risk API routes. 401 on missing or incorrect key. Local dev no-op when unset.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320040" y="2221992"/>
            <a:ext cx="406908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2359152"/>
            <a:ext cx="347472" cy="347472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941832" y="2359152"/>
            <a:ext cx="1097280" cy="256032"/>
          </a:xfrm>
          <a:prstGeom prst="roundRect">
            <a:avLst>
              <a:gd name="adj" fmla="val 17857"/>
            </a:avLst>
          </a:prstGeom>
          <a:solidFill>
            <a:srgbClr val="F0FDF4"/>
          </a:solidFill>
          <a:ln w="63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4"/>
          <p:cNvSpPr/>
          <p:nvPr/>
        </p:nvSpPr>
        <p:spPr>
          <a:xfrm>
            <a:off x="941832" y="235915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fixed</a:t>
            </a:r>
            <a:endParaRPr lang="en-US" sz="800" dirty="0"/>
          </a:p>
        </p:txBody>
      </p:sp>
      <p:sp>
        <p:nvSpPr>
          <p:cNvPr id="20" name="Text 15"/>
          <p:cNvSpPr/>
          <p:nvPr/>
        </p:nvSpPr>
        <p:spPr>
          <a:xfrm>
            <a:off x="502920" y="2697480"/>
            <a:ext cx="3703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mode isolation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502920" y="29718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mode now explicitly threaded through ImpactAnalyser and ForumOrchestrator. No real API calls in mock sessions.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4727448" y="2221992"/>
            <a:ext cx="406908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0328" y="2359152"/>
            <a:ext cx="347472" cy="347472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5349240" y="2359152"/>
            <a:ext cx="1097280" cy="256032"/>
          </a:xfrm>
          <a:prstGeom prst="roundRect">
            <a:avLst>
              <a:gd name="adj" fmla="val 17857"/>
            </a:avLst>
          </a:prstGeom>
          <a:solidFill>
            <a:srgbClr val="F0FDFB"/>
          </a:solidFill>
          <a:ln w="63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19"/>
          <p:cNvSpPr/>
          <p:nvPr/>
        </p:nvSpPr>
        <p:spPr>
          <a:xfrm>
            <a:off x="5349240" y="235915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800" dirty="0"/>
          </a:p>
        </p:txBody>
      </p:sp>
      <p:sp>
        <p:nvSpPr>
          <p:cNvPr id="26" name="Text 20"/>
          <p:cNvSpPr/>
          <p:nvPr/>
        </p:nvSpPr>
        <p:spPr>
          <a:xfrm>
            <a:off x="4910328" y="2697480"/>
            <a:ext cx="3703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RLS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4910328" y="29718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security enabled on all tables. Service role key used server-side only for writes. Anon key removed.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320040" y="3639312"/>
            <a:ext cx="406908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" y="3776472"/>
            <a:ext cx="347472" cy="347472"/>
          </a:xfrm>
          <a:prstGeom prst="rect">
            <a:avLst/>
          </a:prstGeom>
        </p:spPr>
      </p:pic>
      <p:sp>
        <p:nvSpPr>
          <p:cNvPr id="30" name="Shape 23"/>
          <p:cNvSpPr/>
          <p:nvPr/>
        </p:nvSpPr>
        <p:spPr>
          <a:xfrm>
            <a:off x="941832" y="3776472"/>
            <a:ext cx="1097280" cy="256032"/>
          </a:xfrm>
          <a:prstGeom prst="roundRect">
            <a:avLst>
              <a:gd name="adj" fmla="val 17857"/>
            </a:avLst>
          </a:prstGeom>
          <a:solidFill>
            <a:srgbClr val="F0FDFB"/>
          </a:solidFill>
          <a:ln w="63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4"/>
          <p:cNvSpPr/>
          <p:nvPr/>
        </p:nvSpPr>
        <p:spPr>
          <a:xfrm>
            <a:off x="941832" y="377647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800" dirty="0"/>
          </a:p>
        </p:txBody>
      </p:sp>
      <p:sp>
        <p:nvSpPr>
          <p:cNvPr id="32" name="Text 25"/>
          <p:cNvSpPr/>
          <p:nvPr/>
        </p:nvSpPr>
        <p:spPr>
          <a:xfrm>
            <a:off x="502920" y="4114800"/>
            <a:ext cx="3703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file caching</a:t>
            </a:r>
            <a:endParaRPr lang="en-US" sz="1300" dirty="0"/>
          </a:p>
        </p:txBody>
      </p:sp>
      <p:sp>
        <p:nvSpPr>
          <p:cNvPr id="33" name="Text 26"/>
          <p:cNvSpPr/>
          <p:nvPr/>
        </p:nvSpPr>
        <p:spPr>
          <a:xfrm>
            <a:off x="502920" y="43891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Module-level Map cache added to skillLoader.ts. 20–40 disk reads per session reduced to first-call only.</a:t>
            </a:r>
            <a:endParaRPr lang="en-US" sz="1000" dirty="0"/>
          </a:p>
        </p:txBody>
      </p:sp>
      <p:sp>
        <p:nvSpPr>
          <p:cNvPr id="34" name="Shape 27"/>
          <p:cNvSpPr/>
          <p:nvPr/>
        </p:nvSpPr>
        <p:spPr>
          <a:xfrm>
            <a:off x="4727448" y="3639312"/>
            <a:ext cx="406908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10328" y="3776472"/>
            <a:ext cx="347472" cy="347472"/>
          </a:xfrm>
          <a:prstGeom prst="rect">
            <a:avLst/>
          </a:prstGeom>
        </p:spPr>
      </p:pic>
      <p:sp>
        <p:nvSpPr>
          <p:cNvPr id="36" name="Shape 28"/>
          <p:cNvSpPr/>
          <p:nvPr/>
        </p:nvSpPr>
        <p:spPr>
          <a:xfrm>
            <a:off x="5349240" y="3776472"/>
            <a:ext cx="1097280" cy="256032"/>
          </a:xfrm>
          <a:prstGeom prst="roundRect">
            <a:avLst>
              <a:gd name="adj" fmla="val 17857"/>
            </a:avLst>
          </a:prstGeom>
          <a:solidFill>
            <a:srgbClr val="E0F2FE"/>
          </a:solidFill>
          <a:ln w="63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29"/>
          <p:cNvSpPr/>
          <p:nvPr/>
        </p:nvSpPr>
        <p:spPr>
          <a:xfrm>
            <a:off x="5349240" y="377647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Optimised</a:t>
            </a:r>
            <a:endParaRPr lang="en-US" sz="800" dirty="0"/>
          </a:p>
        </p:txBody>
      </p:sp>
      <p:sp>
        <p:nvSpPr>
          <p:cNvPr id="38" name="Text 30"/>
          <p:cNvSpPr/>
          <p:nvPr/>
        </p:nvSpPr>
        <p:spPr>
          <a:xfrm>
            <a:off x="4910328" y="4114800"/>
            <a:ext cx="3703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Scribe + Learner parallel</a:t>
            </a:r>
            <a:endParaRPr lang="en-US" sz="1300" dirty="0"/>
          </a:p>
        </p:txBody>
      </p:sp>
      <p:sp>
        <p:nvSpPr>
          <p:cNvPr id="39" name="Text 31"/>
          <p:cNvSpPr/>
          <p:nvPr/>
        </p:nvSpPr>
        <p:spPr>
          <a:xfrm>
            <a:off x="4910328" y="43891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Scribe and Learner now run concurrently after Judge verdict. ~10s saved per session. Sequential debate chain preserved.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architecture maturity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201168" cy="2011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12648" y="7772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542032" y="804672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88920" y="7772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18304" y="804672"/>
            <a:ext cx="201168" cy="20116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965192" y="7772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— on roadmap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894576" y="804672"/>
            <a:ext cx="201168" cy="20116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141464" y="7772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logical step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1115568"/>
            <a:ext cx="85039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57200" y="1207008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85800" y="1115568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103120" y="1115568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In-context episodic memory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394960" y="1115568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Session-scoped, injected forward between agents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1444752"/>
            <a:ext cx="8503920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57200" y="1536192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103120" y="1444752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persistent memory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394960" y="1444752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learnings in Supabase + Jira ADR cross-session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" y="1773936"/>
            <a:ext cx="85039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57200" y="1865376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103120" y="1773936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vector retrieval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394960" y="1773936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 upgrade needed — currently full-inject, no selectivity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" y="2103120"/>
            <a:ext cx="8503920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57200" y="2194560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85800" y="2103120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103120" y="2103120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→ critique → synthesis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394960" y="2103120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Designer → 8 specialists → Judge — textbook deliberative pattern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20040" y="2432304"/>
            <a:ext cx="85039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57200" y="2523744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2103120" y="2432304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Rebuttal rounds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394960" y="2432304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Re-submission exists; Round 2 in-session rebuttal not yet built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20040" y="2761488"/>
            <a:ext cx="8503920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57200" y="2852928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2103120" y="2761488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confidence signalling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394960" y="2761488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scores implemented; document-relevance-based scoring TBD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20040" y="3090672"/>
            <a:ext cx="85039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457200" y="3182112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2103120" y="3090672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Dissent detection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394960" y="3090672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Post-verdict dissent panel via Haiku call — working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20040" y="3419856"/>
            <a:ext cx="8503920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457200" y="3511296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85800" y="3419856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2103120" y="3419856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timeout + cancellation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394960" y="3419856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per-agent timeout or cancel button — risk for demos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320040" y="3749040"/>
            <a:ext cx="85039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457200" y="3840480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2103120" y="3749040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on transient failure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394960" y="3749040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agents silently drop — Judge synthesises incomplete input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320040" y="4078224"/>
            <a:ext cx="8503920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457200" y="4169664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685800" y="4078224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Auditability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2103120" y="4078224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ADR output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5394960" y="4078224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Scribe + Jira + Supabase — full governed trail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320040" y="4407408"/>
            <a:ext cx="85039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457200" y="4498848"/>
            <a:ext cx="164592" cy="16459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2103120" y="4407408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escalation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5394960" y="4407408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Countersign endpoint exists — HITL workflow not yet wired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320040" y="4736592"/>
            <a:ext cx="8503920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457200" y="4828032"/>
            <a:ext cx="164592" cy="16459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2103120" y="4736592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observability tracing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5394960" y="4736592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JSON trace of injection decisions per agent — not built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2743200" cy="438912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777240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84632" y="1325880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67512" y="1261872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specialist agents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4632" y="1618488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67512" y="1554480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9-layer grounding stack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4632" y="1911096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67512" y="1847088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Library (8 files)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4632" y="2203704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67512" y="2139696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Episodic memory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4632" y="2496312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67512" y="2432304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Dissent Panel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4632" y="2788920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67512" y="2724912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Intelligence Learner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4632" y="3081528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67512" y="3017520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 vision (docx)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4632" y="3374136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67512" y="3310128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Monitor + ROI estimator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4632" y="3666744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67512" y="3602736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RLS + security hardening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4632" y="3959352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67512" y="3895344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auth guard (7 routes)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4632" y="4251960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67512" y="4187952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mode isolation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4632" y="4544568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67512" y="4480560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Scribe + Learner parallelised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4632" y="4837176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67512" y="4773168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file caching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4632" y="5129784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67512" y="5065776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3-table observability schema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4632" y="5422392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67512" y="5358384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SessionTracer — full agent lifecycle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4632" y="5715000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67512" y="5650992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trace integrity hash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264408" y="777240"/>
            <a:ext cx="2743200" cy="438912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3264408" y="777240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sprint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3429000" y="1325880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3611880" y="1261872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timeout + cancel button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429000" y="1618488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3611880" y="1554480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on transient API failure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429000" y="1911096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3611880" y="1847088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2 Rebuttal flow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429000" y="2203704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3611880" y="2139696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escalation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429000" y="2496312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3611880" y="2432304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 layer tracing (Q1/Q2)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3429000" y="2788920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3611880" y="2724912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confidence scoring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3429000" y="3081528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3611880" y="3017520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 + prompt injection guard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3429000" y="3374136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3611880" y="3310128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strict mode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208776" y="777240"/>
            <a:ext cx="2743200" cy="438912"/>
          </a:xfrm>
          <a:prstGeom prst="roundRect">
            <a:avLst>
              <a:gd name="adj" fmla="val 16667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6208776" y="777240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500" dirty="0"/>
          </a:p>
        </p:txBody>
      </p:sp>
      <p:sp>
        <p:nvSpPr>
          <p:cNvPr id="58" name="Shape 56"/>
          <p:cNvSpPr/>
          <p:nvPr/>
        </p:nvSpPr>
        <p:spPr>
          <a:xfrm>
            <a:off x="6373368" y="1325880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6556248" y="1261872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 semantic memory retrieval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6373368" y="1618488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6556248" y="1554480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Domain-agnostic multi-tenant config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6373368" y="1911096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6556248" y="1847088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 versioning across resubmissions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6373368" y="2203704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6556248" y="2139696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Confluence write alongside Jira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6373368" y="2496312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6556248" y="2432304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model strategy (Haiku/Sonnet/Opus)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6373368" y="2788920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6556248" y="2724912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MCP integration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6373368" y="3081528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6556248" y="3017520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 client deployment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— real numbers from live runs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841248"/>
            <a:ext cx="19202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96012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$0.22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153619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ARBoard session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186537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NovaPeak SDD · 12 findings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496312" y="841248"/>
            <a:ext cx="19202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496312" y="96012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74k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496312" y="153619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(actual)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496312" y="186537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44k estimated (+68%)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72584" y="841248"/>
            <a:ext cx="19202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672584" y="96012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 min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672584" y="153619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wall-clock time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72584" y="186537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agents sequential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848856" y="841248"/>
            <a:ext cx="1920240" cy="1417320"/>
          </a:xfrm>
          <a:prstGeom prst="roundRect">
            <a:avLst>
              <a:gd name="adj" fmla="val 7742"/>
            </a:avLst>
          </a:prstGeom>
          <a:solidFill>
            <a:srgbClr val="FFF7ED"/>
          </a:solidFill>
          <a:ln w="12700">
            <a:solidFill>
              <a:srgbClr val="F59E0B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848856" y="96012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$27,500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848856" y="153619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ARB equivalent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48856" y="186537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architects × 45 hrs × $150/hr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" y="2395728"/>
            <a:ext cx="8503920" cy="475488"/>
          </a:xfrm>
          <a:prstGeom prst="roundRect">
            <a:avLst>
              <a:gd name="adj" fmla="val 19231"/>
            </a:avLst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20040" y="2395728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99.2% cost reduction  ·  Tiered model: Haiku for Scribe &amp; Learner, Sonnet for Specialists &amp; Judge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20040" y="297180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pricing (Sonnet claude-sonnet-4-6)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0040" y="32918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$3.00 / MTok   ·   Cached read: $0.30 / MTok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0040" y="3611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$15.00 / MTok   ·   Cache write: $3.75 / MTok</a:t>
            </a:r>
            <a:endParaRPr lang="en-US" sz="1100" dirty="0"/>
          </a:p>
        </p:txBody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2880360"/>
            <a:ext cx="2560320" cy="201168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320040" y="466344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ROI estimator built into ARBoard UI — pre-run estimate and post-session actuals with complexity weighting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82880" y="804672"/>
            <a:ext cx="1600200" cy="365760"/>
          </a:xfrm>
          <a:prstGeom prst="roundRect">
            <a:avLst>
              <a:gd name="adj" fmla="val 17500"/>
            </a:avLst>
          </a:prstGeom>
          <a:solidFill>
            <a:srgbClr val="1A3355"/>
          </a:solidFill>
          <a:ln w="63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82880" y="804672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82880" y="1261872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82880" y="126187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 (App Router)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82880" y="1719072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82880" y="171907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TypeScript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82880" y="2176272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82880" y="217627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82880" y="2633472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82880" y="263347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(deploy)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956816" y="804672"/>
            <a:ext cx="1600200" cy="365760"/>
          </a:xfrm>
          <a:prstGeom prst="roundRect">
            <a:avLst>
              <a:gd name="adj" fmla="val 17500"/>
            </a:avLst>
          </a:prstGeom>
          <a:solidFill>
            <a:srgbClr val="0F4C75"/>
          </a:solidFill>
          <a:ln w="63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956816" y="804672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Routes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56816" y="1261872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956816" y="126187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/api/* route handlers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956816" y="1719072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956816" y="171907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guard (x-arboard-key)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956816" y="2176272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956816" y="217627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SSE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956816" y="2633472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956816" y="263347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+ vision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730752" y="804672"/>
            <a:ext cx="1600200" cy="365760"/>
          </a:xfrm>
          <a:prstGeom prst="roundRect">
            <a:avLst>
              <a:gd name="adj" fmla="val 17500"/>
            </a:avLst>
          </a:prstGeom>
          <a:solidFill>
            <a:srgbClr val="0D6E6E"/>
          </a:solidFill>
          <a:ln w="63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730752" y="804672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730752" y="1261872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730752" y="126187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ForumOrchestrator.ts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730752" y="1719072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730752" y="171907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AgentRunner (stream)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730752" y="2176272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730752" y="217627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PromptBuilder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730752" y="2633472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730752" y="263347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skillLoader (cached)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504688" y="804672"/>
            <a:ext cx="1600200" cy="365760"/>
          </a:xfrm>
          <a:prstGeom prst="roundRect">
            <a:avLst>
              <a:gd name="adj" fmla="val 17500"/>
            </a:avLst>
          </a:prstGeom>
          <a:solidFill>
            <a:srgbClr val="0D9488"/>
          </a:solidFill>
          <a:ln w="63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504688" y="804672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504688" y="1261872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504688" y="126187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API (Claude)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504688" y="1719072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504688" y="171907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Sonnet + Haiku tiered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504688" y="2176272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504688" y="217627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Episodic memory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504688" y="2633472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5504688" y="263347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Dissent analyser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7278624" y="804672"/>
            <a:ext cx="1600200" cy="365760"/>
          </a:xfrm>
          <a:prstGeom prst="roundRect">
            <a:avLst>
              <a:gd name="adj" fmla="val 17500"/>
            </a:avLst>
          </a:prstGeom>
          <a:solidFill>
            <a:srgbClr val="065A82"/>
          </a:solidFill>
          <a:ln w="63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7278624" y="804672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7278624" y="1261872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7278624" y="126187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(RLS enabled)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7278624" y="1719072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7278624" y="171907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role server-only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7278624" y="2176272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7278624" y="217627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(ADR tickets)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7278624" y="2633472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7278624" y="263347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org_learnings table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320040" y="475488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stack: Next.js · TypeScript · Anthropic SDK · Supabase · Jira REST API · Vercel · JSZip (diagram vision)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go from here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4069080" cy="1737360"/>
          </a:xfrm>
          <a:prstGeom prst="roundRect">
            <a:avLst>
              <a:gd name="adj" fmla="val 6316"/>
            </a:avLst>
          </a:prstGeom>
          <a:solidFill>
            <a:srgbClr val="0F1F3D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969264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969264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deployment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02920" y="1399032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to a regulated industry engagement (financial services or public sector). Inject client-specific compliance standards, failure patterns, and Well-Architected principles as a domain package.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727448" y="804672"/>
            <a:ext cx="4069080" cy="1737360"/>
          </a:xfrm>
          <a:prstGeom prst="roundRect">
            <a:avLst>
              <a:gd name="adj" fmla="val 6316"/>
            </a:avLst>
          </a:prstGeom>
          <a:solidFill>
            <a:srgbClr val="0F1F3D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0328" y="969264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67528" y="969264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 semantic memory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910328" y="1399032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has pgvector built in. Embed org learnings and failure patterns on write. Top-K retrieval by cosine similarity replaces full-inject — improves relevance, reduces cost.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320040" y="2743200"/>
            <a:ext cx="4069080" cy="1737360"/>
          </a:xfrm>
          <a:prstGeom prst="roundRect">
            <a:avLst>
              <a:gd name="adj" fmla="val 6316"/>
            </a:avLst>
          </a:prstGeom>
          <a:solidFill>
            <a:srgbClr val="0F1F3D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2907792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60120" y="290779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502920" y="333756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up the existing countersign endpoint to a HITL escalation flow. When Judge flags human judgement points, route to a named reviewer before ADR is finalised.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727448" y="2743200"/>
            <a:ext cx="4069080" cy="1737360"/>
          </a:xfrm>
          <a:prstGeom prst="roundRect">
            <a:avLst>
              <a:gd name="adj" fmla="val 6316"/>
            </a:avLst>
          </a:prstGeom>
          <a:solidFill>
            <a:srgbClr val="0F1F3D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0328" y="2907792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367528" y="290779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&amp; white-label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4910328" y="333756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Registry in Supabase with client_id partitioning. Each client accumulates their own org learnings. One ARBoard engine, many domain/client configurations.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0D9488">
              <a:alpha val="9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Review Board is open.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specialist agents. 9 grounding layers. One governed verdict.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267712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ARBoard is production-ready — security hardened, cost-validated, and aligned to enterprise agentic architecture patterns.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3566160"/>
            <a:ext cx="128016" cy="12801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49808" y="3511296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Anthropic Claude (Sonnet + Haiku tiered)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886200"/>
            <a:ext cx="128016" cy="12801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49808" y="3831336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· Supabase · Jira · Vercel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4206240"/>
            <a:ext cx="128016" cy="12801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49808" y="4151376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github.com/pganapathineedi/arboard (private)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4736592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 Ganapathineedi  ·  Lead Architect, Accenture Australia  ·  Salesforce / Agentforce  ·  Agentblazer Legend 2026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observability &amp; tracing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ARBoard session is fully traced — what was injected, which agents ran, what they found, and a tamper-evident integrity hash.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2743200" cy="365760"/>
          </a:xfrm>
          <a:prstGeom prst="roundRect">
            <a:avLst>
              <a:gd name="adj" fmla="val 20000"/>
            </a:avLst>
          </a:prstGeom>
          <a:solidFill>
            <a:srgbClr val="0F1F3D"/>
          </a:solidFill>
          <a:ln w="63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12344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session_traces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627632"/>
            <a:ext cx="27432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" y="1664208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session  ·  verdict · cost · tokens · hash  ·  resubmission chain · status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081528" y="1737360"/>
            <a:ext cx="164592" cy="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64408" y="1234440"/>
            <a:ext cx="2743200" cy="365760"/>
          </a:xfrm>
          <a:prstGeom prst="roundRect">
            <a:avLst>
              <a:gd name="adj" fmla="val 20000"/>
            </a:avLst>
          </a:prstGeom>
          <a:solidFill>
            <a:srgbClr val="0F4C75"/>
          </a:solidFill>
          <a:ln w="63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64408" y="12344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session_trace_agents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64408" y="1627632"/>
            <a:ext cx="27432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64408" y="1664208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agent  ·  status · tokens · must-fix count  ·  sequence · round · dissent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25896" y="1737360"/>
            <a:ext cx="164592" cy="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208776" y="1234440"/>
            <a:ext cx="2743200" cy="36576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 w="63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208776" y="12344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session_trace_injections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08776" y="1627632"/>
            <a:ext cx="27432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208776" y="1664208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grounding layer  ·  type · file · keywords matched  ·  token estimate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0040" y="2761488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analytics queries — designed first, schema built to answer them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0040" y="3108960"/>
            <a:ext cx="4206240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93192" y="3154680"/>
            <a:ext cx="384048" cy="201168"/>
          </a:xfrm>
          <a:prstGeom prst="round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93192" y="3154680"/>
            <a:ext cx="3840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50392" y="310896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layers + token cost per agent per session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3456432"/>
            <a:ext cx="4206240" cy="292608"/>
          </a:xfrm>
          <a:prstGeom prst="roundRect">
            <a:avLst>
              <a:gd name="adj" fmla="val 15625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93192" y="3502152"/>
            <a:ext cx="384048" cy="201168"/>
          </a:xfrm>
          <a:prstGeom prst="round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93192" y="3502152"/>
            <a:ext cx="3840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50392" y="345643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/ least triggered cross-cutting skills this month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" y="3803904"/>
            <a:ext cx="4206240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93192" y="3849624"/>
            <a:ext cx="384048" cy="201168"/>
          </a:xfrm>
          <a:prstGeom prst="round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93192" y="3849624"/>
            <a:ext cx="3840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50392" y="380390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failure rate and error patterns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0040" y="4151376"/>
            <a:ext cx="4206240" cy="292608"/>
          </a:xfrm>
          <a:prstGeom prst="roundRect">
            <a:avLst>
              <a:gd name="adj" fmla="val 15625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393192" y="4197096"/>
            <a:ext cx="384048" cy="201168"/>
          </a:xfrm>
          <a:prstGeom prst="round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93192" y="4197096"/>
            <a:ext cx="3840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850392" y="415137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changes across document resubmissions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54880" y="3108960"/>
            <a:ext cx="4206240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828032" y="3154680"/>
            <a:ext cx="384048" cy="201168"/>
          </a:xfrm>
          <a:prstGeom prst="round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828032" y="3154680"/>
            <a:ext cx="3840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285232" y="310896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deviating most from expected token budget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54880" y="3456432"/>
            <a:ext cx="4206240" cy="292608"/>
          </a:xfrm>
          <a:prstGeom prst="roundRect">
            <a:avLst>
              <a:gd name="adj" fmla="val 15625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4828032" y="3502152"/>
            <a:ext cx="384048" cy="201168"/>
          </a:xfrm>
          <a:prstGeom prst="round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828032" y="3502152"/>
            <a:ext cx="3840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Q6a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285232" y="345643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producing the most Must-Fix findings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754880" y="3803904"/>
            <a:ext cx="4206240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4828032" y="3849624"/>
            <a:ext cx="384048" cy="201168"/>
          </a:xfrm>
          <a:prstGeom prst="round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828032" y="3849624"/>
            <a:ext cx="3840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Q6b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285232" y="380390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where specialists dissented from Judge verdict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20040" y="4645152"/>
            <a:ext cx="8503920" cy="384048"/>
          </a:xfrm>
          <a:prstGeom prst="roundRect">
            <a:avLst>
              <a:gd name="adj" fmla="val 19048"/>
            </a:avLst>
          </a:prstGeom>
          <a:solidFill>
            <a:srgbClr val="F0FDF4"/>
          </a:solidFill>
          <a:ln w="63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320040" y="4645152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storage · Write-before-run (crash-safe) · SHA-256 integrity · Mock excluded from analytics · client_id + round on every row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2429</Words>
  <Application>Microsoft Office PowerPoint</Application>
  <PresentationFormat>On-screen Show (16:9)</PresentationFormat>
  <Paragraphs>357</Paragraphs>
  <Slides>16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ARBoard — AI-Powered Architecture Review Board</dc:title>
  <dc:subject>PptxGenJS Presentation</dc:subject>
  <dc:creator>PptxGenJS</dc:creator>
  <cp:lastModifiedBy>Ganapatineedi, Rama</cp:lastModifiedBy>
  <cp:revision>3</cp:revision>
  <dcterms:created xsi:type="dcterms:W3CDTF">2026-07-06T05:46:55Z</dcterms:created>
  <dcterms:modified xsi:type="dcterms:W3CDTF">2026-07-07T08:49:21Z</dcterms:modified>
</cp:coreProperties>
</file>