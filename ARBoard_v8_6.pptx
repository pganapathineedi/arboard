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4" r:id="rId7"/>
    <p:sldId id="262" r:id="rId8"/>
    <p:sldId id="263" r:id="rId9"/>
    <p:sldId id="276" r:id="rId10"/>
    <p:sldId id="264" r:id="rId11"/>
    <p:sldId id="265" r:id="rId12"/>
    <p:sldId id="266" r:id="rId13"/>
    <p:sldId id="267" r:id="rId14"/>
    <p:sldId id="268" r:id="rId15"/>
    <p:sldId id="269" r:id="rId16"/>
    <p:sldId id="270" r:id="rId17"/>
    <p:sldId id="271" r:id="rId18"/>
    <p:sldId id="272" r:id="rId19"/>
    <p:sldId id="273"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77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207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631600"/>
            <a:ext cx="1965960" cy="291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207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207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46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3048920"/>
            <a:ext cx="1554480" cy="149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315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50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74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7 specialists in sequence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20000"/>
            <a:ext cx="8138160" cy="17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AGENT GROUNDING</a:t>
            </a:r>
          </a:p>
        </p:txBody>
      </p:sp>
      <p:sp>
        <p:nvSpPr>
          <p:cNvPr id="3" name="Text 1"/>
          <p:cNvSpPr/>
          <p:nvPr/>
        </p:nvSpPr>
        <p:spPr>
          <a:xfrm>
            <a:off x="502920" y="380000"/>
            <a:ext cx="8138160" cy="420000"/>
          </a:xfrm>
          <a:prstGeom prst="rect">
            <a:avLst/>
          </a:prstGeom>
          <a:noFill/>
          <a:ln/>
        </p:spPr>
        <p:txBody>
          <a:bodyPr wrap="square" rtlCol="0" anchor="ctr"/>
          <a:lstStyle/>
          <a:p>
            <a:pPr marL="0" indent="0" algn="l">
              <a:buNone/>
            </a:pPr>
            <a:r>
              <a:rPr lang="en-US" sz="2000" b="1" dirty="0">
                <a:solidFill>
                  <a:srgbClr val="1A1A1A"/>
                </a:solidFill>
                <a:latin typeface="Arial" pitchFamily="34" charset="0"/>
              </a:rPr>
              <a:t>Agents are grounded in five layers of knowledge</a:t>
            </a:r>
          </a:p>
        </p:txBody>
      </p:sp>
      <p:sp>
        <p:nvSpPr>
          <p:cNvPr id="4" name="Shape 2"/>
          <p:cNvSpPr/>
          <p:nvPr/>
        </p:nvSpPr>
        <p:spPr>
          <a:xfrm>
            <a:off x="502920" y="820000"/>
            <a:ext cx="8138160" cy="0"/>
          </a:xfrm>
          <a:prstGeom prst="line">
            <a:avLst/>
          </a:prstGeom>
          <a:noFill/>
          <a:ln w="9525">
            <a:solidFill>
              <a:srgbClr val="EBEBEB"/>
            </a:solidFill>
            <a:prstDash val="solid"/>
          </a:ln>
        </p:spPr>
        <p:txBody>
          <a:bodyPr/>
          <a:lstStyle/>
          <a:p>
            <a:endParaRPr lang="en-US"/>
          </a:p>
        </p:txBody>
      </p:sp>
      <p:sp>
        <p:nvSpPr>
          <p:cNvPr id="5" name="Row1Bg"/>
          <p:cNvSpPr/>
          <p:nvPr/>
        </p:nvSpPr>
        <p:spPr>
          <a:xfrm>
            <a:off x="502920" y="870000"/>
            <a:ext cx="8138160" cy="490000"/>
          </a:xfrm>
          <a:prstGeom prst="roundRect">
            <a:avLst>
              <a:gd name="adj" fmla="val 11429"/>
            </a:avLst>
          </a:prstGeom>
          <a:solidFill>
            <a:srgbClr val="EBEBEB"/>
          </a:solidFill>
          <a:ln w="6350">
            <a:solidFill>
              <a:srgbClr val="D3D1C7"/>
            </a:solidFill>
            <a:prstDash val="solid"/>
          </a:ln>
        </p:spPr>
        <p:txBody>
          <a:bodyPr/>
          <a:lstStyle/>
          <a:p>
            <a:endParaRPr lang="en-US"/>
          </a:p>
        </p:txBody>
      </p:sp>
      <p:sp>
        <p:nvSpPr>
          <p:cNvPr id="6" name="Row1Circle"/>
          <p:cNvSpPr/>
          <p:nvPr/>
        </p:nvSpPr>
        <p:spPr>
          <a:xfrm>
            <a:off x="658368" y="940000"/>
            <a:ext cx="350000" cy="350000"/>
          </a:xfrm>
          <a:prstGeom prst="ellipse">
            <a:avLst/>
          </a:prstGeom>
          <a:solidFill>
            <a:srgbClr val="0F1E3C"/>
          </a:solidFill>
          <a:ln w="12700">
            <a:solidFill>
              <a:srgbClr val="0F1E3C"/>
            </a:solidFill>
            <a:prstDash val="solid"/>
          </a:ln>
        </p:spPr>
        <p:txBody>
          <a:bodyPr/>
          <a:lstStyle/>
          <a:p>
            <a:endParaRPr lang="en-US"/>
          </a:p>
        </p:txBody>
      </p:sp>
      <p:sp>
        <p:nvSpPr>
          <p:cNvPr id="7" name="Row1Num"/>
          <p:cNvSpPr/>
          <p:nvPr/>
        </p:nvSpPr>
        <p:spPr>
          <a:xfrm>
            <a:off x="658368" y="94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1</a:t>
            </a:r>
          </a:p>
        </p:txBody>
      </p:sp>
      <p:sp>
        <p:nvSpPr>
          <p:cNvPr id="8" name="Row1Title"/>
          <p:cNvSpPr/>
          <p:nvPr/>
        </p:nvSpPr>
        <p:spPr>
          <a:xfrm>
            <a:off x="1100000" y="900000"/>
            <a:ext cx="2926080" cy="210000"/>
          </a:xfrm>
          <a:prstGeom prst="rect">
            <a:avLst/>
          </a:prstGeom>
          <a:noFill/>
          <a:ln/>
        </p:spPr>
        <p:txBody>
          <a:bodyPr wrap="square" rtlCol="0" anchor="ctr"/>
          <a:lstStyle/>
          <a:p>
            <a:pPr marL="0" indent="0">
              <a:buNone/>
            </a:pPr>
            <a:r>
              <a:rPr lang="en-US" sz="1050" b="1" dirty="0">
                <a:solidFill>
                  <a:srgbClr val="0F1E3C"/>
                </a:solidFill>
                <a:latin typeface="Arial" pitchFamily="34" charset="0"/>
              </a:rPr>
              <a:t>Base model knowledge</a:t>
            </a:r>
          </a:p>
        </p:txBody>
      </p:sp>
      <p:sp>
        <p:nvSpPr>
          <p:cNvPr id="9" name="Row1Desc"/>
          <p:cNvSpPr/>
          <p:nvPr/>
        </p:nvSpPr>
        <p:spPr>
          <a:xfrm>
            <a:off x="1100000" y="110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Claude's training — Salesforce patterns, anti-patterns, best practices</a:t>
            </a:r>
          </a:p>
        </p:txBody>
      </p:sp>
      <p:sp>
        <p:nvSpPr>
          <p:cNvPr id="10" name="Row2Bg"/>
          <p:cNvSpPr/>
          <p:nvPr/>
        </p:nvSpPr>
        <p:spPr>
          <a:xfrm>
            <a:off x="502920" y="1400000"/>
            <a:ext cx="8138160" cy="490000"/>
          </a:xfrm>
          <a:prstGeom prst="roundRect">
            <a:avLst>
              <a:gd name="adj" fmla="val 11429"/>
            </a:avLst>
          </a:prstGeom>
          <a:solidFill>
            <a:srgbClr val="E1F5EE"/>
          </a:solidFill>
          <a:ln w="6350">
            <a:solidFill>
              <a:srgbClr val="D3D1C7"/>
            </a:solidFill>
            <a:prstDash val="solid"/>
          </a:ln>
        </p:spPr>
        <p:txBody>
          <a:bodyPr/>
          <a:lstStyle/>
          <a:p>
            <a:endParaRPr lang="en-US"/>
          </a:p>
        </p:txBody>
      </p:sp>
      <p:sp>
        <p:nvSpPr>
          <p:cNvPr id="11" name="Row2Circle"/>
          <p:cNvSpPr/>
          <p:nvPr/>
        </p:nvSpPr>
        <p:spPr>
          <a:xfrm>
            <a:off x="658368" y="1470000"/>
            <a:ext cx="350000" cy="350000"/>
          </a:xfrm>
          <a:prstGeom prst="ellipse">
            <a:avLst/>
          </a:prstGeom>
          <a:solidFill>
            <a:srgbClr val="0F6E56"/>
          </a:solidFill>
          <a:ln w="12700">
            <a:solidFill>
              <a:srgbClr val="0F6E56"/>
            </a:solidFill>
            <a:prstDash val="solid"/>
          </a:ln>
        </p:spPr>
        <p:txBody>
          <a:bodyPr/>
          <a:lstStyle/>
          <a:p>
            <a:endParaRPr lang="en-US"/>
          </a:p>
        </p:txBody>
      </p:sp>
      <p:sp>
        <p:nvSpPr>
          <p:cNvPr id="12" name="Row2Num"/>
          <p:cNvSpPr/>
          <p:nvPr/>
        </p:nvSpPr>
        <p:spPr>
          <a:xfrm>
            <a:off x="658368" y="147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2</a:t>
            </a:r>
          </a:p>
        </p:txBody>
      </p:sp>
      <p:sp>
        <p:nvSpPr>
          <p:cNvPr id="13" name="Row2Title"/>
          <p:cNvSpPr/>
          <p:nvPr/>
        </p:nvSpPr>
        <p:spPr>
          <a:xfrm>
            <a:off x="1100000" y="1430000"/>
            <a:ext cx="2926080" cy="210000"/>
          </a:xfrm>
          <a:prstGeom prst="rect">
            <a:avLst/>
          </a:prstGeom>
          <a:noFill/>
          <a:ln/>
        </p:spPr>
        <p:txBody>
          <a:bodyPr wrap="square" rtlCol="0" anchor="ctr"/>
          <a:lstStyle/>
          <a:p>
            <a:pPr marL="0" indent="0">
              <a:buNone/>
            </a:pPr>
            <a:r>
              <a:rPr lang="en-US" sz="1050" b="1" dirty="0">
                <a:solidFill>
                  <a:srgbClr val="0F6E56"/>
                </a:solidFill>
                <a:latin typeface="Arial" pitchFamily="34" charset="0"/>
              </a:rPr>
              <a:t>Static principles</a:t>
            </a:r>
          </a:p>
        </p:txBody>
      </p:sp>
      <p:sp>
        <p:nvSpPr>
          <p:cNvPr id="14" name="Row2Desc"/>
          <p:cNvSpPr/>
          <p:nvPr/>
        </p:nvSpPr>
        <p:spPr>
          <a:xfrm>
            <a:off x="1100000" y="163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Curated Salesforce Well-Architected principles injected per agent. Zero latency.</a:t>
            </a:r>
          </a:p>
        </p:txBody>
      </p:sp>
      <p:sp>
        <p:nvSpPr>
          <p:cNvPr id="15" name="Row3Bg"/>
          <p:cNvSpPr/>
          <p:nvPr/>
        </p:nvSpPr>
        <p:spPr>
          <a:xfrm>
            <a:off x="502920" y="1930000"/>
            <a:ext cx="8138160" cy="490000"/>
          </a:xfrm>
          <a:prstGeom prst="roundRect">
            <a:avLst>
              <a:gd name="adj" fmla="val 11429"/>
            </a:avLst>
          </a:prstGeom>
          <a:solidFill>
            <a:srgbClr val="FAECE7"/>
          </a:solidFill>
          <a:ln w="6350">
            <a:solidFill>
              <a:srgbClr val="D3D1C7"/>
            </a:solidFill>
            <a:prstDash val="solid"/>
          </a:ln>
        </p:spPr>
        <p:txBody>
          <a:bodyPr/>
          <a:lstStyle/>
          <a:p>
            <a:endParaRPr lang="en-US"/>
          </a:p>
        </p:txBody>
      </p:sp>
      <p:sp>
        <p:nvSpPr>
          <p:cNvPr id="16" name="Row3Circle"/>
          <p:cNvSpPr/>
          <p:nvPr/>
        </p:nvSpPr>
        <p:spPr>
          <a:xfrm>
            <a:off x="658368" y="2000000"/>
            <a:ext cx="350000" cy="350000"/>
          </a:xfrm>
          <a:prstGeom prst="ellipse">
            <a:avLst/>
          </a:prstGeom>
          <a:solidFill>
            <a:srgbClr val="D85A30"/>
          </a:solidFill>
          <a:ln w="12700">
            <a:solidFill>
              <a:srgbClr val="D85A30"/>
            </a:solidFill>
            <a:prstDash val="solid"/>
          </a:ln>
        </p:spPr>
        <p:txBody>
          <a:bodyPr/>
          <a:lstStyle/>
          <a:p>
            <a:endParaRPr lang="en-US"/>
          </a:p>
        </p:txBody>
      </p:sp>
      <p:sp>
        <p:nvSpPr>
          <p:cNvPr id="17" name="Row3Num"/>
          <p:cNvSpPr/>
          <p:nvPr/>
        </p:nvSpPr>
        <p:spPr>
          <a:xfrm>
            <a:off x="658368" y="200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3</a:t>
            </a:r>
          </a:p>
        </p:txBody>
      </p:sp>
      <p:sp>
        <p:nvSpPr>
          <p:cNvPr id="18" name="Row3Title"/>
          <p:cNvSpPr/>
          <p:nvPr/>
        </p:nvSpPr>
        <p:spPr>
          <a:xfrm>
            <a:off x="1100000" y="1960000"/>
            <a:ext cx="2926080" cy="210000"/>
          </a:xfrm>
          <a:prstGeom prst="rect">
            <a:avLst/>
          </a:prstGeom>
          <a:noFill/>
          <a:ln/>
        </p:spPr>
        <p:txBody>
          <a:bodyPr wrap="square" rtlCol="0" anchor="ctr"/>
          <a:lstStyle/>
          <a:p>
            <a:pPr marL="0" indent="0">
              <a:buNone/>
            </a:pPr>
            <a:r>
              <a:rPr lang="en-US" sz="1050" b="1" dirty="0">
                <a:solidFill>
                  <a:srgbClr val="993C1D"/>
                </a:solidFill>
                <a:latin typeface="Arial" pitchFamily="34" charset="0"/>
              </a:rPr>
              <a:t>SI failure pattern library</a:t>
            </a:r>
          </a:p>
        </p:txBody>
      </p:sp>
      <p:sp>
        <p:nvSpPr>
          <p:cNvPr id="19" name="Row3Desc"/>
          <p:cNvSpPr/>
          <p:nvPr/>
        </p:nvSpPr>
        <p:spPr>
          <a:xfrm>
            <a:off x="1100000" y="216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Real patterns from past engagements (FP-004 to FP-012). Agents cite by ID.</a:t>
            </a:r>
          </a:p>
        </p:txBody>
      </p:sp>
      <p:sp>
        <p:nvSpPr>
          <p:cNvPr id="20" name="Row4Bg"/>
          <p:cNvSpPr/>
          <p:nvPr/>
        </p:nvSpPr>
        <p:spPr>
          <a:xfrm>
            <a:off x="502920" y="2460000"/>
            <a:ext cx="8138160" cy="490000"/>
          </a:xfrm>
          <a:prstGeom prst="roundRect">
            <a:avLst>
              <a:gd name="adj" fmla="val 11429"/>
            </a:avLst>
          </a:prstGeom>
          <a:solidFill>
            <a:srgbClr val="FAEEDA"/>
          </a:solidFill>
          <a:ln w="6350">
            <a:solidFill>
              <a:srgbClr val="D3D1C7"/>
            </a:solidFill>
            <a:prstDash val="solid"/>
          </a:ln>
        </p:spPr>
        <p:txBody>
          <a:bodyPr/>
          <a:lstStyle/>
          <a:p>
            <a:endParaRPr lang="en-US"/>
          </a:p>
        </p:txBody>
      </p:sp>
      <p:sp>
        <p:nvSpPr>
          <p:cNvPr id="21" name="Row4Circle"/>
          <p:cNvSpPr/>
          <p:nvPr/>
        </p:nvSpPr>
        <p:spPr>
          <a:xfrm>
            <a:off x="658368" y="2530000"/>
            <a:ext cx="350000" cy="350000"/>
          </a:xfrm>
          <a:prstGeom prst="ellipse">
            <a:avLst/>
          </a:prstGeom>
          <a:solidFill>
            <a:srgbClr val="BA7517"/>
          </a:solidFill>
          <a:ln w="12700">
            <a:solidFill>
              <a:srgbClr val="BA7517"/>
            </a:solidFill>
            <a:prstDash val="solid"/>
          </a:ln>
        </p:spPr>
        <p:txBody>
          <a:bodyPr/>
          <a:lstStyle/>
          <a:p>
            <a:endParaRPr lang="en-US"/>
          </a:p>
        </p:txBody>
      </p:sp>
      <p:sp>
        <p:nvSpPr>
          <p:cNvPr id="22" name="Row4Num"/>
          <p:cNvSpPr/>
          <p:nvPr/>
        </p:nvSpPr>
        <p:spPr>
          <a:xfrm>
            <a:off x="658368" y="253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4</a:t>
            </a:r>
          </a:p>
        </p:txBody>
      </p:sp>
      <p:sp>
        <p:nvSpPr>
          <p:cNvPr id="23" name="Row4Title"/>
          <p:cNvSpPr/>
          <p:nvPr/>
        </p:nvSpPr>
        <p:spPr>
          <a:xfrm>
            <a:off x="1100000" y="2490000"/>
            <a:ext cx="2926080" cy="210000"/>
          </a:xfrm>
          <a:prstGeom prst="rect">
            <a:avLst/>
          </a:prstGeom>
          <a:noFill/>
          <a:ln/>
        </p:spPr>
        <p:txBody>
          <a:bodyPr wrap="square" rtlCol="0" anchor="ctr"/>
          <a:lstStyle/>
          <a:p>
            <a:pPr marL="0" indent="0">
              <a:buNone/>
            </a:pPr>
            <a:r>
              <a:rPr lang="en-US" sz="1050" b="1" dirty="0">
                <a:solidFill>
                  <a:srgbClr val="BA7517"/>
                </a:solidFill>
                <a:latin typeface="Arial" pitchFamily="34" charset="0"/>
              </a:rPr>
              <a:t>Cross-session memory</a:t>
            </a:r>
          </a:p>
        </p:txBody>
      </p:sp>
      <p:sp>
        <p:nvSpPr>
          <p:cNvPr id="24" name="Row4Desc"/>
          <p:cNvSpPr/>
          <p:nvPr/>
        </p:nvSpPr>
        <p:spPr>
          <a:xfrm>
            <a:off x="1100000" y="269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Past ADR decisions retrieved from Jira. Agents reconcile: resolved, persists, escalated, or contradicted.</a:t>
            </a:r>
          </a:p>
        </p:txBody>
      </p:sp>
      <p:sp>
        <p:nvSpPr>
          <p:cNvPr id="25" name="Row5Bg"/>
          <p:cNvSpPr/>
          <p:nvPr/>
        </p:nvSpPr>
        <p:spPr>
          <a:xfrm>
            <a:off x="502920" y="2990000"/>
            <a:ext cx="8138160" cy="490000"/>
          </a:xfrm>
          <a:prstGeom prst="roundRect">
            <a:avLst>
              <a:gd name="adj" fmla="val 11429"/>
            </a:avLst>
          </a:prstGeom>
          <a:solidFill>
            <a:srgbClr val="EEEDFE"/>
          </a:solidFill>
          <a:ln w="6350">
            <a:solidFill>
              <a:srgbClr val="D3D1C7"/>
            </a:solidFill>
            <a:prstDash val="solid"/>
          </a:ln>
        </p:spPr>
        <p:txBody>
          <a:bodyPr/>
          <a:lstStyle/>
          <a:p>
            <a:endParaRPr lang="en-US"/>
          </a:p>
        </p:txBody>
      </p:sp>
      <p:sp>
        <p:nvSpPr>
          <p:cNvPr id="26" name="Row5Circle"/>
          <p:cNvSpPr/>
          <p:nvPr/>
        </p:nvSpPr>
        <p:spPr>
          <a:xfrm>
            <a:off x="658368" y="3060000"/>
            <a:ext cx="350000" cy="350000"/>
          </a:xfrm>
          <a:prstGeom prst="ellipse">
            <a:avLst/>
          </a:prstGeom>
          <a:solidFill>
            <a:srgbClr val="534AB7"/>
          </a:solidFill>
          <a:ln w="12700">
            <a:solidFill>
              <a:srgbClr val="534AB7"/>
            </a:solidFill>
            <a:prstDash val="solid"/>
          </a:ln>
        </p:spPr>
        <p:txBody>
          <a:bodyPr/>
          <a:lstStyle/>
          <a:p>
            <a:endParaRPr lang="en-US"/>
          </a:p>
        </p:txBody>
      </p:sp>
      <p:sp>
        <p:nvSpPr>
          <p:cNvPr id="27" name="Row5Num"/>
          <p:cNvSpPr/>
          <p:nvPr/>
        </p:nvSpPr>
        <p:spPr>
          <a:xfrm>
            <a:off x="658368" y="306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5</a:t>
            </a:r>
          </a:p>
        </p:txBody>
      </p:sp>
      <p:sp>
        <p:nvSpPr>
          <p:cNvPr id="28" name="Row5Title"/>
          <p:cNvSpPr/>
          <p:nvPr/>
        </p:nvSpPr>
        <p:spPr>
          <a:xfrm>
            <a:off x="1100000" y="3020000"/>
            <a:ext cx="2926080" cy="210000"/>
          </a:xfrm>
          <a:prstGeom prst="rect">
            <a:avLst/>
          </a:prstGeom>
          <a:noFill/>
          <a:ln/>
        </p:spPr>
        <p:txBody>
          <a:bodyPr wrap="square" rtlCol="0" anchor="ctr"/>
          <a:lstStyle/>
          <a:p>
            <a:pPr marL="0" indent="0">
              <a:buNone/>
            </a:pPr>
            <a:r>
              <a:rPr lang="en-US" sz="1050" b="1" dirty="0">
                <a:solidFill>
                  <a:srgbClr val="3C3489"/>
                </a:solidFill>
                <a:latin typeface="Arial" pitchFamily="34" charset="0"/>
              </a:rPr>
              <a:t>Org intelligence</a:t>
            </a:r>
          </a:p>
        </p:txBody>
      </p:sp>
      <p:sp>
        <p:nvSpPr>
          <p:cNvPr id="29" name="Row5Desc"/>
          <p:cNvSpPr/>
          <p:nvPr/>
        </p:nvSpPr>
        <p:spPr>
          <a:xfrm>
            <a:off x="1100000" y="322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Org-specific learnings extracted each session, persisted in Supabase, retrieved in future sessions.</a:t>
            </a:r>
          </a:p>
        </p:txBody>
      </p:sp>
      <p:sp>
        <p:nvSpPr>
          <p:cNvPr id="30" name="Footer"/>
          <p:cNvSpPr/>
          <p:nvPr/>
        </p:nvSpPr>
        <p:spPr>
          <a:xfrm>
            <a:off x="502920" y="3550000"/>
            <a:ext cx="8138160" cy="220000"/>
          </a:xfrm>
          <a:prstGeom prst="rect">
            <a:avLst/>
          </a:prstGeom>
          <a:noFill/>
          <a:ln/>
        </p:spPr>
        <p:txBody>
          <a:bodyPr wrap="square" rtlCol="0" anchor="ctr"/>
          <a:lstStyle/>
          <a:p>
            <a:pPr marL="0" indent="0">
              <a:buNone/>
            </a:pPr>
            <a:r>
              <a:rPr lang="en-US" sz="900" b="1" i="1" dirty="0">
                <a:solidFill>
                  <a:srgbClr val="0F6E56"/>
                </a:solidFill>
                <a:latin typeface="Arial" pitchFamily="34" charset="0"/>
              </a:rPr>
              <a:t>Planned: pgvector RAG in Supabase — Well-Architected Framework + delivery standards as searchable vector store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~$0.08 per full session (optimised)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55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62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62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62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94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200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200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200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32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39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39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39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71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77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77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77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309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315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315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315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47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54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54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54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86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92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92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92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424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31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31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31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63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69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69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69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631600"/>
            <a:ext cx="1965960" cy="309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72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208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Sequential pipeline — review, judge, record</a:t>
            </a:r>
            <a:endParaRPr lang="en-US" sz="950" dirty="0"/>
          </a:p>
        </p:txBody>
      </p:sp>
      <p:sp>
        <p:nvSpPr>
          <p:cNvPr id="10" name="Text 8"/>
          <p:cNvSpPr/>
          <p:nvPr/>
        </p:nvSpPr>
        <p:spPr>
          <a:xfrm>
            <a:off x="52120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631600"/>
            <a:ext cx="1965960" cy="309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72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208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631600"/>
            <a:ext cx="1965960" cy="309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72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208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631600"/>
            <a:ext cx="1965960" cy="309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72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208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216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a:t>
            </a:r>
            <a:endParaRPr lang="en-US" sz="950" dirty="0"/>
          </a:p>
        </p:txBody>
      </p:sp>
      <p:sp>
        <p:nvSpPr>
          <p:cNvPr id="27" name="Text 25"/>
          <p:cNvSpPr/>
          <p:nvPr/>
        </p:nvSpPr>
        <p:spPr>
          <a:xfrm>
            <a:off x="6967728" y="263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311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lIns="0" tIns="0" rIns="0" bIns="0" rtlCol="0" anchor="ctr"/>
          <a:lstStyle/>
          <a:p>
            <a:pPr marL="0" indent="0">
              <a:buNone/>
            </a:pPr>
            <a:r>
              <a:rPr lang="en-US" sz="1000" b="1" kern="0" spc="300" dirty="0">
                <a:solidFill>
                  <a:srgbClr val="0891B2"/>
                </a:solidFill>
              </a:rPr>
              <a:t>COST ENGINEERING — LEARNINGS</a:t>
            </a:r>
            <a:endParaRPr lang="en-US" sz="1000" dirty="0"/>
          </a:p>
        </p:txBody>
      </p:sp>
      <p:sp>
        <p:nvSpPr>
          <p:cNvPr id="3" name="Text 1"/>
          <p:cNvSpPr/>
          <p:nvPr/>
        </p:nvSpPr>
        <p:spPr>
          <a:xfrm>
            <a:off x="457200" y="502920"/>
            <a:ext cx="8229600" cy="1005840"/>
          </a:xfrm>
          <a:prstGeom prst="rect">
            <a:avLst/>
          </a:prstGeom>
          <a:noFill/>
          <a:ln/>
        </p:spPr>
        <p:txBody>
          <a:bodyPr wrap="square" lIns="0" tIns="0" rIns="0" bIns="0" rtlCol="0" anchor="ctr"/>
          <a:lstStyle/>
          <a:p>
            <a:pPr marL="0" indent="0">
              <a:buNone/>
            </a:pPr>
            <a:r>
              <a:rPr lang="en-US" sz="3600" b="1" dirty="0">
                <a:solidFill>
                  <a:srgbClr val="111827"/>
                </a:solidFill>
              </a:rPr>
              <a:t>Token consumption: measured,</a:t>
            </a:r>
            <a:endParaRPr lang="en-US" sz="3600" dirty="0"/>
          </a:p>
          <a:p>
            <a:pPr marL="0" indent="0">
              <a:buNone/>
            </a:pPr>
            <a:r>
              <a:rPr lang="en-US" sz="3600" b="1" dirty="0">
                <a:solidFill>
                  <a:srgbClr val="111827"/>
                </a:solidFill>
              </a:rPr>
              <a:t>then engineered down</a:t>
            </a:r>
            <a:endParaRPr lang="en-US" sz="3600" dirty="0"/>
          </a:p>
        </p:txBody>
      </p:sp>
      <p:sp>
        <p:nvSpPr>
          <p:cNvPr id="4" name="Text 2"/>
          <p:cNvSpPr/>
          <p:nvPr/>
        </p:nvSpPr>
        <p:spPr>
          <a:xfrm>
            <a:off x="457200" y="1600200"/>
            <a:ext cx="4572000" cy="256032"/>
          </a:xfrm>
          <a:prstGeom prst="rect">
            <a:avLst/>
          </a:prstGeom>
          <a:noFill/>
          <a:ln/>
        </p:spPr>
        <p:txBody>
          <a:bodyPr wrap="square" lIns="0" tIns="0" rIns="0" bIns="0" rtlCol="0" anchor="ctr"/>
          <a:lstStyle/>
          <a:p>
            <a:pPr marL="0" indent="0">
              <a:buNone/>
            </a:pPr>
            <a:r>
              <a:rPr lang="en-US" sz="1200" b="1" dirty="0">
                <a:solidFill>
                  <a:srgbClr val="111827"/>
                </a:solidFill>
              </a:rPr>
              <a:t>Baseline per session (9 agents, real doc)</a:t>
            </a:r>
            <a:endParaRPr lang="en-US" sz="1200" dirty="0"/>
          </a:p>
        </p:txBody>
      </p:sp>
      <p:graphicFrame>
        <p:nvGraphicFramePr>
          <p:cNvPr id="5" name="Table 0"/>
          <p:cNvGraphicFramePr>
            <a:graphicFrameLocks noGrp="1"/>
          </p:cNvGraphicFramePr>
          <p:nvPr/>
        </p:nvGraphicFramePr>
        <p:xfrm>
          <a:off x="457200" y="1901952"/>
          <a:ext cx="4572000" cy="2176272"/>
        </p:xfrm>
        <a:graphic>
          <a:graphicData uri="http://schemas.openxmlformats.org/drawingml/2006/table">
            <a:tbl>
              <a:tblPr/>
              <a:tblGrid>
                <a:gridCol w="2560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rPr>
                        <a:t>Source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Tokens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Model</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374151"/>
                          </a:solidFill>
                        </a:rPr>
                        <a:t>Document input (NovaPeak SDD)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~4,000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i="1" dirty="0">
                          <a:solidFill>
                            <a:srgbClr val="6B7280"/>
                          </a:solidFill>
                        </a:rPr>
                        <a:t>All agents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374151"/>
                          </a:solidFill>
                        </a:rPr>
                        <a:t>9 agent system prompts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~9,000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374151"/>
                          </a:solidFill>
                        </a:rPr>
                        <a:t>Jira memory (10 tickets, filtered)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~5,000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374151"/>
                          </a:solidFill>
                        </a:rPr>
                        <a:t>Scribe + Learner (Judge output only)</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~3,000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7C3AED"/>
                          </a:solidFill>
                        </a:rPr>
                        <a:t>Haiku</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374151"/>
                          </a:solidFill>
                        </a:rPr>
                        <a:t>Specialists + Judge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~16,000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Sonnet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0891B2"/>
                          </a:solidFill>
                        </a:rPr>
                        <a:t>Total (live run, Jul 2026)</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37.4k</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$0.304</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5349240" y="1600200"/>
            <a:ext cx="3566160" cy="256032"/>
          </a:xfrm>
          <a:prstGeom prst="rect">
            <a:avLst/>
          </a:prstGeom>
          <a:noFill/>
          <a:ln/>
        </p:spPr>
        <p:txBody>
          <a:bodyPr wrap="square" lIns="0" tIns="0" rIns="0" bIns="0" rtlCol="0" anchor="ctr"/>
          <a:lstStyle/>
          <a:p>
            <a:pPr marL="0" indent="0">
              <a:buNone/>
            </a:pPr>
            <a:r>
              <a:rPr lang="en-US" sz="1200" b="1" dirty="0">
                <a:solidFill>
                  <a:srgbClr val="111827"/>
                </a:solidFill>
              </a:rPr>
              <a:t>Optimisations implemented</a:t>
            </a:r>
            <a:endParaRPr lang="en-US" sz="1200" dirty="0"/>
          </a:p>
        </p:txBody>
      </p:sp>
      <p:sp>
        <p:nvSpPr>
          <p:cNvPr id="7" name="Shape 4"/>
          <p:cNvSpPr/>
          <p:nvPr/>
        </p:nvSpPr>
        <p:spPr>
          <a:xfrm>
            <a:off x="5349240" y="1901952"/>
            <a:ext cx="3566160" cy="438912"/>
          </a:xfrm>
          <a:prstGeom prst="roundRect">
            <a:avLst>
              <a:gd name="adj" fmla="val 12500"/>
            </a:avLst>
          </a:prstGeom>
          <a:solidFill>
            <a:srgbClr val="EFF6FF"/>
          </a:solidFill>
          <a:ln w="12700">
            <a:solidFill>
              <a:srgbClr val="BFDBFE"/>
            </a:solidFill>
            <a:prstDash val="solid"/>
          </a:ln>
        </p:spPr>
        <p:txBody>
          <a:bodyPr/>
          <a:lstStyle/>
          <a:p>
            <a:endParaRPr lang="en-US"/>
          </a:p>
        </p:txBody>
      </p:sp>
      <p:sp>
        <p:nvSpPr>
          <p:cNvPr id="8" name="Text 5"/>
          <p:cNvSpPr/>
          <p:nvPr/>
        </p:nvSpPr>
        <p:spPr>
          <a:xfrm>
            <a:off x="5532120" y="1938528"/>
            <a:ext cx="3291840" cy="182880"/>
          </a:xfrm>
          <a:prstGeom prst="rect">
            <a:avLst/>
          </a:prstGeom>
          <a:noFill/>
          <a:ln/>
        </p:spPr>
        <p:txBody>
          <a:bodyPr wrap="square" lIns="0" tIns="0" rIns="0" bIns="0" rtlCol="0" anchor="ctr"/>
          <a:lstStyle/>
          <a:p>
            <a:pPr marL="0" indent="0">
              <a:buNone/>
            </a:pPr>
            <a:r>
              <a:rPr lang="en-US" sz="1100" b="1" dirty="0">
                <a:solidFill>
                  <a:srgbClr val="1E3A5F"/>
                </a:solidFill>
              </a:rPr>
              <a:t>Jira JQL tightening</a:t>
            </a:r>
            <a:endParaRPr lang="en-US" sz="1100" dirty="0"/>
          </a:p>
        </p:txBody>
      </p:sp>
      <p:sp>
        <p:nvSpPr>
          <p:cNvPr id="9" name="Text 6"/>
          <p:cNvSpPr/>
          <p:nvPr/>
        </p:nvSpPr>
        <p:spPr>
          <a:xfrm>
            <a:off x="5532120" y="2130552"/>
            <a:ext cx="3291840" cy="164592"/>
          </a:xfrm>
          <a:prstGeom prst="rect">
            <a:avLst/>
          </a:prstGeom>
          <a:noFill/>
          <a:ln/>
        </p:spPr>
        <p:txBody>
          <a:bodyPr wrap="square" lIns="0" tIns="0" rIns="0" bIns="0" rtlCol="0" anchor="ctr"/>
          <a:lstStyle/>
          <a:p>
            <a:pPr marL="0" indent="0">
              <a:buNone/>
            </a:pPr>
            <a:r>
              <a:rPr lang="en-US" sz="950" dirty="0">
                <a:solidFill>
                  <a:srgbClr val="1E3A5F"/>
                </a:solidFill>
              </a:rPr>
              <a:t>saves ~30,000 tokens</a:t>
            </a:r>
            <a:endParaRPr lang="en-US" sz="950" dirty="0"/>
          </a:p>
        </p:txBody>
      </p:sp>
      <p:sp>
        <p:nvSpPr>
          <p:cNvPr id="10" name="Shape 7"/>
          <p:cNvSpPr/>
          <p:nvPr/>
        </p:nvSpPr>
        <p:spPr>
          <a:xfrm>
            <a:off x="5349240" y="2414016"/>
            <a:ext cx="3566160" cy="438912"/>
          </a:xfrm>
          <a:prstGeom prst="roundRect">
            <a:avLst>
              <a:gd name="adj" fmla="val 12500"/>
            </a:avLst>
          </a:prstGeom>
          <a:solidFill>
            <a:srgbClr val="FFFBEB"/>
          </a:solidFill>
          <a:ln w="12700">
            <a:solidFill>
              <a:srgbClr val="FDE68A"/>
            </a:solidFill>
            <a:prstDash val="solid"/>
          </a:ln>
        </p:spPr>
        <p:txBody>
          <a:bodyPr/>
          <a:lstStyle/>
          <a:p>
            <a:endParaRPr lang="en-US"/>
          </a:p>
        </p:txBody>
      </p:sp>
      <p:sp>
        <p:nvSpPr>
          <p:cNvPr id="11" name="Text 8"/>
          <p:cNvSpPr/>
          <p:nvPr/>
        </p:nvSpPr>
        <p:spPr>
          <a:xfrm>
            <a:off x="5532120" y="2450592"/>
            <a:ext cx="3291840" cy="182880"/>
          </a:xfrm>
          <a:prstGeom prst="rect">
            <a:avLst/>
          </a:prstGeom>
          <a:noFill/>
          <a:ln/>
        </p:spPr>
        <p:txBody>
          <a:bodyPr wrap="square" lIns="0" tIns="0" rIns="0" bIns="0" rtlCol="0" anchor="ctr"/>
          <a:lstStyle/>
          <a:p>
            <a:pPr marL="0" indent="0">
              <a:buNone/>
            </a:pPr>
            <a:r>
              <a:rPr lang="en-US" sz="1100" b="1" dirty="0">
                <a:solidFill>
                  <a:srgbClr val="92400E"/>
                </a:solidFill>
              </a:rPr>
              <a:t>Scribe/Learner context trim</a:t>
            </a:r>
            <a:endParaRPr lang="en-US" sz="1100" dirty="0"/>
          </a:p>
        </p:txBody>
      </p:sp>
      <p:sp>
        <p:nvSpPr>
          <p:cNvPr id="12" name="Text 9"/>
          <p:cNvSpPr/>
          <p:nvPr/>
        </p:nvSpPr>
        <p:spPr>
          <a:xfrm>
            <a:off x="5532120" y="2642616"/>
            <a:ext cx="3291840" cy="164592"/>
          </a:xfrm>
          <a:prstGeom prst="rect">
            <a:avLst/>
          </a:prstGeom>
          <a:noFill/>
          <a:ln/>
        </p:spPr>
        <p:txBody>
          <a:bodyPr wrap="square" lIns="0" tIns="0" rIns="0" bIns="0" rtlCol="0" anchor="ctr"/>
          <a:lstStyle/>
          <a:p>
            <a:pPr marL="0" indent="0">
              <a:buNone/>
            </a:pPr>
            <a:r>
              <a:rPr lang="en-US" sz="950" dirty="0">
                <a:solidFill>
                  <a:srgbClr val="92400E"/>
                </a:solidFill>
              </a:rPr>
              <a:t>saves ~6,000 tokens</a:t>
            </a:r>
            <a:endParaRPr lang="en-US" sz="950" dirty="0"/>
          </a:p>
        </p:txBody>
      </p:sp>
      <p:sp>
        <p:nvSpPr>
          <p:cNvPr id="13" name="Shape 10"/>
          <p:cNvSpPr/>
          <p:nvPr/>
        </p:nvSpPr>
        <p:spPr>
          <a:xfrm>
            <a:off x="5349240" y="2926080"/>
            <a:ext cx="3566160" cy="438912"/>
          </a:xfrm>
          <a:prstGeom prst="roundRect">
            <a:avLst>
              <a:gd name="adj" fmla="val 12500"/>
            </a:avLst>
          </a:prstGeom>
          <a:solidFill>
            <a:srgbClr val="F5F3FF"/>
          </a:solidFill>
          <a:ln w="12700">
            <a:solidFill>
              <a:srgbClr val="DDD6FE"/>
            </a:solidFill>
            <a:prstDash val="solid"/>
          </a:ln>
        </p:spPr>
        <p:txBody>
          <a:bodyPr/>
          <a:lstStyle/>
          <a:p>
            <a:endParaRPr lang="en-US"/>
          </a:p>
        </p:txBody>
      </p:sp>
      <p:sp>
        <p:nvSpPr>
          <p:cNvPr id="14" name="Text 11"/>
          <p:cNvSpPr/>
          <p:nvPr/>
        </p:nvSpPr>
        <p:spPr>
          <a:xfrm>
            <a:off x="5532120" y="2962656"/>
            <a:ext cx="3291840" cy="182880"/>
          </a:xfrm>
          <a:prstGeom prst="rect">
            <a:avLst/>
          </a:prstGeom>
          <a:noFill/>
          <a:ln/>
        </p:spPr>
        <p:txBody>
          <a:bodyPr wrap="square" lIns="0" tIns="0" rIns="0" bIns="0" rtlCol="0" anchor="ctr"/>
          <a:lstStyle/>
          <a:p>
            <a:pPr marL="0" indent="0">
              <a:buNone/>
            </a:pPr>
            <a:r>
              <a:rPr lang="en-US" sz="1100" b="1" dirty="0">
                <a:solidFill>
                  <a:srgbClr val="5B21B6"/>
                </a:solidFill>
              </a:rPr>
              <a:t>Tiered model strategy</a:t>
            </a:r>
            <a:endParaRPr lang="en-US" sz="1100" dirty="0"/>
          </a:p>
        </p:txBody>
      </p:sp>
      <p:sp>
        <p:nvSpPr>
          <p:cNvPr id="15" name="Text 12"/>
          <p:cNvSpPr/>
          <p:nvPr/>
        </p:nvSpPr>
        <p:spPr>
          <a:xfrm>
            <a:off x="5532120" y="3154680"/>
            <a:ext cx="3291840" cy="164592"/>
          </a:xfrm>
          <a:prstGeom prst="rect">
            <a:avLst/>
          </a:prstGeom>
          <a:noFill/>
          <a:ln/>
        </p:spPr>
        <p:txBody>
          <a:bodyPr wrap="square" lIns="0" tIns="0" rIns="0" bIns="0" rtlCol="0" anchor="ctr"/>
          <a:lstStyle/>
          <a:p>
            <a:pPr marL="0" indent="0">
              <a:buNone/>
            </a:pPr>
            <a:r>
              <a:rPr lang="en-US" sz="950" dirty="0">
                <a:solidFill>
                  <a:srgbClr val="5B21B6"/>
                </a:solidFill>
              </a:rPr>
              <a:t>Haiku for Scribe/Learner · Sonnet for specialists</a:t>
            </a:r>
            <a:endParaRPr lang="en-US" sz="950" dirty="0"/>
          </a:p>
        </p:txBody>
      </p:sp>
      <p:sp>
        <p:nvSpPr>
          <p:cNvPr id="16" name="Shape 13"/>
          <p:cNvSpPr/>
          <p:nvPr/>
        </p:nvSpPr>
        <p:spPr>
          <a:xfrm>
            <a:off x="5349240" y="3438144"/>
            <a:ext cx="3566160" cy="438912"/>
          </a:xfrm>
          <a:prstGeom prst="roundRect">
            <a:avLst>
              <a:gd name="adj" fmla="val 12500"/>
            </a:avLst>
          </a:prstGeom>
          <a:solidFill>
            <a:srgbClr val="F0FDF4"/>
          </a:solidFill>
          <a:ln w="12700">
            <a:solidFill>
              <a:srgbClr val="BBF7D0"/>
            </a:solidFill>
            <a:prstDash val="solid"/>
          </a:ln>
        </p:spPr>
        <p:txBody>
          <a:bodyPr/>
          <a:lstStyle/>
          <a:p>
            <a:endParaRPr lang="en-US"/>
          </a:p>
        </p:txBody>
      </p:sp>
      <p:sp>
        <p:nvSpPr>
          <p:cNvPr id="17" name="Text 14"/>
          <p:cNvSpPr/>
          <p:nvPr/>
        </p:nvSpPr>
        <p:spPr>
          <a:xfrm>
            <a:off x="5532120" y="3474720"/>
            <a:ext cx="3291840" cy="182880"/>
          </a:xfrm>
          <a:prstGeom prst="rect">
            <a:avLst/>
          </a:prstGeom>
          <a:noFill/>
          <a:ln/>
        </p:spPr>
        <p:txBody>
          <a:bodyPr wrap="square" lIns="0" tIns="0" rIns="0" bIns="0" rtlCol="0" anchor="ctr"/>
          <a:lstStyle/>
          <a:p>
            <a:pPr marL="0" indent="0">
              <a:buNone/>
            </a:pPr>
            <a:r>
              <a:rPr lang="en-US" sz="1100" b="1" dirty="0">
                <a:solidFill>
                  <a:srgbClr val="14532D"/>
                </a:solidFill>
              </a:rPr>
              <a:t>Shared base prompt dedup</a:t>
            </a:r>
            <a:endParaRPr lang="en-US" sz="1100" dirty="0"/>
          </a:p>
        </p:txBody>
      </p:sp>
      <p:sp>
        <p:nvSpPr>
          <p:cNvPr id="18" name="Text 15"/>
          <p:cNvSpPr/>
          <p:nvPr/>
        </p:nvSpPr>
        <p:spPr>
          <a:xfrm>
            <a:off x="5532120" y="3666744"/>
            <a:ext cx="3291840" cy="164592"/>
          </a:xfrm>
          <a:prstGeom prst="rect">
            <a:avLst/>
          </a:prstGeom>
          <a:noFill/>
          <a:ln/>
        </p:spPr>
        <p:txBody>
          <a:bodyPr wrap="square" lIns="0" tIns="0" rIns="0" bIns="0" rtlCol="0" anchor="ctr"/>
          <a:lstStyle/>
          <a:p>
            <a:pPr marL="0" indent="0">
              <a:buNone/>
            </a:pPr>
            <a:r>
              <a:rPr lang="en-US" sz="950" dirty="0">
                <a:solidFill>
                  <a:srgbClr val="14532D"/>
                </a:solidFill>
              </a:rPr>
              <a:t>saves ~5,000 tokens</a:t>
            </a:r>
            <a:endParaRPr lang="en-US" sz="950" dirty="0"/>
          </a:p>
        </p:txBody>
      </p:sp>
      <p:sp>
        <p:nvSpPr>
          <p:cNvPr id="19" name="Shape 16"/>
          <p:cNvSpPr/>
          <p:nvPr/>
        </p:nvSpPr>
        <p:spPr>
          <a:xfrm>
            <a:off x="5349240" y="3950208"/>
            <a:ext cx="3566160" cy="438912"/>
          </a:xfrm>
          <a:prstGeom prst="roundRect">
            <a:avLst>
              <a:gd name="adj" fmla="val 12500"/>
            </a:avLst>
          </a:prstGeom>
          <a:solidFill>
            <a:srgbClr val="F9FAFB"/>
          </a:solidFill>
          <a:ln w="12700">
            <a:solidFill>
              <a:srgbClr val="E5E7EB"/>
            </a:solidFill>
            <a:prstDash val="solid"/>
          </a:ln>
        </p:spPr>
        <p:txBody>
          <a:bodyPr/>
          <a:lstStyle/>
          <a:p>
            <a:endParaRPr lang="en-US"/>
          </a:p>
        </p:txBody>
      </p:sp>
      <p:sp>
        <p:nvSpPr>
          <p:cNvPr id="20" name="Text 17"/>
          <p:cNvSpPr/>
          <p:nvPr/>
        </p:nvSpPr>
        <p:spPr>
          <a:xfrm>
            <a:off x="5532120" y="3986784"/>
            <a:ext cx="3291840" cy="182880"/>
          </a:xfrm>
          <a:prstGeom prst="rect">
            <a:avLst/>
          </a:prstGeom>
          <a:noFill/>
          <a:ln/>
        </p:spPr>
        <p:txBody>
          <a:bodyPr wrap="square" lIns="0" tIns="0" rIns="0" bIns="0" rtlCol="0" anchor="ctr"/>
          <a:lstStyle/>
          <a:p>
            <a:pPr marL="0" indent="0">
              <a:buNone/>
            </a:pPr>
            <a:r>
              <a:rPr lang="en-US" sz="1100" b="1" dirty="0">
                <a:solidFill>
                  <a:srgbClr val="6B7280"/>
                </a:solidFill>
              </a:rPr>
              <a:t>Prompt caching (planned)</a:t>
            </a:r>
            <a:endParaRPr lang="en-US" sz="1100" dirty="0"/>
          </a:p>
        </p:txBody>
      </p:sp>
      <p:sp>
        <p:nvSpPr>
          <p:cNvPr id="21" name="Text 18"/>
          <p:cNvSpPr/>
          <p:nvPr/>
        </p:nvSpPr>
        <p:spPr>
          <a:xfrm>
            <a:off x="5532120" y="4178808"/>
            <a:ext cx="3291840" cy="164592"/>
          </a:xfrm>
          <a:prstGeom prst="rect">
            <a:avLst/>
          </a:prstGeom>
          <a:noFill/>
          <a:ln/>
        </p:spPr>
        <p:txBody>
          <a:bodyPr wrap="square" lIns="0" tIns="0" rIns="0" bIns="0" rtlCol="0" anchor="ctr"/>
          <a:lstStyle/>
          <a:p>
            <a:pPr marL="0" indent="0">
              <a:buNone/>
            </a:pPr>
            <a:r>
              <a:rPr lang="en-US" sz="950" dirty="0">
                <a:solidFill>
                  <a:srgbClr val="6B7280"/>
                </a:solidFill>
              </a:rPr>
              <a:t>saves 90% on system prompts</a:t>
            </a:r>
            <a:endParaRPr lang="en-US" sz="950" dirty="0"/>
          </a:p>
        </p:txBody>
      </p:sp>
      <p:sp>
        <p:nvSpPr>
          <p:cNvPr id="22" name="Shape 19"/>
          <p:cNvSpPr/>
          <p:nvPr/>
        </p:nvSpPr>
        <p:spPr>
          <a:xfrm>
            <a:off x="457200" y="4572000"/>
            <a:ext cx="8458200" cy="347472"/>
          </a:xfrm>
          <a:prstGeom prst="rect">
            <a:avLst/>
          </a:prstGeom>
          <a:solidFill>
            <a:srgbClr val="F0FDF4"/>
          </a:solidFill>
          <a:ln w="12700">
            <a:solidFill>
              <a:srgbClr val="BBF7D0"/>
            </a:solidFill>
            <a:prstDash val="solid"/>
          </a:ln>
        </p:spPr>
        <p:txBody>
          <a:bodyPr/>
          <a:lstStyle/>
          <a:p>
            <a:endParaRPr lang="en-US"/>
          </a:p>
        </p:txBody>
      </p:sp>
      <p:sp>
        <p:nvSpPr>
          <p:cNvPr id="23" name="Text 20"/>
          <p:cNvSpPr/>
          <p:nvPr/>
        </p:nvSpPr>
        <p:spPr>
          <a:xfrm>
            <a:off x="457200" y="4572000"/>
            <a:ext cx="8458200" cy="347472"/>
          </a:xfrm>
          <a:prstGeom prst="rect">
            <a:avLst/>
          </a:prstGeom>
          <a:noFill/>
          <a:ln/>
        </p:spPr>
        <p:txBody>
          <a:bodyPr wrap="square" lIns="0" tIns="0" rIns="0" bIns="0" rtlCol="0" anchor="ctr"/>
          <a:lstStyle/>
          <a:p>
            <a:pPr marL="0" indent="0" algn="ctr">
              <a:buNone/>
            </a:pPr>
            <a:r>
              <a:rPr lang="en-US" sz="1050" b="1" i="1" dirty="0">
                <a:solidFill>
                  <a:srgbClr val="166534"/>
                </a:solidFill>
              </a:rPr>
              <a:t>Live run (Jul 2026):  37.4k tokens · $0.304 · 2m 6s · 8 agents (Designer skipped)   ·   Tiered model: Sonnet for specialists + Judge, Haiku for Scribe &amp; Learner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585880"/>
            <a:ext cx="2651760" cy="3506120"/>
          </a:xfrm>
          <a:prstGeom prst="roundRect">
            <a:avLst>
              <a:gd name="adj" fmla="val 2759"/>
            </a:avLst>
          </a:prstGeom>
          <a:solidFill>
            <a:srgbClr val="E1F5EE"/>
          </a:solidFill>
          <a:ln w="6350">
            <a:solidFill>
              <a:srgbClr val="D3D1C7"/>
            </a:solidFill>
            <a:prstDash val="solid"/>
          </a:ln>
        </p:spPr>
        <p:txBody>
          <a:bodyPr/>
          <a:lstStyle/>
          <a:p>
            <a:endParaRPr lang="en-US"/>
          </a:p>
        </p:txBody>
      </p:sp>
      <p:sp>
        <p:nvSpPr>
          <p:cNvPr id="6" name="Shape 4"/>
          <p:cNvSpPr/>
          <p:nvPr/>
        </p:nvSpPr>
        <p:spPr>
          <a:xfrm>
            <a:off x="411480" y="1585880"/>
            <a:ext cx="2651760" cy="384048"/>
          </a:xfrm>
          <a:prstGeom prst="roundRect">
            <a:avLst>
              <a:gd name="adj" fmla="val 19048"/>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411480" y="159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2052224"/>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564288"/>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3076352"/>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588416"/>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4100480"/>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585880"/>
            <a:ext cx="2651760" cy="3506120"/>
          </a:xfrm>
          <a:prstGeom prst="roundRect">
            <a:avLst>
              <a:gd name="adj" fmla="val 2759"/>
            </a:avLst>
          </a:prstGeom>
          <a:solidFill>
            <a:srgbClr val="EBF2FA"/>
          </a:solidFill>
          <a:ln w="6350">
            <a:solidFill>
              <a:srgbClr val="D3D1C7"/>
            </a:solidFill>
            <a:prstDash val="solid"/>
          </a:ln>
        </p:spPr>
        <p:txBody>
          <a:bodyPr/>
          <a:lstStyle/>
          <a:p>
            <a:endParaRPr lang="en-US"/>
          </a:p>
        </p:txBody>
      </p:sp>
      <p:sp>
        <p:nvSpPr>
          <p:cNvPr id="14" name="Shape 12"/>
          <p:cNvSpPr/>
          <p:nvPr/>
        </p:nvSpPr>
        <p:spPr>
          <a:xfrm>
            <a:off x="3227832" y="1585880"/>
            <a:ext cx="2651760" cy="384048"/>
          </a:xfrm>
          <a:prstGeom prst="roundRect">
            <a:avLst>
              <a:gd name="adj" fmla="val 19048"/>
            </a:avLst>
          </a:prstGeom>
          <a:solidFill>
            <a:srgbClr val="1B4F9B"/>
          </a:solidFill>
          <a:ln w="12700">
            <a:solidFill>
              <a:srgbClr val="1B4F9B"/>
            </a:solidFill>
            <a:prstDash val="solid"/>
          </a:ln>
        </p:spPr>
        <p:txBody>
          <a:bodyPr/>
          <a:lstStyle/>
          <a:p>
            <a:endParaRPr lang="en-US"/>
          </a:p>
        </p:txBody>
      </p:sp>
      <p:sp>
        <p:nvSpPr>
          <p:cNvPr id="15" name="Text 13"/>
          <p:cNvSpPr/>
          <p:nvPr/>
        </p:nvSpPr>
        <p:spPr>
          <a:xfrm>
            <a:off x="3227832" y="159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Also done</a:t>
            </a:r>
            <a:endParaRPr lang="en-US" sz="1200" dirty="0"/>
          </a:p>
        </p:txBody>
      </p:sp>
      <p:sp>
        <p:nvSpPr>
          <p:cNvPr id="16" name="Text 14"/>
          <p:cNvSpPr/>
          <p:nvPr/>
        </p:nvSpPr>
        <p:spPr>
          <a:xfrm>
            <a:off x="3364992" y="2052224"/>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564288"/>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3076352"/>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588416"/>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4100480"/>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585880"/>
            <a:ext cx="2651760" cy="3506120"/>
          </a:xfrm>
          <a:prstGeom prst="roundRect">
            <a:avLst>
              <a:gd name="adj" fmla="val 2759"/>
            </a:avLst>
          </a:prstGeom>
          <a:solidFill>
            <a:srgbClr val="FAEEDA"/>
          </a:solidFill>
          <a:ln w="6350">
            <a:solidFill>
              <a:srgbClr val="D3D1C7"/>
            </a:solidFill>
            <a:prstDash val="solid"/>
          </a:ln>
        </p:spPr>
        <p:txBody>
          <a:bodyPr/>
          <a:lstStyle/>
          <a:p>
            <a:endParaRPr lang="en-US"/>
          </a:p>
        </p:txBody>
      </p:sp>
      <p:sp>
        <p:nvSpPr>
          <p:cNvPr id="22" name="Shape 20"/>
          <p:cNvSpPr/>
          <p:nvPr/>
        </p:nvSpPr>
        <p:spPr>
          <a:xfrm>
            <a:off x="6044184" y="1585880"/>
            <a:ext cx="2651760" cy="384048"/>
          </a:xfrm>
          <a:prstGeom prst="roundRect">
            <a:avLst>
              <a:gd name="adj" fmla="val 19048"/>
            </a:avLst>
          </a:prstGeom>
          <a:solidFill>
            <a:srgbClr val="BA7517"/>
          </a:solidFill>
          <a:ln w="12700">
            <a:solidFill>
              <a:srgbClr val="BA7517"/>
            </a:solidFill>
            <a:prstDash val="solid"/>
          </a:ln>
        </p:spPr>
        <p:txBody>
          <a:bodyPr/>
          <a:lstStyle/>
          <a:p>
            <a:endParaRPr lang="en-US"/>
          </a:p>
        </p:txBody>
      </p:sp>
      <p:sp>
        <p:nvSpPr>
          <p:cNvPr id="23" name="Text 21"/>
          <p:cNvSpPr/>
          <p:nvPr/>
        </p:nvSpPr>
        <p:spPr>
          <a:xfrm>
            <a:off x="6044184" y="159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Planned</a:t>
            </a:r>
            <a:endParaRPr lang="en-US" sz="1200" dirty="0"/>
          </a:p>
        </p:txBody>
      </p:sp>
      <p:sp>
        <p:nvSpPr>
          <p:cNvPr id="24" name="Text 22"/>
          <p:cNvSpPr/>
          <p:nvPr/>
        </p:nvSpPr>
        <p:spPr>
          <a:xfrm>
            <a:off x="6181344" y="2052224"/>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564288"/>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3076352"/>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588416"/>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4100480"/>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
        <p:nvSpPr>
          <p:cNvPr id="29" name="Text 27"/>
          <p:cNvSpPr/>
          <p:nvPr/>
        </p:nvSpPr>
        <p:spPr>
          <a:xfrm>
            <a:off x="6181344" y="4612544"/>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Tiered model strategy (Haiku / Sonnet / Opus per agent)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Sequential, building on prior context</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27248" y="1728216"/>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27248" y="2752344"/>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27248" y="3776472"/>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733288" y="2139696"/>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733288" y="3328416"/>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11480" y="160000"/>
            <a:ext cx="8291040" cy="15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APPENDIX — ENGINEERING ARCHITECTURE</a:t>
            </a:r>
          </a:p>
        </p:txBody>
      </p:sp>
      <p:sp>
        <p:nvSpPr>
          <p:cNvPr id="3" name="Text 1"/>
          <p:cNvSpPr/>
          <p:nvPr/>
        </p:nvSpPr>
        <p:spPr>
          <a:xfrm>
            <a:off x="411480" y="320000"/>
            <a:ext cx="8291040" cy="340000"/>
          </a:xfrm>
          <a:prstGeom prst="rect">
            <a:avLst/>
          </a:prstGeom>
          <a:noFill/>
          <a:ln/>
        </p:spPr>
        <p:txBody>
          <a:bodyPr wrap="square" rtlCol="0" anchor="ctr"/>
          <a:lstStyle/>
          <a:p>
            <a:pPr marL="0" indent="0" algn="l">
              <a:buNone/>
            </a:pPr>
            <a:r>
              <a:rPr lang="en-US" sz="1800" b="1" dirty="0">
                <a:solidFill>
                  <a:srgbClr val="1A1A1A"/>
                </a:solidFill>
                <a:latin typeface="Arial" pitchFamily="34" charset="0"/>
              </a:rPr>
              <a:t>The full stack, top to bottom</a:t>
            </a:r>
          </a:p>
        </p:txBody>
      </p:sp>
      <p:sp>
        <p:nvSpPr>
          <p:cNvPr id="4" name="Shape divider"/>
          <p:cNvSpPr/>
          <p:nvPr/>
        </p:nvSpPr>
        <p:spPr>
          <a:xfrm>
            <a:off x="411480" y="690000"/>
            <a:ext cx="8291040" cy="0"/>
          </a:xfrm>
          <a:prstGeom prst="line">
            <a:avLst/>
          </a:prstGeom>
          <a:noFill/>
          <a:ln w="9525">
            <a:solidFill>
              <a:srgbClr val="EBEBEB"/>
            </a:solidFill>
            <a:prstDash val="solid"/>
          </a:ln>
        </p:spPr>
        <p:txBody>
          <a:bodyPr/>
          <a:lstStyle/>
          <a:p>
            <a:endParaRPr lang="en-US"/>
          </a:p>
        </p:txBody>
      </p:sp>
      <p:sp>
        <p:nvSpPr>
          <p:cNvPr id="10" name="L1Bg"/>
          <p:cNvSpPr/>
          <p:nvPr/>
        </p:nvSpPr>
        <p:spPr>
          <a:xfrm>
            <a:off x="411480" y="760000"/>
            <a:ext cx="8291040" cy="420000"/>
          </a:xfrm>
          <a:prstGeom prst="roundRect">
            <a:avLst>
              <a:gd name="adj" fmla="val 8000"/>
            </a:avLst>
          </a:prstGeom>
          <a:solidFill>
            <a:srgbClr val="E6F1FB"/>
          </a:solidFill>
          <a:ln w="6350">
            <a:solidFill>
              <a:srgbClr val="378ADD"/>
            </a:solidFill>
          </a:ln>
        </p:spPr>
        <p:txBody>
          <a:bodyPr wrap="square" lIns="140000" tIns="60000" anchor="t"/>
          <a:lstStyle/>
          <a:p>
            <a:pPr marL="0" indent="0">
              <a:buNone/>
            </a:pPr>
            <a:r>
              <a:rPr lang="en-US" sz="1100" b="1" dirty="0">
                <a:solidFill>
                  <a:srgbClr val="0C447C"/>
                </a:solidFill>
                <a:latin typeface="Arial" pitchFamily="34" charset="0"/>
              </a:rPr>
              <a:t>Frontend</a:t>
            </a:r>
          </a:p>
          <a:p>
            <a:pPr marL="0" indent="0">
              <a:buNone/>
            </a:pPr>
            <a:r>
              <a:rPr lang="en-US" sz="850" dirty="0">
                <a:solidFill>
                  <a:srgbClr val="185FA5"/>
                </a:solidFill>
                <a:latin typeface="Arial" pitchFamily="34" charset="0"/>
              </a:rPr>
              <a:t>Next.js 14 App Router  ·  React  ·  TypeScript  —  ForumTestUI.tsx, 3-mode landing page, SalesforceOrgBanner</a:t>
            </a:r>
          </a:p>
        </p:txBody>
      </p:sp>
      <p:cxnSp>
        <p:nvCxnSpPr>
          <p:cNvPr id="11" name="Arrow1"/>
          <p:cNvCxnSpPr/>
          <p:nvPr/>
        </p:nvCxnSpPr>
        <p:spPr>
          <a:xfrm>
            <a:off x="4557000" y="1180000"/>
            <a:ext cx="0" cy="90000"/>
          </a:xfrm>
          <a:prstGeom prst="straightConnector1">
            <a:avLst/>
          </a:prstGeom>
          <a:ln w="15875">
            <a:solidFill>
              <a:srgbClr val="888780"/>
            </a:solidFill>
            <a:tailEnd type="triangle" w="med" len="med"/>
          </a:ln>
        </p:spPr>
      </p:cxnSp>
      <p:sp>
        <p:nvSpPr>
          <p:cNvPr id="12" name="L2Bg"/>
          <p:cNvSpPr/>
          <p:nvPr/>
        </p:nvSpPr>
        <p:spPr>
          <a:xfrm>
            <a:off x="411480" y="1270000"/>
            <a:ext cx="8291040" cy="420000"/>
          </a:xfrm>
          <a:prstGeom prst="roundRect">
            <a:avLst>
              <a:gd name="adj" fmla="val 8000"/>
            </a:avLst>
          </a:prstGeom>
          <a:solidFill>
            <a:srgbClr val="E1F5EE"/>
          </a:solidFill>
          <a:ln w="6350">
            <a:solidFill>
              <a:srgbClr val="0F6E56"/>
            </a:solidFill>
          </a:ln>
        </p:spPr>
        <p:txBody>
          <a:bodyPr wrap="square" lIns="140000" tIns="60000" anchor="t"/>
          <a:lstStyle/>
          <a:p>
            <a:pPr marL="0" indent="0">
              <a:buNone/>
            </a:pPr>
            <a:r>
              <a:rPr lang="en-US" sz="1100" b="1" dirty="0">
                <a:solidFill>
                  <a:srgbClr val="085041"/>
                </a:solidFill>
                <a:latin typeface="Arial" pitchFamily="34" charset="0"/>
              </a:rPr>
              <a:t>API routes</a:t>
            </a:r>
          </a:p>
          <a:p>
            <a:pPr marL="0" indent="0">
              <a:buNone/>
            </a:pPr>
            <a:r>
              <a:rPr lang="en-US" sz="850" dirty="0">
                <a:solidFill>
                  <a:srgbClr val="0F6E56"/>
                </a:solidFill>
                <a:latin typeface="Arial" pitchFamily="34" charset="0"/>
              </a:rPr>
              <a:t>Node.js runtime  —  /api/upload, /api/analyse, /api/forum, /api/salesforce/status, /api/seed-patterns</a:t>
            </a:r>
          </a:p>
        </p:txBody>
      </p:sp>
      <p:cxnSp>
        <p:nvCxnSpPr>
          <p:cNvPr id="13" name="Arrow2"/>
          <p:cNvCxnSpPr/>
          <p:nvPr/>
        </p:nvCxnSpPr>
        <p:spPr>
          <a:xfrm>
            <a:off x="4557000" y="1690000"/>
            <a:ext cx="0" cy="90000"/>
          </a:xfrm>
          <a:prstGeom prst="straightConnector1">
            <a:avLst/>
          </a:prstGeom>
          <a:ln w="15875">
            <a:solidFill>
              <a:srgbClr val="888780"/>
            </a:solidFill>
            <a:tailEnd type="triangle" w="med" len="med"/>
          </a:ln>
        </p:spPr>
      </p:cxnSp>
      <p:sp>
        <p:nvSpPr>
          <p:cNvPr id="14" name="L3Bg"/>
          <p:cNvSpPr/>
          <p:nvPr/>
        </p:nvSpPr>
        <p:spPr>
          <a:xfrm>
            <a:off x="411480" y="1780000"/>
            <a:ext cx="8291040" cy="420000"/>
          </a:xfrm>
          <a:prstGeom prst="roundRect">
            <a:avLst>
              <a:gd name="adj" fmla="val 8000"/>
            </a:avLst>
          </a:prstGeom>
          <a:solidFill>
            <a:srgbClr val="EEEDFE"/>
          </a:solidFill>
          <a:ln w="6350">
            <a:solidFill>
              <a:srgbClr val="534AB7"/>
            </a:solidFill>
          </a:ln>
        </p:spPr>
        <p:txBody>
          <a:bodyPr wrap="square" lIns="140000" tIns="60000" anchor="t"/>
          <a:lstStyle/>
          <a:p>
            <a:pPr marL="0" indent="0">
              <a:buNone/>
            </a:pPr>
            <a:r>
              <a:rPr lang="en-US" sz="1100" b="1" dirty="0">
                <a:solidFill>
                  <a:srgbClr val="3C3489"/>
                </a:solidFill>
                <a:latin typeface="Arial" pitchFamily="34" charset="0"/>
              </a:rPr>
              <a:t>ForumOrchestrator.ts</a:t>
            </a:r>
          </a:p>
          <a:p>
            <a:pPr marL="0" indent="0">
              <a:buNone/>
            </a:pPr>
            <a:r>
              <a:rPr lang="en-US" sz="850" dirty="0">
                <a:solidFill>
                  <a:srgbClr val="534AB7"/>
                </a:solidFill>
                <a:latin typeface="Arial" pitchFamily="34" charset="0"/>
              </a:rPr>
              <a:t>ImpactAnalyser  ·  retrieveMemory + retrieveOrgLearnings  ·  contextInjector.ts</a:t>
            </a:r>
          </a:p>
        </p:txBody>
      </p:sp>
      <p:cxnSp>
        <p:nvCxnSpPr>
          <p:cNvPr id="15" name="Arrow3"/>
          <p:cNvCxnSpPr/>
          <p:nvPr/>
        </p:nvCxnSpPr>
        <p:spPr>
          <a:xfrm>
            <a:off x="4557000" y="2200000"/>
            <a:ext cx="0" cy="90000"/>
          </a:xfrm>
          <a:prstGeom prst="straightConnector1">
            <a:avLst/>
          </a:prstGeom>
          <a:ln w="15875">
            <a:solidFill>
              <a:srgbClr val="888780"/>
            </a:solidFill>
            <a:tailEnd type="triangle" w="med" len="med"/>
          </a:ln>
        </p:spPr>
      </p:cxnSp>
      <p:sp>
        <p:nvSpPr>
          <p:cNvPr id="16" name="L4Bg"/>
          <p:cNvSpPr/>
          <p:nvPr/>
        </p:nvSpPr>
        <p:spPr>
          <a:xfrm>
            <a:off x="411480" y="2290000"/>
            <a:ext cx="8291040" cy="560000"/>
          </a:xfrm>
          <a:prstGeom prst="roundRect">
            <a:avLst>
              <a:gd name="adj" fmla="val 6000"/>
            </a:avLst>
          </a:prstGeom>
          <a:solidFill>
            <a:srgbClr val="FAECE7"/>
          </a:solidFill>
          <a:ln w="6350">
            <a:solidFill>
              <a:srgbClr val="D85A30"/>
            </a:solidFill>
          </a:ln>
        </p:spPr>
        <p:txBody>
          <a:bodyPr wrap="square" lIns="140000" tIns="60000" anchor="t"/>
          <a:lstStyle/>
          <a:p>
            <a:pPr marL="0" indent="0">
              <a:buNone/>
            </a:pPr>
            <a:r>
              <a:rPr lang="en-US" sz="1100" b="1" dirty="0">
                <a:solidFill>
                  <a:srgbClr val="712B13"/>
                </a:solidFill>
                <a:latin typeface="Arial" pitchFamily="34" charset="0"/>
              </a:rPr>
              <a:t>Agent pipeline — 9 specialists, sequential</a:t>
            </a:r>
          </a:p>
          <a:p>
            <a:pPr marL="0" indent="0">
              <a:buNone/>
            </a:pPr>
            <a:r>
              <a:rPr lang="en-US" sz="850" dirty="0">
                <a:solidFill>
                  <a:srgbClr val="993C1D"/>
                </a:solidFill>
                <a:latin typeface="Arial" pitchFamily="34" charset="0"/>
              </a:rPr>
              <a:t>Designer → Apex → LWC → Flow → OmniStudio → Integration → Patterns → Judge → Scribe → Learner</a:t>
            </a:r>
          </a:p>
          <a:p>
            <a:pPr marL="0" indent="0">
              <a:buNone/>
            </a:pPr>
            <a:r>
              <a:rPr lang="en-US" sz="850" i="1" dirty="0">
                <a:solidFill>
                  <a:srgbClr val="993C1D"/>
                </a:solidFill>
                <a:latin typeface="Arial" pitchFamily="34" charset="0"/>
              </a:rPr>
              <a:t>Each agent call is a single Anthropic API request — output of one feeds the next</a:t>
            </a:r>
          </a:p>
        </p:txBody>
      </p:sp>
      <p:cxnSp>
        <p:nvCxnSpPr>
          <p:cNvPr id="17" name="Arrow4a"/>
          <p:cNvCxnSpPr/>
          <p:nvPr/>
        </p:nvCxnSpPr>
        <p:spPr>
          <a:xfrm>
            <a:off x="1700000" y="2850000"/>
            <a:ext cx="0" cy="100000"/>
          </a:xfrm>
          <a:prstGeom prst="straightConnector1">
            <a:avLst/>
          </a:prstGeom>
          <a:ln w="15875">
            <a:solidFill>
              <a:srgbClr val="888780"/>
            </a:solidFill>
            <a:tailEnd type="triangle" w="med" len="med"/>
          </a:ln>
        </p:spPr>
      </p:cxnSp>
      <p:cxnSp>
        <p:nvCxnSpPr>
          <p:cNvPr id="18" name="Arrow4b"/>
          <p:cNvCxnSpPr/>
          <p:nvPr/>
        </p:nvCxnSpPr>
        <p:spPr>
          <a:xfrm>
            <a:off x="4557000" y="2850000"/>
            <a:ext cx="0" cy="100000"/>
          </a:xfrm>
          <a:prstGeom prst="straightConnector1">
            <a:avLst/>
          </a:prstGeom>
          <a:ln w="15875">
            <a:solidFill>
              <a:srgbClr val="888780"/>
            </a:solidFill>
            <a:tailEnd type="triangle" w="med" len="med"/>
          </a:ln>
        </p:spPr>
      </p:cxnSp>
      <p:cxnSp>
        <p:nvCxnSpPr>
          <p:cNvPr id="19" name="Arrow4c"/>
          <p:cNvCxnSpPr/>
          <p:nvPr/>
        </p:nvCxnSpPr>
        <p:spPr>
          <a:xfrm>
            <a:off x="7400000" y="2850000"/>
            <a:ext cx="0" cy="100000"/>
          </a:xfrm>
          <a:prstGeom prst="straightConnector1">
            <a:avLst/>
          </a:prstGeom>
          <a:ln w="15875">
            <a:solidFill>
              <a:srgbClr val="888780"/>
            </a:solidFill>
            <a:tailEnd type="triangle" w="med" len="med"/>
          </a:ln>
        </p:spPr>
      </p:cxnSp>
      <p:sp>
        <p:nvSpPr>
          <p:cNvPr id="20" name="SvcAnthropic"/>
          <p:cNvSpPr/>
          <p:nvPr/>
        </p:nvSpPr>
        <p:spPr>
          <a:xfrm>
            <a:off x="411480" y="2950000"/>
            <a:ext cx="2651760" cy="780000"/>
          </a:xfrm>
          <a:prstGeom prst="roundRect">
            <a:avLst>
              <a:gd name="adj" fmla="val 6000"/>
            </a:avLst>
          </a:prstGeom>
          <a:solidFill>
            <a:srgbClr val="EAF3DE"/>
          </a:solidFill>
          <a:ln w="6350">
            <a:solidFill>
              <a:srgbClr val="639922"/>
            </a:solidFill>
          </a:ln>
        </p:spPr>
        <p:txBody>
          <a:bodyPr wrap="square" lIns="120000" tIns="80000" anchor="t"/>
          <a:lstStyle/>
          <a:p>
            <a:pPr marL="0" indent="0" algn="ctr">
              <a:buNone/>
            </a:pPr>
            <a:r>
              <a:rPr lang="en-US" sz="1050" b="1" dirty="0">
                <a:solidFill>
                  <a:srgbClr val="27500A"/>
                </a:solidFill>
                <a:latin typeface="Arial" pitchFamily="34" charset="0"/>
              </a:rPr>
              <a:t>Anthropic API</a:t>
            </a:r>
          </a:p>
          <a:p>
            <a:pPr marL="0" indent="0" algn="ctr">
              <a:buNone/>
            </a:pPr>
            <a:r>
              <a:rPr lang="en-US" sz="850" dirty="0">
                <a:solidFill>
                  <a:srgbClr val="3B6D11"/>
                </a:solidFill>
                <a:latin typeface="Arial" pitchFamily="34" charset="0"/>
              </a:rPr>
              <a:t>Claude Sonnet</a:t>
            </a:r>
          </a:p>
          <a:p>
            <a:pPr marL="0" indent="0" algn="ctr">
              <a:buNone/>
            </a:pPr>
            <a:r>
              <a:rPr lang="en-US" sz="850" dirty="0">
                <a:solidFill>
                  <a:srgbClr val="3B6D11"/>
                </a:solidFill>
                <a:latin typeface="Arial" pitchFamily="34" charset="0"/>
              </a:rPr>
              <a:t>9 sequential calls / session</a:t>
            </a:r>
          </a:p>
          <a:p>
            <a:pPr marL="0" indent="0" algn="ctr">
              <a:buNone/>
            </a:pPr>
            <a:r>
              <a:rPr lang="en-US" sz="850" dirty="0">
                <a:solidFill>
                  <a:srgbClr val="3B6D11"/>
                </a:solidFill>
                <a:latin typeface="Arial" pitchFamily="34" charset="0"/>
              </a:rPr>
              <a:t>Mock / Live toggle</a:t>
            </a:r>
          </a:p>
        </p:txBody>
      </p:sp>
      <p:sp>
        <p:nvSpPr>
          <p:cNvPr id="21" name="SvcSupabase"/>
          <p:cNvSpPr/>
          <p:nvPr/>
        </p:nvSpPr>
        <p:spPr>
          <a:xfrm>
            <a:off x="3227832" y="2950000"/>
            <a:ext cx="2651760" cy="780000"/>
          </a:xfrm>
          <a:prstGeom prst="roundRect">
            <a:avLst>
              <a:gd name="adj" fmla="val 6000"/>
            </a:avLst>
          </a:prstGeom>
          <a:solidFill>
            <a:srgbClr val="FAEEDA"/>
          </a:solidFill>
          <a:ln w="6350">
            <a:solidFill>
              <a:srgbClr val="BA7517"/>
            </a:solidFill>
          </a:ln>
        </p:spPr>
        <p:txBody>
          <a:bodyPr wrap="square" lIns="120000" tIns="80000" anchor="t"/>
          <a:lstStyle/>
          <a:p>
            <a:pPr marL="0" indent="0" algn="ctr">
              <a:buNone/>
            </a:pPr>
            <a:r>
              <a:rPr lang="en-US" sz="1050" b="1" dirty="0">
                <a:solidFill>
                  <a:srgbClr val="633806"/>
                </a:solidFill>
                <a:latin typeface="Arial" pitchFamily="34" charset="0"/>
              </a:rPr>
              <a:t>Supabase</a:t>
            </a:r>
          </a:p>
          <a:p>
            <a:pPr marL="0" indent="0" algn="ctr">
              <a:buNone/>
            </a:pPr>
            <a:r>
              <a:rPr lang="en-US" sz="850" dirty="0">
                <a:solidFill>
                  <a:srgbClr val="854F0B"/>
                </a:solidFill>
                <a:latin typeface="Arial" pitchFamily="34" charset="0"/>
              </a:rPr>
              <a:t>failure_patterns</a:t>
            </a:r>
          </a:p>
          <a:p>
            <a:pPr marL="0" indent="0" algn="ctr">
              <a:buNone/>
            </a:pPr>
            <a:r>
              <a:rPr lang="en-US" sz="850" dirty="0">
                <a:solidFill>
                  <a:srgbClr val="854F0B"/>
                </a:solidFill>
                <a:latin typeface="Arial" pitchFamily="34" charset="0"/>
              </a:rPr>
              <a:t>org_learnings</a:t>
            </a:r>
          </a:p>
          <a:p>
            <a:pPr marL="0" indent="0" algn="ctr">
              <a:buNone/>
            </a:pPr>
            <a:r>
              <a:rPr lang="en-US" sz="850" dirty="0">
                <a:solidFill>
                  <a:srgbClr val="854F0B"/>
                </a:solidFill>
                <a:latin typeface="Arial" pitchFamily="34" charset="0"/>
              </a:rPr>
              <a:t>sessions · signoffs</a:t>
            </a:r>
          </a:p>
        </p:txBody>
      </p:sp>
      <p:sp>
        <p:nvSpPr>
          <p:cNvPr id="22" name="SvcJira"/>
          <p:cNvSpPr/>
          <p:nvPr/>
        </p:nvSpPr>
        <p:spPr>
          <a:xfrm>
            <a:off x="6044184" y="2950000"/>
            <a:ext cx="2658336" cy="780000"/>
          </a:xfrm>
          <a:prstGeom prst="roundRect">
            <a:avLst>
              <a:gd name="adj" fmla="val 6000"/>
            </a:avLst>
          </a:prstGeom>
          <a:solidFill>
            <a:srgbClr val="FBEAF0"/>
          </a:solidFill>
          <a:ln w="6350">
            <a:solidFill>
              <a:srgbClr val="D4537E"/>
            </a:solidFill>
          </a:ln>
        </p:spPr>
        <p:txBody>
          <a:bodyPr wrap="square" lIns="120000" tIns="80000" anchor="t"/>
          <a:lstStyle/>
          <a:p>
            <a:pPr marL="0" indent="0" algn="ctr">
              <a:buNone/>
            </a:pPr>
            <a:r>
              <a:rPr lang="en-US" sz="1050" b="1" dirty="0">
                <a:solidFill>
                  <a:srgbClr val="4B1528"/>
                </a:solidFill>
                <a:latin typeface="Arial" pitchFamily="34" charset="0"/>
              </a:rPr>
              <a:t>Jira</a:t>
            </a:r>
          </a:p>
          <a:p>
            <a:pPr marL="0" indent="0" algn="ctr">
              <a:buNone/>
            </a:pPr>
            <a:r>
              <a:rPr lang="en-US" sz="850" dirty="0">
                <a:solidFill>
                  <a:srgbClr val="72243E"/>
                </a:solidFill>
                <a:latin typeface="Arial" pitchFamily="34" charset="0"/>
              </a:rPr>
              <a:t>Project ARBOARD</a:t>
            </a:r>
          </a:p>
          <a:p>
            <a:pPr marL="0" indent="0" algn="ctr">
              <a:buNone/>
            </a:pPr>
            <a:r>
              <a:rPr lang="en-US" sz="850" dirty="0">
                <a:solidFill>
                  <a:srgbClr val="72243E"/>
                </a:solidFill>
                <a:latin typeface="Arial" pitchFamily="34" charset="0"/>
              </a:rPr>
              <a:t>ADR storage</a:t>
            </a:r>
          </a:p>
          <a:p>
            <a:pPr marL="0" indent="0" algn="ctr">
              <a:buNone/>
            </a:pPr>
            <a:r>
              <a:rPr lang="en-US" sz="850" dirty="0">
                <a:solidFill>
                  <a:srgbClr val="72243E"/>
                </a:solidFill>
                <a:latin typeface="Arial" pitchFamily="34" charset="0"/>
              </a:rPr>
              <a:t>JQL retrieval</a:t>
            </a:r>
          </a:p>
        </p:txBody>
      </p:sp>
      <p:cxnSp>
        <p:nvCxnSpPr>
          <p:cNvPr id="23" name="Arrow5"/>
          <p:cNvCxnSpPr/>
          <p:nvPr/>
        </p:nvCxnSpPr>
        <p:spPr>
          <a:xfrm>
            <a:off x="4557000" y="3730000"/>
            <a:ext cx="0" cy="100000"/>
          </a:xfrm>
          <a:prstGeom prst="straightConnector1">
            <a:avLst/>
          </a:prstGeom>
          <a:ln w="15875">
            <a:solidFill>
              <a:srgbClr val="888780"/>
            </a:solidFill>
            <a:tailEnd type="triangle" w="med" len="med"/>
          </a:ln>
        </p:spPr>
      </p:cxnSp>
      <p:sp>
        <p:nvSpPr>
          <p:cNvPr id="24" name="FooterBg"/>
          <p:cNvSpPr/>
          <p:nvPr/>
        </p:nvSpPr>
        <p:spPr>
          <a:xfrm>
            <a:off x="411480" y="3830000"/>
            <a:ext cx="8291040" cy="380000"/>
          </a:xfrm>
          <a:prstGeom prst="roundRect">
            <a:avLst>
              <a:gd name="adj" fmla="val 8000"/>
            </a:avLst>
          </a:prstGeom>
          <a:solidFill>
            <a:srgbClr val="F1EFE8"/>
          </a:solidFill>
          <a:ln w="6350">
            <a:solidFill>
              <a:srgbClr val="B4B2A9"/>
            </a:solidFill>
          </a:ln>
        </p:spPr>
        <p:txBody>
          <a:bodyPr wrap="square" lIns="140000" anchor="ctr"/>
          <a:lstStyle/>
          <a:p>
            <a:pPr marL="0" indent="0">
              <a:buNone/>
            </a:pPr>
            <a:r>
              <a:rPr lang="en-US" sz="950" b="1" dirty="0">
                <a:solidFill>
                  <a:srgbClr val="2C2C2A"/>
                </a:solidFill>
                <a:latin typeface="Arial" pitchFamily="34" charset="0"/>
              </a:rPr>
              <a:t>Salesforce org connectivity:  </a:t>
            </a:r>
            <a:r>
              <a:rPr lang="en-US" sz="850" dirty="0">
                <a:solidFill>
                  <a:srgbClr val="5F5E5A"/>
                </a:solidFill>
                <a:latin typeface="Arial" pitchFamily="34" charset="0"/>
              </a:rPr>
              <a:t>Hosted MCP gateway → jsforce fallback — live metadata for grounding</a:t>
            </a:r>
          </a:p>
        </p:txBody>
      </p:sp>
      <p:sp>
        <p:nvSpPr>
          <p:cNvPr id="25" name="DeployFooter"/>
          <p:cNvSpPr/>
          <p:nvPr/>
        </p:nvSpPr>
        <p:spPr>
          <a:xfrm>
            <a:off x="411480" y="4260000"/>
            <a:ext cx="8291040" cy="220000"/>
          </a:xfrm>
          <a:prstGeom prst="rect">
            <a:avLst/>
          </a:prstGeom>
          <a:noFill/>
          <a:ln/>
        </p:spPr>
        <p:txBody>
          <a:bodyPr wrap="square" lIns="140000" anchor="ctr"/>
          <a:lstStyle/>
          <a:p>
            <a:pPr marL="0" indent="0" algn="ctr">
              <a:buNone/>
            </a:pPr>
            <a:r>
              <a:rPr lang="en-US" sz="800" i="1" dirty="0">
                <a:solidFill>
                  <a:srgbClr val="888780"/>
                </a:solidFill>
                <a:latin typeface="Arial" pitchFamily="34" charset="0"/>
              </a:rPr>
              <a:t>Deployed on Vercel — arboard.vercel.app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2651</Words>
  <Application>Microsoft Office PowerPoint</Application>
  <PresentationFormat>On-screen Show (16:9)</PresentationFormat>
  <Paragraphs>453</Paragraphs>
  <Slides>20</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2</cp:revision>
  <dcterms:created xsi:type="dcterms:W3CDTF">2026-06-27T03:16:30Z</dcterms:created>
  <dcterms:modified xsi:type="dcterms:W3CDTF">2026-07-01T02:35:42Z</dcterms:modified>
</cp:coreProperties>
</file>