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74" r:id="rId7"/>
    <p:sldId id="262" r:id="rId8"/>
    <p:sldId id="263" r:id="rId9"/>
    <p:sldId id="261" r:id="rId10"/>
    <p:sldId id="264" r:id="rId11"/>
    <p:sldId id="265" r:id="rId12"/>
    <p:sldId id="266" r:id="rId13"/>
    <p:sldId id="267" r:id="rId14"/>
    <p:sldId id="268" r:id="rId15"/>
    <p:sldId id="269" r:id="rId16"/>
    <p:sldId id="270" r:id="rId17"/>
    <p:sldId id="271" r:id="rId18"/>
    <p:sldId id="272" r:id="rId19"/>
    <p:sldId id="273" r:id="rId20"/>
    <p:sldId id="275" r:id="rId2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10"/>
  </p:normalViewPr>
  <p:slideViewPr>
    <p:cSldViewPr snapToGrid="0" snapToObjects="1">
      <p:cViewPr varScale="1">
        <p:scale>
          <a:sx n="84" d="100"/>
          <a:sy n="84" d="100"/>
        </p:scale>
        <p:origin x="80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927334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1E3C"/>
        </a:solidFill>
        <a:effectLst/>
      </p:bgPr>
    </p:bg>
    <p:spTree>
      <p:nvGrpSpPr>
        <p:cNvPr id="1" name=""/>
        <p:cNvGrpSpPr/>
        <p:nvPr/>
      </p:nvGrpSpPr>
      <p:grpSpPr>
        <a:xfrm>
          <a:off x="0" y="0"/>
          <a:ext cx="0" cy="0"/>
          <a:chOff x="0" y="0"/>
          <a:chExt cx="0" cy="0"/>
        </a:xfrm>
      </p:grpSpPr>
      <p:sp>
        <p:nvSpPr>
          <p:cNvPr id="2" name="Text 0"/>
          <p:cNvSpPr/>
          <p:nvPr/>
        </p:nvSpPr>
        <p:spPr>
          <a:xfrm>
            <a:off x="502920" y="1005840"/>
            <a:ext cx="8229600" cy="1005840"/>
          </a:xfrm>
          <a:prstGeom prst="rect">
            <a:avLst/>
          </a:prstGeom>
          <a:noFill/>
          <a:ln/>
        </p:spPr>
        <p:txBody>
          <a:bodyPr wrap="square" rtlCol="0" anchor="ctr"/>
          <a:lstStyle/>
          <a:p>
            <a:pPr marL="0" indent="0">
              <a:buNone/>
            </a:pPr>
            <a:r>
              <a:rPr lang="en-US" sz="5600" b="1" dirty="0">
                <a:solidFill>
                  <a:srgbClr val="FFFFFF"/>
                </a:solidFill>
                <a:latin typeface="Arial" pitchFamily="34" charset="0"/>
                <a:ea typeface="Arial" pitchFamily="34" charset="-122"/>
                <a:cs typeface="Arial" pitchFamily="34" charset="-120"/>
              </a:rPr>
              <a:t>ARBoard</a:t>
            </a:r>
            <a:endParaRPr lang="en-US" sz="5600" dirty="0"/>
          </a:p>
        </p:txBody>
      </p:sp>
      <p:sp>
        <p:nvSpPr>
          <p:cNvPr id="3" name="Text 1"/>
          <p:cNvSpPr/>
          <p:nvPr/>
        </p:nvSpPr>
        <p:spPr>
          <a:xfrm>
            <a:off x="502920" y="1965960"/>
            <a:ext cx="7315200" cy="457200"/>
          </a:xfrm>
          <a:prstGeom prst="rect">
            <a:avLst/>
          </a:prstGeom>
          <a:noFill/>
          <a:ln/>
        </p:spPr>
        <p:txBody>
          <a:bodyPr wrap="square" rtlCol="0" anchor="ctr"/>
          <a:lstStyle/>
          <a:p>
            <a:pPr marL="0" indent="0">
              <a:buNone/>
            </a:pPr>
            <a:r>
              <a:rPr lang="en-US" sz="1800" dirty="0">
                <a:solidFill>
                  <a:srgbClr val="A0B8D8"/>
                </a:solidFill>
                <a:latin typeface="Arial" pitchFamily="34" charset="0"/>
                <a:ea typeface="Arial" pitchFamily="34" charset="-122"/>
                <a:cs typeface="Arial" pitchFamily="34" charset="-120"/>
              </a:rPr>
              <a:t>AI-Powered Salesforce Architecture Review Board</a:t>
            </a:r>
            <a:endParaRPr lang="en-US" sz="1800" dirty="0"/>
          </a:p>
        </p:txBody>
      </p:sp>
      <p:sp>
        <p:nvSpPr>
          <p:cNvPr id="4" name="Shape 2"/>
          <p:cNvSpPr/>
          <p:nvPr/>
        </p:nvSpPr>
        <p:spPr>
          <a:xfrm>
            <a:off x="502920" y="1920240"/>
            <a:ext cx="3200400" cy="0"/>
          </a:xfrm>
          <a:prstGeom prst="line">
            <a:avLst/>
          </a:prstGeom>
          <a:noFill/>
          <a:ln w="25400">
            <a:solidFill>
              <a:srgbClr val="2E6DA4"/>
            </a:solidFill>
            <a:prstDash val="solid"/>
          </a:ln>
        </p:spPr>
        <p:txBody>
          <a:bodyPr/>
          <a:lstStyle/>
          <a:p>
            <a:endParaRPr lang="en-US"/>
          </a:p>
        </p:txBody>
      </p:sp>
      <p:sp>
        <p:nvSpPr>
          <p:cNvPr id="5" name="Text 3"/>
          <p:cNvSpPr/>
          <p:nvPr/>
        </p:nvSpPr>
        <p:spPr>
          <a:xfrm>
            <a:off x="502920" y="2743200"/>
            <a:ext cx="8138160" cy="320040"/>
          </a:xfrm>
          <a:prstGeom prst="rect">
            <a:avLst/>
          </a:prstGeom>
          <a:noFill/>
          <a:ln/>
        </p:spPr>
        <p:txBody>
          <a:bodyPr wrap="square" rtlCol="0" anchor="ctr"/>
          <a:lstStyle/>
          <a:p>
            <a:pPr marL="0" indent="0">
              <a:buNone/>
            </a:pPr>
            <a:r>
              <a:rPr lang="en-US" sz="1100" i="1" dirty="0">
                <a:solidFill>
                  <a:srgbClr val="6A84A8"/>
                </a:solidFill>
                <a:latin typeface="Arial" pitchFamily="34" charset="0"/>
                <a:ea typeface="Arial" pitchFamily="34" charset="-122"/>
                <a:cs typeface="Arial" pitchFamily="34" charset="-120"/>
              </a:rPr>
              <a:t>9 specialist agents · Multi-phase debate · ADR output · Jira integration · Cross-session memory</a:t>
            </a:r>
            <a:endParaRPr lang="en-US" sz="1100" dirty="0"/>
          </a:p>
        </p:txBody>
      </p:sp>
      <p:sp>
        <p:nvSpPr>
          <p:cNvPr id="6" name="Text 4"/>
          <p:cNvSpPr/>
          <p:nvPr/>
        </p:nvSpPr>
        <p:spPr>
          <a:xfrm>
            <a:off x="502920" y="4480560"/>
            <a:ext cx="8138160" cy="274320"/>
          </a:xfrm>
          <a:prstGeom prst="rect">
            <a:avLst/>
          </a:prstGeom>
          <a:noFill/>
          <a:ln/>
        </p:spPr>
        <p:txBody>
          <a:bodyPr wrap="square" rtlCol="0" anchor="ctr"/>
          <a:lstStyle/>
          <a:p>
            <a:pPr marL="0" indent="0">
              <a:buNone/>
            </a:pPr>
            <a:r>
              <a:rPr lang="en-US" sz="1000" dirty="0">
                <a:solidFill>
                  <a:srgbClr val="445566"/>
                </a:solidFill>
                <a:latin typeface="Arial" pitchFamily="34" charset="0"/>
                <a:ea typeface="Arial" pitchFamily="34" charset="-122"/>
                <a:cs typeface="Arial" pitchFamily="34" charset="-120"/>
              </a:rPr>
              <a:t>Built with Claude API · Next.js 14 · Supabase · Vercel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THE PROBLEM</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Architecture reviews are slow, inconsistent, and often too late</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502920" y="1677320"/>
            <a:ext cx="2011680" cy="282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502920" y="181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7" name="Text 5"/>
          <p:cNvSpPr/>
          <p:nvPr/>
        </p:nvSpPr>
        <p:spPr>
          <a:xfrm>
            <a:off x="502920" y="227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Too slow</a:t>
            </a:r>
            <a:endParaRPr lang="en-US" sz="1300" dirty="0"/>
          </a:p>
        </p:txBody>
      </p:sp>
      <p:sp>
        <p:nvSpPr>
          <p:cNvPr id="8" name="Text 6"/>
          <p:cNvSpPr/>
          <p:nvPr/>
        </p:nvSpPr>
        <p:spPr>
          <a:xfrm>
            <a:off x="502920" y="259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ARB meetings take weeks to schedule. Design decisions cannot wait.</a:t>
            </a:r>
            <a:endParaRPr lang="en-US" sz="1050" dirty="0"/>
          </a:p>
        </p:txBody>
      </p:sp>
      <p:sp>
        <p:nvSpPr>
          <p:cNvPr id="9" name="Shape 7"/>
          <p:cNvSpPr/>
          <p:nvPr/>
        </p:nvSpPr>
        <p:spPr>
          <a:xfrm>
            <a:off x="2679192" y="1677320"/>
            <a:ext cx="2011680" cy="282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0" name="Text 8"/>
          <p:cNvSpPr/>
          <p:nvPr/>
        </p:nvSpPr>
        <p:spPr>
          <a:xfrm>
            <a:off x="2679192" y="181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1" name="Text 9"/>
          <p:cNvSpPr/>
          <p:nvPr/>
        </p:nvSpPr>
        <p:spPr>
          <a:xfrm>
            <a:off x="2679192" y="227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Inconsistent</a:t>
            </a:r>
            <a:endParaRPr lang="en-US" sz="1300" dirty="0"/>
          </a:p>
        </p:txBody>
      </p:sp>
      <p:sp>
        <p:nvSpPr>
          <p:cNvPr id="12" name="Text 10"/>
          <p:cNvSpPr/>
          <p:nvPr/>
        </p:nvSpPr>
        <p:spPr>
          <a:xfrm>
            <a:off x="2679192" y="259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Quality depends on who is in the room. Same pattern, different outcome.</a:t>
            </a:r>
            <a:endParaRPr lang="en-US" sz="1050" dirty="0"/>
          </a:p>
        </p:txBody>
      </p:sp>
      <p:sp>
        <p:nvSpPr>
          <p:cNvPr id="13" name="Shape 11"/>
          <p:cNvSpPr/>
          <p:nvPr/>
        </p:nvSpPr>
        <p:spPr>
          <a:xfrm>
            <a:off x="4855464" y="1677320"/>
            <a:ext cx="2011680" cy="282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4" name="Text 12"/>
          <p:cNvSpPr/>
          <p:nvPr/>
        </p:nvSpPr>
        <p:spPr>
          <a:xfrm>
            <a:off x="4855464" y="181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5" name="Text 13"/>
          <p:cNvSpPr/>
          <p:nvPr/>
        </p:nvSpPr>
        <p:spPr>
          <a:xfrm>
            <a:off x="4855464" y="227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Too late</a:t>
            </a:r>
            <a:endParaRPr lang="en-US" sz="1300" dirty="0"/>
          </a:p>
        </p:txBody>
      </p:sp>
      <p:sp>
        <p:nvSpPr>
          <p:cNvPr id="16" name="Text 14"/>
          <p:cNvSpPr/>
          <p:nvPr/>
        </p:nvSpPr>
        <p:spPr>
          <a:xfrm>
            <a:off x="4855464" y="259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Review happens after build starts. Rework is expensive.</a:t>
            </a:r>
            <a:endParaRPr lang="en-US" sz="1050" dirty="0"/>
          </a:p>
        </p:txBody>
      </p:sp>
      <p:sp>
        <p:nvSpPr>
          <p:cNvPr id="17" name="Shape 15"/>
          <p:cNvSpPr/>
          <p:nvPr/>
        </p:nvSpPr>
        <p:spPr>
          <a:xfrm>
            <a:off x="7031736" y="1677320"/>
            <a:ext cx="2011680" cy="2820320"/>
          </a:xfrm>
          <a:prstGeom prst="roundRect">
            <a:avLst>
              <a:gd name="adj" fmla="val 363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7031736" y="1814480"/>
            <a:ext cx="2011680" cy="457200"/>
          </a:xfrm>
          <a:prstGeom prst="rect">
            <a:avLst/>
          </a:prstGeom>
          <a:noFill/>
          <a:ln/>
        </p:spPr>
        <p:txBody>
          <a:bodyPr wrap="square" rtlCol="0" anchor="ctr"/>
          <a:lstStyle/>
          <a:p>
            <a:pPr marL="0" indent="0" algn="ctr">
              <a:buNone/>
            </a:pPr>
            <a:r>
              <a:rPr lang="en-US" sz="2200" dirty="0">
                <a:solidFill>
                  <a:srgbClr val="000000"/>
                </a:solidFill>
                <a:latin typeface="Arial" pitchFamily="34" charset="0"/>
                <a:ea typeface="Arial" pitchFamily="34" charset="-122"/>
                <a:cs typeface="Arial" pitchFamily="34" charset="-120"/>
              </a:rPr>
              <a:t>📄</a:t>
            </a:r>
            <a:endParaRPr lang="en-US" sz="2200" dirty="0"/>
          </a:p>
        </p:txBody>
      </p:sp>
      <p:sp>
        <p:nvSpPr>
          <p:cNvPr id="19" name="Text 17"/>
          <p:cNvSpPr/>
          <p:nvPr/>
        </p:nvSpPr>
        <p:spPr>
          <a:xfrm>
            <a:off x="7031736" y="2271680"/>
            <a:ext cx="201168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No memory</a:t>
            </a:r>
            <a:endParaRPr lang="en-US" sz="1300" dirty="0"/>
          </a:p>
        </p:txBody>
      </p:sp>
      <p:sp>
        <p:nvSpPr>
          <p:cNvPr id="20" name="Text 18"/>
          <p:cNvSpPr/>
          <p:nvPr/>
        </p:nvSpPr>
        <p:spPr>
          <a:xfrm>
            <a:off x="7031736" y="2591720"/>
            <a:ext cx="2011680" cy="822960"/>
          </a:xfrm>
          <a:prstGeom prst="rect">
            <a:avLst/>
          </a:prstGeom>
          <a:noFill/>
          <a:ln/>
        </p:spPr>
        <p:txBody>
          <a:bodyPr wrap="square" rtlCol="0" anchor="t"/>
          <a:lstStyle/>
          <a:p>
            <a:pPr marL="0" indent="0" algn="ctr">
              <a:buNone/>
            </a:pPr>
            <a:r>
              <a:rPr lang="en-US" sz="1050" dirty="0">
                <a:solidFill>
                  <a:srgbClr val="64635E"/>
                </a:solidFill>
                <a:latin typeface="Arial" pitchFamily="34" charset="0"/>
                <a:ea typeface="Arial" pitchFamily="34" charset="-122"/>
                <a:cs typeface="Arial" pitchFamily="34" charset="-120"/>
              </a:rPr>
              <a:t>Each review starts from scratch. Past decisions are not enforced.</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THE SOLUTION</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ARBoard runs a full architecture review in minutes, not weeks</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365760" y="1631600"/>
            <a:ext cx="1965960" cy="2911760"/>
          </a:xfrm>
          <a:prstGeom prst="roundRect">
            <a:avLst>
              <a:gd name="adj" fmla="val 3721"/>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Shape 4"/>
          <p:cNvSpPr/>
          <p:nvPr/>
        </p:nvSpPr>
        <p:spPr>
          <a:xfrm>
            <a:off x="1097280" y="174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7" name="Text 5"/>
          <p:cNvSpPr/>
          <p:nvPr/>
        </p:nvSpPr>
        <p:spPr>
          <a:xfrm>
            <a:off x="1097280" y="174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1</a:t>
            </a:r>
            <a:endParaRPr lang="en-US" sz="1400" dirty="0"/>
          </a:p>
        </p:txBody>
      </p:sp>
      <p:sp>
        <p:nvSpPr>
          <p:cNvPr id="8" name="Text 6"/>
          <p:cNvSpPr/>
          <p:nvPr/>
        </p:nvSpPr>
        <p:spPr>
          <a:xfrm>
            <a:off x="365760" y="231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Input</a:t>
            </a:r>
            <a:endParaRPr lang="en-US" sz="1300" dirty="0"/>
          </a:p>
        </p:txBody>
      </p:sp>
      <p:sp>
        <p:nvSpPr>
          <p:cNvPr id="9" name="Text 7"/>
          <p:cNvSpPr/>
          <p:nvPr/>
        </p:nvSpPr>
        <p:spPr>
          <a:xfrm>
            <a:off x="365760" y="263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Requirement text or</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Solution Design doc</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(PDF / Word upload)</a:t>
            </a:r>
            <a:endParaRPr lang="en-US" sz="1000" dirty="0"/>
          </a:p>
        </p:txBody>
      </p:sp>
      <p:sp>
        <p:nvSpPr>
          <p:cNvPr id="10" name="Shape 8"/>
          <p:cNvSpPr/>
          <p:nvPr/>
        </p:nvSpPr>
        <p:spPr>
          <a:xfrm>
            <a:off x="2331720" y="2070512"/>
            <a:ext cx="182880" cy="0"/>
          </a:xfrm>
          <a:prstGeom prst="line">
            <a:avLst/>
          </a:prstGeom>
          <a:noFill/>
          <a:ln w="19050">
            <a:solidFill>
              <a:srgbClr val="2E6DA4"/>
            </a:solidFill>
            <a:prstDash val="solid"/>
          </a:ln>
        </p:spPr>
        <p:txBody>
          <a:bodyPr/>
          <a:lstStyle/>
          <a:p>
            <a:endParaRPr lang="en-US"/>
          </a:p>
        </p:txBody>
      </p:sp>
      <p:sp>
        <p:nvSpPr>
          <p:cNvPr id="11" name="Text 9"/>
          <p:cNvSpPr/>
          <p:nvPr/>
        </p:nvSpPr>
        <p:spPr>
          <a:xfrm>
            <a:off x="2359152" y="1960784"/>
            <a:ext cx="182880" cy="228600"/>
          </a:xfrm>
          <a:prstGeom prst="rect">
            <a:avLst/>
          </a:prstGeom>
          <a:noFill/>
          <a:ln/>
        </p:spPr>
        <p:txBody>
          <a:bodyPr wrap="square" rtlCol="0" anchor="ctr"/>
          <a:lstStyle/>
          <a:p>
            <a:pPr marL="0" indent="0" algn="ctr">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12" name="Shape 10"/>
          <p:cNvSpPr/>
          <p:nvPr/>
        </p:nvSpPr>
        <p:spPr>
          <a:xfrm>
            <a:off x="2514600" y="1631600"/>
            <a:ext cx="1965960" cy="2911760"/>
          </a:xfrm>
          <a:prstGeom prst="roundRect">
            <a:avLst>
              <a:gd name="adj" fmla="val 3721"/>
            </a:avLst>
          </a:prstGeom>
          <a:solidFill>
            <a:srgbClr val="EBF2FA"/>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3" name="Shape 11"/>
          <p:cNvSpPr/>
          <p:nvPr/>
        </p:nvSpPr>
        <p:spPr>
          <a:xfrm>
            <a:off x="3246120" y="174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14" name="Text 12"/>
          <p:cNvSpPr/>
          <p:nvPr/>
        </p:nvSpPr>
        <p:spPr>
          <a:xfrm>
            <a:off x="3246120" y="174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2</a:t>
            </a:r>
            <a:endParaRPr lang="en-US" sz="1400" dirty="0"/>
          </a:p>
        </p:txBody>
      </p:sp>
      <p:sp>
        <p:nvSpPr>
          <p:cNvPr id="15" name="Text 13"/>
          <p:cNvSpPr/>
          <p:nvPr/>
        </p:nvSpPr>
        <p:spPr>
          <a:xfrm>
            <a:off x="2514600" y="231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Debate</a:t>
            </a:r>
            <a:endParaRPr lang="en-US" sz="1300" dirty="0"/>
          </a:p>
        </p:txBody>
      </p:sp>
      <p:sp>
        <p:nvSpPr>
          <p:cNvPr id="16" name="Text 14"/>
          <p:cNvSpPr/>
          <p:nvPr/>
        </p:nvSpPr>
        <p:spPr>
          <a:xfrm>
            <a:off x="2514600" y="263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9 specialist agents run</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in sequence, each critiquing</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from their domain</a:t>
            </a:r>
            <a:endParaRPr lang="en-US" sz="1000" dirty="0"/>
          </a:p>
        </p:txBody>
      </p:sp>
      <p:sp>
        <p:nvSpPr>
          <p:cNvPr id="17" name="Shape 15"/>
          <p:cNvSpPr/>
          <p:nvPr/>
        </p:nvSpPr>
        <p:spPr>
          <a:xfrm>
            <a:off x="4480560" y="2070512"/>
            <a:ext cx="182880" cy="0"/>
          </a:xfrm>
          <a:prstGeom prst="line">
            <a:avLst/>
          </a:prstGeom>
          <a:noFill/>
          <a:ln w="19050">
            <a:solidFill>
              <a:srgbClr val="2E6DA4"/>
            </a:solidFill>
            <a:prstDash val="solid"/>
          </a:ln>
        </p:spPr>
        <p:txBody>
          <a:bodyPr/>
          <a:lstStyle/>
          <a:p>
            <a:endParaRPr lang="en-US"/>
          </a:p>
        </p:txBody>
      </p:sp>
      <p:sp>
        <p:nvSpPr>
          <p:cNvPr id="18" name="Text 16"/>
          <p:cNvSpPr/>
          <p:nvPr/>
        </p:nvSpPr>
        <p:spPr>
          <a:xfrm>
            <a:off x="4507992" y="1960784"/>
            <a:ext cx="182880" cy="228600"/>
          </a:xfrm>
          <a:prstGeom prst="rect">
            <a:avLst/>
          </a:prstGeom>
          <a:noFill/>
          <a:ln/>
        </p:spPr>
        <p:txBody>
          <a:bodyPr wrap="square" rtlCol="0" anchor="ctr"/>
          <a:lstStyle/>
          <a:p>
            <a:pPr marL="0" indent="0" algn="ctr">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19" name="Shape 17"/>
          <p:cNvSpPr/>
          <p:nvPr/>
        </p:nvSpPr>
        <p:spPr>
          <a:xfrm>
            <a:off x="4663440" y="1631600"/>
            <a:ext cx="1965960" cy="2911760"/>
          </a:xfrm>
          <a:prstGeom prst="roundRect">
            <a:avLst>
              <a:gd name="adj" fmla="val 3721"/>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0" name="Shape 18"/>
          <p:cNvSpPr/>
          <p:nvPr/>
        </p:nvSpPr>
        <p:spPr>
          <a:xfrm>
            <a:off x="5394960" y="174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21" name="Text 19"/>
          <p:cNvSpPr/>
          <p:nvPr/>
        </p:nvSpPr>
        <p:spPr>
          <a:xfrm>
            <a:off x="5394960" y="174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3</a:t>
            </a:r>
            <a:endParaRPr lang="en-US" sz="1400" dirty="0"/>
          </a:p>
        </p:txBody>
      </p:sp>
      <p:sp>
        <p:nvSpPr>
          <p:cNvPr id="22" name="Text 20"/>
          <p:cNvSpPr/>
          <p:nvPr/>
        </p:nvSpPr>
        <p:spPr>
          <a:xfrm>
            <a:off x="4663440" y="231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Judge</a:t>
            </a:r>
            <a:endParaRPr lang="en-US" sz="1300" dirty="0"/>
          </a:p>
        </p:txBody>
      </p:sp>
      <p:sp>
        <p:nvSpPr>
          <p:cNvPr id="23" name="Text 21"/>
          <p:cNvSpPr/>
          <p:nvPr/>
        </p:nvSpPr>
        <p:spPr>
          <a:xfrm>
            <a:off x="4663440" y="263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Judge agent arbitrates</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conflicts, assigns</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confidence score</a:t>
            </a:r>
            <a:endParaRPr lang="en-US" sz="1000" dirty="0"/>
          </a:p>
        </p:txBody>
      </p:sp>
      <p:sp>
        <p:nvSpPr>
          <p:cNvPr id="24" name="Shape 22"/>
          <p:cNvSpPr/>
          <p:nvPr/>
        </p:nvSpPr>
        <p:spPr>
          <a:xfrm>
            <a:off x="6629400" y="2070512"/>
            <a:ext cx="182880" cy="0"/>
          </a:xfrm>
          <a:prstGeom prst="line">
            <a:avLst/>
          </a:prstGeom>
          <a:noFill/>
          <a:ln w="19050">
            <a:solidFill>
              <a:srgbClr val="2E6DA4"/>
            </a:solidFill>
            <a:prstDash val="solid"/>
          </a:ln>
        </p:spPr>
        <p:txBody>
          <a:bodyPr/>
          <a:lstStyle/>
          <a:p>
            <a:endParaRPr lang="en-US"/>
          </a:p>
        </p:txBody>
      </p:sp>
      <p:sp>
        <p:nvSpPr>
          <p:cNvPr id="25" name="Text 23"/>
          <p:cNvSpPr/>
          <p:nvPr/>
        </p:nvSpPr>
        <p:spPr>
          <a:xfrm>
            <a:off x="6656832" y="1960784"/>
            <a:ext cx="182880" cy="228600"/>
          </a:xfrm>
          <a:prstGeom prst="rect">
            <a:avLst/>
          </a:prstGeom>
          <a:noFill/>
          <a:ln/>
        </p:spPr>
        <p:txBody>
          <a:bodyPr wrap="square" rtlCol="0" anchor="ctr"/>
          <a:lstStyle/>
          <a:p>
            <a:pPr marL="0" indent="0" algn="ctr">
              <a:buNone/>
            </a:pPr>
            <a:r>
              <a:rPr lang="en-US" sz="1400" b="1" dirty="0">
                <a:solidFill>
                  <a:srgbClr val="2E6DA4"/>
                </a:solidFill>
                <a:latin typeface="Arial" pitchFamily="34" charset="0"/>
                <a:ea typeface="Arial" pitchFamily="34" charset="-122"/>
                <a:cs typeface="Arial" pitchFamily="34" charset="-120"/>
              </a:rPr>
              <a:t>›</a:t>
            </a:r>
            <a:endParaRPr lang="en-US" sz="1400" dirty="0"/>
          </a:p>
        </p:txBody>
      </p:sp>
      <p:sp>
        <p:nvSpPr>
          <p:cNvPr id="26" name="Shape 24"/>
          <p:cNvSpPr/>
          <p:nvPr/>
        </p:nvSpPr>
        <p:spPr>
          <a:xfrm>
            <a:off x="6812280" y="1631600"/>
            <a:ext cx="1965960" cy="2911760"/>
          </a:xfrm>
          <a:prstGeom prst="roundRect">
            <a:avLst>
              <a:gd name="adj" fmla="val 3721"/>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7" name="Shape 25"/>
          <p:cNvSpPr/>
          <p:nvPr/>
        </p:nvSpPr>
        <p:spPr>
          <a:xfrm>
            <a:off x="7543800" y="1741328"/>
            <a:ext cx="502920" cy="502920"/>
          </a:xfrm>
          <a:prstGeom prst="ellipse">
            <a:avLst/>
          </a:prstGeom>
          <a:solidFill>
            <a:srgbClr val="1B4F9B"/>
          </a:solidFill>
          <a:ln w="12700">
            <a:solidFill>
              <a:srgbClr val="1B4F9B"/>
            </a:solidFill>
            <a:prstDash val="solid"/>
          </a:ln>
        </p:spPr>
        <p:txBody>
          <a:bodyPr/>
          <a:lstStyle/>
          <a:p>
            <a:endParaRPr lang="en-US"/>
          </a:p>
        </p:txBody>
      </p:sp>
      <p:sp>
        <p:nvSpPr>
          <p:cNvPr id="28" name="Text 26"/>
          <p:cNvSpPr/>
          <p:nvPr/>
        </p:nvSpPr>
        <p:spPr>
          <a:xfrm>
            <a:off x="7543800" y="1741328"/>
            <a:ext cx="502920" cy="502920"/>
          </a:xfrm>
          <a:prstGeom prst="rect">
            <a:avLst/>
          </a:prstGeom>
          <a:noFill/>
          <a:ln/>
        </p:spPr>
        <p:txBody>
          <a:bodyPr wrap="square" lIns="0" tIns="0" rIns="0" bIns="0" rtlCol="0" anchor="ctr"/>
          <a:lstStyle/>
          <a:p>
            <a:pPr marL="0" indent="0" algn="ctr">
              <a:buNone/>
            </a:pPr>
            <a:r>
              <a:rPr lang="en-US" sz="1400" b="1" dirty="0">
                <a:solidFill>
                  <a:srgbClr val="FFFFFF"/>
                </a:solidFill>
                <a:latin typeface="Arial" pitchFamily="34" charset="0"/>
                <a:ea typeface="Arial" pitchFamily="34" charset="-122"/>
                <a:cs typeface="Arial" pitchFamily="34" charset="-120"/>
              </a:rPr>
              <a:t>4</a:t>
            </a:r>
            <a:endParaRPr lang="en-US" sz="1400" dirty="0"/>
          </a:p>
        </p:txBody>
      </p:sp>
      <p:sp>
        <p:nvSpPr>
          <p:cNvPr id="29" name="Text 27"/>
          <p:cNvSpPr/>
          <p:nvPr/>
        </p:nvSpPr>
        <p:spPr>
          <a:xfrm>
            <a:off x="6812280" y="2317400"/>
            <a:ext cx="1965960" cy="320040"/>
          </a:xfrm>
          <a:prstGeom prst="rect">
            <a:avLst/>
          </a:prstGeom>
          <a:noFill/>
          <a:ln/>
        </p:spPr>
        <p:txBody>
          <a:bodyPr wrap="square" rtlCol="0" anchor="ctr"/>
          <a:lstStyle/>
          <a:p>
            <a:pPr marL="0" indent="0" algn="ctr">
              <a:buNone/>
            </a:pPr>
            <a:r>
              <a:rPr lang="en-US" sz="1300" b="1" dirty="0">
                <a:solidFill>
                  <a:srgbClr val="0F1E3C"/>
                </a:solidFill>
                <a:latin typeface="Arial" pitchFamily="34" charset="0"/>
                <a:ea typeface="Arial" pitchFamily="34" charset="-122"/>
                <a:cs typeface="Arial" pitchFamily="34" charset="-120"/>
              </a:rPr>
              <a:t>Endorse</a:t>
            </a:r>
            <a:endParaRPr lang="en-US" sz="1300" dirty="0"/>
          </a:p>
        </p:txBody>
      </p:sp>
      <p:sp>
        <p:nvSpPr>
          <p:cNvPr id="30" name="Text 28"/>
          <p:cNvSpPr/>
          <p:nvPr/>
        </p:nvSpPr>
        <p:spPr>
          <a:xfrm>
            <a:off x="6812280" y="2637440"/>
            <a:ext cx="1965960" cy="777240"/>
          </a:xfrm>
          <a:prstGeom prst="rect">
            <a:avLst/>
          </a:prstGeom>
          <a:noFill/>
          <a:ln/>
        </p:spPr>
        <p:txBody>
          <a:bodyPr wrap="square" rtlCol="0" anchor="t"/>
          <a:lstStyle/>
          <a:p>
            <a:pPr marL="0" indent="0" algn="ctr">
              <a:buNone/>
            </a:pPr>
            <a:r>
              <a:rPr lang="en-US" sz="1000" dirty="0">
                <a:solidFill>
                  <a:srgbClr val="64635E"/>
                </a:solidFill>
                <a:latin typeface="Arial" pitchFamily="34" charset="0"/>
                <a:ea typeface="Arial" pitchFamily="34" charset="-122"/>
                <a:cs typeface="Arial" pitchFamily="34" charset="-120"/>
              </a:rPr>
              <a:t>Admin countersigns</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or assigns to architect</a:t>
            </a:r>
            <a:endParaRPr lang="en-US" sz="1000" dirty="0"/>
          </a:p>
          <a:p>
            <a:pPr marL="0" indent="0" algn="ctr">
              <a:buNone/>
            </a:pPr>
            <a:r>
              <a:rPr lang="en-US" sz="1000" dirty="0">
                <a:solidFill>
                  <a:srgbClr val="64635E"/>
                </a:solidFill>
                <a:latin typeface="Arial" pitchFamily="34" charset="0"/>
                <a:ea typeface="Arial" pitchFamily="34" charset="-122"/>
                <a:cs typeface="Arial" pitchFamily="34" charset="-120"/>
              </a:rPr>
              <a:t>via Jira</a:t>
            </a:r>
            <a:endParaRPr lang="en-US" sz="1000" dirty="0"/>
          </a:p>
        </p:txBody>
      </p:sp>
      <p:sp>
        <p:nvSpPr>
          <p:cNvPr id="31" name="Text 29"/>
          <p:cNvSpPr/>
          <p:nvPr/>
        </p:nvSpPr>
        <p:spPr>
          <a:xfrm>
            <a:off x="502920" y="4466240"/>
            <a:ext cx="8138160" cy="274320"/>
          </a:xfrm>
          <a:prstGeom prst="rect">
            <a:avLst/>
          </a:prstGeom>
          <a:noFill/>
          <a:ln/>
        </p:spPr>
        <p:txBody>
          <a:bodyPr wrap="square" rtlCol="0" anchor="ctr"/>
          <a:lstStyle/>
          <a:p>
            <a:pPr marL="0" indent="0">
              <a:buNone/>
            </a:pPr>
            <a:r>
              <a:rPr lang="en-US" sz="1000" b="1" i="1" dirty="0">
                <a:solidFill>
                  <a:srgbClr val="0F6E56"/>
                </a:solidFill>
                <a:latin typeface="Arial" pitchFamily="34" charset="0"/>
                <a:ea typeface="Arial" pitchFamily="34" charset="-122"/>
                <a:cs typeface="Arial" pitchFamily="34" charset="-120"/>
              </a:rPr>
              <a:t>Three modes: Document Review · Greenfield Design · Debate My Approach</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MULTI-AGENT ARCHITECTURE</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Each agent brings genuine domain expertise — and they disagree</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365760" y="163160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365760" y="174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Designer</a:t>
            </a:r>
            <a:endParaRPr lang="en-US" sz="1200" dirty="0"/>
          </a:p>
        </p:txBody>
      </p:sp>
      <p:sp>
        <p:nvSpPr>
          <p:cNvPr id="7" name="Text 5"/>
          <p:cNvSpPr/>
          <p:nvPr/>
        </p:nvSpPr>
        <p:spPr>
          <a:xfrm>
            <a:off x="365760" y="208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Overall architecture</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and patterns</a:t>
            </a:r>
            <a:endParaRPr lang="en-US" sz="900" dirty="0"/>
          </a:p>
        </p:txBody>
      </p:sp>
      <p:sp>
        <p:nvSpPr>
          <p:cNvPr id="8" name="Shape 6"/>
          <p:cNvSpPr/>
          <p:nvPr/>
        </p:nvSpPr>
        <p:spPr>
          <a:xfrm>
            <a:off x="2057400" y="163160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9" name="Text 7"/>
          <p:cNvSpPr/>
          <p:nvPr/>
        </p:nvSpPr>
        <p:spPr>
          <a:xfrm>
            <a:off x="2057400" y="174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Apex</a:t>
            </a:r>
            <a:endParaRPr lang="en-US" sz="1200" dirty="0"/>
          </a:p>
        </p:txBody>
      </p:sp>
      <p:sp>
        <p:nvSpPr>
          <p:cNvPr id="10" name="Text 8"/>
          <p:cNvSpPr/>
          <p:nvPr/>
        </p:nvSpPr>
        <p:spPr>
          <a:xfrm>
            <a:off x="2057400" y="208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Governor limits,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triggers, async</a:t>
            </a:r>
            <a:endParaRPr lang="en-US" sz="900" dirty="0"/>
          </a:p>
        </p:txBody>
      </p:sp>
      <p:sp>
        <p:nvSpPr>
          <p:cNvPr id="11" name="Shape 9"/>
          <p:cNvSpPr/>
          <p:nvPr/>
        </p:nvSpPr>
        <p:spPr>
          <a:xfrm>
            <a:off x="3749040" y="163160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2" name="Text 10"/>
          <p:cNvSpPr/>
          <p:nvPr/>
        </p:nvSpPr>
        <p:spPr>
          <a:xfrm>
            <a:off x="3749040" y="174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LWC</a:t>
            </a:r>
            <a:endParaRPr lang="en-US" sz="1200" dirty="0"/>
          </a:p>
        </p:txBody>
      </p:sp>
      <p:sp>
        <p:nvSpPr>
          <p:cNvPr id="13" name="Text 11"/>
          <p:cNvSpPr/>
          <p:nvPr/>
        </p:nvSpPr>
        <p:spPr>
          <a:xfrm>
            <a:off x="3749040" y="208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UI components,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portal performance</a:t>
            </a:r>
            <a:endParaRPr lang="en-US" sz="900" dirty="0"/>
          </a:p>
        </p:txBody>
      </p:sp>
      <p:sp>
        <p:nvSpPr>
          <p:cNvPr id="14" name="Shape 12"/>
          <p:cNvSpPr/>
          <p:nvPr/>
        </p:nvSpPr>
        <p:spPr>
          <a:xfrm>
            <a:off x="5440680" y="163160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5" name="Text 13"/>
          <p:cNvSpPr/>
          <p:nvPr/>
        </p:nvSpPr>
        <p:spPr>
          <a:xfrm>
            <a:off x="5440680" y="174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Flow</a:t>
            </a:r>
            <a:endParaRPr lang="en-US" sz="1200" dirty="0"/>
          </a:p>
        </p:txBody>
      </p:sp>
      <p:sp>
        <p:nvSpPr>
          <p:cNvPr id="16" name="Text 14"/>
          <p:cNvSpPr/>
          <p:nvPr/>
        </p:nvSpPr>
        <p:spPr>
          <a:xfrm>
            <a:off x="5440680" y="208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Automation,</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declarative logic</a:t>
            </a:r>
            <a:endParaRPr lang="en-US" sz="900" dirty="0"/>
          </a:p>
        </p:txBody>
      </p:sp>
      <p:sp>
        <p:nvSpPr>
          <p:cNvPr id="17" name="Shape 15"/>
          <p:cNvSpPr/>
          <p:nvPr/>
        </p:nvSpPr>
        <p:spPr>
          <a:xfrm>
            <a:off x="7132320" y="163160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7132320" y="174132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Integration</a:t>
            </a:r>
            <a:endParaRPr lang="en-US" sz="1200" dirty="0"/>
          </a:p>
        </p:txBody>
      </p:sp>
      <p:sp>
        <p:nvSpPr>
          <p:cNvPr id="19" name="Text 17"/>
          <p:cNvSpPr/>
          <p:nvPr/>
        </p:nvSpPr>
        <p:spPr>
          <a:xfrm>
            <a:off x="7132320" y="208880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APIs, events,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middleware</a:t>
            </a:r>
            <a:endParaRPr lang="en-US" sz="900" dirty="0"/>
          </a:p>
        </p:txBody>
      </p:sp>
      <p:sp>
        <p:nvSpPr>
          <p:cNvPr id="20" name="Shape 18"/>
          <p:cNvSpPr/>
          <p:nvPr/>
        </p:nvSpPr>
        <p:spPr>
          <a:xfrm>
            <a:off x="365760" y="304892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1" name="Text 19"/>
          <p:cNvSpPr/>
          <p:nvPr/>
        </p:nvSpPr>
        <p:spPr>
          <a:xfrm>
            <a:off x="365760" y="315864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Data</a:t>
            </a:r>
            <a:endParaRPr lang="en-US" sz="1200" dirty="0"/>
          </a:p>
        </p:txBody>
      </p:sp>
      <p:sp>
        <p:nvSpPr>
          <p:cNvPr id="22" name="Text 20"/>
          <p:cNvSpPr/>
          <p:nvPr/>
        </p:nvSpPr>
        <p:spPr>
          <a:xfrm>
            <a:off x="365760" y="350612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Schema, volume,</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security model</a:t>
            </a:r>
            <a:endParaRPr lang="en-US" sz="900" dirty="0"/>
          </a:p>
        </p:txBody>
      </p:sp>
      <p:sp>
        <p:nvSpPr>
          <p:cNvPr id="23" name="Shape 21"/>
          <p:cNvSpPr/>
          <p:nvPr/>
        </p:nvSpPr>
        <p:spPr>
          <a:xfrm>
            <a:off x="2057400" y="304892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4" name="Text 22"/>
          <p:cNvSpPr/>
          <p:nvPr/>
        </p:nvSpPr>
        <p:spPr>
          <a:xfrm>
            <a:off x="2057400" y="315864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OmniStudio</a:t>
            </a:r>
            <a:endParaRPr lang="en-US" sz="1200" dirty="0"/>
          </a:p>
        </p:txBody>
      </p:sp>
      <p:sp>
        <p:nvSpPr>
          <p:cNvPr id="25" name="Text 23"/>
          <p:cNvSpPr/>
          <p:nvPr/>
        </p:nvSpPr>
        <p:spPr>
          <a:xfrm>
            <a:off x="2057400" y="350612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Vlocity, DataRaptor,</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OmniScript</a:t>
            </a:r>
            <a:endParaRPr lang="en-US" sz="900" dirty="0"/>
          </a:p>
        </p:txBody>
      </p:sp>
      <p:sp>
        <p:nvSpPr>
          <p:cNvPr id="26" name="Shape 24"/>
          <p:cNvSpPr/>
          <p:nvPr/>
        </p:nvSpPr>
        <p:spPr>
          <a:xfrm>
            <a:off x="3749040" y="3048920"/>
            <a:ext cx="1554480" cy="1494440"/>
          </a:xfrm>
          <a:prstGeom prst="roundRect">
            <a:avLst>
              <a:gd name="adj" fmla="val 5926"/>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7" name="Text 25"/>
          <p:cNvSpPr/>
          <p:nvPr/>
        </p:nvSpPr>
        <p:spPr>
          <a:xfrm>
            <a:off x="3749040" y="3158648"/>
            <a:ext cx="155448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Patterns</a:t>
            </a:r>
            <a:endParaRPr lang="en-US" sz="1200" dirty="0"/>
          </a:p>
        </p:txBody>
      </p:sp>
      <p:sp>
        <p:nvSpPr>
          <p:cNvPr id="28" name="Text 26"/>
          <p:cNvSpPr/>
          <p:nvPr/>
        </p:nvSpPr>
        <p:spPr>
          <a:xfrm>
            <a:off x="3749040" y="3506120"/>
            <a:ext cx="1554480" cy="640080"/>
          </a:xfrm>
          <a:prstGeom prst="rect">
            <a:avLst/>
          </a:prstGeom>
          <a:noFill/>
          <a:ln/>
        </p:spPr>
        <p:txBody>
          <a:bodyPr wrap="square" rtlCol="0" anchor="t"/>
          <a:lstStyle/>
          <a:p>
            <a:pPr marL="0" indent="0" algn="ctr">
              <a:buNone/>
            </a:pPr>
            <a:r>
              <a:rPr lang="en-US" sz="900" dirty="0">
                <a:solidFill>
                  <a:srgbClr val="64635E"/>
                </a:solidFill>
                <a:latin typeface="Arial" pitchFamily="34" charset="0"/>
                <a:ea typeface="Arial" pitchFamily="34" charset="-122"/>
                <a:cs typeface="Arial" pitchFamily="34" charset="-120"/>
              </a:rPr>
              <a:t>SI failure patterns,</a:t>
            </a:r>
            <a:endParaRPr lang="en-US" sz="900" dirty="0"/>
          </a:p>
          <a:p>
            <a:pPr marL="0" indent="0" algn="ctr">
              <a:buNone/>
            </a:pPr>
            <a:r>
              <a:rPr lang="en-US" sz="900" dirty="0">
                <a:solidFill>
                  <a:srgbClr val="64635E"/>
                </a:solidFill>
                <a:latin typeface="Arial" pitchFamily="34" charset="0"/>
                <a:ea typeface="Arial" pitchFamily="34" charset="-122"/>
                <a:cs typeface="Arial" pitchFamily="34" charset="-120"/>
              </a:rPr>
              <a:t>anti-patterns</a:t>
            </a:r>
            <a:endParaRPr lang="en-US" sz="900" dirty="0"/>
          </a:p>
        </p:txBody>
      </p:sp>
      <p:sp>
        <p:nvSpPr>
          <p:cNvPr id="29" name="Shape 27"/>
          <p:cNvSpPr/>
          <p:nvPr/>
        </p:nvSpPr>
        <p:spPr>
          <a:xfrm>
            <a:off x="5440680" y="3048920"/>
            <a:ext cx="1554480" cy="1494440"/>
          </a:xfrm>
          <a:prstGeom prst="roundRect">
            <a:avLst>
              <a:gd name="adj" fmla="val 5926"/>
            </a:avLst>
          </a:prstGeom>
          <a:solidFill>
            <a:srgbClr val="0F1E3C"/>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30" name="Text 28"/>
          <p:cNvSpPr/>
          <p:nvPr/>
        </p:nvSpPr>
        <p:spPr>
          <a:xfrm>
            <a:off x="5440680" y="3158648"/>
            <a:ext cx="1554480" cy="32004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Judge</a:t>
            </a:r>
            <a:endParaRPr lang="en-US" sz="1200" dirty="0"/>
          </a:p>
        </p:txBody>
      </p:sp>
      <p:sp>
        <p:nvSpPr>
          <p:cNvPr id="31" name="Text 29"/>
          <p:cNvSpPr/>
          <p:nvPr/>
        </p:nvSpPr>
        <p:spPr>
          <a:xfrm>
            <a:off x="5440680" y="3506120"/>
            <a:ext cx="1554480" cy="640080"/>
          </a:xfrm>
          <a:prstGeom prst="rect">
            <a:avLst/>
          </a:prstGeom>
          <a:noFill/>
          <a:ln/>
        </p:spPr>
        <p:txBody>
          <a:bodyPr wrap="square" rtlCol="0" anchor="t"/>
          <a:lstStyle/>
          <a:p>
            <a:pPr marL="0" indent="0" algn="ctr">
              <a:buNone/>
            </a:pPr>
            <a:r>
              <a:rPr lang="en-US" sz="900" dirty="0">
                <a:solidFill>
                  <a:srgbClr val="A0B8D8"/>
                </a:solidFill>
                <a:latin typeface="Arial" pitchFamily="34" charset="0"/>
                <a:ea typeface="Arial" pitchFamily="34" charset="-122"/>
                <a:cs typeface="Arial" pitchFamily="34" charset="-120"/>
              </a:rPr>
              <a:t>Arbitrates conflicts,</a:t>
            </a:r>
            <a:endParaRPr lang="en-US" sz="900" dirty="0"/>
          </a:p>
          <a:p>
            <a:pPr marL="0" indent="0" algn="ctr">
              <a:buNone/>
            </a:pPr>
            <a:r>
              <a:rPr lang="en-US" sz="900" dirty="0">
                <a:solidFill>
                  <a:srgbClr val="A0B8D8"/>
                </a:solidFill>
                <a:latin typeface="Arial" pitchFamily="34" charset="0"/>
                <a:ea typeface="Arial" pitchFamily="34" charset="-122"/>
                <a:cs typeface="Arial" pitchFamily="34" charset="-120"/>
              </a:rPr>
              <a:t>final verdict</a:t>
            </a:r>
            <a:endParaRPr lang="en-US" sz="900" dirty="0"/>
          </a:p>
        </p:txBody>
      </p:sp>
      <p:sp>
        <p:nvSpPr>
          <p:cNvPr id="32" name="Text 30"/>
          <p:cNvSpPr/>
          <p:nvPr/>
        </p:nvSpPr>
        <p:spPr>
          <a:xfrm>
            <a:off x="502920" y="4740560"/>
            <a:ext cx="8138160" cy="256032"/>
          </a:xfrm>
          <a:prstGeom prst="rect">
            <a:avLst/>
          </a:prstGeom>
          <a:noFill/>
          <a:ln/>
        </p:spPr>
        <p:txBody>
          <a:bodyPr wrap="square" rtlCol="0" anchor="ctr"/>
          <a:lstStyle/>
          <a:p>
            <a:pPr marL="0" indent="0" algn="ctr">
              <a:buNone/>
            </a:pPr>
            <a:r>
              <a:rPr lang="en-US" sz="1000" i="1" dirty="0">
                <a:solidFill>
                  <a:srgbClr val="64635E"/>
                </a:solidFill>
                <a:latin typeface="Arial" pitchFamily="34" charset="0"/>
                <a:ea typeface="Arial" pitchFamily="34" charset="-122"/>
                <a:cs typeface="Arial" pitchFamily="34" charset="-120"/>
              </a:rPr>
              <a:t>Phase 1: Designer (skipped on doc upload) → Phase 2: 7 specialists in sequence → Phase 3: Judge + Scribe + Learner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220000"/>
            <a:ext cx="8138160" cy="170000"/>
          </a:xfrm>
          <a:prstGeom prst="rect">
            <a:avLst/>
          </a:prstGeom>
          <a:noFill/>
          <a:ln/>
        </p:spPr>
        <p:txBody>
          <a:bodyPr wrap="square" rtlCol="0" anchor="ctr"/>
          <a:lstStyle/>
          <a:p>
            <a:pPr marL="0" indent="0" algn="l">
              <a:buNone/>
            </a:pPr>
            <a:r>
              <a:rPr lang="en-US" sz="800" b="1" kern="0" spc="300" dirty="0">
                <a:solidFill>
                  <a:srgbClr val="2E6DA4"/>
                </a:solidFill>
                <a:latin typeface="Arial" pitchFamily="34" charset="0"/>
              </a:rPr>
              <a:t>AGENT GROUNDING</a:t>
            </a:r>
          </a:p>
        </p:txBody>
      </p:sp>
      <p:sp>
        <p:nvSpPr>
          <p:cNvPr id="3" name="Text 1"/>
          <p:cNvSpPr/>
          <p:nvPr/>
        </p:nvSpPr>
        <p:spPr>
          <a:xfrm>
            <a:off x="502920" y="380000"/>
            <a:ext cx="8138160" cy="420000"/>
          </a:xfrm>
          <a:prstGeom prst="rect">
            <a:avLst/>
          </a:prstGeom>
          <a:noFill/>
          <a:ln/>
        </p:spPr>
        <p:txBody>
          <a:bodyPr wrap="square" rtlCol="0" anchor="ctr"/>
          <a:lstStyle/>
          <a:p>
            <a:pPr marL="0" indent="0" algn="l">
              <a:buNone/>
            </a:pPr>
            <a:r>
              <a:rPr lang="en-US" sz="2000" b="1" dirty="0">
                <a:solidFill>
                  <a:srgbClr val="1A1A1A"/>
                </a:solidFill>
                <a:latin typeface="Arial" pitchFamily="34" charset="0"/>
              </a:rPr>
              <a:t>Agents are grounded in five layers of knowledge</a:t>
            </a:r>
          </a:p>
        </p:txBody>
      </p:sp>
      <p:sp>
        <p:nvSpPr>
          <p:cNvPr id="4" name="Shape 2"/>
          <p:cNvSpPr/>
          <p:nvPr/>
        </p:nvSpPr>
        <p:spPr>
          <a:xfrm>
            <a:off x="502920" y="820000"/>
            <a:ext cx="8138160" cy="0"/>
          </a:xfrm>
          <a:prstGeom prst="line">
            <a:avLst/>
          </a:prstGeom>
          <a:noFill/>
          <a:ln w="9525">
            <a:solidFill>
              <a:srgbClr val="EBEBEB"/>
            </a:solidFill>
            <a:prstDash val="solid"/>
          </a:ln>
        </p:spPr>
        <p:txBody>
          <a:bodyPr/>
          <a:lstStyle/>
          <a:p>
            <a:endParaRPr lang="en-US"/>
          </a:p>
        </p:txBody>
      </p:sp>
      <p:sp>
        <p:nvSpPr>
          <p:cNvPr id="5" name="Row1Bg"/>
          <p:cNvSpPr/>
          <p:nvPr/>
        </p:nvSpPr>
        <p:spPr>
          <a:xfrm>
            <a:off x="502920" y="870000"/>
            <a:ext cx="8138160" cy="490000"/>
          </a:xfrm>
          <a:prstGeom prst="roundRect">
            <a:avLst>
              <a:gd name="adj" fmla="val 11429"/>
            </a:avLst>
          </a:prstGeom>
          <a:solidFill>
            <a:srgbClr val="EBEBEB"/>
          </a:solidFill>
          <a:ln w="6350">
            <a:solidFill>
              <a:srgbClr val="D3D1C7"/>
            </a:solidFill>
            <a:prstDash val="solid"/>
          </a:ln>
        </p:spPr>
        <p:txBody>
          <a:bodyPr/>
          <a:lstStyle/>
          <a:p>
            <a:endParaRPr lang="en-US"/>
          </a:p>
        </p:txBody>
      </p:sp>
      <p:sp>
        <p:nvSpPr>
          <p:cNvPr id="6" name="Row1Circle"/>
          <p:cNvSpPr/>
          <p:nvPr/>
        </p:nvSpPr>
        <p:spPr>
          <a:xfrm>
            <a:off x="658368" y="940000"/>
            <a:ext cx="350000" cy="350000"/>
          </a:xfrm>
          <a:prstGeom prst="ellipse">
            <a:avLst/>
          </a:prstGeom>
          <a:solidFill>
            <a:srgbClr val="0F1E3C"/>
          </a:solidFill>
          <a:ln w="12700">
            <a:solidFill>
              <a:srgbClr val="0F1E3C"/>
            </a:solidFill>
            <a:prstDash val="solid"/>
          </a:ln>
        </p:spPr>
        <p:txBody>
          <a:bodyPr/>
          <a:lstStyle/>
          <a:p>
            <a:endParaRPr lang="en-US"/>
          </a:p>
        </p:txBody>
      </p:sp>
      <p:sp>
        <p:nvSpPr>
          <p:cNvPr id="7" name="Row1Num"/>
          <p:cNvSpPr/>
          <p:nvPr/>
        </p:nvSpPr>
        <p:spPr>
          <a:xfrm>
            <a:off x="658368" y="940000"/>
            <a:ext cx="350000" cy="3500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rPr>
              <a:t>1</a:t>
            </a:r>
          </a:p>
        </p:txBody>
      </p:sp>
      <p:sp>
        <p:nvSpPr>
          <p:cNvPr id="8" name="Row1Title"/>
          <p:cNvSpPr/>
          <p:nvPr/>
        </p:nvSpPr>
        <p:spPr>
          <a:xfrm>
            <a:off x="1100000" y="900000"/>
            <a:ext cx="2926080" cy="210000"/>
          </a:xfrm>
          <a:prstGeom prst="rect">
            <a:avLst/>
          </a:prstGeom>
          <a:noFill/>
          <a:ln/>
        </p:spPr>
        <p:txBody>
          <a:bodyPr wrap="square" rtlCol="0" anchor="ctr"/>
          <a:lstStyle/>
          <a:p>
            <a:pPr marL="0" indent="0">
              <a:buNone/>
            </a:pPr>
            <a:r>
              <a:rPr lang="en-US" sz="1050" b="1" dirty="0">
                <a:solidFill>
                  <a:srgbClr val="0F1E3C"/>
                </a:solidFill>
                <a:latin typeface="Arial" pitchFamily="34" charset="0"/>
              </a:rPr>
              <a:t>Base model knowledge</a:t>
            </a:r>
          </a:p>
        </p:txBody>
      </p:sp>
      <p:sp>
        <p:nvSpPr>
          <p:cNvPr id="9" name="Row1Desc"/>
          <p:cNvSpPr/>
          <p:nvPr/>
        </p:nvSpPr>
        <p:spPr>
          <a:xfrm>
            <a:off x="1100000" y="1100000"/>
            <a:ext cx="7330000" cy="200000"/>
          </a:xfrm>
          <a:prstGeom prst="rect">
            <a:avLst/>
          </a:prstGeom>
          <a:noFill/>
          <a:ln/>
        </p:spPr>
        <p:txBody>
          <a:bodyPr wrap="square" rtlCol="0" anchor="ctr"/>
          <a:lstStyle/>
          <a:p>
            <a:pPr marL="0" indent="0">
              <a:buNone/>
            </a:pPr>
            <a:r>
              <a:rPr lang="en-US" sz="850" dirty="0">
                <a:solidFill>
                  <a:srgbClr val="64635E"/>
                </a:solidFill>
                <a:latin typeface="Arial" pitchFamily="34" charset="0"/>
              </a:rPr>
              <a:t>Claude's training — Salesforce patterns, anti-patterns, best practices</a:t>
            </a:r>
          </a:p>
        </p:txBody>
      </p:sp>
      <p:sp>
        <p:nvSpPr>
          <p:cNvPr id="10" name="Row2Bg"/>
          <p:cNvSpPr/>
          <p:nvPr/>
        </p:nvSpPr>
        <p:spPr>
          <a:xfrm>
            <a:off x="502920" y="1400000"/>
            <a:ext cx="8138160" cy="490000"/>
          </a:xfrm>
          <a:prstGeom prst="roundRect">
            <a:avLst>
              <a:gd name="adj" fmla="val 11429"/>
            </a:avLst>
          </a:prstGeom>
          <a:solidFill>
            <a:srgbClr val="E1F5EE"/>
          </a:solidFill>
          <a:ln w="6350">
            <a:solidFill>
              <a:srgbClr val="D3D1C7"/>
            </a:solidFill>
            <a:prstDash val="solid"/>
          </a:ln>
        </p:spPr>
        <p:txBody>
          <a:bodyPr/>
          <a:lstStyle/>
          <a:p>
            <a:endParaRPr lang="en-US"/>
          </a:p>
        </p:txBody>
      </p:sp>
      <p:sp>
        <p:nvSpPr>
          <p:cNvPr id="11" name="Row2Circle"/>
          <p:cNvSpPr/>
          <p:nvPr/>
        </p:nvSpPr>
        <p:spPr>
          <a:xfrm>
            <a:off x="658368" y="1470000"/>
            <a:ext cx="350000" cy="350000"/>
          </a:xfrm>
          <a:prstGeom prst="ellipse">
            <a:avLst/>
          </a:prstGeom>
          <a:solidFill>
            <a:srgbClr val="0F6E56"/>
          </a:solidFill>
          <a:ln w="12700">
            <a:solidFill>
              <a:srgbClr val="0F6E56"/>
            </a:solidFill>
            <a:prstDash val="solid"/>
          </a:ln>
        </p:spPr>
        <p:txBody>
          <a:bodyPr/>
          <a:lstStyle/>
          <a:p>
            <a:endParaRPr lang="en-US"/>
          </a:p>
        </p:txBody>
      </p:sp>
      <p:sp>
        <p:nvSpPr>
          <p:cNvPr id="12" name="Row2Num"/>
          <p:cNvSpPr/>
          <p:nvPr/>
        </p:nvSpPr>
        <p:spPr>
          <a:xfrm>
            <a:off x="658368" y="1470000"/>
            <a:ext cx="350000" cy="3500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rPr>
              <a:t>2</a:t>
            </a:r>
          </a:p>
        </p:txBody>
      </p:sp>
      <p:sp>
        <p:nvSpPr>
          <p:cNvPr id="13" name="Row2Title"/>
          <p:cNvSpPr/>
          <p:nvPr/>
        </p:nvSpPr>
        <p:spPr>
          <a:xfrm>
            <a:off x="1100000" y="1430000"/>
            <a:ext cx="2926080" cy="210000"/>
          </a:xfrm>
          <a:prstGeom prst="rect">
            <a:avLst/>
          </a:prstGeom>
          <a:noFill/>
          <a:ln/>
        </p:spPr>
        <p:txBody>
          <a:bodyPr wrap="square" rtlCol="0" anchor="ctr"/>
          <a:lstStyle/>
          <a:p>
            <a:pPr marL="0" indent="0">
              <a:buNone/>
            </a:pPr>
            <a:r>
              <a:rPr lang="en-US" sz="1050" b="1" dirty="0">
                <a:solidFill>
                  <a:srgbClr val="0F6E56"/>
                </a:solidFill>
                <a:latin typeface="Arial" pitchFamily="34" charset="0"/>
              </a:rPr>
              <a:t>Static principles</a:t>
            </a:r>
          </a:p>
        </p:txBody>
      </p:sp>
      <p:sp>
        <p:nvSpPr>
          <p:cNvPr id="14" name="Row2Desc"/>
          <p:cNvSpPr/>
          <p:nvPr/>
        </p:nvSpPr>
        <p:spPr>
          <a:xfrm>
            <a:off x="1100000" y="1630000"/>
            <a:ext cx="7330000" cy="200000"/>
          </a:xfrm>
          <a:prstGeom prst="rect">
            <a:avLst/>
          </a:prstGeom>
          <a:noFill/>
          <a:ln/>
        </p:spPr>
        <p:txBody>
          <a:bodyPr wrap="square" rtlCol="0" anchor="ctr"/>
          <a:lstStyle/>
          <a:p>
            <a:pPr marL="0" indent="0">
              <a:buNone/>
            </a:pPr>
            <a:r>
              <a:rPr lang="en-US" sz="850" dirty="0">
                <a:solidFill>
                  <a:srgbClr val="64635E"/>
                </a:solidFill>
                <a:latin typeface="Arial" pitchFamily="34" charset="0"/>
              </a:rPr>
              <a:t>Curated Salesforce Well-Architected principles injected per agent. Zero latency.</a:t>
            </a:r>
          </a:p>
        </p:txBody>
      </p:sp>
      <p:sp>
        <p:nvSpPr>
          <p:cNvPr id="15" name="Row3Bg"/>
          <p:cNvSpPr/>
          <p:nvPr/>
        </p:nvSpPr>
        <p:spPr>
          <a:xfrm>
            <a:off x="502920" y="1930000"/>
            <a:ext cx="8138160" cy="490000"/>
          </a:xfrm>
          <a:prstGeom prst="roundRect">
            <a:avLst>
              <a:gd name="adj" fmla="val 11429"/>
            </a:avLst>
          </a:prstGeom>
          <a:solidFill>
            <a:srgbClr val="FAECE7"/>
          </a:solidFill>
          <a:ln w="6350">
            <a:solidFill>
              <a:srgbClr val="D3D1C7"/>
            </a:solidFill>
            <a:prstDash val="solid"/>
          </a:ln>
        </p:spPr>
        <p:txBody>
          <a:bodyPr/>
          <a:lstStyle/>
          <a:p>
            <a:endParaRPr lang="en-US"/>
          </a:p>
        </p:txBody>
      </p:sp>
      <p:sp>
        <p:nvSpPr>
          <p:cNvPr id="16" name="Row3Circle"/>
          <p:cNvSpPr/>
          <p:nvPr/>
        </p:nvSpPr>
        <p:spPr>
          <a:xfrm>
            <a:off x="658368" y="2000000"/>
            <a:ext cx="350000" cy="350000"/>
          </a:xfrm>
          <a:prstGeom prst="ellipse">
            <a:avLst/>
          </a:prstGeom>
          <a:solidFill>
            <a:srgbClr val="D85A30"/>
          </a:solidFill>
          <a:ln w="12700">
            <a:solidFill>
              <a:srgbClr val="D85A30"/>
            </a:solidFill>
            <a:prstDash val="solid"/>
          </a:ln>
        </p:spPr>
        <p:txBody>
          <a:bodyPr/>
          <a:lstStyle/>
          <a:p>
            <a:endParaRPr lang="en-US"/>
          </a:p>
        </p:txBody>
      </p:sp>
      <p:sp>
        <p:nvSpPr>
          <p:cNvPr id="17" name="Row3Num"/>
          <p:cNvSpPr/>
          <p:nvPr/>
        </p:nvSpPr>
        <p:spPr>
          <a:xfrm>
            <a:off x="658368" y="2000000"/>
            <a:ext cx="350000" cy="3500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rPr>
              <a:t>3</a:t>
            </a:r>
          </a:p>
        </p:txBody>
      </p:sp>
      <p:sp>
        <p:nvSpPr>
          <p:cNvPr id="18" name="Row3Title"/>
          <p:cNvSpPr/>
          <p:nvPr/>
        </p:nvSpPr>
        <p:spPr>
          <a:xfrm>
            <a:off x="1100000" y="1960000"/>
            <a:ext cx="2926080" cy="210000"/>
          </a:xfrm>
          <a:prstGeom prst="rect">
            <a:avLst/>
          </a:prstGeom>
          <a:noFill/>
          <a:ln/>
        </p:spPr>
        <p:txBody>
          <a:bodyPr wrap="square" rtlCol="0" anchor="ctr"/>
          <a:lstStyle/>
          <a:p>
            <a:pPr marL="0" indent="0">
              <a:buNone/>
            </a:pPr>
            <a:r>
              <a:rPr lang="en-US" sz="1050" b="1" dirty="0">
                <a:solidFill>
                  <a:srgbClr val="993C1D"/>
                </a:solidFill>
                <a:latin typeface="Arial" pitchFamily="34" charset="0"/>
              </a:rPr>
              <a:t>SI failure pattern library</a:t>
            </a:r>
          </a:p>
        </p:txBody>
      </p:sp>
      <p:sp>
        <p:nvSpPr>
          <p:cNvPr id="19" name="Row3Desc"/>
          <p:cNvSpPr/>
          <p:nvPr/>
        </p:nvSpPr>
        <p:spPr>
          <a:xfrm>
            <a:off x="1100000" y="2160000"/>
            <a:ext cx="7330000" cy="200000"/>
          </a:xfrm>
          <a:prstGeom prst="rect">
            <a:avLst/>
          </a:prstGeom>
          <a:noFill/>
          <a:ln/>
        </p:spPr>
        <p:txBody>
          <a:bodyPr wrap="square" rtlCol="0" anchor="ctr"/>
          <a:lstStyle/>
          <a:p>
            <a:pPr marL="0" indent="0">
              <a:buNone/>
            </a:pPr>
            <a:r>
              <a:rPr lang="en-US" sz="850" dirty="0">
                <a:solidFill>
                  <a:srgbClr val="64635E"/>
                </a:solidFill>
                <a:latin typeface="Arial" pitchFamily="34" charset="0"/>
              </a:rPr>
              <a:t>Real patterns from past engagements (FP-004 to FP-012). Agents cite by ID.</a:t>
            </a:r>
          </a:p>
        </p:txBody>
      </p:sp>
      <p:sp>
        <p:nvSpPr>
          <p:cNvPr id="20" name="Row4Bg"/>
          <p:cNvSpPr/>
          <p:nvPr/>
        </p:nvSpPr>
        <p:spPr>
          <a:xfrm>
            <a:off x="502920" y="2460000"/>
            <a:ext cx="8138160" cy="490000"/>
          </a:xfrm>
          <a:prstGeom prst="roundRect">
            <a:avLst>
              <a:gd name="adj" fmla="val 11429"/>
            </a:avLst>
          </a:prstGeom>
          <a:solidFill>
            <a:srgbClr val="FAEEDA"/>
          </a:solidFill>
          <a:ln w="6350">
            <a:solidFill>
              <a:srgbClr val="D3D1C7"/>
            </a:solidFill>
            <a:prstDash val="solid"/>
          </a:ln>
        </p:spPr>
        <p:txBody>
          <a:bodyPr/>
          <a:lstStyle/>
          <a:p>
            <a:endParaRPr lang="en-US"/>
          </a:p>
        </p:txBody>
      </p:sp>
      <p:sp>
        <p:nvSpPr>
          <p:cNvPr id="21" name="Row4Circle"/>
          <p:cNvSpPr/>
          <p:nvPr/>
        </p:nvSpPr>
        <p:spPr>
          <a:xfrm>
            <a:off x="658368" y="2530000"/>
            <a:ext cx="350000" cy="350000"/>
          </a:xfrm>
          <a:prstGeom prst="ellipse">
            <a:avLst/>
          </a:prstGeom>
          <a:solidFill>
            <a:srgbClr val="BA7517"/>
          </a:solidFill>
          <a:ln w="12700">
            <a:solidFill>
              <a:srgbClr val="BA7517"/>
            </a:solidFill>
            <a:prstDash val="solid"/>
          </a:ln>
        </p:spPr>
        <p:txBody>
          <a:bodyPr/>
          <a:lstStyle/>
          <a:p>
            <a:endParaRPr lang="en-US"/>
          </a:p>
        </p:txBody>
      </p:sp>
      <p:sp>
        <p:nvSpPr>
          <p:cNvPr id="22" name="Row4Num"/>
          <p:cNvSpPr/>
          <p:nvPr/>
        </p:nvSpPr>
        <p:spPr>
          <a:xfrm>
            <a:off x="658368" y="2530000"/>
            <a:ext cx="350000" cy="3500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rPr>
              <a:t>4</a:t>
            </a:r>
          </a:p>
        </p:txBody>
      </p:sp>
      <p:sp>
        <p:nvSpPr>
          <p:cNvPr id="23" name="Row4Title"/>
          <p:cNvSpPr/>
          <p:nvPr/>
        </p:nvSpPr>
        <p:spPr>
          <a:xfrm>
            <a:off x="1100000" y="2490000"/>
            <a:ext cx="2926080" cy="210000"/>
          </a:xfrm>
          <a:prstGeom prst="rect">
            <a:avLst/>
          </a:prstGeom>
          <a:noFill/>
          <a:ln/>
        </p:spPr>
        <p:txBody>
          <a:bodyPr wrap="square" rtlCol="0" anchor="ctr"/>
          <a:lstStyle/>
          <a:p>
            <a:pPr marL="0" indent="0">
              <a:buNone/>
            </a:pPr>
            <a:r>
              <a:rPr lang="en-US" sz="1050" b="1" dirty="0">
                <a:solidFill>
                  <a:srgbClr val="BA7517"/>
                </a:solidFill>
                <a:latin typeface="Arial" pitchFamily="34" charset="0"/>
              </a:rPr>
              <a:t>Cross-session memory</a:t>
            </a:r>
          </a:p>
        </p:txBody>
      </p:sp>
      <p:sp>
        <p:nvSpPr>
          <p:cNvPr id="24" name="Row4Desc"/>
          <p:cNvSpPr/>
          <p:nvPr/>
        </p:nvSpPr>
        <p:spPr>
          <a:xfrm>
            <a:off x="1100000" y="2690000"/>
            <a:ext cx="7330000" cy="200000"/>
          </a:xfrm>
          <a:prstGeom prst="rect">
            <a:avLst/>
          </a:prstGeom>
          <a:noFill/>
          <a:ln/>
        </p:spPr>
        <p:txBody>
          <a:bodyPr wrap="square" rtlCol="0" anchor="ctr"/>
          <a:lstStyle/>
          <a:p>
            <a:pPr marL="0" indent="0">
              <a:buNone/>
            </a:pPr>
            <a:r>
              <a:rPr lang="en-US" sz="850" dirty="0">
                <a:solidFill>
                  <a:srgbClr val="64635E"/>
                </a:solidFill>
                <a:latin typeface="Arial" pitchFamily="34" charset="0"/>
              </a:rPr>
              <a:t>Past ADR decisions retrieved from Jira. Agents reconcile: resolved, persists, escalated, or contradicted.</a:t>
            </a:r>
          </a:p>
        </p:txBody>
      </p:sp>
      <p:sp>
        <p:nvSpPr>
          <p:cNvPr id="25" name="Row5Bg"/>
          <p:cNvSpPr/>
          <p:nvPr/>
        </p:nvSpPr>
        <p:spPr>
          <a:xfrm>
            <a:off x="502920" y="2990000"/>
            <a:ext cx="8138160" cy="490000"/>
          </a:xfrm>
          <a:prstGeom prst="roundRect">
            <a:avLst>
              <a:gd name="adj" fmla="val 11429"/>
            </a:avLst>
          </a:prstGeom>
          <a:solidFill>
            <a:srgbClr val="EEEDFE"/>
          </a:solidFill>
          <a:ln w="6350">
            <a:solidFill>
              <a:srgbClr val="D3D1C7"/>
            </a:solidFill>
            <a:prstDash val="solid"/>
          </a:ln>
        </p:spPr>
        <p:txBody>
          <a:bodyPr/>
          <a:lstStyle/>
          <a:p>
            <a:endParaRPr lang="en-US"/>
          </a:p>
        </p:txBody>
      </p:sp>
      <p:sp>
        <p:nvSpPr>
          <p:cNvPr id="26" name="Row5Circle"/>
          <p:cNvSpPr/>
          <p:nvPr/>
        </p:nvSpPr>
        <p:spPr>
          <a:xfrm>
            <a:off x="658368" y="3060000"/>
            <a:ext cx="350000" cy="350000"/>
          </a:xfrm>
          <a:prstGeom prst="ellipse">
            <a:avLst/>
          </a:prstGeom>
          <a:solidFill>
            <a:srgbClr val="534AB7"/>
          </a:solidFill>
          <a:ln w="12700">
            <a:solidFill>
              <a:srgbClr val="534AB7"/>
            </a:solidFill>
            <a:prstDash val="solid"/>
          </a:ln>
        </p:spPr>
        <p:txBody>
          <a:bodyPr/>
          <a:lstStyle/>
          <a:p>
            <a:endParaRPr lang="en-US"/>
          </a:p>
        </p:txBody>
      </p:sp>
      <p:sp>
        <p:nvSpPr>
          <p:cNvPr id="27" name="Row5Num"/>
          <p:cNvSpPr/>
          <p:nvPr/>
        </p:nvSpPr>
        <p:spPr>
          <a:xfrm>
            <a:off x="658368" y="3060000"/>
            <a:ext cx="350000" cy="350000"/>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rPr>
              <a:t>5</a:t>
            </a:r>
          </a:p>
        </p:txBody>
      </p:sp>
      <p:sp>
        <p:nvSpPr>
          <p:cNvPr id="28" name="Row5Title"/>
          <p:cNvSpPr/>
          <p:nvPr/>
        </p:nvSpPr>
        <p:spPr>
          <a:xfrm>
            <a:off x="1100000" y="3020000"/>
            <a:ext cx="2926080" cy="210000"/>
          </a:xfrm>
          <a:prstGeom prst="rect">
            <a:avLst/>
          </a:prstGeom>
          <a:noFill/>
          <a:ln/>
        </p:spPr>
        <p:txBody>
          <a:bodyPr wrap="square" rtlCol="0" anchor="ctr"/>
          <a:lstStyle/>
          <a:p>
            <a:pPr marL="0" indent="0">
              <a:buNone/>
            </a:pPr>
            <a:r>
              <a:rPr lang="en-US" sz="1050" b="1" dirty="0">
                <a:solidFill>
                  <a:srgbClr val="3C3489"/>
                </a:solidFill>
                <a:latin typeface="Arial" pitchFamily="34" charset="0"/>
              </a:rPr>
              <a:t>Org intelligence</a:t>
            </a:r>
          </a:p>
        </p:txBody>
      </p:sp>
      <p:sp>
        <p:nvSpPr>
          <p:cNvPr id="29" name="Row5Desc"/>
          <p:cNvSpPr/>
          <p:nvPr/>
        </p:nvSpPr>
        <p:spPr>
          <a:xfrm>
            <a:off x="1100000" y="3220000"/>
            <a:ext cx="7330000" cy="200000"/>
          </a:xfrm>
          <a:prstGeom prst="rect">
            <a:avLst/>
          </a:prstGeom>
          <a:noFill/>
          <a:ln/>
        </p:spPr>
        <p:txBody>
          <a:bodyPr wrap="square" rtlCol="0" anchor="ctr"/>
          <a:lstStyle/>
          <a:p>
            <a:pPr marL="0" indent="0">
              <a:buNone/>
            </a:pPr>
            <a:r>
              <a:rPr lang="en-US" sz="850" dirty="0">
                <a:solidFill>
                  <a:srgbClr val="64635E"/>
                </a:solidFill>
                <a:latin typeface="Arial" pitchFamily="34" charset="0"/>
              </a:rPr>
              <a:t>Org-specific learnings extracted each session, persisted in Supabase, retrieved in future sessions.</a:t>
            </a:r>
          </a:p>
        </p:txBody>
      </p:sp>
      <p:sp>
        <p:nvSpPr>
          <p:cNvPr id="30" name="Footer"/>
          <p:cNvSpPr/>
          <p:nvPr/>
        </p:nvSpPr>
        <p:spPr>
          <a:xfrm>
            <a:off x="502920" y="3550000"/>
            <a:ext cx="8138160" cy="220000"/>
          </a:xfrm>
          <a:prstGeom prst="rect">
            <a:avLst/>
          </a:prstGeom>
          <a:noFill/>
          <a:ln/>
        </p:spPr>
        <p:txBody>
          <a:bodyPr wrap="square" rtlCol="0" anchor="ctr"/>
          <a:lstStyle/>
          <a:p>
            <a:pPr marL="0" indent="0">
              <a:buNone/>
            </a:pPr>
            <a:r>
              <a:rPr lang="en-US" sz="900" b="1" i="1" dirty="0">
                <a:solidFill>
                  <a:srgbClr val="0F6E56"/>
                </a:solidFill>
                <a:latin typeface="Arial" pitchFamily="34" charset="0"/>
              </a:rPr>
              <a:t>Planned: pgvector RAG in Supabase — Well-Architected Framework + delivery standards as searchable vector store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1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rPr>
              <a:t>CAPABILITIES</a:t>
            </a:r>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rPr>
              <a:t>What ARBoard does today</a:t>
            </a:r>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Card1Bg"/>
          <p:cNvSpPr/>
          <p:nvPr/>
        </p:nvSpPr>
        <p:spPr>
          <a:xfrm>
            <a:off x="411480" y="1325880"/>
            <a:ext cx="2651760" cy="3246120"/>
          </a:xfrm>
          <a:prstGeom prst="roundRect">
            <a:avLst>
              <a:gd name="adj" fmla="val 2759"/>
            </a:avLst>
          </a:prstGeom>
          <a:solidFill>
            <a:srgbClr val="E1F5EE"/>
          </a:solidFill>
          <a:ln w="6350">
            <a:solidFill>
              <a:srgbClr val="D3D1C7"/>
            </a:solidFill>
          </a:ln>
        </p:spPr>
        <p:txBody>
          <a:bodyPr/>
          <a:lstStyle/>
          <a:p>
            <a:endParaRPr lang="en-US"/>
          </a:p>
        </p:txBody>
      </p:sp>
      <p:sp>
        <p:nvSpPr>
          <p:cNvPr id="6" name="Card1Header"/>
          <p:cNvSpPr/>
          <p:nvPr/>
        </p:nvSpPr>
        <p:spPr>
          <a:xfrm>
            <a:off x="411480" y="1325880"/>
            <a:ext cx="2651760" cy="384048"/>
          </a:xfrm>
          <a:prstGeom prst="roundRect">
            <a:avLst>
              <a:gd name="adj" fmla="val 19048"/>
            </a:avLst>
          </a:prstGeom>
          <a:solidFill>
            <a:srgbClr val="0F6E56"/>
          </a:solidFill>
          <a:ln w="12700">
            <a:solidFill>
              <a:srgbClr val="0F6E56"/>
            </a:solidFill>
          </a:ln>
        </p:spPr>
        <p:txBody>
          <a:bodyPr/>
          <a:lstStyle/>
          <a:p>
            <a:endParaRPr lang="en-US"/>
          </a:p>
        </p:txBody>
      </p:sp>
      <p:sp>
        <p:nvSpPr>
          <p:cNvPr id="7" name="Card1Title"/>
          <p:cNvSpPr/>
          <p:nvPr/>
        </p:nvSpPr>
        <p:spPr>
          <a:xfrm>
            <a:off x="411480"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rPr>
              <a:t>Review</a:t>
            </a:r>
          </a:p>
        </p:txBody>
      </p:sp>
      <p:sp>
        <p:nvSpPr>
          <p:cNvPr id="8" name="Card1Items"/>
          <p:cNvSpPr/>
          <p:nvPr/>
        </p:nvSpPr>
        <p:spPr>
          <a:xfrm>
            <a:off x="548640" y="1792224"/>
            <a:ext cx="2377440" cy="2700000"/>
          </a:xfrm>
          <a:prstGeom prst="rect">
            <a:avLst/>
          </a:prstGeom>
          <a:noFill/>
          <a:ln/>
        </p:spPr>
        <p:txBody>
          <a:bodyPr wrap="square" rtlCol="0" anchor="t"/>
          <a:lstStyle/>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Mode 1: Document Review (upload SDD)</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Mode 2: Greenfield Design (requirement text)</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Mode 3: Debate My Approach (critique free text)</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9 specialist agents review in sequence</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Judge arbitrates + confidence score</a:t>
            </a:r>
          </a:p>
          <a:p>
            <a:pPr marL="0" indent="0">
              <a:buNone/>
            </a:pPr>
            <a:r>
              <a:rPr lang="en-US" sz="950" b="1" dirty="0">
                <a:solidFill>
                  <a:srgbClr val="0F6E56"/>
                </a:solidFill>
                <a:latin typeface="Arial" pitchFamily="34" charset="0"/>
              </a:rPr>
              <a:t>→  </a:t>
            </a:r>
            <a:r>
              <a:rPr lang="en-US" sz="950" dirty="0">
                <a:solidFill>
                  <a:srgbClr val="1A1A1A"/>
                </a:solidFill>
                <a:latin typeface="Arial" pitchFamily="34" charset="0"/>
              </a:rPr>
              <a:t>Smart agent selection (Impact Analyser)</a:t>
            </a:r>
          </a:p>
        </p:txBody>
      </p:sp>
      <p:sp>
        <p:nvSpPr>
          <p:cNvPr id="9" name="Card2Bg"/>
          <p:cNvSpPr/>
          <p:nvPr/>
        </p:nvSpPr>
        <p:spPr>
          <a:xfrm>
            <a:off x="3227832" y="1325880"/>
            <a:ext cx="2651760" cy="3246120"/>
          </a:xfrm>
          <a:prstGeom prst="roundRect">
            <a:avLst>
              <a:gd name="adj" fmla="val 2759"/>
            </a:avLst>
          </a:prstGeom>
          <a:solidFill>
            <a:srgbClr val="EBF2FA"/>
          </a:solidFill>
          <a:ln w="6350">
            <a:solidFill>
              <a:srgbClr val="D3D1C7"/>
            </a:solidFill>
          </a:ln>
        </p:spPr>
        <p:txBody>
          <a:bodyPr/>
          <a:lstStyle/>
          <a:p>
            <a:endParaRPr lang="en-US"/>
          </a:p>
        </p:txBody>
      </p:sp>
      <p:sp>
        <p:nvSpPr>
          <p:cNvPr id="10" name="Card2Header"/>
          <p:cNvSpPr/>
          <p:nvPr/>
        </p:nvSpPr>
        <p:spPr>
          <a:xfrm>
            <a:off x="3227832" y="1325880"/>
            <a:ext cx="2651760" cy="384048"/>
          </a:xfrm>
          <a:prstGeom prst="roundRect">
            <a:avLst>
              <a:gd name="adj" fmla="val 19048"/>
            </a:avLst>
          </a:prstGeom>
          <a:solidFill>
            <a:srgbClr val="1B4F9B"/>
          </a:solidFill>
          <a:ln w="12700">
            <a:solidFill>
              <a:srgbClr val="1B4F9B"/>
            </a:solidFill>
          </a:ln>
        </p:spPr>
        <p:txBody>
          <a:bodyPr/>
          <a:lstStyle/>
          <a:p>
            <a:endParaRPr lang="en-US"/>
          </a:p>
        </p:txBody>
      </p:sp>
      <p:sp>
        <p:nvSpPr>
          <p:cNvPr id="11" name="Card2Title"/>
          <p:cNvSpPr/>
          <p:nvPr/>
        </p:nvSpPr>
        <p:spPr>
          <a:xfrm>
            <a:off x="3227832"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rPr>
              <a:t>Memory &amp; Grounding</a:t>
            </a:r>
          </a:p>
        </p:txBody>
      </p:sp>
      <p:sp>
        <p:nvSpPr>
          <p:cNvPr id="12" name="Card2Items"/>
          <p:cNvSpPr/>
          <p:nvPr/>
        </p:nvSpPr>
        <p:spPr>
          <a:xfrm>
            <a:off x="3364992" y="1792224"/>
            <a:ext cx="2377440" cy="2700000"/>
          </a:xfrm>
          <a:prstGeom prst="rect">
            <a:avLst/>
          </a:prstGeom>
          <a:noFill/>
          <a:ln/>
        </p:spPr>
        <p:txBody>
          <a:bodyPr wrap="square" rtlCol="0" anchor="t"/>
          <a:lstStyle/>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Cross-session Jira memory</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Prior ADR reconciliation (RESOLVED / PERSISTS)</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SI failure pattern library (FP-004 to FP-012)</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Salesforce Well-Architected principles</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Live Salesforce org metadata injection</a:t>
            </a:r>
          </a:p>
          <a:p>
            <a:pPr marL="0" indent="0">
              <a:buNone/>
            </a:pPr>
            <a:r>
              <a:rPr lang="en-US" sz="950" b="1" dirty="0">
                <a:solidFill>
                  <a:srgbClr val="1B4F9B"/>
                </a:solidFill>
                <a:latin typeface="Arial" pitchFamily="34" charset="0"/>
              </a:rPr>
              <a:t>→  </a:t>
            </a:r>
            <a:r>
              <a:rPr lang="en-US" sz="950" dirty="0">
                <a:solidFill>
                  <a:srgbClr val="1A1A1A"/>
                </a:solidFill>
                <a:latin typeface="Arial" pitchFamily="34" charset="0"/>
              </a:rPr>
              <a:t>Contradiction detection across sessions</a:t>
            </a:r>
          </a:p>
        </p:txBody>
      </p:sp>
      <p:sp>
        <p:nvSpPr>
          <p:cNvPr id="13" name="Card3Bg"/>
          <p:cNvSpPr/>
          <p:nvPr/>
        </p:nvSpPr>
        <p:spPr>
          <a:xfrm>
            <a:off x="6044184" y="1325880"/>
            <a:ext cx="2651760" cy="3246120"/>
          </a:xfrm>
          <a:prstGeom prst="roundRect">
            <a:avLst>
              <a:gd name="adj" fmla="val 2759"/>
            </a:avLst>
          </a:prstGeom>
          <a:solidFill>
            <a:srgbClr val="FAEEDA"/>
          </a:solidFill>
          <a:ln w="6350">
            <a:solidFill>
              <a:srgbClr val="D3D1C7"/>
            </a:solidFill>
          </a:ln>
        </p:spPr>
        <p:txBody>
          <a:bodyPr/>
          <a:lstStyle/>
          <a:p>
            <a:endParaRPr lang="en-US"/>
          </a:p>
        </p:txBody>
      </p:sp>
      <p:sp>
        <p:nvSpPr>
          <p:cNvPr id="14" name="Card3Header"/>
          <p:cNvSpPr/>
          <p:nvPr/>
        </p:nvSpPr>
        <p:spPr>
          <a:xfrm>
            <a:off x="6044184" y="1325880"/>
            <a:ext cx="2651760" cy="384048"/>
          </a:xfrm>
          <a:prstGeom prst="roundRect">
            <a:avLst>
              <a:gd name="adj" fmla="val 19048"/>
            </a:avLst>
          </a:prstGeom>
          <a:solidFill>
            <a:srgbClr val="BA7517"/>
          </a:solidFill>
          <a:ln w="12700">
            <a:solidFill>
              <a:srgbClr val="BA7517"/>
            </a:solidFill>
          </a:ln>
        </p:spPr>
        <p:txBody>
          <a:bodyPr/>
          <a:lstStyle/>
          <a:p>
            <a:endParaRPr lang="en-US"/>
          </a:p>
        </p:txBody>
      </p:sp>
      <p:sp>
        <p:nvSpPr>
          <p:cNvPr id="15" name="Card3Title"/>
          <p:cNvSpPr/>
          <p:nvPr/>
        </p:nvSpPr>
        <p:spPr>
          <a:xfrm>
            <a:off x="6044184"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rPr>
              <a:t>Output &amp; Workflow</a:t>
            </a:r>
          </a:p>
        </p:txBody>
      </p:sp>
      <p:sp>
        <p:nvSpPr>
          <p:cNvPr id="16" name="Card3Items"/>
          <p:cNvSpPr/>
          <p:nvPr/>
        </p:nvSpPr>
        <p:spPr>
          <a:xfrm>
            <a:off x="6181344" y="1792224"/>
            <a:ext cx="2377440" cy="2700000"/>
          </a:xfrm>
          <a:prstGeom prst="rect">
            <a:avLst/>
          </a:prstGeom>
          <a:noFill/>
          <a:ln/>
        </p:spPr>
        <p:txBody>
          <a:bodyPr wrap="square" rtlCol="0" anchor="t"/>
          <a:lstStyle/>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Formal ADR output per session</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Jira ticket creation (ARBOARD project)</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Endorsement review panel</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Human countersign + Jira assign</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Supabase audit trail + cost analytics</a:t>
            </a:r>
          </a:p>
          <a:p>
            <a:pPr marL="0" indent="0">
              <a:buNone/>
            </a:pPr>
            <a:r>
              <a:rPr lang="en-US" sz="950" b="1" dirty="0">
                <a:solidFill>
                  <a:srgbClr val="BA7517"/>
                </a:solidFill>
                <a:latin typeface="Arial" pitchFamily="34" charset="0"/>
              </a:rPr>
              <a:t>→  </a:t>
            </a:r>
            <a:r>
              <a:rPr lang="en-US" sz="950" dirty="0">
                <a:solidFill>
                  <a:srgbClr val="1A1A1A"/>
                </a:solidFill>
                <a:latin typeface="Arial" pitchFamily="34" charset="0"/>
              </a:rPr>
              <a:t>~$0.08 per full session (optimised)</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SYSTEM ARCHITECTURE</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Every user action maps to a deliberate backend decision</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558448"/>
            <a:ext cx="8321040" cy="365760"/>
          </a:xfrm>
          <a:prstGeom prst="rect">
            <a:avLst/>
          </a:prstGeom>
          <a:solidFill>
            <a:srgbClr val="0F1E3C"/>
          </a:solidFill>
          <a:ln w="6350">
            <a:solidFill>
              <a:srgbClr val="EBEBEB"/>
            </a:solidFill>
            <a:prstDash val="solid"/>
          </a:ln>
        </p:spPr>
        <p:txBody>
          <a:bodyPr/>
          <a:lstStyle/>
          <a:p>
            <a:endParaRPr lang="en-US"/>
          </a:p>
        </p:txBody>
      </p:sp>
      <p:sp>
        <p:nvSpPr>
          <p:cNvPr id="6" name="Text 4"/>
          <p:cNvSpPr/>
          <p:nvPr/>
        </p:nvSpPr>
        <p:spPr>
          <a:xfrm>
            <a:off x="502920" y="1622456"/>
            <a:ext cx="256032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User action</a:t>
            </a:r>
            <a:endParaRPr lang="en-US" sz="900" dirty="0"/>
          </a:p>
        </p:txBody>
      </p:sp>
      <p:sp>
        <p:nvSpPr>
          <p:cNvPr id="7" name="Text 5"/>
          <p:cNvSpPr/>
          <p:nvPr/>
        </p:nvSpPr>
        <p:spPr>
          <a:xfrm>
            <a:off x="3108960" y="1622456"/>
            <a:ext cx="274320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What happens</a:t>
            </a:r>
            <a:endParaRPr lang="en-US" sz="900" dirty="0"/>
          </a:p>
        </p:txBody>
      </p:sp>
      <p:sp>
        <p:nvSpPr>
          <p:cNvPr id="8" name="Text 6"/>
          <p:cNvSpPr/>
          <p:nvPr/>
        </p:nvSpPr>
        <p:spPr>
          <a:xfrm>
            <a:off x="5897880" y="1622456"/>
            <a:ext cx="269748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Backend system</a:t>
            </a:r>
            <a:endParaRPr lang="en-US" sz="900" dirty="0"/>
          </a:p>
        </p:txBody>
      </p:sp>
      <p:sp>
        <p:nvSpPr>
          <p:cNvPr id="9" name="Shape 7"/>
          <p:cNvSpPr/>
          <p:nvPr/>
        </p:nvSpPr>
        <p:spPr>
          <a:xfrm>
            <a:off x="411480" y="1942496"/>
            <a:ext cx="8321040" cy="365760"/>
          </a:xfrm>
          <a:prstGeom prst="rect">
            <a:avLst/>
          </a:prstGeom>
          <a:solidFill>
            <a:srgbClr val="F7F8FA"/>
          </a:solidFill>
          <a:ln w="6350">
            <a:solidFill>
              <a:srgbClr val="EBEBEB"/>
            </a:solidFill>
            <a:prstDash val="solid"/>
          </a:ln>
        </p:spPr>
        <p:txBody>
          <a:bodyPr/>
          <a:lstStyle/>
          <a:p>
            <a:endParaRPr lang="en-US"/>
          </a:p>
        </p:txBody>
      </p:sp>
      <p:sp>
        <p:nvSpPr>
          <p:cNvPr id="10" name="Text 8"/>
          <p:cNvSpPr/>
          <p:nvPr/>
        </p:nvSpPr>
        <p:spPr>
          <a:xfrm>
            <a:off x="502920" y="2006504"/>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Submit requirement or doc</a:t>
            </a:r>
            <a:endParaRPr lang="en-US" sz="950" dirty="0"/>
          </a:p>
        </p:txBody>
      </p:sp>
      <p:sp>
        <p:nvSpPr>
          <p:cNvPr id="11" name="Text 9"/>
          <p:cNvSpPr/>
          <p:nvPr/>
        </p:nvSpPr>
        <p:spPr>
          <a:xfrm>
            <a:off x="3108960" y="2006504"/>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ForumOrchestrator triggers 3-phase pipeline</a:t>
            </a:r>
            <a:endParaRPr lang="en-US" sz="950" dirty="0"/>
          </a:p>
        </p:txBody>
      </p:sp>
      <p:sp>
        <p:nvSpPr>
          <p:cNvPr id="12" name="Text 10"/>
          <p:cNvSpPr/>
          <p:nvPr/>
        </p:nvSpPr>
        <p:spPr>
          <a:xfrm>
            <a:off x="5897880" y="2006504"/>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Anthropic Claude API (SSE streaming)</a:t>
            </a:r>
            <a:endParaRPr lang="en-US" sz="950" dirty="0"/>
          </a:p>
        </p:txBody>
      </p:sp>
      <p:sp>
        <p:nvSpPr>
          <p:cNvPr id="13" name="Shape 11"/>
          <p:cNvSpPr/>
          <p:nvPr/>
        </p:nvSpPr>
        <p:spPr>
          <a:xfrm>
            <a:off x="411480" y="2326544"/>
            <a:ext cx="8321040" cy="365760"/>
          </a:xfrm>
          <a:prstGeom prst="rect">
            <a:avLst/>
          </a:prstGeom>
          <a:solidFill>
            <a:srgbClr val="FFFFFF"/>
          </a:solidFill>
          <a:ln w="6350">
            <a:solidFill>
              <a:srgbClr val="EBEBEB"/>
            </a:solidFill>
            <a:prstDash val="solid"/>
          </a:ln>
        </p:spPr>
        <p:txBody>
          <a:bodyPr/>
          <a:lstStyle/>
          <a:p>
            <a:endParaRPr lang="en-US"/>
          </a:p>
        </p:txBody>
      </p:sp>
      <p:sp>
        <p:nvSpPr>
          <p:cNvPr id="14" name="Text 12"/>
          <p:cNvSpPr/>
          <p:nvPr/>
        </p:nvSpPr>
        <p:spPr>
          <a:xfrm>
            <a:off x="502920" y="2390552"/>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Doc upload (PDF/Word)</a:t>
            </a:r>
            <a:endParaRPr lang="en-US" sz="950" dirty="0"/>
          </a:p>
        </p:txBody>
      </p:sp>
      <p:sp>
        <p:nvSpPr>
          <p:cNvPr id="15" name="Text 13"/>
          <p:cNvSpPr/>
          <p:nvPr/>
        </p:nvSpPr>
        <p:spPr>
          <a:xfrm>
            <a:off x="3108960" y="2390552"/>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Text extracted, chunked by section</a:t>
            </a:r>
            <a:endParaRPr lang="en-US" sz="950" dirty="0"/>
          </a:p>
        </p:txBody>
      </p:sp>
      <p:sp>
        <p:nvSpPr>
          <p:cNvPr id="16" name="Text 14"/>
          <p:cNvSpPr/>
          <p:nvPr/>
        </p:nvSpPr>
        <p:spPr>
          <a:xfrm>
            <a:off x="5897880" y="2390552"/>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Next.js API route → agent context</a:t>
            </a:r>
            <a:endParaRPr lang="en-US" sz="950" dirty="0"/>
          </a:p>
        </p:txBody>
      </p:sp>
      <p:sp>
        <p:nvSpPr>
          <p:cNvPr id="17" name="Shape 15"/>
          <p:cNvSpPr/>
          <p:nvPr/>
        </p:nvSpPr>
        <p:spPr>
          <a:xfrm>
            <a:off x="411480" y="2710592"/>
            <a:ext cx="8321040" cy="365760"/>
          </a:xfrm>
          <a:prstGeom prst="rect">
            <a:avLst/>
          </a:prstGeom>
          <a:solidFill>
            <a:srgbClr val="F7F8FA"/>
          </a:solidFill>
          <a:ln w="6350">
            <a:solidFill>
              <a:srgbClr val="EBEBEB"/>
            </a:solidFill>
            <a:prstDash val="solid"/>
          </a:ln>
        </p:spPr>
        <p:txBody>
          <a:bodyPr/>
          <a:lstStyle/>
          <a:p>
            <a:endParaRPr lang="en-US"/>
          </a:p>
        </p:txBody>
      </p:sp>
      <p:sp>
        <p:nvSpPr>
          <p:cNvPr id="18" name="Text 16"/>
          <p:cNvSpPr/>
          <p:nvPr/>
        </p:nvSpPr>
        <p:spPr>
          <a:xfrm>
            <a:off x="502920" y="2774600"/>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Session runs</a:t>
            </a:r>
            <a:endParaRPr lang="en-US" sz="950" dirty="0"/>
          </a:p>
        </p:txBody>
      </p:sp>
      <p:sp>
        <p:nvSpPr>
          <p:cNvPr id="19" name="Text 17"/>
          <p:cNvSpPr/>
          <p:nvPr/>
        </p:nvSpPr>
        <p:spPr>
          <a:xfrm>
            <a:off x="3108960" y="2774600"/>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Jira memory retrieved before agents start</a:t>
            </a:r>
            <a:endParaRPr lang="en-US" sz="950" dirty="0"/>
          </a:p>
        </p:txBody>
      </p:sp>
      <p:sp>
        <p:nvSpPr>
          <p:cNvPr id="20" name="Text 18"/>
          <p:cNvSpPr/>
          <p:nvPr/>
        </p:nvSpPr>
        <p:spPr>
          <a:xfrm>
            <a:off x="5897880" y="2774600"/>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Jira REST API (ARBOARD project)</a:t>
            </a:r>
            <a:endParaRPr lang="en-US" sz="950" dirty="0"/>
          </a:p>
        </p:txBody>
      </p:sp>
      <p:sp>
        <p:nvSpPr>
          <p:cNvPr id="21" name="Shape 19"/>
          <p:cNvSpPr/>
          <p:nvPr/>
        </p:nvSpPr>
        <p:spPr>
          <a:xfrm>
            <a:off x="411480" y="3094640"/>
            <a:ext cx="8321040" cy="365760"/>
          </a:xfrm>
          <a:prstGeom prst="rect">
            <a:avLst/>
          </a:prstGeom>
          <a:solidFill>
            <a:srgbClr val="FFFFFF"/>
          </a:solidFill>
          <a:ln w="6350">
            <a:solidFill>
              <a:srgbClr val="EBEBEB"/>
            </a:solidFill>
            <a:prstDash val="solid"/>
          </a:ln>
        </p:spPr>
        <p:txBody>
          <a:bodyPr/>
          <a:lstStyle/>
          <a:p>
            <a:endParaRPr lang="en-US"/>
          </a:p>
        </p:txBody>
      </p:sp>
      <p:sp>
        <p:nvSpPr>
          <p:cNvPr id="22" name="Text 20"/>
          <p:cNvSpPr/>
          <p:nvPr/>
        </p:nvSpPr>
        <p:spPr>
          <a:xfrm>
            <a:off x="502920" y="3158648"/>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Agent outputs</a:t>
            </a:r>
            <a:endParaRPr lang="en-US" sz="950" dirty="0"/>
          </a:p>
        </p:txBody>
      </p:sp>
      <p:sp>
        <p:nvSpPr>
          <p:cNvPr id="23" name="Text 21"/>
          <p:cNvSpPr/>
          <p:nvPr/>
        </p:nvSpPr>
        <p:spPr>
          <a:xfrm>
            <a:off x="3108960" y="3158648"/>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Failure patterns matched, FP-xxx cited</a:t>
            </a:r>
            <a:endParaRPr lang="en-US" sz="950" dirty="0"/>
          </a:p>
        </p:txBody>
      </p:sp>
      <p:sp>
        <p:nvSpPr>
          <p:cNvPr id="24" name="Text 22"/>
          <p:cNvSpPr/>
          <p:nvPr/>
        </p:nvSpPr>
        <p:spPr>
          <a:xfrm>
            <a:off x="5897880" y="3158648"/>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Supabase — failure_patterns table</a:t>
            </a:r>
            <a:endParaRPr lang="en-US" sz="950" dirty="0"/>
          </a:p>
        </p:txBody>
      </p:sp>
      <p:sp>
        <p:nvSpPr>
          <p:cNvPr id="25" name="Shape 23"/>
          <p:cNvSpPr/>
          <p:nvPr/>
        </p:nvSpPr>
        <p:spPr>
          <a:xfrm>
            <a:off x="411480" y="3478688"/>
            <a:ext cx="8321040" cy="365760"/>
          </a:xfrm>
          <a:prstGeom prst="rect">
            <a:avLst/>
          </a:prstGeom>
          <a:solidFill>
            <a:srgbClr val="F7F8FA"/>
          </a:solidFill>
          <a:ln w="6350">
            <a:solidFill>
              <a:srgbClr val="EBEBEB"/>
            </a:solidFill>
            <a:prstDash val="solid"/>
          </a:ln>
        </p:spPr>
        <p:txBody>
          <a:bodyPr/>
          <a:lstStyle/>
          <a:p>
            <a:endParaRPr lang="en-US"/>
          </a:p>
        </p:txBody>
      </p:sp>
      <p:sp>
        <p:nvSpPr>
          <p:cNvPr id="26" name="Text 24"/>
          <p:cNvSpPr/>
          <p:nvPr/>
        </p:nvSpPr>
        <p:spPr>
          <a:xfrm>
            <a:off x="502920" y="3542696"/>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Session completes</a:t>
            </a:r>
            <a:endParaRPr lang="en-US" sz="950" dirty="0"/>
          </a:p>
        </p:txBody>
      </p:sp>
      <p:sp>
        <p:nvSpPr>
          <p:cNvPr id="27" name="Text 25"/>
          <p:cNvSpPr/>
          <p:nvPr/>
        </p:nvSpPr>
        <p:spPr>
          <a:xfrm>
            <a:off x="3108960" y="3542696"/>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Admin makes endorsement decision</a:t>
            </a:r>
            <a:endParaRPr lang="en-US" sz="950" dirty="0"/>
          </a:p>
        </p:txBody>
      </p:sp>
      <p:sp>
        <p:nvSpPr>
          <p:cNvPr id="28" name="Text 26"/>
          <p:cNvSpPr/>
          <p:nvPr/>
        </p:nvSpPr>
        <p:spPr>
          <a:xfrm>
            <a:off x="5897880" y="3542696"/>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Endorsement Review Panel (new)</a:t>
            </a:r>
            <a:endParaRPr lang="en-US" sz="950" dirty="0"/>
          </a:p>
        </p:txBody>
      </p:sp>
      <p:sp>
        <p:nvSpPr>
          <p:cNvPr id="29" name="Shape 27"/>
          <p:cNvSpPr/>
          <p:nvPr/>
        </p:nvSpPr>
        <p:spPr>
          <a:xfrm>
            <a:off x="411480" y="3862736"/>
            <a:ext cx="8321040" cy="365760"/>
          </a:xfrm>
          <a:prstGeom prst="rect">
            <a:avLst/>
          </a:prstGeom>
          <a:solidFill>
            <a:srgbClr val="FFFFFF"/>
          </a:solidFill>
          <a:ln w="6350">
            <a:solidFill>
              <a:srgbClr val="EBEBEB"/>
            </a:solidFill>
            <a:prstDash val="solid"/>
          </a:ln>
        </p:spPr>
        <p:txBody>
          <a:bodyPr/>
          <a:lstStyle/>
          <a:p>
            <a:endParaRPr lang="en-US"/>
          </a:p>
        </p:txBody>
      </p:sp>
      <p:sp>
        <p:nvSpPr>
          <p:cNvPr id="30" name="Text 28"/>
          <p:cNvSpPr/>
          <p:nvPr/>
        </p:nvSpPr>
        <p:spPr>
          <a:xfrm>
            <a:off x="502920" y="3926744"/>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Endorse / assign</a:t>
            </a:r>
            <a:endParaRPr lang="en-US" sz="950" dirty="0"/>
          </a:p>
        </p:txBody>
      </p:sp>
      <p:sp>
        <p:nvSpPr>
          <p:cNvPr id="31" name="Text 29"/>
          <p:cNvSpPr/>
          <p:nvPr/>
        </p:nvSpPr>
        <p:spPr>
          <a:xfrm>
            <a:off x="3108960" y="3926744"/>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Jira ticket created with assignee + comment</a:t>
            </a:r>
            <a:endParaRPr lang="en-US" sz="950" dirty="0"/>
          </a:p>
        </p:txBody>
      </p:sp>
      <p:sp>
        <p:nvSpPr>
          <p:cNvPr id="32" name="Text 30"/>
          <p:cNvSpPr/>
          <p:nvPr/>
        </p:nvSpPr>
        <p:spPr>
          <a:xfrm>
            <a:off x="5897880" y="3926744"/>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Jira REST — arboard-adr / arboard-signed</a:t>
            </a:r>
            <a:endParaRPr lang="en-US" sz="950" dirty="0"/>
          </a:p>
        </p:txBody>
      </p:sp>
      <p:sp>
        <p:nvSpPr>
          <p:cNvPr id="33" name="Shape 31"/>
          <p:cNvSpPr/>
          <p:nvPr/>
        </p:nvSpPr>
        <p:spPr>
          <a:xfrm>
            <a:off x="411480" y="4246784"/>
            <a:ext cx="8321040" cy="365760"/>
          </a:xfrm>
          <a:prstGeom prst="rect">
            <a:avLst/>
          </a:prstGeom>
          <a:solidFill>
            <a:srgbClr val="F7F8FA"/>
          </a:solidFill>
          <a:ln w="6350">
            <a:solidFill>
              <a:srgbClr val="EBEBEB"/>
            </a:solidFill>
            <a:prstDash val="solid"/>
          </a:ln>
        </p:spPr>
        <p:txBody>
          <a:bodyPr/>
          <a:lstStyle/>
          <a:p>
            <a:endParaRPr lang="en-US"/>
          </a:p>
        </p:txBody>
      </p:sp>
      <p:sp>
        <p:nvSpPr>
          <p:cNvPr id="34" name="Text 32"/>
          <p:cNvSpPr/>
          <p:nvPr/>
        </p:nvSpPr>
        <p:spPr>
          <a:xfrm>
            <a:off x="502920" y="4310792"/>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Countersign</a:t>
            </a:r>
            <a:endParaRPr lang="en-US" sz="950" dirty="0"/>
          </a:p>
        </p:txBody>
      </p:sp>
      <p:sp>
        <p:nvSpPr>
          <p:cNvPr id="35" name="Text 33"/>
          <p:cNvSpPr/>
          <p:nvPr/>
        </p:nvSpPr>
        <p:spPr>
          <a:xfrm>
            <a:off x="3108960" y="4310792"/>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Sign-off written to Supabase audit trail</a:t>
            </a:r>
            <a:endParaRPr lang="en-US" sz="950" dirty="0"/>
          </a:p>
        </p:txBody>
      </p:sp>
      <p:sp>
        <p:nvSpPr>
          <p:cNvPr id="36" name="Text 34"/>
          <p:cNvSpPr/>
          <p:nvPr/>
        </p:nvSpPr>
        <p:spPr>
          <a:xfrm>
            <a:off x="5897880" y="4310792"/>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Supabase — signoffs table</a:t>
            </a:r>
            <a:endParaRPr lang="en-US" sz="950" dirty="0"/>
          </a:p>
        </p:txBody>
      </p:sp>
      <p:sp>
        <p:nvSpPr>
          <p:cNvPr id="37" name="Shape 35"/>
          <p:cNvSpPr/>
          <p:nvPr/>
        </p:nvSpPr>
        <p:spPr>
          <a:xfrm>
            <a:off x="411480" y="4630832"/>
            <a:ext cx="8321040" cy="365760"/>
          </a:xfrm>
          <a:prstGeom prst="rect">
            <a:avLst/>
          </a:prstGeom>
          <a:solidFill>
            <a:srgbClr val="FFFFFF"/>
          </a:solidFill>
          <a:ln w="6350">
            <a:solidFill>
              <a:srgbClr val="EBEBEB"/>
            </a:solidFill>
            <a:prstDash val="solid"/>
          </a:ln>
        </p:spPr>
        <p:txBody>
          <a:bodyPr/>
          <a:lstStyle/>
          <a:p>
            <a:endParaRPr lang="en-US"/>
          </a:p>
        </p:txBody>
      </p:sp>
      <p:sp>
        <p:nvSpPr>
          <p:cNvPr id="38" name="Text 36"/>
          <p:cNvSpPr/>
          <p:nvPr/>
        </p:nvSpPr>
        <p:spPr>
          <a:xfrm>
            <a:off x="502920" y="4694840"/>
            <a:ext cx="2560320" cy="237744"/>
          </a:xfrm>
          <a:prstGeom prst="rect">
            <a:avLst/>
          </a:prstGeom>
          <a:noFill/>
          <a:ln/>
        </p:spPr>
        <p:txBody>
          <a:bodyPr wrap="square" rtlCol="0" anchor="ctr"/>
          <a:lstStyle/>
          <a:p>
            <a:pPr marL="0" indent="0">
              <a:buNone/>
            </a:pPr>
            <a:r>
              <a:rPr lang="en-US" sz="950" dirty="0">
                <a:solidFill>
                  <a:srgbClr val="0F1E3C"/>
                </a:solidFill>
                <a:latin typeface="Arial" pitchFamily="34" charset="0"/>
                <a:ea typeface="Arial" pitchFamily="34" charset="-122"/>
                <a:cs typeface="Arial" pitchFamily="34" charset="-120"/>
              </a:rPr>
              <a:t>Org connect</a:t>
            </a:r>
            <a:endParaRPr lang="en-US" sz="950" dirty="0"/>
          </a:p>
        </p:txBody>
      </p:sp>
      <p:sp>
        <p:nvSpPr>
          <p:cNvPr id="39" name="Text 37"/>
          <p:cNvSpPr/>
          <p:nvPr/>
        </p:nvSpPr>
        <p:spPr>
          <a:xfrm>
            <a:off x="3108960" y="4694840"/>
            <a:ext cx="27432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Live metadata injected into agent prompts</a:t>
            </a:r>
            <a:endParaRPr lang="en-US" sz="950" dirty="0"/>
          </a:p>
        </p:txBody>
      </p:sp>
      <p:sp>
        <p:nvSpPr>
          <p:cNvPr id="40" name="Text 38"/>
          <p:cNvSpPr/>
          <p:nvPr/>
        </p:nvSpPr>
        <p:spPr>
          <a:xfrm>
            <a:off x="5897880" y="4694840"/>
            <a:ext cx="2697480" cy="237744"/>
          </a:xfrm>
          <a:prstGeom prst="rect">
            <a:avLst/>
          </a:prstGeom>
          <a:noFill/>
          <a:ln/>
        </p:spPr>
        <p:txBody>
          <a:bodyPr wrap="square" rtlCol="0" anchor="ctr"/>
          <a:lstStyle/>
          <a:p>
            <a:pPr marL="0" indent="0">
              <a:buNone/>
            </a:pPr>
            <a:r>
              <a:rPr lang="en-US" sz="950" dirty="0">
                <a:solidFill>
                  <a:srgbClr val="2E6DA4"/>
                </a:solidFill>
                <a:latin typeface="Arial" pitchFamily="34" charset="0"/>
                <a:ea typeface="Arial" pitchFamily="34" charset="-122"/>
                <a:cs typeface="Arial" pitchFamily="34" charset="-120"/>
              </a:rPr>
              <a:t>Salesforce MCP / jsforce fallback</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BUILD JOURNEY</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From requirement input to production-grade review platform</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631600"/>
            <a:ext cx="1965960" cy="3094640"/>
          </a:xfrm>
          <a:prstGeom prst="roundRect">
            <a:avLst>
              <a:gd name="adj" fmla="val 3721"/>
            </a:avLst>
          </a:prstGeom>
          <a:solidFill>
            <a:srgbClr val="EBF2FA"/>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411480" y="1723040"/>
            <a:ext cx="1965960" cy="320040"/>
          </a:xfrm>
          <a:prstGeom prst="rect">
            <a:avLst/>
          </a:prstGeom>
          <a:noFill/>
          <a:ln/>
        </p:spPr>
        <p:txBody>
          <a:bodyPr wrap="square" rtlCol="0" anchor="ctr"/>
          <a:lstStyle/>
          <a:p>
            <a:pPr marL="0" indent="0" algn="ctr">
              <a:buNone/>
            </a:pPr>
            <a:r>
              <a:rPr lang="en-US" sz="1200" b="1" dirty="0">
                <a:solidFill>
                  <a:srgbClr val="1B4F9B"/>
                </a:solidFill>
                <a:latin typeface="Arial" pitchFamily="34" charset="0"/>
                <a:ea typeface="Arial" pitchFamily="34" charset="-122"/>
                <a:cs typeface="Arial" pitchFamily="34" charset="-120"/>
              </a:rPr>
              <a:t>Foundation</a:t>
            </a:r>
            <a:endParaRPr lang="en-US" sz="1200" dirty="0"/>
          </a:p>
        </p:txBody>
      </p:sp>
      <p:sp>
        <p:nvSpPr>
          <p:cNvPr id="7" name="Shape 5"/>
          <p:cNvSpPr/>
          <p:nvPr/>
        </p:nvSpPr>
        <p:spPr>
          <a:xfrm>
            <a:off x="594360" y="2088800"/>
            <a:ext cx="1600200" cy="0"/>
          </a:xfrm>
          <a:prstGeom prst="line">
            <a:avLst/>
          </a:prstGeom>
          <a:noFill/>
          <a:ln w="6350">
            <a:solidFill>
              <a:srgbClr val="EBEBEB"/>
            </a:solidFill>
            <a:prstDash val="solid"/>
          </a:ln>
        </p:spPr>
        <p:txBody>
          <a:bodyPr/>
          <a:lstStyle/>
          <a:p>
            <a:endParaRPr lang="en-US"/>
          </a:p>
        </p:txBody>
      </p:sp>
      <p:sp>
        <p:nvSpPr>
          <p:cNvPr id="8" name="Text 6"/>
          <p:cNvSpPr/>
          <p:nvPr/>
        </p:nvSpPr>
        <p:spPr>
          <a:xfrm>
            <a:off x="521208" y="2161952"/>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9 specialist agents + ForumOrchestrator</a:t>
            </a:r>
            <a:endParaRPr lang="en-US" sz="950" dirty="0"/>
          </a:p>
        </p:txBody>
      </p:sp>
      <p:sp>
        <p:nvSpPr>
          <p:cNvPr id="9" name="Text 7"/>
          <p:cNvSpPr/>
          <p:nvPr/>
        </p:nvSpPr>
        <p:spPr>
          <a:xfrm>
            <a:off x="521208" y="2637440"/>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Sequential pipeline — review, judge, record</a:t>
            </a:r>
            <a:endParaRPr lang="en-US" sz="950" dirty="0"/>
          </a:p>
        </p:txBody>
      </p:sp>
      <p:sp>
        <p:nvSpPr>
          <p:cNvPr id="10" name="Text 8"/>
          <p:cNvSpPr/>
          <p:nvPr/>
        </p:nvSpPr>
        <p:spPr>
          <a:xfrm>
            <a:off x="521208" y="3112928"/>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Impact Analyser — selective agent loading</a:t>
            </a:r>
            <a:endParaRPr lang="en-US" sz="950" dirty="0"/>
          </a:p>
        </p:txBody>
      </p:sp>
      <p:sp>
        <p:nvSpPr>
          <p:cNvPr id="11" name="Shape 9"/>
          <p:cNvSpPr/>
          <p:nvPr/>
        </p:nvSpPr>
        <p:spPr>
          <a:xfrm>
            <a:off x="2560320" y="1631600"/>
            <a:ext cx="1965960" cy="3094640"/>
          </a:xfrm>
          <a:prstGeom prst="roundRect">
            <a:avLst>
              <a:gd name="adj" fmla="val 3721"/>
            </a:avLst>
          </a:prstGeom>
          <a:solidFill>
            <a:srgbClr val="E1F5EE"/>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2" name="Text 10"/>
          <p:cNvSpPr/>
          <p:nvPr/>
        </p:nvSpPr>
        <p:spPr>
          <a:xfrm>
            <a:off x="2560320" y="1723040"/>
            <a:ext cx="1965960" cy="320040"/>
          </a:xfrm>
          <a:prstGeom prst="rect">
            <a:avLst/>
          </a:prstGeom>
          <a:noFill/>
          <a:ln/>
        </p:spPr>
        <p:txBody>
          <a:bodyPr wrap="square" rtlCol="0" anchor="ctr"/>
          <a:lstStyle/>
          <a:p>
            <a:pPr marL="0" indent="0" algn="ctr">
              <a:buNone/>
            </a:pPr>
            <a:r>
              <a:rPr lang="en-US" sz="1200" b="1" dirty="0">
                <a:solidFill>
                  <a:srgbClr val="0F6E56"/>
                </a:solidFill>
                <a:latin typeface="Arial" pitchFamily="34" charset="0"/>
                <a:ea typeface="Arial" pitchFamily="34" charset="-122"/>
                <a:cs typeface="Arial" pitchFamily="34" charset="-120"/>
              </a:rPr>
              <a:t>Integrations</a:t>
            </a:r>
            <a:endParaRPr lang="en-US" sz="1200" dirty="0"/>
          </a:p>
        </p:txBody>
      </p:sp>
      <p:sp>
        <p:nvSpPr>
          <p:cNvPr id="13" name="Shape 11"/>
          <p:cNvSpPr/>
          <p:nvPr/>
        </p:nvSpPr>
        <p:spPr>
          <a:xfrm>
            <a:off x="2743200" y="2088800"/>
            <a:ext cx="1600200" cy="0"/>
          </a:xfrm>
          <a:prstGeom prst="line">
            <a:avLst/>
          </a:prstGeom>
          <a:noFill/>
          <a:ln w="6350">
            <a:solidFill>
              <a:srgbClr val="EBEBEB"/>
            </a:solidFill>
            <a:prstDash val="solid"/>
          </a:ln>
        </p:spPr>
        <p:txBody>
          <a:bodyPr/>
          <a:lstStyle/>
          <a:p>
            <a:endParaRPr lang="en-US"/>
          </a:p>
        </p:txBody>
      </p:sp>
      <p:sp>
        <p:nvSpPr>
          <p:cNvPr id="14" name="Text 12"/>
          <p:cNvSpPr/>
          <p:nvPr/>
        </p:nvSpPr>
        <p:spPr>
          <a:xfrm>
            <a:off x="2670048" y="2161952"/>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Jira ADR ticket creation + countersign</a:t>
            </a:r>
            <a:endParaRPr lang="en-US" sz="950" dirty="0"/>
          </a:p>
        </p:txBody>
      </p:sp>
      <p:sp>
        <p:nvSpPr>
          <p:cNvPr id="15" name="Text 13"/>
          <p:cNvSpPr/>
          <p:nvPr/>
        </p:nvSpPr>
        <p:spPr>
          <a:xfrm>
            <a:off x="2670048" y="2637440"/>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Supabase operational store</a:t>
            </a:r>
            <a:endParaRPr lang="en-US" sz="950" dirty="0"/>
          </a:p>
        </p:txBody>
      </p:sp>
      <p:sp>
        <p:nvSpPr>
          <p:cNvPr id="16" name="Text 14"/>
          <p:cNvSpPr/>
          <p:nvPr/>
        </p:nvSpPr>
        <p:spPr>
          <a:xfrm>
            <a:off x="2670048" y="3112928"/>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Salesforce MCP + jsforce fallback</a:t>
            </a:r>
            <a:endParaRPr lang="en-US" sz="950" dirty="0"/>
          </a:p>
        </p:txBody>
      </p:sp>
      <p:sp>
        <p:nvSpPr>
          <p:cNvPr id="17" name="Shape 15"/>
          <p:cNvSpPr/>
          <p:nvPr/>
        </p:nvSpPr>
        <p:spPr>
          <a:xfrm>
            <a:off x="4709160" y="1631600"/>
            <a:ext cx="1965960" cy="3094640"/>
          </a:xfrm>
          <a:prstGeom prst="roundRect">
            <a:avLst>
              <a:gd name="adj" fmla="val 3721"/>
            </a:avLst>
          </a:prstGeom>
          <a:solidFill>
            <a:srgbClr val="FAEEDA"/>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4709160" y="1723040"/>
            <a:ext cx="1965960" cy="320040"/>
          </a:xfrm>
          <a:prstGeom prst="rect">
            <a:avLst/>
          </a:prstGeom>
          <a:noFill/>
          <a:ln/>
        </p:spPr>
        <p:txBody>
          <a:bodyPr wrap="square" rtlCol="0" anchor="ctr"/>
          <a:lstStyle/>
          <a:p>
            <a:pPr marL="0" indent="0" algn="ctr">
              <a:buNone/>
            </a:pPr>
            <a:r>
              <a:rPr lang="en-US" sz="1200" b="1" dirty="0">
                <a:solidFill>
                  <a:srgbClr val="BA7517"/>
                </a:solidFill>
                <a:latin typeface="Arial" pitchFamily="34" charset="0"/>
                <a:ea typeface="Arial" pitchFamily="34" charset="-122"/>
                <a:cs typeface="Arial" pitchFamily="34" charset="-120"/>
              </a:rPr>
              <a:t>Intelligence</a:t>
            </a:r>
            <a:endParaRPr lang="en-US" sz="1200" dirty="0"/>
          </a:p>
        </p:txBody>
      </p:sp>
      <p:sp>
        <p:nvSpPr>
          <p:cNvPr id="19" name="Shape 17"/>
          <p:cNvSpPr/>
          <p:nvPr/>
        </p:nvSpPr>
        <p:spPr>
          <a:xfrm>
            <a:off x="4892040" y="2088800"/>
            <a:ext cx="1600200" cy="0"/>
          </a:xfrm>
          <a:prstGeom prst="line">
            <a:avLst/>
          </a:prstGeom>
          <a:noFill/>
          <a:ln w="6350">
            <a:solidFill>
              <a:srgbClr val="EBEBEB"/>
            </a:solidFill>
            <a:prstDash val="solid"/>
          </a:ln>
        </p:spPr>
        <p:txBody>
          <a:bodyPr/>
          <a:lstStyle/>
          <a:p>
            <a:endParaRPr lang="en-US"/>
          </a:p>
        </p:txBody>
      </p:sp>
      <p:sp>
        <p:nvSpPr>
          <p:cNvPr id="20" name="Text 18"/>
          <p:cNvSpPr/>
          <p:nvPr/>
        </p:nvSpPr>
        <p:spPr>
          <a:xfrm>
            <a:off x="4818888" y="2161952"/>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SI failure pattern library (FP-004→FP-012)</a:t>
            </a:r>
            <a:endParaRPr lang="en-US" sz="950" dirty="0"/>
          </a:p>
        </p:txBody>
      </p:sp>
      <p:sp>
        <p:nvSpPr>
          <p:cNvPr id="21" name="Text 19"/>
          <p:cNvSpPr/>
          <p:nvPr/>
        </p:nvSpPr>
        <p:spPr>
          <a:xfrm>
            <a:off x="4818888" y="2637440"/>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Cross-session memory via Jira</a:t>
            </a:r>
            <a:endParaRPr lang="en-US" sz="950" dirty="0"/>
          </a:p>
        </p:txBody>
      </p:sp>
      <p:sp>
        <p:nvSpPr>
          <p:cNvPr id="22" name="Text 20"/>
          <p:cNvSpPr/>
          <p:nvPr/>
        </p:nvSpPr>
        <p:spPr>
          <a:xfrm>
            <a:off x="4818888" y="3112928"/>
            <a:ext cx="1737360" cy="420624"/>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  Endorsement Review Panel</a:t>
            </a:r>
            <a:endParaRPr lang="en-US" sz="950" dirty="0"/>
          </a:p>
        </p:txBody>
      </p:sp>
      <p:sp>
        <p:nvSpPr>
          <p:cNvPr id="23" name="Shape 21"/>
          <p:cNvSpPr/>
          <p:nvPr/>
        </p:nvSpPr>
        <p:spPr>
          <a:xfrm>
            <a:off x="6858000" y="1631600"/>
            <a:ext cx="1965960" cy="3094640"/>
          </a:xfrm>
          <a:prstGeom prst="roundRect">
            <a:avLst>
              <a:gd name="adj" fmla="val 3721"/>
            </a:avLst>
          </a:prstGeom>
          <a:solidFill>
            <a:srgbClr val="0F1E3C"/>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4" name="Text 22"/>
          <p:cNvSpPr/>
          <p:nvPr/>
        </p:nvSpPr>
        <p:spPr>
          <a:xfrm>
            <a:off x="6858000" y="1723040"/>
            <a:ext cx="1965960" cy="320040"/>
          </a:xfrm>
          <a:prstGeom prst="rect">
            <a:avLst/>
          </a:prstGeom>
          <a:noFill/>
          <a:ln/>
        </p:spPr>
        <p:txBody>
          <a:bodyPr wrap="square"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Optimisation</a:t>
            </a:r>
            <a:endParaRPr lang="en-US" sz="1200" dirty="0"/>
          </a:p>
        </p:txBody>
      </p:sp>
      <p:sp>
        <p:nvSpPr>
          <p:cNvPr id="25" name="Shape 23"/>
          <p:cNvSpPr/>
          <p:nvPr/>
        </p:nvSpPr>
        <p:spPr>
          <a:xfrm>
            <a:off x="7040880" y="2088800"/>
            <a:ext cx="1600200" cy="0"/>
          </a:xfrm>
          <a:prstGeom prst="line">
            <a:avLst/>
          </a:prstGeom>
          <a:noFill/>
          <a:ln w="6350">
            <a:solidFill>
              <a:srgbClr val="445566"/>
            </a:solidFill>
            <a:prstDash val="solid"/>
          </a:ln>
        </p:spPr>
        <p:txBody>
          <a:bodyPr/>
          <a:lstStyle/>
          <a:p>
            <a:endParaRPr lang="en-US"/>
          </a:p>
        </p:txBody>
      </p:sp>
      <p:sp>
        <p:nvSpPr>
          <p:cNvPr id="26" name="Text 24"/>
          <p:cNvSpPr/>
          <p:nvPr/>
        </p:nvSpPr>
        <p:spPr>
          <a:xfrm>
            <a:off x="6967728" y="2161952"/>
            <a:ext cx="1737360" cy="420624"/>
          </a:xfrm>
          <a:prstGeom prst="rect">
            <a:avLst/>
          </a:prstGeom>
          <a:noFill/>
          <a:ln/>
        </p:spPr>
        <p:txBody>
          <a:bodyPr wrap="square" rtlCol="0" anchor="t"/>
          <a:lstStyle/>
          <a:p>
            <a:pPr marL="0" indent="0">
              <a:buNone/>
            </a:pPr>
            <a:r>
              <a:rPr lang="en-US" sz="950" dirty="0">
                <a:solidFill>
                  <a:srgbClr val="A0B8D8"/>
                </a:solidFill>
                <a:latin typeface="Arial" pitchFamily="34" charset="0"/>
                <a:ea typeface="Arial" pitchFamily="34" charset="-122"/>
                <a:cs typeface="Arial" pitchFamily="34" charset="-120"/>
              </a:rPr>
              <a:t>→  Document review mode</a:t>
            </a:r>
            <a:endParaRPr lang="en-US" sz="950" dirty="0"/>
          </a:p>
        </p:txBody>
      </p:sp>
      <p:sp>
        <p:nvSpPr>
          <p:cNvPr id="27" name="Text 25"/>
          <p:cNvSpPr/>
          <p:nvPr/>
        </p:nvSpPr>
        <p:spPr>
          <a:xfrm>
            <a:off x="6967728" y="2637440"/>
            <a:ext cx="1737360" cy="420624"/>
          </a:xfrm>
          <a:prstGeom prst="rect">
            <a:avLst/>
          </a:prstGeom>
          <a:noFill/>
          <a:ln/>
        </p:spPr>
        <p:txBody>
          <a:bodyPr wrap="square" rtlCol="0" anchor="t"/>
          <a:lstStyle/>
          <a:p>
            <a:pPr marL="0" indent="0">
              <a:buNone/>
            </a:pPr>
            <a:r>
              <a:rPr lang="en-US" sz="950" dirty="0">
                <a:solidFill>
                  <a:srgbClr val="A0B8D8"/>
                </a:solidFill>
                <a:latin typeface="Arial" pitchFamily="34" charset="0"/>
                <a:ea typeface="Arial" pitchFamily="34" charset="-122"/>
                <a:cs typeface="Arial" pitchFamily="34" charset="-120"/>
              </a:rPr>
              <a:t>→  Well-Architected principles injection</a:t>
            </a:r>
            <a:endParaRPr lang="en-US" sz="950" dirty="0"/>
          </a:p>
        </p:txBody>
      </p:sp>
      <p:sp>
        <p:nvSpPr>
          <p:cNvPr id="28" name="Text 26"/>
          <p:cNvSpPr/>
          <p:nvPr/>
        </p:nvSpPr>
        <p:spPr>
          <a:xfrm>
            <a:off x="6967728" y="3112928"/>
            <a:ext cx="1737360" cy="420624"/>
          </a:xfrm>
          <a:prstGeom prst="rect">
            <a:avLst/>
          </a:prstGeom>
          <a:noFill/>
          <a:ln/>
        </p:spPr>
        <p:txBody>
          <a:bodyPr wrap="square" rtlCol="0" anchor="t"/>
          <a:lstStyle/>
          <a:p>
            <a:pPr marL="0" indent="0">
              <a:buNone/>
            </a:pPr>
            <a:r>
              <a:rPr lang="en-US" sz="950" dirty="0">
                <a:solidFill>
                  <a:srgbClr val="A0B8D8"/>
                </a:solidFill>
                <a:latin typeface="Arial" pitchFamily="34" charset="0"/>
                <a:ea typeface="Arial" pitchFamily="34" charset="-122"/>
                <a:cs typeface="Arial" pitchFamily="34" charset="-120"/>
              </a:rPr>
              <a:t>→  Token optimisation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COST ENGINEERING — LEARNINGS</a:t>
            </a:r>
            <a:endParaRPr lang="en-US" sz="900" dirty="0"/>
          </a:p>
        </p:txBody>
      </p:sp>
      <p:sp>
        <p:nvSpPr>
          <p:cNvPr id="3" name="Text 1"/>
          <p:cNvSpPr/>
          <p:nvPr/>
        </p:nvSpPr>
        <p:spPr>
          <a:xfrm>
            <a:off x="502920" y="594360"/>
            <a:ext cx="8138160" cy="90000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Token consumption: measured, then engineered down</a:t>
            </a:r>
            <a:endParaRPr lang="en-US" sz="2800" dirty="0"/>
          </a:p>
        </p:txBody>
      </p:sp>
      <p:sp>
        <p:nvSpPr>
          <p:cNvPr id="4" name="Shape 2"/>
          <p:cNvSpPr/>
          <p:nvPr/>
        </p:nvSpPr>
        <p:spPr>
          <a:xfrm>
            <a:off x="502920" y="1467008"/>
            <a:ext cx="8138160" cy="0"/>
          </a:xfrm>
          <a:prstGeom prst="line">
            <a:avLst/>
          </a:prstGeom>
          <a:noFill/>
          <a:ln w="10160">
            <a:solidFill>
              <a:srgbClr val="EBEBEB"/>
            </a:solidFill>
            <a:prstDash val="solid"/>
          </a:ln>
        </p:spPr>
        <p:txBody>
          <a:bodyPr/>
          <a:lstStyle/>
          <a:p>
            <a:endParaRPr lang="en-US"/>
          </a:p>
        </p:txBody>
      </p:sp>
      <p:sp>
        <p:nvSpPr>
          <p:cNvPr id="5" name="Text 3"/>
          <p:cNvSpPr/>
          <p:nvPr/>
        </p:nvSpPr>
        <p:spPr>
          <a:xfrm>
            <a:off x="502920" y="1585880"/>
            <a:ext cx="3840480" cy="274320"/>
          </a:xfrm>
          <a:prstGeom prst="rect">
            <a:avLst/>
          </a:prstGeom>
          <a:noFill/>
          <a:ln/>
        </p:spPr>
        <p:txBody>
          <a:bodyPr wrap="square" rtlCol="0" anchor="ctr"/>
          <a:lstStyle/>
          <a:p>
            <a:pPr marL="0" indent="0">
              <a:buNone/>
            </a:pPr>
            <a:r>
              <a:rPr lang="en-US" sz="1200" b="1" dirty="0">
                <a:solidFill>
                  <a:srgbClr val="0F1E3C"/>
                </a:solidFill>
                <a:latin typeface="Arial" pitchFamily="34" charset="0"/>
                <a:ea typeface="Arial" pitchFamily="34" charset="-122"/>
                <a:cs typeface="Arial" pitchFamily="34" charset="-120"/>
              </a:rPr>
              <a:t>Baseline per session (9 agents, real doc)</a:t>
            </a:r>
            <a:endParaRPr lang="en-US" sz="1200" dirty="0"/>
          </a:p>
        </p:txBody>
      </p:sp>
      <p:sp>
        <p:nvSpPr>
          <p:cNvPr id="6" name="Shape 4"/>
          <p:cNvSpPr/>
          <p:nvPr/>
        </p:nvSpPr>
        <p:spPr>
          <a:xfrm>
            <a:off x="502920" y="1887632"/>
            <a:ext cx="5029200" cy="329184"/>
          </a:xfrm>
          <a:prstGeom prst="rect">
            <a:avLst/>
          </a:prstGeom>
          <a:solidFill>
            <a:srgbClr val="0F1E3C"/>
          </a:solidFill>
          <a:ln w="6350">
            <a:solidFill>
              <a:srgbClr val="EBEBEB"/>
            </a:solidFill>
            <a:prstDash val="solid"/>
          </a:ln>
        </p:spPr>
        <p:txBody>
          <a:bodyPr/>
          <a:lstStyle/>
          <a:p>
            <a:endParaRPr lang="en-US"/>
          </a:p>
        </p:txBody>
      </p:sp>
      <p:sp>
        <p:nvSpPr>
          <p:cNvPr id="7" name="Text 5"/>
          <p:cNvSpPr/>
          <p:nvPr/>
        </p:nvSpPr>
        <p:spPr>
          <a:xfrm>
            <a:off x="594360" y="1933352"/>
            <a:ext cx="283464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Source</a:t>
            </a:r>
            <a:endParaRPr lang="en-US" sz="900" dirty="0"/>
          </a:p>
        </p:txBody>
      </p:sp>
      <p:sp>
        <p:nvSpPr>
          <p:cNvPr id="8" name="Text 6"/>
          <p:cNvSpPr/>
          <p:nvPr/>
        </p:nvSpPr>
        <p:spPr>
          <a:xfrm>
            <a:off x="3474720" y="1933352"/>
            <a:ext cx="68580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Tokens</a:t>
            </a:r>
            <a:endParaRPr lang="en-US" sz="900" dirty="0"/>
          </a:p>
        </p:txBody>
      </p:sp>
      <p:sp>
        <p:nvSpPr>
          <p:cNvPr id="9" name="Text 7"/>
          <p:cNvSpPr/>
          <p:nvPr/>
        </p:nvSpPr>
        <p:spPr>
          <a:xfrm>
            <a:off x="4206240" y="1933352"/>
            <a:ext cx="1234440" cy="237744"/>
          </a:xfrm>
          <a:prstGeom prst="rect">
            <a:avLst/>
          </a:prstGeom>
          <a:noFill/>
          <a:ln/>
        </p:spPr>
        <p:txBody>
          <a:bodyPr wrap="square" rtlCol="0" anchor="ctr"/>
          <a:lstStyle/>
          <a:p>
            <a:pPr marL="0" indent="0">
              <a:buNone/>
            </a:pPr>
            <a:r>
              <a:rPr lang="en-US" sz="900" b="1" dirty="0">
                <a:solidFill>
                  <a:srgbClr val="FFFFFF"/>
                </a:solidFill>
                <a:latin typeface="Arial" pitchFamily="34" charset="0"/>
                <a:ea typeface="Arial" pitchFamily="34" charset="-122"/>
                <a:cs typeface="Arial" pitchFamily="34" charset="-120"/>
              </a:rPr>
              <a:t>Notes</a:t>
            </a:r>
            <a:endParaRPr lang="en-US" sz="900" dirty="0"/>
          </a:p>
        </p:txBody>
      </p:sp>
      <p:sp>
        <p:nvSpPr>
          <p:cNvPr id="10" name="Shape 8"/>
          <p:cNvSpPr/>
          <p:nvPr/>
        </p:nvSpPr>
        <p:spPr>
          <a:xfrm>
            <a:off x="502920" y="2235104"/>
            <a:ext cx="5029200" cy="329184"/>
          </a:xfrm>
          <a:prstGeom prst="rect">
            <a:avLst/>
          </a:prstGeom>
          <a:solidFill>
            <a:srgbClr val="F7F8FA"/>
          </a:solidFill>
          <a:ln w="6350">
            <a:solidFill>
              <a:srgbClr val="EBEBEB"/>
            </a:solidFill>
            <a:prstDash val="solid"/>
          </a:ln>
        </p:spPr>
        <p:txBody>
          <a:bodyPr/>
          <a:lstStyle/>
          <a:p>
            <a:endParaRPr lang="en-US"/>
          </a:p>
        </p:txBody>
      </p:sp>
      <p:sp>
        <p:nvSpPr>
          <p:cNvPr id="11" name="Text 9"/>
          <p:cNvSpPr/>
          <p:nvPr/>
        </p:nvSpPr>
        <p:spPr>
          <a:xfrm>
            <a:off x="594360" y="2280824"/>
            <a:ext cx="28346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Document input (NovaPeak SDD)</a:t>
            </a:r>
            <a:endParaRPr lang="en-US" sz="950" dirty="0"/>
          </a:p>
        </p:txBody>
      </p:sp>
      <p:sp>
        <p:nvSpPr>
          <p:cNvPr id="12" name="Text 10"/>
          <p:cNvSpPr/>
          <p:nvPr/>
        </p:nvSpPr>
        <p:spPr>
          <a:xfrm>
            <a:off x="3474720" y="2280824"/>
            <a:ext cx="6858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~4,000</a:t>
            </a:r>
            <a:endParaRPr lang="en-US" sz="950" dirty="0"/>
          </a:p>
        </p:txBody>
      </p:sp>
      <p:sp>
        <p:nvSpPr>
          <p:cNvPr id="13" name="Text 11"/>
          <p:cNvSpPr/>
          <p:nvPr/>
        </p:nvSpPr>
        <p:spPr>
          <a:xfrm>
            <a:off x="4206240" y="2280824"/>
            <a:ext cx="12344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Injected to all agents</a:t>
            </a:r>
            <a:endParaRPr lang="en-US" sz="950" dirty="0"/>
          </a:p>
        </p:txBody>
      </p:sp>
      <p:sp>
        <p:nvSpPr>
          <p:cNvPr id="14" name="Shape 12"/>
          <p:cNvSpPr/>
          <p:nvPr/>
        </p:nvSpPr>
        <p:spPr>
          <a:xfrm>
            <a:off x="502920" y="2582576"/>
            <a:ext cx="5029200" cy="329184"/>
          </a:xfrm>
          <a:prstGeom prst="rect">
            <a:avLst/>
          </a:prstGeom>
          <a:solidFill>
            <a:srgbClr val="FFFFFF"/>
          </a:solidFill>
          <a:ln w="6350">
            <a:solidFill>
              <a:srgbClr val="EBEBEB"/>
            </a:solidFill>
            <a:prstDash val="solid"/>
          </a:ln>
        </p:spPr>
        <p:txBody>
          <a:bodyPr/>
          <a:lstStyle/>
          <a:p>
            <a:endParaRPr lang="en-US"/>
          </a:p>
        </p:txBody>
      </p:sp>
      <p:sp>
        <p:nvSpPr>
          <p:cNvPr id="15" name="Text 13"/>
          <p:cNvSpPr/>
          <p:nvPr/>
        </p:nvSpPr>
        <p:spPr>
          <a:xfrm>
            <a:off x="594360" y="2628296"/>
            <a:ext cx="28346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9 agent system prompts</a:t>
            </a:r>
            <a:endParaRPr lang="en-US" sz="950" dirty="0"/>
          </a:p>
        </p:txBody>
      </p:sp>
      <p:sp>
        <p:nvSpPr>
          <p:cNvPr id="16" name="Text 14"/>
          <p:cNvSpPr/>
          <p:nvPr/>
        </p:nvSpPr>
        <p:spPr>
          <a:xfrm>
            <a:off x="3474720" y="2628296"/>
            <a:ext cx="6858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~18,000</a:t>
            </a:r>
            <a:endParaRPr lang="en-US" sz="950" dirty="0"/>
          </a:p>
        </p:txBody>
      </p:sp>
      <p:sp>
        <p:nvSpPr>
          <p:cNvPr id="17" name="Text 15"/>
          <p:cNvSpPr/>
          <p:nvPr/>
        </p:nvSpPr>
        <p:spPr>
          <a:xfrm>
            <a:off x="4206240" y="2628296"/>
            <a:ext cx="12344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Duplicated boilerplate = waste</a:t>
            </a:r>
            <a:endParaRPr lang="en-US" sz="950" dirty="0"/>
          </a:p>
        </p:txBody>
      </p:sp>
      <p:sp>
        <p:nvSpPr>
          <p:cNvPr id="18" name="Shape 16"/>
          <p:cNvSpPr/>
          <p:nvPr/>
        </p:nvSpPr>
        <p:spPr>
          <a:xfrm>
            <a:off x="502920" y="2930048"/>
            <a:ext cx="5029200" cy="329184"/>
          </a:xfrm>
          <a:prstGeom prst="rect">
            <a:avLst/>
          </a:prstGeom>
          <a:solidFill>
            <a:srgbClr val="F7F8FA"/>
          </a:solidFill>
          <a:ln w="6350">
            <a:solidFill>
              <a:srgbClr val="EBEBEB"/>
            </a:solidFill>
            <a:prstDash val="solid"/>
          </a:ln>
        </p:spPr>
        <p:txBody>
          <a:bodyPr/>
          <a:lstStyle/>
          <a:p>
            <a:endParaRPr lang="en-US"/>
          </a:p>
        </p:txBody>
      </p:sp>
      <p:sp>
        <p:nvSpPr>
          <p:cNvPr id="19" name="Text 17"/>
          <p:cNvSpPr/>
          <p:nvPr/>
        </p:nvSpPr>
        <p:spPr>
          <a:xfrm>
            <a:off x="594360" y="2975768"/>
            <a:ext cx="28346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Jira memory (50 tickets fetched)</a:t>
            </a:r>
            <a:endParaRPr lang="en-US" sz="950" dirty="0"/>
          </a:p>
        </p:txBody>
      </p:sp>
      <p:sp>
        <p:nvSpPr>
          <p:cNvPr id="20" name="Text 18"/>
          <p:cNvSpPr/>
          <p:nvPr/>
        </p:nvSpPr>
        <p:spPr>
          <a:xfrm>
            <a:off x="3474720" y="2975768"/>
            <a:ext cx="6858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~50,000</a:t>
            </a:r>
            <a:endParaRPr lang="en-US" sz="950" dirty="0"/>
          </a:p>
        </p:txBody>
      </p:sp>
      <p:sp>
        <p:nvSpPr>
          <p:cNvPr id="21" name="Text 19"/>
          <p:cNvSpPr/>
          <p:nvPr/>
        </p:nvSpPr>
        <p:spPr>
          <a:xfrm>
            <a:off x="4206240" y="2975768"/>
            <a:ext cx="12344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Over-fetching, scored client-side</a:t>
            </a:r>
            <a:endParaRPr lang="en-US" sz="950" dirty="0"/>
          </a:p>
        </p:txBody>
      </p:sp>
      <p:sp>
        <p:nvSpPr>
          <p:cNvPr id="22" name="Shape 20"/>
          <p:cNvSpPr/>
          <p:nvPr/>
        </p:nvSpPr>
        <p:spPr>
          <a:xfrm>
            <a:off x="502920" y="3277520"/>
            <a:ext cx="5029200" cy="329184"/>
          </a:xfrm>
          <a:prstGeom prst="rect">
            <a:avLst/>
          </a:prstGeom>
          <a:solidFill>
            <a:srgbClr val="FFFFFF"/>
          </a:solidFill>
          <a:ln w="6350">
            <a:solidFill>
              <a:srgbClr val="EBEBEB"/>
            </a:solidFill>
            <a:prstDash val="solid"/>
          </a:ln>
        </p:spPr>
        <p:txBody>
          <a:bodyPr/>
          <a:lstStyle/>
          <a:p>
            <a:endParaRPr lang="en-US"/>
          </a:p>
        </p:txBody>
      </p:sp>
      <p:sp>
        <p:nvSpPr>
          <p:cNvPr id="23" name="Text 21"/>
          <p:cNvSpPr/>
          <p:nvPr/>
        </p:nvSpPr>
        <p:spPr>
          <a:xfrm>
            <a:off x="594360" y="3323240"/>
            <a:ext cx="28346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Scribe + Learner full context</a:t>
            </a:r>
            <a:endParaRPr lang="en-US" sz="950" dirty="0"/>
          </a:p>
        </p:txBody>
      </p:sp>
      <p:sp>
        <p:nvSpPr>
          <p:cNvPr id="24" name="Text 22"/>
          <p:cNvSpPr/>
          <p:nvPr/>
        </p:nvSpPr>
        <p:spPr>
          <a:xfrm>
            <a:off x="3474720" y="3323240"/>
            <a:ext cx="6858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~6,000</a:t>
            </a:r>
            <a:endParaRPr lang="en-US" sz="950" dirty="0"/>
          </a:p>
        </p:txBody>
      </p:sp>
      <p:sp>
        <p:nvSpPr>
          <p:cNvPr id="25" name="Text 23"/>
          <p:cNvSpPr/>
          <p:nvPr/>
        </p:nvSpPr>
        <p:spPr>
          <a:xfrm>
            <a:off x="4206240" y="3323240"/>
            <a:ext cx="12344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Unnecessary — only need Judge output</a:t>
            </a:r>
            <a:endParaRPr lang="en-US" sz="950" dirty="0"/>
          </a:p>
        </p:txBody>
      </p:sp>
      <p:sp>
        <p:nvSpPr>
          <p:cNvPr id="26" name="Shape 24"/>
          <p:cNvSpPr/>
          <p:nvPr/>
        </p:nvSpPr>
        <p:spPr>
          <a:xfrm>
            <a:off x="502920" y="3624992"/>
            <a:ext cx="5029200" cy="329184"/>
          </a:xfrm>
          <a:prstGeom prst="rect">
            <a:avLst/>
          </a:prstGeom>
          <a:solidFill>
            <a:srgbClr val="F7F8FA"/>
          </a:solidFill>
          <a:ln w="6350">
            <a:solidFill>
              <a:srgbClr val="EBEBEB"/>
            </a:solidFill>
            <a:prstDash val="solid"/>
          </a:ln>
        </p:spPr>
        <p:txBody>
          <a:bodyPr/>
          <a:lstStyle/>
          <a:p>
            <a:endParaRPr lang="en-US"/>
          </a:p>
        </p:txBody>
      </p:sp>
      <p:sp>
        <p:nvSpPr>
          <p:cNvPr id="27" name="Text 25"/>
          <p:cNvSpPr/>
          <p:nvPr/>
        </p:nvSpPr>
        <p:spPr>
          <a:xfrm>
            <a:off x="594360" y="3670712"/>
            <a:ext cx="28346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Agent outputs (9 × 500)</a:t>
            </a:r>
            <a:endParaRPr lang="en-US" sz="950" dirty="0"/>
          </a:p>
        </p:txBody>
      </p:sp>
      <p:sp>
        <p:nvSpPr>
          <p:cNvPr id="28" name="Text 26"/>
          <p:cNvSpPr/>
          <p:nvPr/>
        </p:nvSpPr>
        <p:spPr>
          <a:xfrm>
            <a:off x="3474720" y="3670712"/>
            <a:ext cx="68580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~4,500</a:t>
            </a:r>
            <a:endParaRPr lang="en-US" sz="950" dirty="0"/>
          </a:p>
        </p:txBody>
      </p:sp>
      <p:sp>
        <p:nvSpPr>
          <p:cNvPr id="29" name="Text 27"/>
          <p:cNvSpPr/>
          <p:nvPr/>
        </p:nvSpPr>
        <p:spPr>
          <a:xfrm>
            <a:off x="4206240" y="3670712"/>
            <a:ext cx="1234440" cy="237744"/>
          </a:xfrm>
          <a:prstGeom prst="rect">
            <a:avLst/>
          </a:prstGeom>
          <a:noFill/>
          <a:ln/>
        </p:spPr>
        <p:txBody>
          <a:bodyPr wrap="square" rtlCol="0" anchor="ctr"/>
          <a:lstStyle/>
          <a:p>
            <a:pPr marL="0" indent="0">
              <a:buNone/>
            </a:pPr>
            <a:r>
              <a:rPr lang="en-US" sz="950" dirty="0">
                <a:solidFill>
                  <a:srgbClr val="1A1A1A"/>
                </a:solidFill>
                <a:latin typeface="Arial" pitchFamily="34" charset="0"/>
                <a:ea typeface="Arial" pitchFamily="34" charset="-122"/>
                <a:cs typeface="Arial" pitchFamily="34" charset="-120"/>
              </a:rPr>
              <a:t>Output tokens</a:t>
            </a:r>
            <a:endParaRPr lang="en-US" sz="950" dirty="0"/>
          </a:p>
        </p:txBody>
      </p:sp>
      <p:sp>
        <p:nvSpPr>
          <p:cNvPr id="30" name="Shape 28"/>
          <p:cNvSpPr/>
          <p:nvPr/>
        </p:nvSpPr>
        <p:spPr>
          <a:xfrm>
            <a:off x="502920" y="3972464"/>
            <a:ext cx="5029200" cy="329184"/>
          </a:xfrm>
          <a:prstGeom prst="rect">
            <a:avLst/>
          </a:prstGeom>
          <a:solidFill>
            <a:srgbClr val="EBF2FA"/>
          </a:solidFill>
          <a:ln w="6350">
            <a:solidFill>
              <a:srgbClr val="EBEBEB"/>
            </a:solidFill>
            <a:prstDash val="solid"/>
          </a:ln>
        </p:spPr>
        <p:txBody>
          <a:bodyPr/>
          <a:lstStyle/>
          <a:p>
            <a:endParaRPr lang="en-US"/>
          </a:p>
        </p:txBody>
      </p:sp>
      <p:sp>
        <p:nvSpPr>
          <p:cNvPr id="31" name="Text 29"/>
          <p:cNvSpPr/>
          <p:nvPr/>
        </p:nvSpPr>
        <p:spPr>
          <a:xfrm>
            <a:off x="594360" y="4018184"/>
            <a:ext cx="2834640" cy="237744"/>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Total baseline</a:t>
            </a:r>
            <a:endParaRPr lang="en-US" sz="950" dirty="0"/>
          </a:p>
        </p:txBody>
      </p:sp>
      <p:sp>
        <p:nvSpPr>
          <p:cNvPr id="32" name="Text 30"/>
          <p:cNvSpPr/>
          <p:nvPr/>
        </p:nvSpPr>
        <p:spPr>
          <a:xfrm>
            <a:off x="3474720" y="4018184"/>
            <a:ext cx="685800" cy="237744"/>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~82,500</a:t>
            </a:r>
            <a:endParaRPr lang="en-US" sz="950" dirty="0"/>
          </a:p>
        </p:txBody>
      </p:sp>
      <p:sp>
        <p:nvSpPr>
          <p:cNvPr id="33" name="Text 31"/>
          <p:cNvSpPr/>
          <p:nvPr/>
        </p:nvSpPr>
        <p:spPr>
          <a:xfrm>
            <a:off x="4206240" y="4018184"/>
            <a:ext cx="1234440" cy="237744"/>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~$0.29 per session on Sonnet</a:t>
            </a:r>
            <a:endParaRPr lang="en-US" sz="950" dirty="0"/>
          </a:p>
        </p:txBody>
      </p:sp>
      <p:sp>
        <p:nvSpPr>
          <p:cNvPr id="34" name="Text 32"/>
          <p:cNvSpPr/>
          <p:nvPr/>
        </p:nvSpPr>
        <p:spPr>
          <a:xfrm>
            <a:off x="5806440" y="1585880"/>
            <a:ext cx="2880360" cy="274320"/>
          </a:xfrm>
          <a:prstGeom prst="rect">
            <a:avLst/>
          </a:prstGeom>
          <a:noFill/>
          <a:ln/>
        </p:spPr>
        <p:txBody>
          <a:bodyPr wrap="square" rtlCol="0" anchor="ctr"/>
          <a:lstStyle/>
          <a:p>
            <a:pPr marL="0" indent="0">
              <a:buNone/>
            </a:pPr>
            <a:r>
              <a:rPr lang="en-US" sz="1200" b="1" dirty="0">
                <a:solidFill>
                  <a:srgbClr val="0F1E3C"/>
                </a:solidFill>
                <a:latin typeface="Arial" pitchFamily="34" charset="0"/>
                <a:ea typeface="Arial" pitchFamily="34" charset="-122"/>
                <a:cs typeface="Arial" pitchFamily="34" charset="-120"/>
              </a:rPr>
              <a:t>Optimisations implemented</a:t>
            </a:r>
            <a:endParaRPr lang="en-US" sz="1200" dirty="0"/>
          </a:p>
        </p:txBody>
      </p:sp>
      <p:sp>
        <p:nvSpPr>
          <p:cNvPr id="35" name="Shape 33"/>
          <p:cNvSpPr/>
          <p:nvPr/>
        </p:nvSpPr>
        <p:spPr>
          <a:xfrm>
            <a:off x="5806440" y="1887632"/>
            <a:ext cx="2880360" cy="402336"/>
          </a:xfrm>
          <a:prstGeom prst="roundRect">
            <a:avLst>
              <a:gd name="adj" fmla="val 18182"/>
            </a:avLst>
          </a:prstGeom>
          <a:solidFill>
            <a:srgbClr val="E1F5EE"/>
          </a:solidFill>
          <a:ln w="6350">
            <a:solidFill>
              <a:srgbClr val="D3D1C7"/>
            </a:solidFill>
            <a:prstDash val="solid"/>
          </a:ln>
        </p:spPr>
        <p:txBody>
          <a:bodyPr/>
          <a:lstStyle/>
          <a:p>
            <a:endParaRPr lang="en-US"/>
          </a:p>
        </p:txBody>
      </p:sp>
      <p:sp>
        <p:nvSpPr>
          <p:cNvPr id="36" name="Text 34"/>
          <p:cNvSpPr/>
          <p:nvPr/>
        </p:nvSpPr>
        <p:spPr>
          <a:xfrm>
            <a:off x="5897880" y="1924208"/>
            <a:ext cx="1828800" cy="182880"/>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Jira JQL tightening</a:t>
            </a:r>
            <a:endParaRPr lang="en-US" sz="950" dirty="0"/>
          </a:p>
        </p:txBody>
      </p:sp>
      <p:sp>
        <p:nvSpPr>
          <p:cNvPr id="37" name="Text 35"/>
          <p:cNvSpPr/>
          <p:nvPr/>
        </p:nvSpPr>
        <p:spPr>
          <a:xfrm>
            <a:off x="5897880" y="2107088"/>
            <a:ext cx="2697480" cy="164592"/>
          </a:xfrm>
          <a:prstGeom prst="rect">
            <a:avLst/>
          </a:prstGeom>
          <a:noFill/>
          <a:ln/>
        </p:spPr>
        <p:txBody>
          <a:bodyPr wrap="square" rtlCol="0" anchor="ctr"/>
          <a:lstStyle/>
          <a:p>
            <a:pPr marL="0" indent="0">
              <a:buNone/>
            </a:pPr>
            <a:r>
              <a:rPr lang="en-US" sz="900" b="1" dirty="0">
                <a:solidFill>
                  <a:srgbClr val="0F6E56"/>
                </a:solidFill>
                <a:latin typeface="Arial" pitchFamily="34" charset="0"/>
                <a:ea typeface="Arial" pitchFamily="34" charset="-122"/>
                <a:cs typeface="Arial" pitchFamily="34" charset="-120"/>
              </a:rPr>
              <a:t>saves ~30,000 tokens</a:t>
            </a:r>
            <a:endParaRPr lang="en-US" sz="900" dirty="0"/>
          </a:p>
        </p:txBody>
      </p:sp>
      <p:sp>
        <p:nvSpPr>
          <p:cNvPr id="38" name="Shape 36"/>
          <p:cNvSpPr/>
          <p:nvPr/>
        </p:nvSpPr>
        <p:spPr>
          <a:xfrm>
            <a:off x="5806440" y="2363120"/>
            <a:ext cx="2880360" cy="402336"/>
          </a:xfrm>
          <a:prstGeom prst="roundRect">
            <a:avLst>
              <a:gd name="adj" fmla="val 18182"/>
            </a:avLst>
          </a:prstGeom>
          <a:solidFill>
            <a:srgbClr val="FAEEDA"/>
          </a:solidFill>
          <a:ln w="6350">
            <a:solidFill>
              <a:srgbClr val="D3D1C7"/>
            </a:solidFill>
            <a:prstDash val="solid"/>
          </a:ln>
        </p:spPr>
        <p:txBody>
          <a:bodyPr/>
          <a:lstStyle/>
          <a:p>
            <a:endParaRPr lang="en-US"/>
          </a:p>
        </p:txBody>
      </p:sp>
      <p:sp>
        <p:nvSpPr>
          <p:cNvPr id="39" name="Text 37"/>
          <p:cNvSpPr/>
          <p:nvPr/>
        </p:nvSpPr>
        <p:spPr>
          <a:xfrm>
            <a:off x="5897880" y="2399696"/>
            <a:ext cx="1828800" cy="182880"/>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Scribe/Learner context trim</a:t>
            </a:r>
            <a:endParaRPr lang="en-US" sz="950" dirty="0"/>
          </a:p>
        </p:txBody>
      </p:sp>
      <p:sp>
        <p:nvSpPr>
          <p:cNvPr id="40" name="Text 38"/>
          <p:cNvSpPr/>
          <p:nvPr/>
        </p:nvSpPr>
        <p:spPr>
          <a:xfrm>
            <a:off x="5897880" y="2582576"/>
            <a:ext cx="2697480" cy="164592"/>
          </a:xfrm>
          <a:prstGeom prst="rect">
            <a:avLst/>
          </a:prstGeom>
          <a:noFill/>
          <a:ln/>
        </p:spPr>
        <p:txBody>
          <a:bodyPr wrap="square" rtlCol="0" anchor="ctr"/>
          <a:lstStyle/>
          <a:p>
            <a:pPr marL="0" indent="0">
              <a:buNone/>
            </a:pPr>
            <a:r>
              <a:rPr lang="en-US" sz="900" b="1" dirty="0">
                <a:solidFill>
                  <a:srgbClr val="BA7517"/>
                </a:solidFill>
                <a:latin typeface="Arial" pitchFamily="34" charset="0"/>
                <a:ea typeface="Arial" pitchFamily="34" charset="-122"/>
                <a:cs typeface="Arial" pitchFamily="34" charset="-120"/>
              </a:rPr>
              <a:t>saves ~6,000 tokens</a:t>
            </a:r>
            <a:endParaRPr lang="en-US" sz="900" dirty="0"/>
          </a:p>
        </p:txBody>
      </p:sp>
      <p:sp>
        <p:nvSpPr>
          <p:cNvPr id="41" name="Shape 39"/>
          <p:cNvSpPr/>
          <p:nvPr/>
        </p:nvSpPr>
        <p:spPr>
          <a:xfrm>
            <a:off x="5806440" y="2838608"/>
            <a:ext cx="2880360" cy="402336"/>
          </a:xfrm>
          <a:prstGeom prst="roundRect">
            <a:avLst>
              <a:gd name="adj" fmla="val 18182"/>
            </a:avLst>
          </a:prstGeom>
          <a:solidFill>
            <a:srgbClr val="EBF2FA"/>
          </a:solidFill>
          <a:ln w="6350">
            <a:solidFill>
              <a:srgbClr val="D3D1C7"/>
            </a:solidFill>
            <a:prstDash val="solid"/>
          </a:ln>
        </p:spPr>
        <p:txBody>
          <a:bodyPr/>
          <a:lstStyle/>
          <a:p>
            <a:endParaRPr lang="en-US"/>
          </a:p>
        </p:txBody>
      </p:sp>
      <p:sp>
        <p:nvSpPr>
          <p:cNvPr id="42" name="Text 40"/>
          <p:cNvSpPr/>
          <p:nvPr/>
        </p:nvSpPr>
        <p:spPr>
          <a:xfrm>
            <a:off x="5897880" y="2875184"/>
            <a:ext cx="1828800" cy="182880"/>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Shared base prompt</a:t>
            </a:r>
            <a:endParaRPr lang="en-US" sz="950" dirty="0"/>
          </a:p>
        </p:txBody>
      </p:sp>
      <p:sp>
        <p:nvSpPr>
          <p:cNvPr id="43" name="Text 41"/>
          <p:cNvSpPr/>
          <p:nvPr/>
        </p:nvSpPr>
        <p:spPr>
          <a:xfrm>
            <a:off x="5897880" y="3058064"/>
            <a:ext cx="2697480" cy="164592"/>
          </a:xfrm>
          <a:prstGeom prst="rect">
            <a:avLst/>
          </a:prstGeom>
          <a:noFill/>
          <a:ln/>
        </p:spPr>
        <p:txBody>
          <a:bodyPr wrap="square" rtlCol="0" anchor="ctr"/>
          <a:lstStyle/>
          <a:p>
            <a:pPr marL="0" indent="0">
              <a:buNone/>
            </a:pPr>
            <a:r>
              <a:rPr lang="en-US" sz="900" b="1" dirty="0">
                <a:solidFill>
                  <a:srgbClr val="1B4F9B"/>
                </a:solidFill>
                <a:latin typeface="Arial" pitchFamily="34" charset="0"/>
                <a:ea typeface="Arial" pitchFamily="34" charset="-122"/>
                <a:cs typeface="Arial" pitchFamily="34" charset="-120"/>
              </a:rPr>
              <a:t>saves ~5,000 tokens</a:t>
            </a:r>
            <a:endParaRPr lang="en-US" sz="900" dirty="0"/>
          </a:p>
        </p:txBody>
      </p:sp>
      <p:sp>
        <p:nvSpPr>
          <p:cNvPr id="44" name="Shape 42"/>
          <p:cNvSpPr/>
          <p:nvPr/>
        </p:nvSpPr>
        <p:spPr>
          <a:xfrm>
            <a:off x="5806440" y="3314096"/>
            <a:ext cx="2880360" cy="402336"/>
          </a:xfrm>
          <a:prstGeom prst="roundRect">
            <a:avLst>
              <a:gd name="adj" fmla="val 18182"/>
            </a:avLst>
          </a:prstGeom>
          <a:solidFill>
            <a:srgbClr val="EBEBEB"/>
          </a:solidFill>
          <a:ln w="6350">
            <a:solidFill>
              <a:srgbClr val="D3D1C7"/>
            </a:solidFill>
            <a:prstDash val="solid"/>
          </a:ln>
        </p:spPr>
        <p:txBody>
          <a:bodyPr/>
          <a:lstStyle/>
          <a:p>
            <a:endParaRPr lang="en-US"/>
          </a:p>
        </p:txBody>
      </p:sp>
      <p:sp>
        <p:nvSpPr>
          <p:cNvPr id="45" name="Text 43"/>
          <p:cNvSpPr/>
          <p:nvPr/>
        </p:nvSpPr>
        <p:spPr>
          <a:xfrm>
            <a:off x="5897880" y="3350672"/>
            <a:ext cx="1828800" cy="182880"/>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Doc section routing (planned)</a:t>
            </a:r>
            <a:endParaRPr lang="en-US" sz="950" dirty="0"/>
          </a:p>
        </p:txBody>
      </p:sp>
      <p:sp>
        <p:nvSpPr>
          <p:cNvPr id="46" name="Text 44"/>
          <p:cNvSpPr/>
          <p:nvPr/>
        </p:nvSpPr>
        <p:spPr>
          <a:xfrm>
            <a:off x="5897880" y="3533552"/>
            <a:ext cx="2697480" cy="164592"/>
          </a:xfrm>
          <a:prstGeom prst="rect">
            <a:avLst/>
          </a:prstGeom>
          <a:noFill/>
          <a:ln/>
        </p:spPr>
        <p:txBody>
          <a:bodyPr wrap="square" rtlCol="0" anchor="ctr"/>
          <a:lstStyle/>
          <a:p>
            <a:pPr marL="0" indent="0">
              <a:buNone/>
            </a:pPr>
            <a:r>
              <a:rPr lang="en-US" sz="900" b="1" dirty="0">
                <a:solidFill>
                  <a:srgbClr val="64635E"/>
                </a:solidFill>
                <a:latin typeface="Arial" pitchFamily="34" charset="0"/>
                <a:ea typeface="Arial" pitchFamily="34" charset="-122"/>
                <a:cs typeface="Arial" pitchFamily="34" charset="-120"/>
              </a:rPr>
              <a:t>saves ~20,000 tokens</a:t>
            </a:r>
            <a:endParaRPr lang="en-US" sz="900" dirty="0"/>
          </a:p>
        </p:txBody>
      </p:sp>
      <p:sp>
        <p:nvSpPr>
          <p:cNvPr id="47" name="Shape 45"/>
          <p:cNvSpPr/>
          <p:nvPr/>
        </p:nvSpPr>
        <p:spPr>
          <a:xfrm>
            <a:off x="5806440" y="3789584"/>
            <a:ext cx="2880360" cy="402336"/>
          </a:xfrm>
          <a:prstGeom prst="roundRect">
            <a:avLst>
              <a:gd name="adj" fmla="val 18182"/>
            </a:avLst>
          </a:prstGeom>
          <a:solidFill>
            <a:srgbClr val="E1F5EE"/>
          </a:solidFill>
          <a:ln w="6350">
            <a:solidFill>
              <a:srgbClr val="D3D1C7"/>
            </a:solidFill>
            <a:prstDash val="solid"/>
          </a:ln>
        </p:spPr>
        <p:txBody>
          <a:bodyPr/>
          <a:lstStyle/>
          <a:p>
            <a:endParaRPr lang="en-US"/>
          </a:p>
        </p:txBody>
      </p:sp>
      <p:sp>
        <p:nvSpPr>
          <p:cNvPr id="48" name="Text 46"/>
          <p:cNvSpPr/>
          <p:nvPr/>
        </p:nvSpPr>
        <p:spPr>
          <a:xfrm>
            <a:off x="5897880" y="3826160"/>
            <a:ext cx="1828800" cy="182880"/>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Prompt caching (planned)</a:t>
            </a:r>
            <a:endParaRPr lang="en-US" sz="950" dirty="0"/>
          </a:p>
        </p:txBody>
      </p:sp>
      <p:sp>
        <p:nvSpPr>
          <p:cNvPr id="49" name="Text 47"/>
          <p:cNvSpPr/>
          <p:nvPr/>
        </p:nvSpPr>
        <p:spPr>
          <a:xfrm>
            <a:off x="5897880" y="4009040"/>
            <a:ext cx="2697480" cy="164592"/>
          </a:xfrm>
          <a:prstGeom prst="rect">
            <a:avLst/>
          </a:prstGeom>
          <a:noFill/>
          <a:ln/>
        </p:spPr>
        <p:txBody>
          <a:bodyPr wrap="square" rtlCol="0" anchor="ctr"/>
          <a:lstStyle/>
          <a:p>
            <a:pPr marL="0" indent="0">
              <a:buNone/>
            </a:pPr>
            <a:r>
              <a:rPr lang="en-US" sz="900" b="1" dirty="0">
                <a:solidFill>
                  <a:srgbClr val="0F6E56"/>
                </a:solidFill>
                <a:latin typeface="Arial" pitchFamily="34" charset="0"/>
                <a:ea typeface="Arial" pitchFamily="34" charset="-122"/>
                <a:cs typeface="Arial" pitchFamily="34" charset="-120"/>
              </a:rPr>
              <a:t>saves 90% on system prompts</a:t>
            </a:r>
            <a:endParaRPr lang="en-US" sz="900" dirty="0"/>
          </a:p>
        </p:txBody>
      </p:sp>
      <p:sp>
        <p:nvSpPr>
          <p:cNvPr id="50" name="Text 48"/>
          <p:cNvSpPr/>
          <p:nvPr/>
        </p:nvSpPr>
        <p:spPr>
          <a:xfrm>
            <a:off x="502920" y="4722272"/>
            <a:ext cx="8138160" cy="256032"/>
          </a:xfrm>
          <a:prstGeom prst="rect">
            <a:avLst/>
          </a:prstGeom>
          <a:noFill/>
          <a:ln/>
        </p:spPr>
        <p:txBody>
          <a:bodyPr wrap="square" rtlCol="0" anchor="ctr"/>
          <a:lstStyle/>
          <a:p>
            <a:pPr marL="0" indent="0">
              <a:buNone/>
            </a:pPr>
            <a:r>
              <a:rPr lang="en-US" sz="1000" b="1" i="1" dirty="0">
                <a:solidFill>
                  <a:srgbClr val="0F6E56"/>
                </a:solidFill>
                <a:latin typeface="Arial" pitchFamily="34" charset="0"/>
                <a:ea typeface="Arial" pitchFamily="34" charset="-122"/>
                <a:cs typeface="Arial" pitchFamily="34" charset="-120"/>
              </a:rPr>
              <a:t>After optimisations: ~$0.08–0.12 per session  ·  Full 9-agent run reserved for demo rehearsal only</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ROADMAP</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Engineered to deepen over time — not a one-shot tool</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325880"/>
            <a:ext cx="2651760" cy="3246120"/>
          </a:xfrm>
          <a:prstGeom prst="roundRect">
            <a:avLst>
              <a:gd name="adj" fmla="val 2759"/>
            </a:avLst>
          </a:prstGeom>
          <a:solidFill>
            <a:srgbClr val="E1F5EE"/>
          </a:solidFill>
          <a:ln w="6350">
            <a:solidFill>
              <a:srgbClr val="D3D1C7"/>
            </a:solidFill>
            <a:prstDash val="solid"/>
          </a:ln>
        </p:spPr>
        <p:txBody>
          <a:bodyPr/>
          <a:lstStyle/>
          <a:p>
            <a:endParaRPr lang="en-US"/>
          </a:p>
        </p:txBody>
      </p:sp>
      <p:sp>
        <p:nvSpPr>
          <p:cNvPr id="6" name="Shape 4"/>
          <p:cNvSpPr/>
          <p:nvPr/>
        </p:nvSpPr>
        <p:spPr>
          <a:xfrm>
            <a:off x="411480" y="1325880"/>
            <a:ext cx="2651760" cy="384048"/>
          </a:xfrm>
          <a:prstGeom prst="roundRect">
            <a:avLst>
              <a:gd name="adj" fmla="val 19048"/>
            </a:avLst>
          </a:prstGeom>
          <a:solidFill>
            <a:srgbClr val="0F6E56"/>
          </a:solidFill>
          <a:ln w="12700">
            <a:solidFill>
              <a:srgbClr val="0F6E56"/>
            </a:solidFill>
            <a:prstDash val="solid"/>
          </a:ln>
        </p:spPr>
        <p:txBody>
          <a:bodyPr/>
          <a:lstStyle/>
          <a:p>
            <a:endParaRPr lang="en-US"/>
          </a:p>
        </p:txBody>
      </p:sp>
      <p:sp>
        <p:nvSpPr>
          <p:cNvPr id="7" name="Text 5"/>
          <p:cNvSpPr/>
          <p:nvPr/>
        </p:nvSpPr>
        <p:spPr>
          <a:xfrm>
            <a:off x="411480"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Now — done</a:t>
            </a:r>
            <a:endParaRPr lang="en-US" sz="1200" dirty="0"/>
          </a:p>
        </p:txBody>
      </p:sp>
      <p:sp>
        <p:nvSpPr>
          <p:cNvPr id="8" name="Text 6"/>
          <p:cNvSpPr/>
          <p:nvPr/>
        </p:nvSpPr>
        <p:spPr>
          <a:xfrm>
            <a:off x="548640" y="1792224"/>
            <a:ext cx="2377440" cy="457200"/>
          </a:xfrm>
          <a:prstGeom prst="rect">
            <a:avLst/>
          </a:prstGeom>
          <a:noFill/>
          <a:ln/>
        </p:spPr>
        <p:txBody>
          <a:bodyPr wrap="square" rtlCol="0" anchor="t"/>
          <a:lstStyle/>
          <a:p>
            <a:pPr marL="0" indent="0">
              <a:buNone/>
            </a:pPr>
            <a:r>
              <a:rPr lang="en-US" sz="1000" b="1" dirty="0">
                <a:solidFill>
                  <a:srgbClr val="0F6E56"/>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Cross-session Jira memory</a:t>
            </a:r>
            <a:endParaRPr lang="en-US" sz="1000" dirty="0"/>
          </a:p>
        </p:txBody>
      </p:sp>
      <p:sp>
        <p:nvSpPr>
          <p:cNvPr id="9" name="Text 7"/>
          <p:cNvSpPr/>
          <p:nvPr/>
        </p:nvSpPr>
        <p:spPr>
          <a:xfrm>
            <a:off x="548640" y="2304288"/>
            <a:ext cx="2377440" cy="457200"/>
          </a:xfrm>
          <a:prstGeom prst="rect">
            <a:avLst/>
          </a:prstGeom>
          <a:noFill/>
          <a:ln/>
        </p:spPr>
        <p:txBody>
          <a:bodyPr wrap="square" rtlCol="0" anchor="t"/>
          <a:lstStyle/>
          <a:p>
            <a:pPr marL="0" indent="0">
              <a:buNone/>
            </a:pPr>
            <a:r>
              <a:rPr lang="en-US" sz="1000" b="1" dirty="0">
                <a:solidFill>
                  <a:srgbClr val="0F6E56"/>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SI failure pattern library</a:t>
            </a:r>
            <a:endParaRPr lang="en-US" sz="1000" dirty="0"/>
          </a:p>
        </p:txBody>
      </p:sp>
      <p:sp>
        <p:nvSpPr>
          <p:cNvPr id="10" name="Text 8"/>
          <p:cNvSpPr/>
          <p:nvPr/>
        </p:nvSpPr>
        <p:spPr>
          <a:xfrm>
            <a:off x="548640" y="2816352"/>
            <a:ext cx="2377440" cy="457200"/>
          </a:xfrm>
          <a:prstGeom prst="rect">
            <a:avLst/>
          </a:prstGeom>
          <a:noFill/>
          <a:ln/>
        </p:spPr>
        <p:txBody>
          <a:bodyPr wrap="square" rtlCol="0" anchor="t"/>
          <a:lstStyle/>
          <a:p>
            <a:pPr marL="0" indent="0">
              <a:buNone/>
            </a:pPr>
            <a:r>
              <a:rPr lang="en-US" sz="1000" b="1" dirty="0">
                <a:solidFill>
                  <a:srgbClr val="0F6E56"/>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Confidence badges + endorsement flow</a:t>
            </a:r>
            <a:endParaRPr lang="en-US" sz="1000" dirty="0"/>
          </a:p>
        </p:txBody>
      </p:sp>
      <p:sp>
        <p:nvSpPr>
          <p:cNvPr id="11" name="Text 9"/>
          <p:cNvSpPr/>
          <p:nvPr/>
        </p:nvSpPr>
        <p:spPr>
          <a:xfrm>
            <a:off x="548640" y="3328416"/>
            <a:ext cx="2377440" cy="457200"/>
          </a:xfrm>
          <a:prstGeom prst="rect">
            <a:avLst/>
          </a:prstGeom>
          <a:noFill/>
          <a:ln/>
        </p:spPr>
        <p:txBody>
          <a:bodyPr wrap="square" rtlCol="0" anchor="t"/>
          <a:lstStyle/>
          <a:p>
            <a:pPr marL="0" indent="0">
              <a:buNone/>
            </a:pPr>
            <a:r>
              <a:rPr lang="en-US" sz="1000" b="1" dirty="0">
                <a:solidFill>
                  <a:srgbClr val="0F6E56"/>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Salesforce org metadata injection</a:t>
            </a:r>
            <a:endParaRPr lang="en-US" sz="1000" dirty="0"/>
          </a:p>
        </p:txBody>
      </p:sp>
      <p:sp>
        <p:nvSpPr>
          <p:cNvPr id="12" name="Text 10"/>
          <p:cNvSpPr/>
          <p:nvPr/>
        </p:nvSpPr>
        <p:spPr>
          <a:xfrm>
            <a:off x="548640" y="3840480"/>
            <a:ext cx="2377440" cy="457200"/>
          </a:xfrm>
          <a:prstGeom prst="rect">
            <a:avLst/>
          </a:prstGeom>
          <a:noFill/>
          <a:ln/>
        </p:spPr>
        <p:txBody>
          <a:bodyPr wrap="square" rtlCol="0" anchor="t"/>
          <a:lstStyle/>
          <a:p>
            <a:pPr marL="0" indent="0">
              <a:buNone/>
            </a:pPr>
            <a:r>
              <a:rPr lang="en-US" sz="1000" b="1" dirty="0">
                <a:solidFill>
                  <a:srgbClr val="0F6E56"/>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Supabase cost analytics</a:t>
            </a:r>
            <a:endParaRPr lang="en-US" sz="1000" dirty="0"/>
          </a:p>
        </p:txBody>
      </p:sp>
      <p:sp>
        <p:nvSpPr>
          <p:cNvPr id="13" name="Shape 11"/>
          <p:cNvSpPr/>
          <p:nvPr/>
        </p:nvSpPr>
        <p:spPr>
          <a:xfrm>
            <a:off x="3227832" y="1325880"/>
            <a:ext cx="2651760" cy="3246120"/>
          </a:xfrm>
          <a:prstGeom prst="roundRect">
            <a:avLst>
              <a:gd name="adj" fmla="val 2759"/>
            </a:avLst>
          </a:prstGeom>
          <a:solidFill>
            <a:srgbClr val="EBF2FA"/>
          </a:solidFill>
          <a:ln w="6350">
            <a:solidFill>
              <a:srgbClr val="D3D1C7"/>
            </a:solidFill>
            <a:prstDash val="solid"/>
          </a:ln>
        </p:spPr>
        <p:txBody>
          <a:bodyPr/>
          <a:lstStyle/>
          <a:p>
            <a:endParaRPr lang="en-US"/>
          </a:p>
        </p:txBody>
      </p:sp>
      <p:sp>
        <p:nvSpPr>
          <p:cNvPr id="14" name="Shape 12"/>
          <p:cNvSpPr/>
          <p:nvPr/>
        </p:nvSpPr>
        <p:spPr>
          <a:xfrm>
            <a:off x="3227832" y="1325880"/>
            <a:ext cx="2651760" cy="384048"/>
          </a:xfrm>
          <a:prstGeom prst="roundRect">
            <a:avLst>
              <a:gd name="adj" fmla="val 19048"/>
            </a:avLst>
          </a:prstGeom>
          <a:solidFill>
            <a:srgbClr val="1B4F9B"/>
          </a:solidFill>
          <a:ln w="12700">
            <a:solidFill>
              <a:srgbClr val="1B4F9B"/>
            </a:solidFill>
            <a:prstDash val="solid"/>
          </a:ln>
        </p:spPr>
        <p:txBody>
          <a:bodyPr/>
          <a:lstStyle/>
          <a:p>
            <a:endParaRPr lang="en-US"/>
          </a:p>
        </p:txBody>
      </p:sp>
      <p:sp>
        <p:nvSpPr>
          <p:cNvPr id="15" name="Text 13"/>
          <p:cNvSpPr/>
          <p:nvPr/>
        </p:nvSpPr>
        <p:spPr>
          <a:xfrm>
            <a:off x="3227832"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Also done</a:t>
            </a:r>
            <a:endParaRPr lang="en-US" sz="1200" dirty="0"/>
          </a:p>
        </p:txBody>
      </p:sp>
      <p:sp>
        <p:nvSpPr>
          <p:cNvPr id="16" name="Text 14"/>
          <p:cNvSpPr/>
          <p:nvPr/>
        </p:nvSpPr>
        <p:spPr>
          <a:xfrm>
            <a:off x="3364992" y="1792224"/>
            <a:ext cx="2377440" cy="457200"/>
          </a:xfrm>
          <a:prstGeom prst="rect">
            <a:avLst/>
          </a:prstGeom>
          <a:noFill/>
          <a:ln/>
        </p:spPr>
        <p:txBody>
          <a:bodyPr wrap="square" rtlCol="0" anchor="t"/>
          <a:lstStyle/>
          <a:p>
            <a:pPr marL="0" indent="0">
              <a:buNone/>
            </a:pPr>
            <a:r>
              <a:rPr lang="en-US" sz="1000" b="1" dirty="0">
                <a:solidFill>
                  <a:srgbClr val="1B4F9B"/>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Document review mode</a:t>
            </a:r>
            <a:endParaRPr lang="en-US" sz="1000" dirty="0"/>
          </a:p>
        </p:txBody>
      </p:sp>
      <p:sp>
        <p:nvSpPr>
          <p:cNvPr id="17" name="Text 15"/>
          <p:cNvSpPr/>
          <p:nvPr/>
        </p:nvSpPr>
        <p:spPr>
          <a:xfrm>
            <a:off x="3364992" y="2304288"/>
            <a:ext cx="2377440" cy="457200"/>
          </a:xfrm>
          <a:prstGeom prst="rect">
            <a:avLst/>
          </a:prstGeom>
          <a:noFill/>
          <a:ln/>
        </p:spPr>
        <p:txBody>
          <a:bodyPr wrap="square" rtlCol="0" anchor="t"/>
          <a:lstStyle/>
          <a:p>
            <a:pPr marL="0" indent="0">
              <a:buNone/>
            </a:pPr>
            <a:r>
              <a:rPr lang="en-US" sz="1000" b="1" dirty="0">
                <a:solidFill>
                  <a:srgbClr val="1B4F9B"/>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Well-Architected principles in prompts</a:t>
            </a:r>
            <a:endParaRPr lang="en-US" sz="1000" dirty="0"/>
          </a:p>
        </p:txBody>
      </p:sp>
      <p:sp>
        <p:nvSpPr>
          <p:cNvPr id="18" name="Text 16"/>
          <p:cNvSpPr/>
          <p:nvPr/>
        </p:nvSpPr>
        <p:spPr>
          <a:xfrm>
            <a:off x="3364992" y="2816352"/>
            <a:ext cx="2377440" cy="457200"/>
          </a:xfrm>
          <a:prstGeom prst="rect">
            <a:avLst/>
          </a:prstGeom>
          <a:noFill/>
          <a:ln/>
        </p:spPr>
        <p:txBody>
          <a:bodyPr wrap="square" rtlCol="0" anchor="t"/>
          <a:lstStyle/>
          <a:p>
            <a:pPr marL="0" indent="0">
              <a:buNone/>
            </a:pPr>
            <a:r>
              <a:rPr lang="en-US" sz="1000" b="1" dirty="0">
                <a:solidFill>
                  <a:srgbClr val="1B4F9B"/>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Token optimisations (3 fixes)</a:t>
            </a:r>
            <a:endParaRPr lang="en-US" sz="1000" dirty="0"/>
          </a:p>
        </p:txBody>
      </p:sp>
      <p:sp>
        <p:nvSpPr>
          <p:cNvPr id="19" name="Text 17"/>
          <p:cNvSpPr/>
          <p:nvPr/>
        </p:nvSpPr>
        <p:spPr>
          <a:xfrm>
            <a:off x="3364992" y="3328416"/>
            <a:ext cx="2377440" cy="457200"/>
          </a:xfrm>
          <a:prstGeom prst="rect">
            <a:avLst/>
          </a:prstGeom>
          <a:noFill/>
          <a:ln/>
        </p:spPr>
        <p:txBody>
          <a:bodyPr wrap="square" rtlCol="0" anchor="t"/>
          <a:lstStyle/>
          <a:p>
            <a:pPr marL="0" indent="0">
              <a:buNone/>
            </a:pPr>
            <a:r>
              <a:rPr lang="en-US" sz="1000" b="1" dirty="0">
                <a:solidFill>
                  <a:srgbClr val="1B4F9B"/>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Gated endorsement — Jira assign</a:t>
            </a:r>
            <a:endParaRPr lang="en-US" sz="1000" dirty="0"/>
          </a:p>
        </p:txBody>
      </p:sp>
      <p:sp>
        <p:nvSpPr>
          <p:cNvPr id="20" name="Text 18"/>
          <p:cNvSpPr/>
          <p:nvPr/>
        </p:nvSpPr>
        <p:spPr>
          <a:xfrm>
            <a:off x="3364992" y="3840480"/>
            <a:ext cx="2377440" cy="457200"/>
          </a:xfrm>
          <a:prstGeom prst="rect">
            <a:avLst/>
          </a:prstGeom>
          <a:noFill/>
          <a:ln/>
        </p:spPr>
        <p:txBody>
          <a:bodyPr wrap="square" rtlCol="0" anchor="t"/>
          <a:lstStyle/>
          <a:p>
            <a:pPr marL="0" indent="0">
              <a:buNone/>
            </a:pPr>
            <a:r>
              <a:rPr lang="en-US" sz="1000" b="1" dirty="0">
                <a:solidFill>
                  <a:srgbClr val="1B4F9B"/>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Fix Revision Round</a:t>
            </a:r>
            <a:endParaRPr lang="en-US" sz="1000" dirty="0"/>
          </a:p>
        </p:txBody>
      </p:sp>
      <p:sp>
        <p:nvSpPr>
          <p:cNvPr id="21" name="Shape 19"/>
          <p:cNvSpPr/>
          <p:nvPr/>
        </p:nvSpPr>
        <p:spPr>
          <a:xfrm>
            <a:off x="6044184" y="1325880"/>
            <a:ext cx="2651760" cy="3246120"/>
          </a:xfrm>
          <a:prstGeom prst="roundRect">
            <a:avLst>
              <a:gd name="adj" fmla="val 2759"/>
            </a:avLst>
          </a:prstGeom>
          <a:solidFill>
            <a:srgbClr val="FAEEDA"/>
          </a:solidFill>
          <a:ln w="6350">
            <a:solidFill>
              <a:srgbClr val="D3D1C7"/>
            </a:solidFill>
            <a:prstDash val="solid"/>
          </a:ln>
        </p:spPr>
        <p:txBody>
          <a:bodyPr/>
          <a:lstStyle/>
          <a:p>
            <a:endParaRPr lang="en-US"/>
          </a:p>
        </p:txBody>
      </p:sp>
      <p:sp>
        <p:nvSpPr>
          <p:cNvPr id="22" name="Shape 20"/>
          <p:cNvSpPr/>
          <p:nvPr/>
        </p:nvSpPr>
        <p:spPr>
          <a:xfrm>
            <a:off x="6044184" y="1325880"/>
            <a:ext cx="2651760" cy="384048"/>
          </a:xfrm>
          <a:prstGeom prst="roundRect">
            <a:avLst>
              <a:gd name="adj" fmla="val 19048"/>
            </a:avLst>
          </a:prstGeom>
          <a:solidFill>
            <a:srgbClr val="BA7517"/>
          </a:solidFill>
          <a:ln w="12700">
            <a:solidFill>
              <a:srgbClr val="BA7517"/>
            </a:solidFill>
            <a:prstDash val="solid"/>
          </a:ln>
        </p:spPr>
        <p:txBody>
          <a:bodyPr/>
          <a:lstStyle/>
          <a:p>
            <a:endParaRPr lang="en-US"/>
          </a:p>
        </p:txBody>
      </p:sp>
      <p:sp>
        <p:nvSpPr>
          <p:cNvPr id="23" name="Text 21"/>
          <p:cNvSpPr/>
          <p:nvPr/>
        </p:nvSpPr>
        <p:spPr>
          <a:xfrm>
            <a:off x="6044184" y="1335024"/>
            <a:ext cx="2651760" cy="365760"/>
          </a:xfrm>
          <a:prstGeom prst="rect">
            <a:avLst/>
          </a:prstGeom>
          <a:noFill/>
          <a:ln/>
        </p:spPr>
        <p:txBody>
          <a:bodyPr wrap="square" lIns="0" tIns="0" rIns="0" bIns="0" rtlCol="0" anchor="ctr"/>
          <a:lstStyle/>
          <a:p>
            <a:pPr marL="0" indent="0" algn="ctr">
              <a:buNone/>
            </a:pPr>
            <a:r>
              <a:rPr lang="en-US" sz="1200" b="1" dirty="0">
                <a:solidFill>
                  <a:srgbClr val="FFFFFF"/>
                </a:solidFill>
                <a:latin typeface="Arial" pitchFamily="34" charset="0"/>
                <a:ea typeface="Arial" pitchFamily="34" charset="-122"/>
                <a:cs typeface="Arial" pitchFamily="34" charset="-120"/>
              </a:rPr>
              <a:t>Planned</a:t>
            </a:r>
            <a:endParaRPr lang="en-US" sz="1200" dirty="0"/>
          </a:p>
        </p:txBody>
      </p:sp>
      <p:sp>
        <p:nvSpPr>
          <p:cNvPr id="24" name="Text 22"/>
          <p:cNvSpPr/>
          <p:nvPr/>
        </p:nvSpPr>
        <p:spPr>
          <a:xfrm>
            <a:off x="6181344" y="1792224"/>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pgvector RAG — full framework corpus</a:t>
            </a:r>
            <a:endParaRPr lang="en-US" sz="1000" dirty="0"/>
          </a:p>
        </p:txBody>
      </p:sp>
      <p:sp>
        <p:nvSpPr>
          <p:cNvPr id="25" name="Text 23"/>
          <p:cNvSpPr/>
          <p:nvPr/>
        </p:nvSpPr>
        <p:spPr>
          <a:xfrm>
            <a:off x="6181344" y="2304288"/>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Multi-tenant client config in Supabase</a:t>
            </a:r>
            <a:endParaRPr lang="en-US" sz="1000" dirty="0"/>
          </a:p>
        </p:txBody>
      </p:sp>
      <p:sp>
        <p:nvSpPr>
          <p:cNvPr id="26" name="Text 24"/>
          <p:cNvSpPr/>
          <p:nvPr/>
        </p:nvSpPr>
        <p:spPr>
          <a:xfrm>
            <a:off x="6181344" y="2816352"/>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Prompt caching (90% cost reduction)</a:t>
            </a:r>
            <a:endParaRPr lang="en-US" sz="1000" dirty="0"/>
          </a:p>
        </p:txBody>
      </p:sp>
      <p:sp>
        <p:nvSpPr>
          <p:cNvPr id="27" name="Text 25"/>
          <p:cNvSpPr/>
          <p:nvPr/>
        </p:nvSpPr>
        <p:spPr>
          <a:xfrm>
            <a:off x="6181344" y="3328416"/>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Doc section routing per agent</a:t>
            </a:r>
            <a:endParaRPr lang="en-US" sz="1000" dirty="0"/>
          </a:p>
        </p:txBody>
      </p:sp>
      <p:sp>
        <p:nvSpPr>
          <p:cNvPr id="28" name="Text 26"/>
          <p:cNvSpPr/>
          <p:nvPr/>
        </p:nvSpPr>
        <p:spPr>
          <a:xfrm>
            <a:off x="6181344" y="3840480"/>
            <a:ext cx="2377440" cy="457200"/>
          </a:xfrm>
          <a:prstGeom prst="rect">
            <a:avLst/>
          </a:prstGeom>
          <a:noFill/>
          <a:ln/>
        </p:spPr>
        <p:txBody>
          <a:bodyPr wrap="square" rtlCol="0" anchor="t"/>
          <a:lstStyle/>
          <a:p>
            <a:pPr marL="0" indent="0">
              <a:buNone/>
            </a:pPr>
            <a:r>
              <a:rPr lang="en-US" sz="1000" b="1" dirty="0">
                <a:solidFill>
                  <a:srgbClr val="BA7517"/>
                </a:solidFill>
                <a:latin typeface="Arial" pitchFamily="34" charset="0"/>
                <a:ea typeface="Arial" pitchFamily="34" charset="-122"/>
                <a:cs typeface="Arial" pitchFamily="34" charset="-120"/>
              </a:rPr>
              <a:t>✓  </a:t>
            </a:r>
            <a:r>
              <a:rPr lang="en-US" sz="1000" dirty="0">
                <a:solidFill>
                  <a:srgbClr val="1A1A1A"/>
                </a:solidFill>
                <a:latin typeface="Arial" pitchFamily="34" charset="0"/>
                <a:ea typeface="Arial" pitchFamily="34" charset="-122"/>
                <a:cs typeface="Arial" pitchFamily="34" charset="-120"/>
              </a:rPr>
              <a:t>Confluence write-back</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LEARNINGS FOR OTHERS</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800" b="1" dirty="0">
                <a:solidFill>
                  <a:srgbClr val="1A1A1A"/>
                </a:solidFill>
                <a:latin typeface="Arial" pitchFamily="34" charset="0"/>
                <a:ea typeface="Arial" pitchFamily="34" charset="-122"/>
                <a:cs typeface="Arial" pitchFamily="34" charset="-120"/>
              </a:rPr>
              <a:t>What we would do differently — and what surprised us</a:t>
            </a:r>
            <a:endParaRPr lang="en-US" sz="28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37160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6" name="Text 4"/>
          <p:cNvSpPr/>
          <p:nvPr/>
        </p:nvSpPr>
        <p:spPr>
          <a:xfrm>
            <a:off x="411480" y="146304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7" name="Text 5"/>
          <p:cNvSpPr/>
          <p:nvPr/>
        </p:nvSpPr>
        <p:spPr>
          <a:xfrm>
            <a:off x="521208" y="182880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Measure before optimising</a:t>
            </a:r>
            <a:endParaRPr lang="en-US" sz="1100" dirty="0"/>
          </a:p>
        </p:txBody>
      </p:sp>
      <p:sp>
        <p:nvSpPr>
          <p:cNvPr id="8" name="Text 6"/>
          <p:cNvSpPr/>
          <p:nvPr/>
        </p:nvSpPr>
        <p:spPr>
          <a:xfrm>
            <a:off x="521208" y="210312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We hit ~$0.29/session baseline. Targeted 3 fixes cut it to ~$0.08. Know your token breakdown before building.</a:t>
            </a:r>
            <a:endParaRPr lang="en-US" sz="950" dirty="0"/>
          </a:p>
        </p:txBody>
      </p:sp>
      <p:sp>
        <p:nvSpPr>
          <p:cNvPr id="9" name="Shape 7"/>
          <p:cNvSpPr/>
          <p:nvPr/>
        </p:nvSpPr>
        <p:spPr>
          <a:xfrm>
            <a:off x="3227832" y="137160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0" name="Text 8"/>
          <p:cNvSpPr/>
          <p:nvPr/>
        </p:nvSpPr>
        <p:spPr>
          <a:xfrm>
            <a:off x="3227832" y="146304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1" name="Text 9"/>
          <p:cNvSpPr/>
          <p:nvPr/>
        </p:nvSpPr>
        <p:spPr>
          <a:xfrm>
            <a:off x="3337560" y="182880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Architecture beats prompt engineering</a:t>
            </a:r>
            <a:endParaRPr lang="en-US" sz="1100" dirty="0"/>
          </a:p>
        </p:txBody>
      </p:sp>
      <p:sp>
        <p:nvSpPr>
          <p:cNvPr id="12" name="Text 10"/>
          <p:cNvSpPr/>
          <p:nvPr/>
        </p:nvSpPr>
        <p:spPr>
          <a:xfrm>
            <a:off x="3337560" y="210312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The biggest quality gains came from structured grounding (memory, patterns, principles) — not tweaking prompts.</a:t>
            </a:r>
            <a:endParaRPr lang="en-US" sz="950" dirty="0"/>
          </a:p>
        </p:txBody>
      </p:sp>
      <p:sp>
        <p:nvSpPr>
          <p:cNvPr id="13" name="Shape 11"/>
          <p:cNvSpPr/>
          <p:nvPr/>
        </p:nvSpPr>
        <p:spPr>
          <a:xfrm>
            <a:off x="6044184" y="137160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4" name="Text 12"/>
          <p:cNvSpPr/>
          <p:nvPr/>
        </p:nvSpPr>
        <p:spPr>
          <a:xfrm>
            <a:off x="6044184" y="146304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5" name="Text 13"/>
          <p:cNvSpPr/>
          <p:nvPr/>
        </p:nvSpPr>
        <p:spPr>
          <a:xfrm>
            <a:off x="6153912" y="182880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Fail gracefully everywhere</a:t>
            </a:r>
            <a:endParaRPr lang="en-US" sz="1100" dirty="0"/>
          </a:p>
        </p:txBody>
      </p:sp>
      <p:sp>
        <p:nvSpPr>
          <p:cNvPr id="16" name="Text 14"/>
          <p:cNvSpPr/>
          <p:nvPr/>
        </p:nvSpPr>
        <p:spPr>
          <a:xfrm>
            <a:off x="6153912" y="210312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Every external call (Jira, Supabase, MCP) must be try/catch with fallback. A broken integration cannot kill a session.</a:t>
            </a:r>
            <a:endParaRPr lang="en-US" sz="950" dirty="0"/>
          </a:p>
        </p:txBody>
      </p:sp>
      <p:sp>
        <p:nvSpPr>
          <p:cNvPr id="17" name="Shape 15"/>
          <p:cNvSpPr/>
          <p:nvPr/>
        </p:nvSpPr>
        <p:spPr>
          <a:xfrm>
            <a:off x="411480" y="278892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18" name="Text 16"/>
          <p:cNvSpPr/>
          <p:nvPr/>
        </p:nvSpPr>
        <p:spPr>
          <a:xfrm>
            <a:off x="411480" y="288036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19" name="Text 17"/>
          <p:cNvSpPr/>
          <p:nvPr/>
        </p:nvSpPr>
        <p:spPr>
          <a:xfrm>
            <a:off x="521208" y="324612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Separate content from ops</a:t>
            </a:r>
            <a:endParaRPr lang="en-US" sz="1100" dirty="0"/>
          </a:p>
        </p:txBody>
      </p:sp>
      <p:sp>
        <p:nvSpPr>
          <p:cNvPr id="20" name="Text 18"/>
          <p:cNvSpPr/>
          <p:nvPr/>
        </p:nvSpPr>
        <p:spPr>
          <a:xfrm>
            <a:off x="521208" y="352044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Jira owns ADR content. Supabase owns operational data. Never duplicate. This decision made memory retrieval trivial.</a:t>
            </a:r>
            <a:endParaRPr lang="en-US" sz="950" dirty="0"/>
          </a:p>
        </p:txBody>
      </p:sp>
      <p:sp>
        <p:nvSpPr>
          <p:cNvPr id="21" name="Shape 19"/>
          <p:cNvSpPr/>
          <p:nvPr/>
        </p:nvSpPr>
        <p:spPr>
          <a:xfrm>
            <a:off x="3227832" y="278892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2" name="Text 20"/>
          <p:cNvSpPr/>
          <p:nvPr/>
        </p:nvSpPr>
        <p:spPr>
          <a:xfrm>
            <a:off x="3227832" y="288036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3" name="Text 21"/>
          <p:cNvSpPr/>
          <p:nvPr/>
        </p:nvSpPr>
        <p:spPr>
          <a:xfrm>
            <a:off x="3337560" y="324612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Mock mode is not optional</a:t>
            </a:r>
            <a:endParaRPr lang="en-US" sz="1100" dirty="0"/>
          </a:p>
        </p:txBody>
      </p:sp>
      <p:sp>
        <p:nvSpPr>
          <p:cNvPr id="24" name="Text 22"/>
          <p:cNvSpPr/>
          <p:nvPr/>
        </p:nvSpPr>
        <p:spPr>
          <a:xfrm>
            <a:off x="3337560" y="352044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ANTHROPIC_API_KEY=mock saved significant cost during build. Reserve real API calls for quality validation only.</a:t>
            </a:r>
            <a:endParaRPr lang="en-US" sz="950" dirty="0"/>
          </a:p>
        </p:txBody>
      </p:sp>
      <p:sp>
        <p:nvSpPr>
          <p:cNvPr id="25" name="Shape 23"/>
          <p:cNvSpPr/>
          <p:nvPr/>
        </p:nvSpPr>
        <p:spPr>
          <a:xfrm>
            <a:off x="6044184" y="2788920"/>
            <a:ext cx="2651760" cy="1261872"/>
          </a:xfrm>
          <a:prstGeom prst="roundRect">
            <a:avLst>
              <a:gd name="adj" fmla="val 5797"/>
            </a:avLst>
          </a:prstGeom>
          <a:solidFill>
            <a:srgbClr val="FFFFFF"/>
          </a:solidFill>
          <a:ln w="6350">
            <a:solidFill>
              <a:srgbClr val="D3D1C7"/>
            </a:solidFill>
            <a:prstDash val="solid"/>
          </a:ln>
          <a:effectLst>
            <a:outerShdw blurRad="76200" dist="25400" dir="2700000" algn="bl" rotWithShape="0">
              <a:srgbClr val="000000">
                <a:alpha val="7000"/>
              </a:srgbClr>
            </a:outerShdw>
          </a:effectLst>
        </p:spPr>
        <p:txBody>
          <a:bodyPr/>
          <a:lstStyle/>
          <a:p>
            <a:endParaRPr lang="en-US"/>
          </a:p>
        </p:txBody>
      </p:sp>
      <p:sp>
        <p:nvSpPr>
          <p:cNvPr id="26" name="Text 24"/>
          <p:cNvSpPr/>
          <p:nvPr/>
        </p:nvSpPr>
        <p:spPr>
          <a:xfrm>
            <a:off x="6044184" y="2880360"/>
            <a:ext cx="2651760" cy="365760"/>
          </a:xfrm>
          <a:prstGeom prst="rect">
            <a:avLst/>
          </a:prstGeom>
          <a:noFill/>
          <a:ln/>
        </p:spPr>
        <p:txBody>
          <a:bodyPr wrap="square" rtlCol="0" anchor="ctr"/>
          <a:lstStyle/>
          <a:p>
            <a:pPr marL="0" indent="0" algn="ctr">
              <a:buNone/>
            </a:pPr>
            <a:r>
              <a:rPr lang="en-US" sz="2000" dirty="0">
                <a:solidFill>
                  <a:srgbClr val="000000"/>
                </a:solidFill>
                <a:latin typeface="Arial" pitchFamily="34" charset="0"/>
                <a:ea typeface="Arial" pitchFamily="34" charset="-122"/>
                <a:cs typeface="Arial" pitchFamily="34" charset="-120"/>
              </a:rPr>
              <a:t>🧠</a:t>
            </a:r>
            <a:endParaRPr lang="en-US" sz="2000" dirty="0"/>
          </a:p>
        </p:txBody>
      </p:sp>
      <p:sp>
        <p:nvSpPr>
          <p:cNvPr id="27" name="Text 25"/>
          <p:cNvSpPr/>
          <p:nvPr/>
        </p:nvSpPr>
        <p:spPr>
          <a:xfrm>
            <a:off x="6153912" y="3246120"/>
            <a:ext cx="2432304" cy="274320"/>
          </a:xfrm>
          <a:prstGeom prst="rect">
            <a:avLst/>
          </a:prstGeom>
          <a:noFill/>
          <a:ln/>
        </p:spPr>
        <p:txBody>
          <a:bodyPr wrap="square" rtlCol="0" anchor="ctr"/>
          <a:lstStyle/>
          <a:p>
            <a:pPr marL="0" indent="0">
              <a:buNone/>
            </a:pPr>
            <a:r>
              <a:rPr lang="en-US" sz="1100" b="1" dirty="0">
                <a:solidFill>
                  <a:srgbClr val="0F1E3C"/>
                </a:solidFill>
                <a:latin typeface="Arial" pitchFamily="34" charset="0"/>
                <a:ea typeface="Arial" pitchFamily="34" charset="-122"/>
                <a:cs typeface="Arial" pitchFamily="34" charset="-120"/>
              </a:rPr>
              <a:t>The IP is the reasoning layer</a:t>
            </a:r>
            <a:endParaRPr lang="en-US" sz="1100" dirty="0"/>
          </a:p>
        </p:txBody>
      </p:sp>
      <p:sp>
        <p:nvSpPr>
          <p:cNvPr id="28" name="Text 26"/>
          <p:cNvSpPr/>
          <p:nvPr/>
        </p:nvSpPr>
        <p:spPr>
          <a:xfrm>
            <a:off x="6153912" y="3520440"/>
            <a:ext cx="2432304" cy="475488"/>
          </a:xfrm>
          <a:prstGeom prst="rect">
            <a:avLst/>
          </a:prstGeom>
          <a:noFill/>
          <a:ln/>
        </p:spPr>
        <p:txBody>
          <a:bodyPr wrap="square" rtlCol="0" anchor="t"/>
          <a:lstStyle/>
          <a:p>
            <a:pPr marL="0" indent="0">
              <a:buNone/>
            </a:pPr>
            <a:r>
              <a:rPr lang="en-US" sz="950" dirty="0">
                <a:solidFill>
                  <a:srgbClr val="64635E"/>
                </a:solidFill>
                <a:latin typeface="Arial" pitchFamily="34" charset="0"/>
                <a:ea typeface="Arial" pitchFamily="34" charset="-122"/>
                <a:cs typeface="Arial" pitchFamily="34" charset="-120"/>
              </a:rPr>
              <a:t>Anyone can wire MCP to Claude. The defensible moat is the accumulated prompt engineering and pattern library.</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0F1E3C"/>
        </a:solidFill>
        <a:effectLst/>
      </p:bgPr>
    </p:bg>
    <p:spTree>
      <p:nvGrpSpPr>
        <p:cNvPr id="1" name=""/>
        <p:cNvGrpSpPr/>
        <p:nvPr/>
      </p:nvGrpSpPr>
      <p:grpSpPr>
        <a:xfrm>
          <a:off x="0" y="0"/>
          <a:ext cx="0" cy="0"/>
          <a:chOff x="0" y="0"/>
          <a:chExt cx="0" cy="0"/>
        </a:xfrm>
      </p:grpSpPr>
      <p:sp>
        <p:nvSpPr>
          <p:cNvPr id="2" name="Text 0"/>
          <p:cNvSpPr/>
          <p:nvPr/>
        </p:nvSpPr>
        <p:spPr>
          <a:xfrm>
            <a:off x="502920" y="1371600"/>
            <a:ext cx="8138160" cy="822960"/>
          </a:xfrm>
          <a:prstGeom prst="rect">
            <a:avLst/>
          </a:prstGeom>
          <a:noFill/>
          <a:ln/>
        </p:spPr>
        <p:txBody>
          <a:bodyPr wrap="square" rtlCol="0" anchor="ctr"/>
          <a:lstStyle/>
          <a:p>
            <a:pPr marL="0" indent="0" algn="ctr">
              <a:buNone/>
            </a:pPr>
            <a:r>
              <a:rPr lang="en-US" sz="3800" b="1" dirty="0">
                <a:solidFill>
                  <a:srgbClr val="FFFFFF"/>
                </a:solidFill>
                <a:latin typeface="Arial" pitchFamily="34" charset="0"/>
                <a:ea typeface="Arial" pitchFamily="34" charset="-122"/>
                <a:cs typeface="Arial" pitchFamily="34" charset="-120"/>
              </a:rPr>
              <a:t>The Review Board is open.</a:t>
            </a:r>
            <a:endParaRPr lang="en-US" sz="3800" dirty="0"/>
          </a:p>
        </p:txBody>
      </p:sp>
      <p:sp>
        <p:nvSpPr>
          <p:cNvPr id="3" name="Text 1"/>
          <p:cNvSpPr/>
          <p:nvPr/>
        </p:nvSpPr>
        <p:spPr>
          <a:xfrm>
            <a:off x="502920" y="2331720"/>
            <a:ext cx="8138160" cy="411480"/>
          </a:xfrm>
          <a:prstGeom prst="rect">
            <a:avLst/>
          </a:prstGeom>
          <a:noFill/>
          <a:ln/>
        </p:spPr>
        <p:txBody>
          <a:bodyPr wrap="square" rtlCol="0" anchor="ctr"/>
          <a:lstStyle/>
          <a:p>
            <a:pPr marL="0" indent="0" algn="ctr">
              <a:buNone/>
            </a:pPr>
            <a:r>
              <a:rPr lang="en-US" sz="1800" dirty="0">
                <a:solidFill>
                  <a:srgbClr val="6A84A8"/>
                </a:solidFill>
                <a:latin typeface="Arial" pitchFamily="34" charset="0"/>
                <a:ea typeface="Arial" pitchFamily="34" charset="-122"/>
                <a:cs typeface="Arial" pitchFamily="34" charset="-120"/>
              </a:rPr>
              <a:t>arboard.vercel.app</a:t>
            </a:r>
            <a:endParaRPr lang="en-US" sz="1800" dirty="0"/>
          </a:p>
        </p:txBody>
      </p:sp>
      <p:sp>
        <p:nvSpPr>
          <p:cNvPr id="4" name="Shape 2"/>
          <p:cNvSpPr/>
          <p:nvPr/>
        </p:nvSpPr>
        <p:spPr>
          <a:xfrm>
            <a:off x="2743200" y="2834640"/>
            <a:ext cx="3657600" cy="0"/>
          </a:xfrm>
          <a:prstGeom prst="line">
            <a:avLst/>
          </a:prstGeom>
          <a:noFill/>
          <a:ln w="12700">
            <a:solidFill>
              <a:srgbClr val="2E6DA4"/>
            </a:solidFill>
            <a:prstDash val="solid"/>
          </a:ln>
        </p:spPr>
        <p:txBody>
          <a:bodyPr/>
          <a:lstStyle/>
          <a:p>
            <a:endParaRPr lang="en-US"/>
          </a:p>
        </p:txBody>
      </p:sp>
      <p:sp>
        <p:nvSpPr>
          <p:cNvPr id="5" name="Text 3"/>
          <p:cNvSpPr/>
          <p:nvPr/>
        </p:nvSpPr>
        <p:spPr>
          <a:xfrm>
            <a:off x="91440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9</a:t>
            </a:r>
            <a:endParaRPr lang="en-US" sz="2800" dirty="0"/>
          </a:p>
        </p:txBody>
      </p:sp>
      <p:sp>
        <p:nvSpPr>
          <p:cNvPr id="6" name="Text 4"/>
          <p:cNvSpPr/>
          <p:nvPr/>
        </p:nvSpPr>
        <p:spPr>
          <a:xfrm>
            <a:off x="91440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specialist agents</a:t>
            </a:r>
            <a:endParaRPr lang="en-US" sz="1000" dirty="0"/>
          </a:p>
        </p:txBody>
      </p:sp>
      <p:sp>
        <p:nvSpPr>
          <p:cNvPr id="7" name="Text 5"/>
          <p:cNvSpPr/>
          <p:nvPr/>
        </p:nvSpPr>
        <p:spPr>
          <a:xfrm>
            <a:off x="283464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4</a:t>
            </a:r>
            <a:endParaRPr lang="en-US" sz="2800" dirty="0"/>
          </a:p>
        </p:txBody>
      </p:sp>
      <p:sp>
        <p:nvSpPr>
          <p:cNvPr id="8" name="Text 6"/>
          <p:cNvSpPr/>
          <p:nvPr/>
        </p:nvSpPr>
        <p:spPr>
          <a:xfrm>
            <a:off x="283464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grounding layers</a:t>
            </a:r>
            <a:endParaRPr lang="en-US" sz="1000" dirty="0"/>
          </a:p>
        </p:txBody>
      </p:sp>
      <p:sp>
        <p:nvSpPr>
          <p:cNvPr id="9" name="Text 7"/>
          <p:cNvSpPr/>
          <p:nvPr/>
        </p:nvSpPr>
        <p:spPr>
          <a:xfrm>
            <a:off x="475488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~$0.08</a:t>
            </a:r>
            <a:endParaRPr lang="en-US" sz="2800" dirty="0"/>
          </a:p>
        </p:txBody>
      </p:sp>
      <p:sp>
        <p:nvSpPr>
          <p:cNvPr id="10" name="Text 8"/>
          <p:cNvSpPr/>
          <p:nvPr/>
        </p:nvSpPr>
        <p:spPr>
          <a:xfrm>
            <a:off x="475488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per session (optimised)</a:t>
            </a:r>
            <a:endParaRPr lang="en-US" sz="1000" dirty="0"/>
          </a:p>
        </p:txBody>
      </p:sp>
      <p:sp>
        <p:nvSpPr>
          <p:cNvPr id="11" name="Text 9"/>
          <p:cNvSpPr/>
          <p:nvPr/>
        </p:nvSpPr>
        <p:spPr>
          <a:xfrm>
            <a:off x="6675120" y="3017520"/>
            <a:ext cx="1828800" cy="502920"/>
          </a:xfrm>
          <a:prstGeom prst="rect">
            <a:avLst/>
          </a:prstGeom>
          <a:noFill/>
          <a:ln/>
        </p:spPr>
        <p:txBody>
          <a:bodyPr wrap="square" rtlCol="0" anchor="ctr"/>
          <a:lstStyle/>
          <a:p>
            <a:pPr marL="0" indent="0" algn="ctr">
              <a:buNone/>
            </a:pPr>
            <a:r>
              <a:rPr lang="en-US" sz="2800" b="1" dirty="0">
                <a:solidFill>
                  <a:srgbClr val="FFFFFF"/>
                </a:solidFill>
                <a:latin typeface="Arial" pitchFamily="34" charset="0"/>
                <a:ea typeface="Arial" pitchFamily="34" charset="-122"/>
                <a:cs typeface="Arial" pitchFamily="34" charset="-120"/>
              </a:rPr>
              <a:t>∞</a:t>
            </a:r>
            <a:endParaRPr lang="en-US" sz="2800" dirty="0"/>
          </a:p>
        </p:txBody>
      </p:sp>
      <p:sp>
        <p:nvSpPr>
          <p:cNvPr id="12" name="Text 10"/>
          <p:cNvSpPr/>
          <p:nvPr/>
        </p:nvSpPr>
        <p:spPr>
          <a:xfrm>
            <a:off x="6675120" y="3520440"/>
            <a:ext cx="1828800" cy="274320"/>
          </a:xfrm>
          <a:prstGeom prst="rect">
            <a:avLst/>
          </a:prstGeom>
          <a:noFill/>
          <a:ln/>
        </p:spPr>
        <p:txBody>
          <a:bodyPr wrap="square" rtlCol="0" anchor="ctr"/>
          <a:lstStyle/>
          <a:p>
            <a:pPr marL="0" indent="0" algn="ctr">
              <a:buNone/>
            </a:pPr>
            <a:r>
              <a:rPr lang="en-US" sz="1000" dirty="0">
                <a:solidFill>
                  <a:srgbClr val="6A84A8"/>
                </a:solidFill>
                <a:latin typeface="Arial" pitchFamily="34" charset="0"/>
                <a:ea typeface="Arial" pitchFamily="34" charset="-122"/>
                <a:cs typeface="Arial" pitchFamily="34" charset="-120"/>
              </a:rPr>
              <a:t>institutional memory</a:t>
            </a:r>
            <a:endParaRPr lang="en-US" sz="1000" dirty="0"/>
          </a:p>
        </p:txBody>
      </p:sp>
      <p:sp>
        <p:nvSpPr>
          <p:cNvPr id="13" name="Text 11"/>
          <p:cNvSpPr/>
          <p:nvPr/>
        </p:nvSpPr>
        <p:spPr>
          <a:xfrm>
            <a:off x="502920" y="4480560"/>
            <a:ext cx="8138160" cy="256032"/>
          </a:xfrm>
          <a:prstGeom prst="rect">
            <a:avLst/>
          </a:prstGeom>
          <a:noFill/>
          <a:ln/>
        </p:spPr>
        <p:txBody>
          <a:bodyPr wrap="square" rtlCol="0" anchor="ctr"/>
          <a:lstStyle/>
          <a:p>
            <a:pPr marL="0" indent="0" algn="ctr">
              <a:buNone/>
            </a:pPr>
            <a:r>
              <a:rPr lang="en-US" sz="950" dirty="0">
                <a:solidFill>
                  <a:srgbClr val="445566"/>
                </a:solidFill>
                <a:latin typeface="Arial" pitchFamily="34" charset="0"/>
                <a:ea typeface="Arial" pitchFamily="34" charset="-122"/>
                <a:cs typeface="Arial" pitchFamily="34" charset="-120"/>
              </a:rPr>
              <a:t>Built on Claude API · Next.js 14 · Supabase · Vercel · Jira · Salesforce MCP</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1645920"/>
            <a:ext cx="8138160" cy="731520"/>
          </a:xfrm>
          <a:prstGeom prst="rect">
            <a:avLst/>
          </a:prstGeom>
          <a:noFill/>
          <a:ln/>
        </p:spPr>
        <p:txBody>
          <a:bodyPr wrap="square" rtlCol="0" anchor="ctr"/>
          <a:lstStyle/>
          <a:p>
            <a:pPr marL="0" indent="0" algn="ctr">
              <a:buNone/>
            </a:pPr>
            <a:r>
              <a:rPr lang="en-US" sz="4200" b="1" dirty="0">
                <a:solidFill>
                  <a:srgbClr val="FFFFFF"/>
                </a:solidFill>
                <a:latin typeface="Arial" pitchFamily="34" charset="0"/>
                <a:ea typeface="Arial" pitchFamily="34" charset="-122"/>
                <a:cs typeface="Arial" pitchFamily="34" charset="-120"/>
              </a:rPr>
              <a:t>Technical Appendix</a:t>
            </a:r>
            <a:endParaRPr lang="en-US" sz="4200" dirty="0"/>
          </a:p>
        </p:txBody>
      </p:sp>
      <p:sp>
        <p:nvSpPr>
          <p:cNvPr id="3" name="Text 1"/>
          <p:cNvSpPr/>
          <p:nvPr/>
        </p:nvSpPr>
        <p:spPr>
          <a:xfrm>
            <a:off x="502920" y="2468880"/>
            <a:ext cx="8138160" cy="365760"/>
          </a:xfrm>
          <a:prstGeom prst="rect">
            <a:avLst/>
          </a:prstGeom>
          <a:noFill/>
          <a:ln/>
        </p:spPr>
        <p:txBody>
          <a:bodyPr wrap="square" rtlCol="0" anchor="ctr"/>
          <a:lstStyle/>
          <a:p>
            <a:pPr marL="0" indent="0" algn="ctr">
              <a:buNone/>
            </a:pPr>
            <a:r>
              <a:rPr lang="en-US" sz="1400" dirty="0">
                <a:solidFill>
                  <a:srgbClr val="6A84A8"/>
                </a:solidFill>
                <a:latin typeface="Arial" pitchFamily="34" charset="0"/>
                <a:ea typeface="Arial" pitchFamily="34" charset="-122"/>
                <a:cs typeface="Arial" pitchFamily="34" charset="-120"/>
              </a:rPr>
              <a:t>Codebase architecture · File map · Sequence flows · Prompt anatomy</a:t>
            </a:r>
            <a:endParaRPr lang="en-US" sz="1400" dirty="0"/>
          </a:p>
        </p:txBody>
      </p:sp>
      <p:sp>
        <p:nvSpPr>
          <p:cNvPr id="4" name="Shape 2"/>
          <p:cNvSpPr/>
          <p:nvPr/>
        </p:nvSpPr>
        <p:spPr>
          <a:xfrm>
            <a:off x="2286000" y="2423160"/>
            <a:ext cx="4572000" cy="0"/>
          </a:xfrm>
          <a:prstGeom prst="line">
            <a:avLst/>
          </a:prstGeom>
          <a:noFill/>
          <a:ln w="19050">
            <a:solidFill>
              <a:srgbClr val="2E6DA4"/>
            </a:solidFill>
            <a:prstDash val="solid"/>
          </a:ln>
        </p:spPr>
        <p:txBody>
          <a:bodyPr/>
          <a:lstStyle/>
          <a:p>
            <a:endParaRPr lang="en-US"/>
          </a:p>
        </p:txBody>
      </p:sp>
      <p:sp>
        <p:nvSpPr>
          <p:cNvPr id="5" name="Text 3"/>
          <p:cNvSpPr/>
          <p:nvPr/>
        </p:nvSpPr>
        <p:spPr>
          <a:xfrm>
            <a:off x="502920" y="4480560"/>
            <a:ext cx="8138160" cy="256032"/>
          </a:xfrm>
          <a:prstGeom prst="rect">
            <a:avLst/>
          </a:prstGeom>
          <a:noFill/>
          <a:ln/>
        </p:spPr>
        <p:txBody>
          <a:bodyPr wrap="square" rtlCol="0" anchor="ctr"/>
          <a:lstStyle/>
          <a:p>
            <a:pPr marL="0" indent="0" algn="ctr">
              <a:buNone/>
            </a:pPr>
            <a:r>
              <a:rPr lang="en-US" sz="1000" i="1" dirty="0">
                <a:solidFill>
                  <a:srgbClr val="445566"/>
                </a:solidFill>
                <a:latin typeface="Arial" pitchFamily="34" charset="0"/>
                <a:ea typeface="Arial" pitchFamily="34" charset="-122"/>
                <a:cs typeface="Arial" pitchFamily="34" charset="-120"/>
              </a:rPr>
              <a:t>For technical audiences — architects, leads, and developers</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CODEBASE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Every key file and what it owns</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298448"/>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411480" y="1298448"/>
            <a:ext cx="1005840" cy="640080"/>
          </a:xfrm>
          <a:prstGeom prst="roundRect">
            <a:avLst>
              <a:gd name="adj" fmla="val 11429"/>
            </a:avLst>
          </a:prstGeom>
          <a:solidFill>
            <a:srgbClr val="0F1E3C"/>
          </a:solidFill>
          <a:ln w="12700">
            <a:solidFill>
              <a:srgbClr val="0F1E3C"/>
            </a:solidFill>
            <a:prstDash val="solid"/>
          </a:ln>
        </p:spPr>
        <p:txBody>
          <a:bodyPr/>
          <a:lstStyle/>
          <a:p>
            <a:endParaRPr lang="en-US"/>
          </a:p>
        </p:txBody>
      </p:sp>
      <p:sp>
        <p:nvSpPr>
          <p:cNvPr id="7" name="Text 5"/>
          <p:cNvSpPr/>
          <p:nvPr/>
        </p:nvSpPr>
        <p:spPr>
          <a:xfrm>
            <a:off x="411480" y="1344168"/>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Orchestration</a:t>
            </a:r>
            <a:endParaRPr lang="en-US" sz="800" dirty="0"/>
          </a:p>
        </p:txBody>
      </p:sp>
      <p:sp>
        <p:nvSpPr>
          <p:cNvPr id="8" name="Text 6"/>
          <p:cNvSpPr/>
          <p:nvPr/>
        </p:nvSpPr>
        <p:spPr>
          <a:xfrm>
            <a:off x="1490472" y="1353312"/>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ForumOrchestrator.ts</a:t>
            </a:r>
            <a:endParaRPr lang="en-US" sz="1000" dirty="0"/>
          </a:p>
        </p:txBody>
      </p:sp>
      <p:sp>
        <p:nvSpPr>
          <p:cNvPr id="9" name="Text 7"/>
          <p:cNvSpPr/>
          <p:nvPr/>
        </p:nvSpPr>
        <p:spPr>
          <a:xfrm>
            <a:off x="1490472" y="1572768"/>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Runs the 3-phase pipeline. Coordinates memory retrieval, agent execution, and result assembly.</a:t>
            </a:r>
            <a:endParaRPr lang="en-US" sz="850" dirty="0"/>
          </a:p>
        </p:txBody>
      </p:sp>
      <p:sp>
        <p:nvSpPr>
          <p:cNvPr id="10" name="Shape 8"/>
          <p:cNvSpPr/>
          <p:nvPr/>
        </p:nvSpPr>
        <p:spPr>
          <a:xfrm>
            <a:off x="4663440" y="1298448"/>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1" name="Shape 9"/>
          <p:cNvSpPr/>
          <p:nvPr/>
        </p:nvSpPr>
        <p:spPr>
          <a:xfrm>
            <a:off x="4663440" y="1298448"/>
            <a:ext cx="1005840" cy="640080"/>
          </a:xfrm>
          <a:prstGeom prst="roundRect">
            <a:avLst>
              <a:gd name="adj" fmla="val 11429"/>
            </a:avLst>
          </a:prstGeom>
          <a:solidFill>
            <a:srgbClr val="1B4F9B"/>
          </a:solidFill>
          <a:ln w="12700">
            <a:solidFill>
              <a:srgbClr val="1B4F9B"/>
            </a:solidFill>
            <a:prstDash val="solid"/>
          </a:ln>
        </p:spPr>
        <p:txBody>
          <a:bodyPr/>
          <a:lstStyle/>
          <a:p>
            <a:endParaRPr lang="en-US"/>
          </a:p>
        </p:txBody>
      </p:sp>
      <p:sp>
        <p:nvSpPr>
          <p:cNvPr id="12" name="Text 10"/>
          <p:cNvSpPr/>
          <p:nvPr/>
        </p:nvSpPr>
        <p:spPr>
          <a:xfrm>
            <a:off x="4663440" y="1344168"/>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Agent runtime</a:t>
            </a:r>
            <a:endParaRPr lang="en-US" sz="800" dirty="0"/>
          </a:p>
        </p:txBody>
      </p:sp>
      <p:sp>
        <p:nvSpPr>
          <p:cNvPr id="13" name="Text 11"/>
          <p:cNvSpPr/>
          <p:nvPr/>
        </p:nvSpPr>
        <p:spPr>
          <a:xfrm>
            <a:off x="5742432" y="1353312"/>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AgentRunner.ts</a:t>
            </a:r>
            <a:endParaRPr lang="en-US" sz="1000" dirty="0"/>
          </a:p>
        </p:txBody>
      </p:sp>
      <p:sp>
        <p:nvSpPr>
          <p:cNvPr id="14" name="Text 12"/>
          <p:cNvSpPr/>
          <p:nvPr/>
        </p:nvSpPr>
        <p:spPr>
          <a:xfrm>
            <a:off x="5742432" y="1572768"/>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Builds each agent's final system prompt (base + WA principles + memory + org context) and calls Anthropic API.</a:t>
            </a:r>
            <a:endParaRPr lang="en-US" sz="850" dirty="0"/>
          </a:p>
        </p:txBody>
      </p:sp>
      <p:sp>
        <p:nvSpPr>
          <p:cNvPr id="15" name="Shape 13"/>
          <p:cNvSpPr/>
          <p:nvPr/>
        </p:nvSpPr>
        <p:spPr>
          <a:xfrm>
            <a:off x="411480" y="2048256"/>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6" name="Shape 14"/>
          <p:cNvSpPr/>
          <p:nvPr/>
        </p:nvSpPr>
        <p:spPr>
          <a:xfrm>
            <a:off x="411480" y="2048256"/>
            <a:ext cx="1005840" cy="640080"/>
          </a:xfrm>
          <a:prstGeom prst="roundRect">
            <a:avLst>
              <a:gd name="adj" fmla="val 11429"/>
            </a:avLst>
          </a:prstGeom>
          <a:solidFill>
            <a:srgbClr val="0F6E56"/>
          </a:solidFill>
          <a:ln w="12700">
            <a:solidFill>
              <a:srgbClr val="0F6E56"/>
            </a:solidFill>
            <a:prstDash val="solid"/>
          </a:ln>
        </p:spPr>
        <p:txBody>
          <a:bodyPr/>
          <a:lstStyle/>
          <a:p>
            <a:endParaRPr lang="en-US"/>
          </a:p>
        </p:txBody>
      </p:sp>
      <p:sp>
        <p:nvSpPr>
          <p:cNvPr id="17" name="Text 15"/>
          <p:cNvSpPr/>
          <p:nvPr/>
        </p:nvSpPr>
        <p:spPr>
          <a:xfrm>
            <a:off x="411480" y="2093976"/>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18" name="Text 16"/>
          <p:cNvSpPr/>
          <p:nvPr/>
        </p:nvSpPr>
        <p:spPr>
          <a:xfrm>
            <a:off x="1490472" y="2103120"/>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jiraMemoryRetriever.ts</a:t>
            </a:r>
            <a:endParaRPr lang="en-US" sz="1000" dirty="0"/>
          </a:p>
        </p:txBody>
      </p:sp>
      <p:sp>
        <p:nvSpPr>
          <p:cNvPr id="19" name="Text 17"/>
          <p:cNvSpPr/>
          <p:nvPr/>
        </p:nvSpPr>
        <p:spPr>
          <a:xfrm>
            <a:off x="1490472" y="2322576"/>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Queries ARBOARD Jira project for past ADRs. Scores by domain keyword overlap. Returns top 5 relevant decisions.</a:t>
            </a:r>
            <a:endParaRPr lang="en-US" sz="850" dirty="0"/>
          </a:p>
        </p:txBody>
      </p:sp>
      <p:sp>
        <p:nvSpPr>
          <p:cNvPr id="20" name="Shape 18"/>
          <p:cNvSpPr/>
          <p:nvPr/>
        </p:nvSpPr>
        <p:spPr>
          <a:xfrm>
            <a:off x="4663440" y="2048256"/>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1" name="Shape 19"/>
          <p:cNvSpPr/>
          <p:nvPr/>
        </p:nvSpPr>
        <p:spPr>
          <a:xfrm>
            <a:off x="4663440" y="2048256"/>
            <a:ext cx="1005840" cy="640080"/>
          </a:xfrm>
          <a:prstGeom prst="roundRect">
            <a:avLst>
              <a:gd name="adj" fmla="val 11429"/>
            </a:avLst>
          </a:prstGeom>
          <a:solidFill>
            <a:srgbClr val="0F6E56"/>
          </a:solidFill>
          <a:ln w="12700">
            <a:solidFill>
              <a:srgbClr val="0F6E56"/>
            </a:solidFill>
            <a:prstDash val="solid"/>
          </a:ln>
        </p:spPr>
        <p:txBody>
          <a:bodyPr/>
          <a:lstStyle/>
          <a:p>
            <a:endParaRPr lang="en-US"/>
          </a:p>
        </p:txBody>
      </p:sp>
      <p:sp>
        <p:nvSpPr>
          <p:cNvPr id="22" name="Text 20"/>
          <p:cNvSpPr/>
          <p:nvPr/>
        </p:nvSpPr>
        <p:spPr>
          <a:xfrm>
            <a:off x="4663440" y="2093976"/>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Memory</a:t>
            </a:r>
            <a:endParaRPr lang="en-US" sz="800" dirty="0"/>
          </a:p>
        </p:txBody>
      </p:sp>
      <p:sp>
        <p:nvSpPr>
          <p:cNvPr id="23" name="Text 21"/>
          <p:cNvSpPr/>
          <p:nvPr/>
        </p:nvSpPr>
        <p:spPr>
          <a:xfrm>
            <a:off x="5742432" y="2103120"/>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contextInjector.ts</a:t>
            </a:r>
            <a:endParaRPr lang="en-US" sz="1000" dirty="0"/>
          </a:p>
        </p:txBody>
      </p:sp>
      <p:sp>
        <p:nvSpPr>
          <p:cNvPr id="24" name="Text 22"/>
          <p:cNvSpPr/>
          <p:nvPr/>
        </p:nvSpPr>
        <p:spPr>
          <a:xfrm>
            <a:off x="5742432" y="2322576"/>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Formats past ADRs into per-agent memory blocks. Filters by agent domain. Adds conflict warnings where applicable.</a:t>
            </a:r>
            <a:endParaRPr lang="en-US" sz="850" dirty="0"/>
          </a:p>
        </p:txBody>
      </p:sp>
      <p:sp>
        <p:nvSpPr>
          <p:cNvPr id="25" name="Shape 23"/>
          <p:cNvSpPr/>
          <p:nvPr/>
        </p:nvSpPr>
        <p:spPr>
          <a:xfrm>
            <a:off x="411480" y="2798064"/>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6" name="Shape 24"/>
          <p:cNvSpPr/>
          <p:nvPr/>
        </p:nvSpPr>
        <p:spPr>
          <a:xfrm>
            <a:off x="411480" y="2798064"/>
            <a:ext cx="1005840" cy="640080"/>
          </a:xfrm>
          <a:prstGeom prst="roundRect">
            <a:avLst>
              <a:gd name="adj" fmla="val 11429"/>
            </a:avLst>
          </a:prstGeom>
          <a:solidFill>
            <a:srgbClr val="534AB7"/>
          </a:solidFill>
          <a:ln w="12700">
            <a:solidFill>
              <a:srgbClr val="534AB7"/>
            </a:solidFill>
            <a:prstDash val="solid"/>
          </a:ln>
        </p:spPr>
        <p:txBody>
          <a:bodyPr/>
          <a:lstStyle/>
          <a:p>
            <a:endParaRPr lang="en-US"/>
          </a:p>
        </p:txBody>
      </p:sp>
      <p:sp>
        <p:nvSpPr>
          <p:cNvPr id="27" name="Text 25"/>
          <p:cNvSpPr/>
          <p:nvPr/>
        </p:nvSpPr>
        <p:spPr>
          <a:xfrm>
            <a:off x="411480" y="2843784"/>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28" name="Text 26"/>
          <p:cNvSpPr/>
          <p:nvPr/>
        </p:nvSpPr>
        <p:spPr>
          <a:xfrm>
            <a:off x="1490472" y="2852928"/>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wellArchitectedPrinciples.ts</a:t>
            </a:r>
            <a:endParaRPr lang="en-US" sz="1000" dirty="0"/>
          </a:p>
        </p:txBody>
      </p:sp>
      <p:sp>
        <p:nvSpPr>
          <p:cNvPr id="29" name="Text 27"/>
          <p:cNvSpPr/>
          <p:nvPr/>
        </p:nvSpPr>
        <p:spPr>
          <a:xfrm>
            <a:off x="1490472" y="3072384"/>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9 agent-keyed principle sets. Injected into system prompt after memory. Grounds agents in SF Well-Architected Framework.</a:t>
            </a:r>
            <a:endParaRPr lang="en-US" sz="850" dirty="0"/>
          </a:p>
        </p:txBody>
      </p:sp>
      <p:sp>
        <p:nvSpPr>
          <p:cNvPr id="30" name="Shape 28"/>
          <p:cNvSpPr/>
          <p:nvPr/>
        </p:nvSpPr>
        <p:spPr>
          <a:xfrm>
            <a:off x="4663440" y="2798064"/>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1" name="Shape 29"/>
          <p:cNvSpPr/>
          <p:nvPr/>
        </p:nvSpPr>
        <p:spPr>
          <a:xfrm>
            <a:off x="4663440" y="2798064"/>
            <a:ext cx="1005840" cy="640080"/>
          </a:xfrm>
          <a:prstGeom prst="roundRect">
            <a:avLst>
              <a:gd name="adj" fmla="val 11429"/>
            </a:avLst>
          </a:prstGeom>
          <a:solidFill>
            <a:srgbClr val="534AB7"/>
          </a:solidFill>
          <a:ln w="12700">
            <a:solidFill>
              <a:srgbClr val="534AB7"/>
            </a:solidFill>
            <a:prstDash val="solid"/>
          </a:ln>
        </p:spPr>
        <p:txBody>
          <a:bodyPr/>
          <a:lstStyle/>
          <a:p>
            <a:endParaRPr lang="en-US"/>
          </a:p>
        </p:txBody>
      </p:sp>
      <p:sp>
        <p:nvSpPr>
          <p:cNvPr id="32" name="Text 30"/>
          <p:cNvSpPr/>
          <p:nvPr/>
        </p:nvSpPr>
        <p:spPr>
          <a:xfrm>
            <a:off x="4663440" y="2843784"/>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Grounding</a:t>
            </a:r>
            <a:endParaRPr lang="en-US" sz="800" dirty="0"/>
          </a:p>
        </p:txBody>
      </p:sp>
      <p:sp>
        <p:nvSpPr>
          <p:cNvPr id="33" name="Text 31"/>
          <p:cNvSpPr/>
          <p:nvPr/>
        </p:nvSpPr>
        <p:spPr>
          <a:xfrm>
            <a:off x="5742432" y="2852928"/>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patternRetrieval.ts</a:t>
            </a:r>
            <a:endParaRPr lang="en-US" sz="1000" dirty="0"/>
          </a:p>
        </p:txBody>
      </p:sp>
      <p:sp>
        <p:nvSpPr>
          <p:cNvPr id="34" name="Text 32"/>
          <p:cNvSpPr/>
          <p:nvPr/>
        </p:nvSpPr>
        <p:spPr>
          <a:xfrm>
            <a:off x="5742432" y="3072384"/>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Retrieves SI failure patterns from Supabase. Agents cite FP-xxx IDs in their analysis when patterns are matched.</a:t>
            </a:r>
            <a:endParaRPr lang="en-US" sz="850" dirty="0"/>
          </a:p>
        </p:txBody>
      </p:sp>
      <p:sp>
        <p:nvSpPr>
          <p:cNvPr id="35" name="Shape 33"/>
          <p:cNvSpPr/>
          <p:nvPr/>
        </p:nvSpPr>
        <p:spPr>
          <a:xfrm>
            <a:off x="411480" y="3547872"/>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6" name="Shape 34"/>
          <p:cNvSpPr/>
          <p:nvPr/>
        </p:nvSpPr>
        <p:spPr>
          <a:xfrm>
            <a:off x="411480" y="3547872"/>
            <a:ext cx="1005840" cy="640080"/>
          </a:xfrm>
          <a:prstGeom prst="roundRect">
            <a:avLst>
              <a:gd name="adj" fmla="val 11429"/>
            </a:avLst>
          </a:prstGeom>
          <a:solidFill>
            <a:srgbClr val="BA7517"/>
          </a:solidFill>
          <a:ln w="12700">
            <a:solidFill>
              <a:srgbClr val="BA7517"/>
            </a:solidFill>
            <a:prstDash val="solid"/>
          </a:ln>
        </p:spPr>
        <p:txBody>
          <a:bodyPr/>
          <a:lstStyle/>
          <a:p>
            <a:endParaRPr lang="en-US"/>
          </a:p>
        </p:txBody>
      </p:sp>
      <p:sp>
        <p:nvSpPr>
          <p:cNvPr id="37" name="Text 35"/>
          <p:cNvSpPr/>
          <p:nvPr/>
        </p:nvSpPr>
        <p:spPr>
          <a:xfrm>
            <a:off x="411480" y="3593592"/>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38" name="Text 36"/>
          <p:cNvSpPr/>
          <p:nvPr/>
        </p:nvSpPr>
        <p:spPr>
          <a:xfrm>
            <a:off x="1490472" y="3602736"/>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jira.ts</a:t>
            </a:r>
            <a:endParaRPr lang="en-US" sz="1000" dirty="0"/>
          </a:p>
        </p:txBody>
      </p:sp>
      <p:sp>
        <p:nvSpPr>
          <p:cNvPr id="39" name="Text 37"/>
          <p:cNvSpPr/>
          <p:nvPr/>
        </p:nvSpPr>
        <p:spPr>
          <a:xfrm>
            <a:off x="1490472" y="3822192"/>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Creates ADR tickets in ARBOARD project. Assigns reviewers. Posts human judgement comments. Manages arboard-adr/signed labels.</a:t>
            </a:r>
            <a:endParaRPr lang="en-US" sz="850" dirty="0"/>
          </a:p>
        </p:txBody>
      </p:sp>
      <p:sp>
        <p:nvSpPr>
          <p:cNvPr id="40" name="Shape 38"/>
          <p:cNvSpPr/>
          <p:nvPr/>
        </p:nvSpPr>
        <p:spPr>
          <a:xfrm>
            <a:off x="4663440" y="3547872"/>
            <a:ext cx="416052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1" name="Shape 39"/>
          <p:cNvSpPr/>
          <p:nvPr/>
        </p:nvSpPr>
        <p:spPr>
          <a:xfrm>
            <a:off x="4663440" y="3547872"/>
            <a:ext cx="1005840" cy="640080"/>
          </a:xfrm>
          <a:prstGeom prst="roundRect">
            <a:avLst>
              <a:gd name="adj" fmla="val 11429"/>
            </a:avLst>
          </a:prstGeom>
          <a:solidFill>
            <a:srgbClr val="BA7517"/>
          </a:solidFill>
          <a:ln w="12700">
            <a:solidFill>
              <a:srgbClr val="BA7517"/>
            </a:solidFill>
            <a:prstDash val="solid"/>
          </a:ln>
        </p:spPr>
        <p:txBody>
          <a:bodyPr/>
          <a:lstStyle/>
          <a:p>
            <a:endParaRPr lang="en-US"/>
          </a:p>
        </p:txBody>
      </p:sp>
      <p:sp>
        <p:nvSpPr>
          <p:cNvPr id="42" name="Text 40"/>
          <p:cNvSpPr/>
          <p:nvPr/>
        </p:nvSpPr>
        <p:spPr>
          <a:xfrm>
            <a:off x="4663440" y="3593592"/>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Integration</a:t>
            </a:r>
            <a:endParaRPr lang="en-US" sz="800" dirty="0"/>
          </a:p>
        </p:txBody>
      </p:sp>
      <p:sp>
        <p:nvSpPr>
          <p:cNvPr id="43" name="Text 41"/>
          <p:cNvSpPr/>
          <p:nvPr/>
        </p:nvSpPr>
        <p:spPr>
          <a:xfrm>
            <a:off x="5742432" y="3602736"/>
            <a:ext cx="292608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OrgMetadataCollector.ts</a:t>
            </a:r>
            <a:endParaRPr lang="en-US" sz="1000" dirty="0"/>
          </a:p>
        </p:txBody>
      </p:sp>
      <p:sp>
        <p:nvSpPr>
          <p:cNvPr id="44" name="Text 42"/>
          <p:cNvSpPr/>
          <p:nvPr/>
        </p:nvSpPr>
        <p:spPr>
          <a:xfrm>
            <a:off x="5742432" y="3822192"/>
            <a:ext cx="292608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Collects live Salesforce org metadata via MCP or jsforce fallback. Feeds object/trigger/flow context to agents.</a:t>
            </a:r>
            <a:endParaRPr lang="en-US" sz="850" dirty="0"/>
          </a:p>
        </p:txBody>
      </p:sp>
      <p:sp>
        <p:nvSpPr>
          <p:cNvPr id="45" name="Shape 43"/>
          <p:cNvSpPr/>
          <p:nvPr/>
        </p:nvSpPr>
        <p:spPr>
          <a:xfrm>
            <a:off x="411480" y="4297680"/>
            <a:ext cx="8321040" cy="640080"/>
          </a:xfrm>
          <a:prstGeom prst="roundRect">
            <a:avLst>
              <a:gd name="adj" fmla="val 11429"/>
            </a:avLst>
          </a:prstGeom>
          <a:solidFill>
            <a:srgbClr val="F7F8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6" name="Shape 44"/>
          <p:cNvSpPr/>
          <p:nvPr/>
        </p:nvSpPr>
        <p:spPr>
          <a:xfrm>
            <a:off x="411480" y="4297680"/>
            <a:ext cx="1005840" cy="640080"/>
          </a:xfrm>
          <a:prstGeom prst="roundRect">
            <a:avLst>
              <a:gd name="adj" fmla="val 11429"/>
            </a:avLst>
          </a:prstGeom>
          <a:solidFill>
            <a:srgbClr val="993C1D"/>
          </a:solidFill>
          <a:ln w="12700">
            <a:solidFill>
              <a:srgbClr val="993C1D"/>
            </a:solidFill>
            <a:prstDash val="solid"/>
          </a:ln>
        </p:spPr>
        <p:txBody>
          <a:bodyPr/>
          <a:lstStyle/>
          <a:p>
            <a:endParaRPr lang="en-US"/>
          </a:p>
        </p:txBody>
      </p:sp>
      <p:sp>
        <p:nvSpPr>
          <p:cNvPr id="47" name="Text 45"/>
          <p:cNvSpPr/>
          <p:nvPr/>
        </p:nvSpPr>
        <p:spPr>
          <a:xfrm>
            <a:off x="411480" y="4343400"/>
            <a:ext cx="1005840" cy="256032"/>
          </a:xfrm>
          <a:prstGeom prst="rect">
            <a:avLst/>
          </a:prstGeom>
          <a:noFill/>
          <a:ln/>
        </p:spPr>
        <p:txBody>
          <a:bodyPr wrap="square" rtlCol="0" anchor="ctr"/>
          <a:lstStyle/>
          <a:p>
            <a:pPr marL="0" indent="0" algn="ctr">
              <a:buNone/>
            </a:pPr>
            <a:r>
              <a:rPr lang="en-US" sz="800" b="1" dirty="0">
                <a:solidFill>
                  <a:srgbClr val="FFFFFF"/>
                </a:solidFill>
                <a:latin typeface="Arial" pitchFamily="34" charset="0"/>
                <a:ea typeface="Arial" pitchFamily="34" charset="-122"/>
                <a:cs typeface="Arial" pitchFamily="34" charset="-120"/>
              </a:rPr>
              <a:t>Analysis</a:t>
            </a:r>
            <a:endParaRPr lang="en-US" sz="800" dirty="0"/>
          </a:p>
        </p:txBody>
      </p:sp>
      <p:sp>
        <p:nvSpPr>
          <p:cNvPr id="48" name="Text 46"/>
          <p:cNvSpPr/>
          <p:nvPr/>
        </p:nvSpPr>
        <p:spPr>
          <a:xfrm>
            <a:off x="1490472" y="4352544"/>
            <a:ext cx="7178040" cy="201168"/>
          </a:xfrm>
          <a:prstGeom prst="rect">
            <a:avLst/>
          </a:prstGeom>
          <a:noFill/>
          <a:ln/>
        </p:spPr>
        <p:txBody>
          <a:bodyPr wrap="square" rtlCol="0" anchor="ctr"/>
          <a:lstStyle/>
          <a:p>
            <a:pPr marL="0" indent="0">
              <a:buNone/>
            </a:pPr>
            <a:r>
              <a:rPr lang="en-US" sz="1000" b="1" dirty="0">
                <a:solidFill>
                  <a:srgbClr val="0F1E3C"/>
                </a:solidFill>
                <a:latin typeface="Arial" pitchFamily="34" charset="0"/>
                <a:ea typeface="Arial" pitchFamily="34" charset="-122"/>
                <a:cs typeface="Arial" pitchFamily="34" charset="-120"/>
              </a:rPr>
              <a:t>ImpactAnalyser.ts</a:t>
            </a:r>
            <a:endParaRPr lang="en-US" sz="1000" dirty="0"/>
          </a:p>
        </p:txBody>
      </p:sp>
      <p:sp>
        <p:nvSpPr>
          <p:cNvPr id="49" name="Text 47"/>
          <p:cNvSpPr/>
          <p:nvPr/>
        </p:nvSpPr>
        <p:spPr>
          <a:xfrm>
            <a:off x="1490472" y="4572000"/>
            <a:ext cx="7178040" cy="310896"/>
          </a:xfrm>
          <a:prstGeom prst="rect">
            <a:avLst/>
          </a:prstGeom>
          <a:noFill/>
          <a:ln/>
        </p:spPr>
        <p:txBody>
          <a:bodyPr wrap="square" rtlCol="0" anchor="ctr"/>
          <a:lstStyle/>
          <a:p>
            <a:pPr marL="0" indent="0">
              <a:buNone/>
            </a:pPr>
            <a:r>
              <a:rPr lang="en-US" sz="850" dirty="0">
                <a:solidFill>
                  <a:srgbClr val="64635E"/>
                </a:solidFill>
                <a:latin typeface="Arial" pitchFamily="34" charset="0"/>
                <a:ea typeface="Arial" pitchFamily="34" charset="-122"/>
                <a:cs typeface="Arial" pitchFamily="34" charset="-120"/>
              </a:rPr>
              <a:t>Analyses the requirement to determine which specialist agents are relevant. Avoids running all 9 agents when unnecessary.</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SEQUENCE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End-to-end: from doc upload to Jira ticket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325880"/>
            <a:ext cx="2011680" cy="1353312"/>
          </a:xfrm>
          <a:prstGeom prst="roundRect">
            <a:avLst>
              <a:gd name="adj" fmla="val 5405"/>
            </a:avLst>
          </a:prstGeom>
          <a:solidFill>
            <a:srgbClr val="EB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1170432" y="1417320"/>
            <a:ext cx="475488" cy="475488"/>
          </a:xfrm>
          <a:prstGeom prst="ellipse">
            <a:avLst/>
          </a:prstGeom>
          <a:solidFill>
            <a:srgbClr val="0F1E3C"/>
          </a:solidFill>
          <a:ln w="12700">
            <a:solidFill>
              <a:srgbClr val="0F1E3C"/>
            </a:solidFill>
            <a:prstDash val="solid"/>
          </a:ln>
        </p:spPr>
        <p:txBody>
          <a:bodyPr/>
          <a:lstStyle/>
          <a:p>
            <a:endParaRPr lang="en-US"/>
          </a:p>
        </p:txBody>
      </p:sp>
      <p:sp>
        <p:nvSpPr>
          <p:cNvPr id="7" name="Text 5"/>
          <p:cNvSpPr/>
          <p:nvPr/>
        </p:nvSpPr>
        <p:spPr>
          <a:xfrm>
            <a:off x="117043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p:nvPr/>
        </p:nvSpPr>
        <p:spPr>
          <a:xfrm>
            <a:off x="41148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Upload &amp; extract</a:t>
            </a:r>
            <a:endParaRPr lang="en-US" sz="1100" dirty="0"/>
          </a:p>
        </p:txBody>
      </p:sp>
      <p:sp>
        <p:nvSpPr>
          <p:cNvPr id="9" name="Text 7"/>
          <p:cNvSpPr/>
          <p:nvPr/>
        </p:nvSpPr>
        <p:spPr>
          <a:xfrm>
            <a:off x="411480" y="2203704"/>
            <a:ext cx="2011680" cy="201168"/>
          </a:xfrm>
          <a:prstGeom prst="rect">
            <a:avLst/>
          </a:prstGeom>
          <a:noFill/>
          <a:ln/>
        </p:spPr>
        <p:txBody>
          <a:bodyPr wrap="square" rtlCol="0" anchor="ctr"/>
          <a:lstStyle/>
          <a:p>
            <a:pPr marL="0" indent="0" algn="ctr">
              <a:buNone/>
            </a:pPr>
            <a:r>
              <a:rPr lang="en-US" sz="850" b="1" dirty="0">
                <a:solidFill>
                  <a:srgbClr val="0F1E3C"/>
                </a:solidFill>
                <a:latin typeface="Arial" pitchFamily="34" charset="0"/>
                <a:ea typeface="Arial" pitchFamily="34" charset="-122"/>
                <a:cs typeface="Arial" pitchFamily="34" charset="-120"/>
              </a:rPr>
              <a:t>api/upload/route.ts</a:t>
            </a:r>
            <a:endParaRPr lang="en-US" sz="850" dirty="0"/>
          </a:p>
        </p:txBody>
      </p:sp>
      <p:sp>
        <p:nvSpPr>
          <p:cNvPr id="10" name="Text 8"/>
          <p:cNvSpPr/>
          <p:nvPr/>
        </p:nvSpPr>
        <p:spPr>
          <a:xfrm>
            <a:off x="41148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PDF/Word → text extracted</a:t>
            </a:r>
            <a:endParaRPr lang="en-US" sz="850" dirty="0"/>
          </a:p>
        </p:txBody>
      </p:sp>
      <p:sp>
        <p:nvSpPr>
          <p:cNvPr id="11" name="Text 9"/>
          <p:cNvSpPr/>
          <p:nvPr/>
        </p:nvSpPr>
        <p:spPr>
          <a:xfrm>
            <a:off x="2423160" y="174650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2" name="Shape 10"/>
          <p:cNvSpPr/>
          <p:nvPr/>
        </p:nvSpPr>
        <p:spPr>
          <a:xfrm>
            <a:off x="2560320" y="1325880"/>
            <a:ext cx="2011680" cy="1353312"/>
          </a:xfrm>
          <a:prstGeom prst="roundRect">
            <a:avLst>
              <a:gd name="adj" fmla="val 5405"/>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3" name="Shape 11"/>
          <p:cNvSpPr/>
          <p:nvPr/>
        </p:nvSpPr>
        <p:spPr>
          <a:xfrm>
            <a:off x="3319272" y="1417320"/>
            <a:ext cx="475488" cy="475488"/>
          </a:xfrm>
          <a:prstGeom prst="ellipse">
            <a:avLst/>
          </a:prstGeom>
          <a:solidFill>
            <a:srgbClr val="0F6E56"/>
          </a:solidFill>
          <a:ln w="12700">
            <a:solidFill>
              <a:srgbClr val="0F6E56"/>
            </a:solidFill>
            <a:prstDash val="solid"/>
          </a:ln>
        </p:spPr>
        <p:txBody>
          <a:bodyPr/>
          <a:lstStyle/>
          <a:p>
            <a:endParaRPr lang="en-US"/>
          </a:p>
        </p:txBody>
      </p:sp>
      <p:sp>
        <p:nvSpPr>
          <p:cNvPr id="14" name="Text 12"/>
          <p:cNvSpPr/>
          <p:nvPr/>
        </p:nvSpPr>
        <p:spPr>
          <a:xfrm>
            <a:off x="331927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5" name="Text 13"/>
          <p:cNvSpPr/>
          <p:nvPr/>
        </p:nvSpPr>
        <p:spPr>
          <a:xfrm>
            <a:off x="256032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Memory retrieval</a:t>
            </a:r>
            <a:endParaRPr lang="en-US" sz="1100" dirty="0"/>
          </a:p>
        </p:txBody>
      </p:sp>
      <p:sp>
        <p:nvSpPr>
          <p:cNvPr id="16" name="Text 14"/>
          <p:cNvSpPr/>
          <p:nvPr/>
        </p:nvSpPr>
        <p:spPr>
          <a:xfrm>
            <a:off x="2560320" y="2203704"/>
            <a:ext cx="2011680" cy="201168"/>
          </a:xfrm>
          <a:prstGeom prst="rect">
            <a:avLst/>
          </a:prstGeom>
          <a:noFill/>
          <a:ln/>
        </p:spPr>
        <p:txBody>
          <a:bodyPr wrap="square" rtlCol="0" anchor="ctr"/>
          <a:lstStyle/>
          <a:p>
            <a:pPr marL="0" indent="0" algn="ctr">
              <a:buNone/>
            </a:pPr>
            <a:r>
              <a:rPr lang="en-US" sz="850" b="1" dirty="0">
                <a:solidFill>
                  <a:srgbClr val="0F6E56"/>
                </a:solidFill>
                <a:latin typeface="Arial" pitchFamily="34" charset="0"/>
                <a:ea typeface="Arial" pitchFamily="34" charset="-122"/>
                <a:cs typeface="Arial" pitchFamily="34" charset="-120"/>
              </a:rPr>
              <a:t>jiraMemoryRetriever.ts</a:t>
            </a:r>
            <a:endParaRPr lang="en-US" sz="850" dirty="0"/>
          </a:p>
        </p:txBody>
      </p:sp>
      <p:sp>
        <p:nvSpPr>
          <p:cNvPr id="17" name="Text 15"/>
          <p:cNvSpPr/>
          <p:nvPr/>
        </p:nvSpPr>
        <p:spPr>
          <a:xfrm>
            <a:off x="256032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Past ADRs scored + ranked</a:t>
            </a:r>
            <a:endParaRPr lang="en-US" sz="850" dirty="0"/>
          </a:p>
        </p:txBody>
      </p:sp>
      <p:sp>
        <p:nvSpPr>
          <p:cNvPr id="18" name="Text 16"/>
          <p:cNvSpPr/>
          <p:nvPr/>
        </p:nvSpPr>
        <p:spPr>
          <a:xfrm>
            <a:off x="4572000" y="174650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19" name="Shape 17"/>
          <p:cNvSpPr/>
          <p:nvPr/>
        </p:nvSpPr>
        <p:spPr>
          <a:xfrm>
            <a:off x="4709160" y="1325880"/>
            <a:ext cx="2011680" cy="1353312"/>
          </a:xfrm>
          <a:prstGeom prst="roundRect">
            <a:avLst>
              <a:gd name="adj" fmla="val 5405"/>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0" name="Shape 18"/>
          <p:cNvSpPr/>
          <p:nvPr/>
        </p:nvSpPr>
        <p:spPr>
          <a:xfrm>
            <a:off x="5468112" y="1417320"/>
            <a:ext cx="475488" cy="475488"/>
          </a:xfrm>
          <a:prstGeom prst="ellipse">
            <a:avLst/>
          </a:prstGeom>
          <a:solidFill>
            <a:srgbClr val="1B4F9B"/>
          </a:solidFill>
          <a:ln w="12700">
            <a:solidFill>
              <a:srgbClr val="1B4F9B"/>
            </a:solidFill>
            <a:prstDash val="solid"/>
          </a:ln>
        </p:spPr>
        <p:txBody>
          <a:bodyPr/>
          <a:lstStyle/>
          <a:p>
            <a:endParaRPr lang="en-US"/>
          </a:p>
        </p:txBody>
      </p:sp>
      <p:sp>
        <p:nvSpPr>
          <p:cNvPr id="21" name="Text 19"/>
          <p:cNvSpPr/>
          <p:nvPr/>
        </p:nvSpPr>
        <p:spPr>
          <a:xfrm>
            <a:off x="546811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22" name="Text 20"/>
          <p:cNvSpPr/>
          <p:nvPr/>
        </p:nvSpPr>
        <p:spPr>
          <a:xfrm>
            <a:off x="470916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Phase 1 — Design</a:t>
            </a:r>
            <a:endParaRPr lang="en-US" sz="1100" dirty="0"/>
          </a:p>
        </p:txBody>
      </p:sp>
      <p:sp>
        <p:nvSpPr>
          <p:cNvPr id="23" name="Text 21"/>
          <p:cNvSpPr/>
          <p:nvPr/>
        </p:nvSpPr>
        <p:spPr>
          <a:xfrm>
            <a:off x="4709160" y="2203704"/>
            <a:ext cx="2011680" cy="201168"/>
          </a:xfrm>
          <a:prstGeom prst="rect">
            <a:avLst/>
          </a:prstGeom>
          <a:noFill/>
          <a:ln/>
        </p:spPr>
        <p:txBody>
          <a:bodyPr wrap="square" rtlCol="0" anchor="ctr"/>
          <a:lstStyle/>
          <a:p>
            <a:pPr marL="0" indent="0" algn="ctr">
              <a:buNone/>
            </a:pPr>
            <a:r>
              <a:rPr lang="en-US" sz="850" b="1" dirty="0">
                <a:solidFill>
                  <a:srgbClr val="1B4F9B"/>
                </a:solidFill>
                <a:latin typeface="Arial" pitchFamily="34" charset="0"/>
                <a:ea typeface="Arial" pitchFamily="34" charset="-122"/>
                <a:cs typeface="Arial" pitchFamily="34" charset="-120"/>
              </a:rPr>
              <a:t>ForumOrchestrator.ts</a:t>
            </a:r>
            <a:endParaRPr lang="en-US" sz="850" dirty="0"/>
          </a:p>
        </p:txBody>
      </p:sp>
      <p:sp>
        <p:nvSpPr>
          <p:cNvPr id="24" name="Text 22"/>
          <p:cNvSpPr/>
          <p:nvPr/>
        </p:nvSpPr>
        <p:spPr>
          <a:xfrm>
            <a:off x="470916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Designer agent (skipped in doc review mode)</a:t>
            </a:r>
            <a:endParaRPr lang="en-US" sz="850" dirty="0"/>
          </a:p>
        </p:txBody>
      </p:sp>
      <p:sp>
        <p:nvSpPr>
          <p:cNvPr id="25" name="Text 23"/>
          <p:cNvSpPr/>
          <p:nvPr/>
        </p:nvSpPr>
        <p:spPr>
          <a:xfrm>
            <a:off x="6720840" y="174650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26" name="Shape 24"/>
          <p:cNvSpPr/>
          <p:nvPr/>
        </p:nvSpPr>
        <p:spPr>
          <a:xfrm>
            <a:off x="6858000" y="1325880"/>
            <a:ext cx="2011680" cy="1353312"/>
          </a:xfrm>
          <a:prstGeom prst="roundRect">
            <a:avLst>
              <a:gd name="adj" fmla="val 5405"/>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7" name="Shape 25"/>
          <p:cNvSpPr/>
          <p:nvPr/>
        </p:nvSpPr>
        <p:spPr>
          <a:xfrm>
            <a:off x="7616952" y="1417320"/>
            <a:ext cx="475488" cy="475488"/>
          </a:xfrm>
          <a:prstGeom prst="ellipse">
            <a:avLst/>
          </a:prstGeom>
          <a:solidFill>
            <a:srgbClr val="1B4F9B"/>
          </a:solidFill>
          <a:ln w="12700">
            <a:solidFill>
              <a:srgbClr val="1B4F9B"/>
            </a:solidFill>
            <a:prstDash val="solid"/>
          </a:ln>
        </p:spPr>
        <p:txBody>
          <a:bodyPr/>
          <a:lstStyle/>
          <a:p>
            <a:endParaRPr lang="en-US"/>
          </a:p>
        </p:txBody>
      </p:sp>
      <p:sp>
        <p:nvSpPr>
          <p:cNvPr id="28" name="Text 26"/>
          <p:cNvSpPr/>
          <p:nvPr/>
        </p:nvSpPr>
        <p:spPr>
          <a:xfrm>
            <a:off x="7616952" y="141732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9" name="Text 27"/>
          <p:cNvSpPr/>
          <p:nvPr/>
        </p:nvSpPr>
        <p:spPr>
          <a:xfrm>
            <a:off x="6858000" y="194767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Phase 2 — Debate</a:t>
            </a:r>
            <a:endParaRPr lang="en-US" sz="1100" dirty="0"/>
          </a:p>
        </p:txBody>
      </p:sp>
      <p:sp>
        <p:nvSpPr>
          <p:cNvPr id="30" name="Text 28"/>
          <p:cNvSpPr/>
          <p:nvPr/>
        </p:nvSpPr>
        <p:spPr>
          <a:xfrm>
            <a:off x="6858000" y="2203704"/>
            <a:ext cx="2011680" cy="201168"/>
          </a:xfrm>
          <a:prstGeom prst="rect">
            <a:avLst/>
          </a:prstGeom>
          <a:noFill/>
          <a:ln/>
        </p:spPr>
        <p:txBody>
          <a:bodyPr wrap="square" rtlCol="0" anchor="ctr"/>
          <a:lstStyle/>
          <a:p>
            <a:pPr marL="0" indent="0" algn="ctr">
              <a:buNone/>
            </a:pPr>
            <a:r>
              <a:rPr lang="en-US" sz="850" b="1" dirty="0">
                <a:solidFill>
                  <a:srgbClr val="1B4F9B"/>
                </a:solidFill>
                <a:latin typeface="Arial" pitchFamily="34" charset="0"/>
                <a:ea typeface="Arial" pitchFamily="34" charset="-122"/>
                <a:cs typeface="Arial" pitchFamily="34" charset="-120"/>
              </a:rPr>
              <a:t>7 specialist agents</a:t>
            </a:r>
            <a:endParaRPr lang="en-US" sz="850" dirty="0"/>
          </a:p>
        </p:txBody>
      </p:sp>
      <p:sp>
        <p:nvSpPr>
          <p:cNvPr id="31" name="Text 29"/>
          <p:cNvSpPr/>
          <p:nvPr/>
        </p:nvSpPr>
        <p:spPr>
          <a:xfrm>
            <a:off x="6858000" y="240487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Sequential, building on prior context</a:t>
            </a:r>
            <a:endParaRPr lang="en-US" sz="850" dirty="0"/>
          </a:p>
        </p:txBody>
      </p:sp>
      <p:sp>
        <p:nvSpPr>
          <p:cNvPr id="32" name="Shape 30"/>
          <p:cNvSpPr/>
          <p:nvPr/>
        </p:nvSpPr>
        <p:spPr>
          <a:xfrm>
            <a:off x="411480" y="2834640"/>
            <a:ext cx="2011680" cy="1353312"/>
          </a:xfrm>
          <a:prstGeom prst="roundRect">
            <a:avLst>
              <a:gd name="adj" fmla="val 5405"/>
            </a:avLst>
          </a:prstGeom>
          <a:solidFill>
            <a:srgbClr val="EEEDF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3" name="Shape 31"/>
          <p:cNvSpPr/>
          <p:nvPr/>
        </p:nvSpPr>
        <p:spPr>
          <a:xfrm>
            <a:off x="1170432" y="2926080"/>
            <a:ext cx="475488" cy="475488"/>
          </a:xfrm>
          <a:prstGeom prst="ellipse">
            <a:avLst/>
          </a:prstGeom>
          <a:solidFill>
            <a:srgbClr val="534AB7"/>
          </a:solidFill>
          <a:ln w="12700">
            <a:solidFill>
              <a:srgbClr val="534AB7"/>
            </a:solidFill>
            <a:prstDash val="solid"/>
          </a:ln>
        </p:spPr>
        <p:txBody>
          <a:bodyPr/>
          <a:lstStyle/>
          <a:p>
            <a:endParaRPr lang="en-US"/>
          </a:p>
        </p:txBody>
      </p:sp>
      <p:sp>
        <p:nvSpPr>
          <p:cNvPr id="34" name="Text 32"/>
          <p:cNvSpPr/>
          <p:nvPr/>
        </p:nvSpPr>
        <p:spPr>
          <a:xfrm>
            <a:off x="117043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35" name="Text 33"/>
          <p:cNvSpPr/>
          <p:nvPr/>
        </p:nvSpPr>
        <p:spPr>
          <a:xfrm>
            <a:off x="41148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Phase 3 — Judge</a:t>
            </a:r>
            <a:endParaRPr lang="en-US" sz="1100" dirty="0"/>
          </a:p>
        </p:txBody>
      </p:sp>
      <p:sp>
        <p:nvSpPr>
          <p:cNvPr id="36" name="Text 34"/>
          <p:cNvSpPr/>
          <p:nvPr/>
        </p:nvSpPr>
        <p:spPr>
          <a:xfrm>
            <a:off x="411480" y="3712464"/>
            <a:ext cx="2011680" cy="201168"/>
          </a:xfrm>
          <a:prstGeom prst="rect">
            <a:avLst/>
          </a:prstGeom>
          <a:noFill/>
          <a:ln/>
        </p:spPr>
        <p:txBody>
          <a:bodyPr wrap="square" rtlCol="0" anchor="ctr"/>
          <a:lstStyle/>
          <a:p>
            <a:pPr marL="0" indent="0" algn="ctr">
              <a:buNone/>
            </a:pPr>
            <a:r>
              <a:rPr lang="en-US" sz="850" b="1" dirty="0">
                <a:solidFill>
                  <a:srgbClr val="534AB7"/>
                </a:solidFill>
                <a:latin typeface="Arial" pitchFamily="34" charset="0"/>
                <a:ea typeface="Arial" pitchFamily="34" charset="-122"/>
                <a:cs typeface="Arial" pitchFamily="34" charset="-120"/>
              </a:rPr>
              <a:t>AgentRunner.ts</a:t>
            </a:r>
            <a:endParaRPr lang="en-US" sz="850" dirty="0"/>
          </a:p>
        </p:txBody>
      </p:sp>
      <p:sp>
        <p:nvSpPr>
          <p:cNvPr id="37" name="Text 35"/>
          <p:cNvSpPr/>
          <p:nvPr/>
        </p:nvSpPr>
        <p:spPr>
          <a:xfrm>
            <a:off x="41148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Arbitrates, confidence score</a:t>
            </a:r>
            <a:endParaRPr lang="en-US" sz="850" dirty="0"/>
          </a:p>
        </p:txBody>
      </p:sp>
      <p:sp>
        <p:nvSpPr>
          <p:cNvPr id="38" name="Text 36"/>
          <p:cNvSpPr/>
          <p:nvPr/>
        </p:nvSpPr>
        <p:spPr>
          <a:xfrm>
            <a:off x="2423160" y="325526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39" name="Shape 37"/>
          <p:cNvSpPr/>
          <p:nvPr/>
        </p:nvSpPr>
        <p:spPr>
          <a:xfrm>
            <a:off x="2560320" y="2834640"/>
            <a:ext cx="2011680" cy="1353312"/>
          </a:xfrm>
          <a:prstGeom prst="roundRect">
            <a:avLst>
              <a:gd name="adj" fmla="val 5405"/>
            </a:avLst>
          </a:prstGeom>
          <a:solidFill>
            <a:srgbClr val="FAEED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0" name="Shape 38"/>
          <p:cNvSpPr/>
          <p:nvPr/>
        </p:nvSpPr>
        <p:spPr>
          <a:xfrm>
            <a:off x="3319272" y="2926080"/>
            <a:ext cx="475488" cy="475488"/>
          </a:xfrm>
          <a:prstGeom prst="ellipse">
            <a:avLst/>
          </a:prstGeom>
          <a:solidFill>
            <a:srgbClr val="BA7517"/>
          </a:solidFill>
          <a:ln w="12700">
            <a:solidFill>
              <a:srgbClr val="BA7517"/>
            </a:solidFill>
            <a:prstDash val="solid"/>
          </a:ln>
        </p:spPr>
        <p:txBody>
          <a:bodyPr/>
          <a:lstStyle/>
          <a:p>
            <a:endParaRPr lang="en-US"/>
          </a:p>
        </p:txBody>
      </p:sp>
      <p:sp>
        <p:nvSpPr>
          <p:cNvPr id="41" name="Text 39"/>
          <p:cNvSpPr/>
          <p:nvPr/>
        </p:nvSpPr>
        <p:spPr>
          <a:xfrm>
            <a:off x="331927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6</a:t>
            </a:r>
            <a:endParaRPr lang="en-US" sz="1300" dirty="0"/>
          </a:p>
        </p:txBody>
      </p:sp>
      <p:sp>
        <p:nvSpPr>
          <p:cNvPr id="42" name="Text 40"/>
          <p:cNvSpPr/>
          <p:nvPr/>
        </p:nvSpPr>
        <p:spPr>
          <a:xfrm>
            <a:off x="256032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Endorsement</a:t>
            </a:r>
            <a:endParaRPr lang="en-US" sz="1100" dirty="0"/>
          </a:p>
        </p:txBody>
      </p:sp>
      <p:sp>
        <p:nvSpPr>
          <p:cNvPr id="43" name="Text 41"/>
          <p:cNvSpPr/>
          <p:nvPr/>
        </p:nvSpPr>
        <p:spPr>
          <a:xfrm>
            <a:off x="2560320" y="3712464"/>
            <a:ext cx="2011680" cy="201168"/>
          </a:xfrm>
          <a:prstGeom prst="rect">
            <a:avLst/>
          </a:prstGeom>
          <a:noFill/>
          <a:ln/>
        </p:spPr>
        <p:txBody>
          <a:bodyPr wrap="square" rtlCol="0" anchor="ctr"/>
          <a:lstStyle/>
          <a:p>
            <a:pPr marL="0" indent="0" algn="ctr">
              <a:buNone/>
            </a:pPr>
            <a:r>
              <a:rPr lang="en-US" sz="850" b="1" dirty="0">
                <a:solidFill>
                  <a:srgbClr val="BA7517"/>
                </a:solidFill>
                <a:latin typeface="Arial" pitchFamily="34" charset="0"/>
                <a:ea typeface="Arial" pitchFamily="34" charset="-122"/>
                <a:cs typeface="Arial" pitchFamily="34" charset="-120"/>
              </a:rPr>
              <a:t>EndorsementPanel.tsx</a:t>
            </a:r>
            <a:endParaRPr lang="en-US" sz="850" dirty="0"/>
          </a:p>
        </p:txBody>
      </p:sp>
      <p:sp>
        <p:nvSpPr>
          <p:cNvPr id="44" name="Text 42"/>
          <p:cNvSpPr/>
          <p:nvPr/>
        </p:nvSpPr>
        <p:spPr>
          <a:xfrm>
            <a:off x="256032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Admin countersigns or assigns</a:t>
            </a:r>
            <a:endParaRPr lang="en-US" sz="850" dirty="0"/>
          </a:p>
        </p:txBody>
      </p:sp>
      <p:sp>
        <p:nvSpPr>
          <p:cNvPr id="45" name="Text 43"/>
          <p:cNvSpPr/>
          <p:nvPr/>
        </p:nvSpPr>
        <p:spPr>
          <a:xfrm>
            <a:off x="4572000" y="325526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46" name="Shape 44"/>
          <p:cNvSpPr/>
          <p:nvPr/>
        </p:nvSpPr>
        <p:spPr>
          <a:xfrm>
            <a:off x="4709160" y="2834640"/>
            <a:ext cx="2011680" cy="1353312"/>
          </a:xfrm>
          <a:prstGeom prst="roundRect">
            <a:avLst>
              <a:gd name="adj" fmla="val 5405"/>
            </a:avLst>
          </a:prstGeom>
          <a:solidFill>
            <a:srgbClr val="FAECE7"/>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7" name="Shape 45"/>
          <p:cNvSpPr/>
          <p:nvPr/>
        </p:nvSpPr>
        <p:spPr>
          <a:xfrm>
            <a:off x="5468112" y="2926080"/>
            <a:ext cx="475488" cy="475488"/>
          </a:xfrm>
          <a:prstGeom prst="ellipse">
            <a:avLst/>
          </a:prstGeom>
          <a:solidFill>
            <a:srgbClr val="993C1D"/>
          </a:solidFill>
          <a:ln w="12700">
            <a:solidFill>
              <a:srgbClr val="993C1D"/>
            </a:solidFill>
            <a:prstDash val="solid"/>
          </a:ln>
        </p:spPr>
        <p:txBody>
          <a:bodyPr/>
          <a:lstStyle/>
          <a:p>
            <a:endParaRPr lang="en-US"/>
          </a:p>
        </p:txBody>
      </p:sp>
      <p:sp>
        <p:nvSpPr>
          <p:cNvPr id="48" name="Text 46"/>
          <p:cNvSpPr/>
          <p:nvPr/>
        </p:nvSpPr>
        <p:spPr>
          <a:xfrm>
            <a:off x="546811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7</a:t>
            </a:r>
            <a:endParaRPr lang="en-US" sz="1300" dirty="0"/>
          </a:p>
        </p:txBody>
      </p:sp>
      <p:sp>
        <p:nvSpPr>
          <p:cNvPr id="49" name="Text 47"/>
          <p:cNvSpPr/>
          <p:nvPr/>
        </p:nvSpPr>
        <p:spPr>
          <a:xfrm>
            <a:off x="470916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Jira write</a:t>
            </a:r>
            <a:endParaRPr lang="en-US" sz="1100" dirty="0"/>
          </a:p>
        </p:txBody>
      </p:sp>
      <p:sp>
        <p:nvSpPr>
          <p:cNvPr id="50" name="Text 48"/>
          <p:cNvSpPr/>
          <p:nvPr/>
        </p:nvSpPr>
        <p:spPr>
          <a:xfrm>
            <a:off x="4709160" y="3712464"/>
            <a:ext cx="2011680" cy="201168"/>
          </a:xfrm>
          <a:prstGeom prst="rect">
            <a:avLst/>
          </a:prstGeom>
          <a:noFill/>
          <a:ln/>
        </p:spPr>
        <p:txBody>
          <a:bodyPr wrap="square" rtlCol="0" anchor="ctr"/>
          <a:lstStyle/>
          <a:p>
            <a:pPr marL="0" indent="0" algn="ctr">
              <a:buNone/>
            </a:pPr>
            <a:r>
              <a:rPr lang="en-US" sz="850" b="1" dirty="0">
                <a:solidFill>
                  <a:srgbClr val="993C1D"/>
                </a:solidFill>
                <a:latin typeface="Arial" pitchFamily="34" charset="0"/>
                <a:ea typeface="Arial" pitchFamily="34" charset="-122"/>
                <a:cs typeface="Arial" pitchFamily="34" charset="-120"/>
              </a:rPr>
              <a:t>jira.ts</a:t>
            </a:r>
            <a:endParaRPr lang="en-US" sz="850" dirty="0"/>
          </a:p>
        </p:txBody>
      </p:sp>
      <p:sp>
        <p:nvSpPr>
          <p:cNvPr id="51" name="Text 49"/>
          <p:cNvSpPr/>
          <p:nvPr/>
        </p:nvSpPr>
        <p:spPr>
          <a:xfrm>
            <a:off x="470916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ADR ticket + assignee + comment</a:t>
            </a:r>
            <a:endParaRPr lang="en-US" sz="850" dirty="0"/>
          </a:p>
        </p:txBody>
      </p:sp>
      <p:sp>
        <p:nvSpPr>
          <p:cNvPr id="52" name="Text 50"/>
          <p:cNvSpPr/>
          <p:nvPr/>
        </p:nvSpPr>
        <p:spPr>
          <a:xfrm>
            <a:off x="6720840" y="3255264"/>
            <a:ext cx="164592" cy="274320"/>
          </a:xfrm>
          <a:prstGeom prst="rect">
            <a:avLst/>
          </a:prstGeom>
          <a:noFill/>
          <a:ln/>
        </p:spPr>
        <p:txBody>
          <a:bodyPr wrap="square" rtlCol="0" anchor="ctr"/>
          <a:lstStyle/>
          <a:p>
            <a:pPr marL="0" indent="0" algn="ctr">
              <a:buNone/>
            </a:pPr>
            <a:r>
              <a:rPr lang="en-US" sz="1600" b="1" dirty="0">
                <a:solidFill>
                  <a:srgbClr val="2E6DA4"/>
                </a:solidFill>
                <a:latin typeface="Arial" pitchFamily="34" charset="0"/>
                <a:ea typeface="Arial" pitchFamily="34" charset="-122"/>
                <a:cs typeface="Arial" pitchFamily="34" charset="-120"/>
              </a:rPr>
              <a:t>›</a:t>
            </a:r>
            <a:endParaRPr lang="en-US" sz="1600" dirty="0"/>
          </a:p>
        </p:txBody>
      </p:sp>
      <p:sp>
        <p:nvSpPr>
          <p:cNvPr id="53" name="Shape 51"/>
          <p:cNvSpPr/>
          <p:nvPr/>
        </p:nvSpPr>
        <p:spPr>
          <a:xfrm>
            <a:off x="6858000" y="2834640"/>
            <a:ext cx="2011680" cy="1353312"/>
          </a:xfrm>
          <a:prstGeom prst="roundRect">
            <a:avLst>
              <a:gd name="adj" fmla="val 5405"/>
            </a:avLst>
          </a:prstGeom>
          <a:solidFill>
            <a:srgbClr val="EB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54" name="Shape 52"/>
          <p:cNvSpPr/>
          <p:nvPr/>
        </p:nvSpPr>
        <p:spPr>
          <a:xfrm>
            <a:off x="7616952" y="2926080"/>
            <a:ext cx="475488" cy="475488"/>
          </a:xfrm>
          <a:prstGeom prst="ellipse">
            <a:avLst/>
          </a:prstGeom>
          <a:solidFill>
            <a:srgbClr val="0F1E3C"/>
          </a:solidFill>
          <a:ln w="12700">
            <a:solidFill>
              <a:srgbClr val="0F1E3C"/>
            </a:solidFill>
            <a:prstDash val="solid"/>
          </a:ln>
        </p:spPr>
        <p:txBody>
          <a:bodyPr/>
          <a:lstStyle/>
          <a:p>
            <a:endParaRPr lang="en-US"/>
          </a:p>
        </p:txBody>
      </p:sp>
      <p:sp>
        <p:nvSpPr>
          <p:cNvPr id="55" name="Text 53"/>
          <p:cNvSpPr/>
          <p:nvPr/>
        </p:nvSpPr>
        <p:spPr>
          <a:xfrm>
            <a:off x="7616952" y="2926080"/>
            <a:ext cx="475488"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Arial" pitchFamily="34" charset="0"/>
                <a:ea typeface="Arial" pitchFamily="34" charset="-122"/>
                <a:cs typeface="Arial" pitchFamily="34" charset="-120"/>
              </a:rPr>
              <a:t>8</a:t>
            </a:r>
            <a:endParaRPr lang="en-US" sz="1300" dirty="0"/>
          </a:p>
        </p:txBody>
      </p:sp>
      <p:sp>
        <p:nvSpPr>
          <p:cNvPr id="56" name="Text 54"/>
          <p:cNvSpPr/>
          <p:nvPr/>
        </p:nvSpPr>
        <p:spPr>
          <a:xfrm>
            <a:off x="6858000" y="3456432"/>
            <a:ext cx="2011680" cy="256032"/>
          </a:xfrm>
          <a:prstGeom prst="rect">
            <a:avLst/>
          </a:prstGeom>
          <a:noFill/>
          <a:ln/>
        </p:spPr>
        <p:txBody>
          <a:bodyPr wrap="square" rtlCol="0" anchor="ctr"/>
          <a:lstStyle/>
          <a:p>
            <a:pPr marL="0" indent="0" algn="ctr">
              <a:buNone/>
            </a:pPr>
            <a:r>
              <a:rPr lang="en-US" sz="1100" b="1" dirty="0">
                <a:solidFill>
                  <a:srgbClr val="0F1E3C"/>
                </a:solidFill>
                <a:latin typeface="Arial" pitchFamily="34" charset="0"/>
                <a:ea typeface="Arial" pitchFamily="34" charset="-122"/>
                <a:cs typeface="Arial" pitchFamily="34" charset="-120"/>
              </a:rPr>
              <a:t>Supabase log</a:t>
            </a:r>
            <a:endParaRPr lang="en-US" sz="1100" dirty="0"/>
          </a:p>
        </p:txBody>
      </p:sp>
      <p:sp>
        <p:nvSpPr>
          <p:cNvPr id="57" name="Text 55"/>
          <p:cNvSpPr/>
          <p:nvPr/>
        </p:nvSpPr>
        <p:spPr>
          <a:xfrm>
            <a:off x="6858000" y="3712464"/>
            <a:ext cx="2011680" cy="201168"/>
          </a:xfrm>
          <a:prstGeom prst="rect">
            <a:avLst/>
          </a:prstGeom>
          <a:noFill/>
          <a:ln/>
        </p:spPr>
        <p:txBody>
          <a:bodyPr wrap="square" rtlCol="0" anchor="ctr"/>
          <a:lstStyle/>
          <a:p>
            <a:pPr marL="0" indent="0" algn="ctr">
              <a:buNone/>
            </a:pPr>
            <a:r>
              <a:rPr lang="en-US" sz="850" b="1" dirty="0">
                <a:solidFill>
                  <a:srgbClr val="0F1E3C"/>
                </a:solidFill>
                <a:latin typeface="Arial" pitchFamily="34" charset="0"/>
                <a:ea typeface="Arial" pitchFamily="34" charset="-122"/>
                <a:cs typeface="Arial" pitchFamily="34" charset="-120"/>
              </a:rPr>
              <a:t>session.ts</a:t>
            </a:r>
            <a:endParaRPr lang="en-US" sz="850" dirty="0"/>
          </a:p>
        </p:txBody>
      </p:sp>
      <p:sp>
        <p:nvSpPr>
          <p:cNvPr id="58" name="Text 56"/>
          <p:cNvSpPr/>
          <p:nvPr/>
        </p:nvSpPr>
        <p:spPr>
          <a:xfrm>
            <a:off x="6858000" y="3913632"/>
            <a:ext cx="2011680" cy="201168"/>
          </a:xfrm>
          <a:prstGeom prst="rect">
            <a:avLst/>
          </a:prstGeom>
          <a:noFill/>
          <a:ln/>
        </p:spPr>
        <p:txBody>
          <a:bodyPr wrap="square" rtlCol="0" anchor="ctr"/>
          <a:lstStyle/>
          <a:p>
            <a:pPr marL="0" indent="0" algn="ctr">
              <a:buNone/>
            </a:pPr>
            <a:r>
              <a:rPr lang="en-US" sz="850" dirty="0">
                <a:solidFill>
                  <a:srgbClr val="64635E"/>
                </a:solidFill>
                <a:latin typeface="Arial" pitchFamily="34" charset="0"/>
                <a:ea typeface="Arial" pitchFamily="34" charset="-122"/>
                <a:cs typeface="Arial" pitchFamily="34" charset="-120"/>
              </a:rPr>
              <a:t>Metadata + cost + audit trail</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PROMPT ENGINEERING</a:t>
            </a:r>
            <a:endParaRPr lang="en-US" sz="900" dirty="0"/>
          </a:p>
        </p:txBody>
      </p:sp>
      <p:sp>
        <p:nvSpPr>
          <p:cNvPr id="3" name="Text 1"/>
          <p:cNvSpPr/>
          <p:nvPr/>
        </p:nvSpPr>
        <p:spPr>
          <a:xfrm>
            <a:off x="502920" y="594360"/>
            <a:ext cx="8138160" cy="502920"/>
          </a:xfrm>
          <a:prstGeom prst="rect">
            <a:avLst/>
          </a:prstGeom>
          <a:noFill/>
          <a:ln/>
        </p:spPr>
        <p:txBody>
          <a:bodyPr wrap="square" rtlCol="0" anchor="ctr"/>
          <a:lstStyle/>
          <a:p>
            <a:pPr marL="0" indent="0">
              <a:buNone/>
            </a:pPr>
            <a:r>
              <a:rPr lang="en-US" sz="2200" b="1" dirty="0">
                <a:solidFill>
                  <a:srgbClr val="FFFFFF"/>
                </a:solidFill>
                <a:latin typeface="Arial" pitchFamily="34" charset="0"/>
                <a:ea typeface="Arial" pitchFamily="34" charset="-122"/>
                <a:cs typeface="Arial" pitchFamily="34" charset="-120"/>
              </a:rPr>
              <a:t>What a final agent system prompt actually looks like</a:t>
            </a:r>
            <a:endParaRPr lang="en-US" sz="2200" dirty="0"/>
          </a:p>
        </p:txBody>
      </p:sp>
      <p:sp>
        <p:nvSpPr>
          <p:cNvPr id="4" name="Shape 2"/>
          <p:cNvSpPr/>
          <p:nvPr/>
        </p:nvSpPr>
        <p:spPr>
          <a:xfrm>
            <a:off x="502920" y="1115568"/>
            <a:ext cx="8138160" cy="0"/>
          </a:xfrm>
          <a:prstGeom prst="line">
            <a:avLst/>
          </a:prstGeom>
          <a:noFill/>
          <a:ln w="10160">
            <a:solidFill>
              <a:srgbClr val="3D3D5C"/>
            </a:solidFill>
            <a:prstDash val="solid"/>
          </a:ln>
        </p:spPr>
        <p:txBody>
          <a:bodyPr/>
          <a:lstStyle/>
          <a:p>
            <a:endParaRPr lang="en-US"/>
          </a:p>
        </p:txBody>
      </p:sp>
      <p:sp>
        <p:nvSpPr>
          <p:cNvPr id="5" name="Shape 3"/>
          <p:cNvSpPr/>
          <p:nvPr/>
        </p:nvSpPr>
        <p:spPr>
          <a:xfrm>
            <a:off x="411480" y="1207008"/>
            <a:ext cx="8321040" cy="822960"/>
          </a:xfrm>
          <a:prstGeom prst="roundRect">
            <a:avLst>
              <a:gd name="adj" fmla="val 6667"/>
            </a:avLst>
          </a:prstGeom>
          <a:solidFill>
            <a:srgbClr val="3A3A6A"/>
          </a:solidFill>
          <a:ln w="6350">
            <a:solidFill>
              <a:srgbClr val="3D3D5C"/>
            </a:solidFill>
            <a:prstDash val="solid"/>
          </a:ln>
        </p:spPr>
        <p:txBody>
          <a:bodyPr/>
          <a:lstStyle/>
          <a:p>
            <a:endParaRPr lang="en-US"/>
          </a:p>
        </p:txBody>
      </p:sp>
      <p:sp>
        <p:nvSpPr>
          <p:cNvPr id="6" name="Text 4"/>
          <p:cNvSpPr/>
          <p:nvPr/>
        </p:nvSpPr>
        <p:spPr>
          <a:xfrm>
            <a:off x="566928" y="1261872"/>
            <a:ext cx="4114800" cy="201168"/>
          </a:xfrm>
          <a:prstGeom prst="rect">
            <a:avLst/>
          </a:prstGeom>
          <a:noFill/>
          <a:ln/>
        </p:spPr>
        <p:txBody>
          <a:bodyPr wrap="square" rtlCol="0" anchor="ctr"/>
          <a:lstStyle/>
          <a:p>
            <a:pPr marL="0" indent="0">
              <a:buNone/>
            </a:pPr>
            <a:r>
              <a:rPr lang="en-US" sz="950" b="1" dirty="0">
                <a:solidFill>
                  <a:srgbClr val="A0A8D8"/>
                </a:solidFill>
                <a:latin typeface="Courier New" pitchFamily="34" charset="0"/>
                <a:ea typeface="Courier New" pitchFamily="34" charset="-122"/>
                <a:cs typeface="Courier New" pitchFamily="34" charset="-120"/>
              </a:rPr>
              <a:t>Layer 1 — Base agent prompt</a:t>
            </a:r>
            <a:endParaRPr lang="en-US" sz="950" dirty="0"/>
          </a:p>
        </p:txBody>
      </p:sp>
      <p:sp>
        <p:nvSpPr>
          <p:cNvPr id="7" name="Text 5"/>
          <p:cNvSpPr/>
          <p:nvPr/>
        </p:nvSpPr>
        <p:spPr>
          <a:xfrm>
            <a:off x="4709160" y="1261872"/>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src/lib/domains/salesforce/agents/apex.ts</a:t>
            </a:r>
            <a:endParaRPr lang="en-US" sz="800" dirty="0"/>
          </a:p>
        </p:txBody>
      </p:sp>
      <p:sp>
        <p:nvSpPr>
          <p:cNvPr id="8" name="Text 6"/>
          <p:cNvSpPr/>
          <p:nvPr/>
        </p:nvSpPr>
        <p:spPr>
          <a:xfrm>
            <a:off x="566928" y="1499616"/>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You are the Apex specialist agent on the ARBoard Architecture Review Board. Your role is to assess Salesforce Apex code quality, governor limit exposure, trigger design, async patterns, and bulk data handling...</a:t>
            </a:r>
            <a:endParaRPr lang="en-US" sz="800" dirty="0"/>
          </a:p>
        </p:txBody>
      </p:sp>
      <p:sp>
        <p:nvSpPr>
          <p:cNvPr id="9" name="Shape 7"/>
          <p:cNvSpPr/>
          <p:nvPr/>
        </p:nvSpPr>
        <p:spPr>
          <a:xfrm>
            <a:off x="411480" y="2103120"/>
            <a:ext cx="8321040" cy="822960"/>
          </a:xfrm>
          <a:prstGeom prst="roundRect">
            <a:avLst>
              <a:gd name="adj" fmla="val 6667"/>
            </a:avLst>
          </a:prstGeom>
          <a:solidFill>
            <a:srgbClr val="1E3A2F"/>
          </a:solidFill>
          <a:ln w="6350">
            <a:solidFill>
              <a:srgbClr val="3D3D5C"/>
            </a:solidFill>
            <a:prstDash val="solid"/>
          </a:ln>
        </p:spPr>
        <p:txBody>
          <a:bodyPr/>
          <a:lstStyle/>
          <a:p>
            <a:endParaRPr lang="en-US"/>
          </a:p>
        </p:txBody>
      </p:sp>
      <p:sp>
        <p:nvSpPr>
          <p:cNvPr id="10" name="Text 8"/>
          <p:cNvSpPr/>
          <p:nvPr/>
        </p:nvSpPr>
        <p:spPr>
          <a:xfrm>
            <a:off x="566928" y="2157984"/>
            <a:ext cx="4114800" cy="201168"/>
          </a:xfrm>
          <a:prstGeom prst="rect">
            <a:avLst/>
          </a:prstGeom>
          <a:noFill/>
          <a:ln/>
        </p:spPr>
        <p:txBody>
          <a:bodyPr wrap="square" rtlCol="0" anchor="ctr"/>
          <a:lstStyle/>
          <a:p>
            <a:pPr marL="0" indent="0">
              <a:buNone/>
            </a:pPr>
            <a:r>
              <a:rPr lang="en-US" sz="950" b="1" dirty="0">
                <a:solidFill>
                  <a:srgbClr val="5DCAA5"/>
                </a:solidFill>
                <a:latin typeface="Courier New" pitchFamily="34" charset="0"/>
                <a:ea typeface="Courier New" pitchFamily="34" charset="-122"/>
                <a:cs typeface="Courier New" pitchFamily="34" charset="-120"/>
              </a:rPr>
              <a:t>Layer 2 — Well-Architected principles</a:t>
            </a:r>
            <a:endParaRPr lang="en-US" sz="950" dirty="0"/>
          </a:p>
        </p:txBody>
      </p:sp>
      <p:sp>
        <p:nvSpPr>
          <p:cNvPr id="11" name="Text 9"/>
          <p:cNvSpPr/>
          <p:nvPr/>
        </p:nvSpPr>
        <p:spPr>
          <a:xfrm>
            <a:off x="4709160" y="2157984"/>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wellArchitectedPrinciples.ts → WELL_ARCHITECTED_BY_AGENT[apex]</a:t>
            </a:r>
            <a:endParaRPr lang="en-US" sz="800" dirty="0"/>
          </a:p>
        </p:txBody>
      </p:sp>
      <p:sp>
        <p:nvSpPr>
          <p:cNvPr id="12" name="Text 10"/>
          <p:cNvSpPr/>
          <p:nvPr/>
        </p:nvSpPr>
        <p:spPr>
          <a:xfrm>
            <a:off x="566928" y="2395728"/>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 Salesforce Well-Architected — Apex &amp; Automation</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Triggers must be bulkified: never SOQL/DML inside loops</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One trigger per object. Handler class pattern.</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Avoid synchronous callouts from triggers at volume...</a:t>
            </a:r>
            <a:endParaRPr lang="en-US" sz="800" dirty="0"/>
          </a:p>
        </p:txBody>
      </p:sp>
      <p:sp>
        <p:nvSpPr>
          <p:cNvPr id="13" name="Shape 11"/>
          <p:cNvSpPr/>
          <p:nvPr/>
        </p:nvSpPr>
        <p:spPr>
          <a:xfrm>
            <a:off x="411480" y="2999232"/>
            <a:ext cx="8321040" cy="822960"/>
          </a:xfrm>
          <a:prstGeom prst="roundRect">
            <a:avLst>
              <a:gd name="adj" fmla="val 6667"/>
            </a:avLst>
          </a:prstGeom>
          <a:solidFill>
            <a:srgbClr val="2A2A1A"/>
          </a:solidFill>
          <a:ln w="6350">
            <a:solidFill>
              <a:srgbClr val="3D3D5C"/>
            </a:solidFill>
            <a:prstDash val="solid"/>
          </a:ln>
        </p:spPr>
        <p:txBody>
          <a:bodyPr/>
          <a:lstStyle/>
          <a:p>
            <a:endParaRPr lang="en-US"/>
          </a:p>
        </p:txBody>
      </p:sp>
      <p:sp>
        <p:nvSpPr>
          <p:cNvPr id="14" name="Text 12"/>
          <p:cNvSpPr/>
          <p:nvPr/>
        </p:nvSpPr>
        <p:spPr>
          <a:xfrm>
            <a:off x="566928" y="3054096"/>
            <a:ext cx="4114800" cy="201168"/>
          </a:xfrm>
          <a:prstGeom prst="rect">
            <a:avLst/>
          </a:prstGeom>
          <a:noFill/>
          <a:ln/>
        </p:spPr>
        <p:txBody>
          <a:bodyPr wrap="square" rtlCol="0" anchor="ctr"/>
          <a:lstStyle/>
          <a:p>
            <a:pPr marL="0" indent="0">
              <a:buNone/>
            </a:pPr>
            <a:r>
              <a:rPr lang="en-US" sz="950" b="1" dirty="0">
                <a:solidFill>
                  <a:srgbClr val="EF9F27"/>
                </a:solidFill>
                <a:latin typeface="Courier New" pitchFamily="34" charset="0"/>
                <a:ea typeface="Courier New" pitchFamily="34" charset="-122"/>
                <a:cs typeface="Courier New" pitchFamily="34" charset="-120"/>
              </a:rPr>
              <a:t>Layer 3 — Cross-session memory</a:t>
            </a:r>
            <a:endParaRPr lang="en-US" sz="950" dirty="0"/>
          </a:p>
        </p:txBody>
      </p:sp>
      <p:sp>
        <p:nvSpPr>
          <p:cNvPr id="15" name="Text 13"/>
          <p:cNvSpPr/>
          <p:nvPr/>
        </p:nvSpPr>
        <p:spPr>
          <a:xfrm>
            <a:off x="4709160" y="3054096"/>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jiraMemoryRetriever.ts + contextInjector.ts</a:t>
            </a:r>
            <a:endParaRPr lang="en-US" sz="800" dirty="0"/>
          </a:p>
        </p:txBody>
      </p:sp>
      <p:sp>
        <p:nvSpPr>
          <p:cNvPr id="16" name="Text 14"/>
          <p:cNvSpPr/>
          <p:nvPr/>
        </p:nvSpPr>
        <p:spPr>
          <a:xfrm>
            <a:off x="566928" y="3291840"/>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PRIOR REVIEW CONTEXT — reconciliation required</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ARBOARD-009 [APPROVED] — Jun 2026</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Requirement: Bulk case update via API</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  Decision: Use Platform Events not direct DML...</a:t>
            </a:r>
            <a:endParaRPr lang="en-US" sz="800" dirty="0"/>
          </a:p>
        </p:txBody>
      </p:sp>
      <p:sp>
        <p:nvSpPr>
          <p:cNvPr id="17" name="Shape 15"/>
          <p:cNvSpPr/>
          <p:nvPr/>
        </p:nvSpPr>
        <p:spPr>
          <a:xfrm>
            <a:off x="411480" y="3895344"/>
            <a:ext cx="8321040" cy="822960"/>
          </a:xfrm>
          <a:prstGeom prst="roundRect">
            <a:avLst>
              <a:gd name="adj" fmla="val 6667"/>
            </a:avLst>
          </a:prstGeom>
          <a:solidFill>
            <a:srgbClr val="1A2A3A"/>
          </a:solidFill>
          <a:ln w="6350">
            <a:solidFill>
              <a:srgbClr val="3D3D5C"/>
            </a:solidFill>
            <a:prstDash val="solid"/>
          </a:ln>
        </p:spPr>
        <p:txBody>
          <a:bodyPr/>
          <a:lstStyle/>
          <a:p>
            <a:endParaRPr lang="en-US"/>
          </a:p>
        </p:txBody>
      </p:sp>
      <p:sp>
        <p:nvSpPr>
          <p:cNvPr id="18" name="Text 16"/>
          <p:cNvSpPr/>
          <p:nvPr/>
        </p:nvSpPr>
        <p:spPr>
          <a:xfrm>
            <a:off x="566928" y="3950208"/>
            <a:ext cx="4114800" cy="201168"/>
          </a:xfrm>
          <a:prstGeom prst="rect">
            <a:avLst/>
          </a:prstGeom>
          <a:noFill/>
          <a:ln/>
        </p:spPr>
        <p:txBody>
          <a:bodyPr wrap="square" rtlCol="0" anchor="ctr"/>
          <a:lstStyle/>
          <a:p>
            <a:pPr marL="0" indent="0">
              <a:buNone/>
            </a:pPr>
            <a:r>
              <a:rPr lang="en-US" sz="950" b="1" dirty="0">
                <a:solidFill>
                  <a:srgbClr val="85B7EB"/>
                </a:solidFill>
                <a:latin typeface="Courier New" pitchFamily="34" charset="0"/>
                <a:ea typeface="Courier New" pitchFamily="34" charset="-122"/>
                <a:cs typeface="Courier New" pitchFamily="34" charset="-120"/>
              </a:rPr>
              <a:t>Layer 4 — Live org context (when connected)</a:t>
            </a:r>
            <a:endParaRPr lang="en-US" sz="950" dirty="0"/>
          </a:p>
        </p:txBody>
      </p:sp>
      <p:sp>
        <p:nvSpPr>
          <p:cNvPr id="19" name="Text 17"/>
          <p:cNvSpPr/>
          <p:nvPr/>
        </p:nvSpPr>
        <p:spPr>
          <a:xfrm>
            <a:off x="4709160" y="3950208"/>
            <a:ext cx="3840480" cy="201168"/>
          </a:xfrm>
          <a:prstGeom prst="rect">
            <a:avLst/>
          </a:prstGeom>
          <a:noFill/>
          <a:ln/>
        </p:spPr>
        <p:txBody>
          <a:bodyPr wrap="square" rtlCol="0" anchor="ctr"/>
          <a:lstStyle/>
          <a:p>
            <a:pPr marL="0" indent="0" algn="r">
              <a:buNone/>
            </a:pPr>
            <a:r>
              <a:rPr lang="en-US" sz="800" dirty="0">
                <a:solidFill>
                  <a:srgbClr val="555570"/>
                </a:solidFill>
                <a:latin typeface="Courier New" pitchFamily="34" charset="0"/>
                <a:ea typeface="Courier New" pitchFamily="34" charset="-122"/>
                <a:cs typeface="Courier New" pitchFamily="34" charset="-120"/>
              </a:rPr>
              <a:t>← OrgMetadataCollector.ts / mcpMetadataCollector.ts</a:t>
            </a:r>
            <a:endParaRPr lang="en-US" sz="800" dirty="0"/>
          </a:p>
        </p:txBody>
      </p:sp>
      <p:sp>
        <p:nvSpPr>
          <p:cNvPr id="20" name="Text 18"/>
          <p:cNvSpPr/>
          <p:nvPr/>
        </p:nvSpPr>
        <p:spPr>
          <a:xfrm>
            <a:off x="566928" y="4187952"/>
            <a:ext cx="8010144" cy="475488"/>
          </a:xfrm>
          <a:prstGeom prst="rect">
            <a:avLst/>
          </a:prstGeom>
          <a:noFill/>
          <a:ln/>
        </p:spPr>
        <p:txBody>
          <a:bodyPr wrap="square" rtlCol="0" anchor="ctr"/>
          <a:lstStyle/>
          <a:p>
            <a:pPr marL="0" indent="0">
              <a:buNone/>
            </a:pPr>
            <a:r>
              <a:rPr lang="en-US" sz="800" dirty="0">
                <a:solidFill>
                  <a:srgbClr val="C8C8D8"/>
                </a:solidFill>
                <a:latin typeface="Courier New" pitchFamily="34" charset="0"/>
                <a:ea typeface="Courier New" pitchFamily="34" charset="-122"/>
                <a:cs typeface="Courier New" pitchFamily="34" charset="-120"/>
              </a:rPr>
              <a:t>LIVE ORG CONTEXT</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Triggers deployed: CaseTrigger, AccountTrigger (2 triggers on Case — FP-007 risk flagged)</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Async jobs: PMSSyncBatch, SLAMonitorScheduler</a:t>
            </a:r>
            <a:endParaRPr lang="en-US" sz="800" dirty="0"/>
          </a:p>
          <a:p>
            <a:pPr marL="0" indent="0">
              <a:buNone/>
            </a:pPr>
            <a:r>
              <a:rPr lang="en-US" sz="800" dirty="0">
                <a:solidFill>
                  <a:srgbClr val="C8C8D8"/>
                </a:solidFill>
                <a:latin typeface="Courier New" pitchFamily="34" charset="0"/>
                <a:ea typeface="Courier New" pitchFamily="34" charset="-122"/>
                <a:cs typeface="Courier New" pitchFamily="34" charset="-120"/>
              </a:rPr>
              <a:t>API version: 61.0...</a:t>
            </a:r>
            <a:endParaRPr lang="en-US" sz="800" dirty="0"/>
          </a:p>
        </p:txBody>
      </p:sp>
      <p:sp>
        <p:nvSpPr>
          <p:cNvPr id="21" name="Text 19"/>
          <p:cNvSpPr/>
          <p:nvPr/>
        </p:nvSpPr>
        <p:spPr>
          <a:xfrm>
            <a:off x="502920" y="4736592"/>
            <a:ext cx="8138160" cy="228600"/>
          </a:xfrm>
          <a:prstGeom prst="rect">
            <a:avLst/>
          </a:prstGeom>
          <a:noFill/>
          <a:ln/>
        </p:spPr>
        <p:txBody>
          <a:bodyPr wrap="square" rtlCol="0" anchor="ctr"/>
          <a:lstStyle/>
          <a:p>
            <a:pPr marL="0" indent="0" algn="ctr">
              <a:buNone/>
            </a:pPr>
            <a:r>
              <a:rPr lang="en-US" sz="950" i="1" dirty="0">
                <a:solidFill>
                  <a:srgbClr val="6A84A8"/>
                </a:solidFill>
                <a:latin typeface="Arial" pitchFamily="34" charset="0"/>
                <a:ea typeface="Arial" pitchFamily="34" charset="-122"/>
                <a:cs typeface="Arial" pitchFamily="34" charset="-120"/>
              </a:rPr>
              <a:t>AgentRunner.ts assembles these 4 layers in sequence before every Anthropic API call</a:t>
            </a:r>
            <a:endParaRPr lang="en-US" sz="9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IP ARCHITECTURE</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Where the defensible IP sits across the stack</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3246120" y="1325880"/>
            <a:ext cx="2651760" cy="3474720"/>
          </a:xfrm>
          <a:prstGeom prst="roundRect">
            <a:avLst>
              <a:gd name="adj" fmla="val 2759"/>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3246120" y="1325880"/>
            <a:ext cx="2651760" cy="329184"/>
          </a:xfrm>
          <a:prstGeom prst="roundRect">
            <a:avLst>
              <a:gd name="adj" fmla="val 22222"/>
            </a:avLst>
          </a:prstGeom>
          <a:solidFill>
            <a:srgbClr val="1B4F9B"/>
          </a:solidFill>
          <a:ln w="12700">
            <a:solidFill>
              <a:srgbClr val="1B4F9B"/>
            </a:solidFill>
            <a:prstDash val="solid"/>
          </a:ln>
        </p:spPr>
        <p:txBody>
          <a:bodyPr/>
          <a:lstStyle/>
          <a:p>
            <a:endParaRPr lang="en-US"/>
          </a:p>
        </p:txBody>
      </p:sp>
      <p:sp>
        <p:nvSpPr>
          <p:cNvPr id="7" name="Text 5"/>
          <p:cNvSpPr/>
          <p:nvPr/>
        </p:nvSpPr>
        <p:spPr>
          <a:xfrm>
            <a:off x="3246120" y="1335024"/>
            <a:ext cx="2651760" cy="310896"/>
          </a:xfrm>
          <a:prstGeom prst="rect">
            <a:avLst/>
          </a:prstGeom>
          <a:noFill/>
          <a:ln/>
        </p:spPr>
        <p:txBody>
          <a:bodyPr wrap="square" lIns="0" tIns="0" rIns="0" bIns="0" rtlCol="0" anchor="ctr"/>
          <a:lstStyle/>
          <a:p>
            <a:pPr marL="0" indent="0" algn="ctr">
              <a:buNone/>
            </a:pPr>
            <a:r>
              <a:rPr lang="en-US" sz="1100" b="1" dirty="0">
                <a:solidFill>
                  <a:srgbClr val="FFFFFF"/>
                </a:solidFill>
                <a:latin typeface="Arial" pitchFamily="34" charset="0"/>
                <a:ea typeface="Arial" pitchFamily="34" charset="-122"/>
                <a:cs typeface="Arial" pitchFamily="34" charset="-120"/>
              </a:rPr>
              <a:t>Agent system prompt</a:t>
            </a:r>
            <a:endParaRPr lang="en-US" sz="1100" dirty="0"/>
          </a:p>
        </p:txBody>
      </p:sp>
      <p:sp>
        <p:nvSpPr>
          <p:cNvPr id="8" name="Shape 6"/>
          <p:cNvSpPr/>
          <p:nvPr/>
        </p:nvSpPr>
        <p:spPr>
          <a:xfrm>
            <a:off x="3383280" y="1737360"/>
            <a:ext cx="2377440" cy="402336"/>
          </a:xfrm>
          <a:prstGeom prst="roundRect">
            <a:avLst>
              <a:gd name="adj" fmla="val 13636"/>
            </a:avLst>
          </a:prstGeom>
          <a:solidFill>
            <a:srgbClr val="FFFFFF"/>
          </a:solidFill>
          <a:ln w="12700">
            <a:solidFill>
              <a:srgbClr val="1B4F9B"/>
            </a:solidFill>
            <a:prstDash val="solid"/>
          </a:ln>
        </p:spPr>
        <p:txBody>
          <a:bodyPr/>
          <a:lstStyle/>
          <a:p>
            <a:endParaRPr lang="en-US"/>
          </a:p>
        </p:txBody>
      </p:sp>
      <p:sp>
        <p:nvSpPr>
          <p:cNvPr id="9" name="Shape 7"/>
          <p:cNvSpPr/>
          <p:nvPr/>
        </p:nvSpPr>
        <p:spPr>
          <a:xfrm>
            <a:off x="3447288" y="1828800"/>
            <a:ext cx="219456" cy="219456"/>
          </a:xfrm>
          <a:prstGeom prst="ellipse">
            <a:avLst/>
          </a:prstGeom>
          <a:solidFill>
            <a:srgbClr val="1B4F9B"/>
          </a:solidFill>
          <a:ln w="12700">
            <a:solidFill>
              <a:srgbClr val="1B4F9B"/>
            </a:solidFill>
            <a:prstDash val="solid"/>
          </a:ln>
        </p:spPr>
        <p:txBody>
          <a:bodyPr/>
          <a:lstStyle/>
          <a:p>
            <a:endParaRPr lang="en-US"/>
          </a:p>
        </p:txBody>
      </p:sp>
      <p:sp>
        <p:nvSpPr>
          <p:cNvPr id="10" name="Text 8"/>
          <p:cNvSpPr/>
          <p:nvPr/>
        </p:nvSpPr>
        <p:spPr>
          <a:xfrm>
            <a:off x="3749040" y="1810512"/>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Base domain expertise</a:t>
            </a:r>
            <a:endParaRPr lang="en-US" sz="950" dirty="0"/>
          </a:p>
        </p:txBody>
      </p:sp>
      <p:sp>
        <p:nvSpPr>
          <p:cNvPr id="11" name="Shape 9"/>
          <p:cNvSpPr/>
          <p:nvPr/>
        </p:nvSpPr>
        <p:spPr>
          <a:xfrm>
            <a:off x="3383280" y="2249424"/>
            <a:ext cx="2377440" cy="402336"/>
          </a:xfrm>
          <a:prstGeom prst="roundRect">
            <a:avLst>
              <a:gd name="adj" fmla="val 13636"/>
            </a:avLst>
          </a:prstGeom>
          <a:solidFill>
            <a:srgbClr val="FFFFFF"/>
          </a:solidFill>
          <a:ln w="12700">
            <a:solidFill>
              <a:srgbClr val="534AB7"/>
            </a:solidFill>
            <a:prstDash val="solid"/>
          </a:ln>
        </p:spPr>
        <p:txBody>
          <a:bodyPr/>
          <a:lstStyle/>
          <a:p>
            <a:endParaRPr lang="en-US"/>
          </a:p>
        </p:txBody>
      </p:sp>
      <p:sp>
        <p:nvSpPr>
          <p:cNvPr id="12" name="Shape 10"/>
          <p:cNvSpPr/>
          <p:nvPr/>
        </p:nvSpPr>
        <p:spPr>
          <a:xfrm>
            <a:off x="3447288" y="2340864"/>
            <a:ext cx="219456" cy="219456"/>
          </a:xfrm>
          <a:prstGeom prst="ellipse">
            <a:avLst/>
          </a:prstGeom>
          <a:solidFill>
            <a:srgbClr val="534AB7"/>
          </a:solidFill>
          <a:ln w="12700">
            <a:solidFill>
              <a:srgbClr val="534AB7"/>
            </a:solidFill>
            <a:prstDash val="solid"/>
          </a:ln>
        </p:spPr>
        <p:txBody>
          <a:bodyPr/>
          <a:lstStyle/>
          <a:p>
            <a:endParaRPr lang="en-US"/>
          </a:p>
        </p:txBody>
      </p:sp>
      <p:sp>
        <p:nvSpPr>
          <p:cNvPr id="13" name="Text 11"/>
          <p:cNvSpPr/>
          <p:nvPr/>
        </p:nvSpPr>
        <p:spPr>
          <a:xfrm>
            <a:off x="3749040" y="2322576"/>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Well-Architected principles</a:t>
            </a:r>
            <a:endParaRPr lang="en-US" sz="950" dirty="0"/>
          </a:p>
        </p:txBody>
      </p:sp>
      <p:sp>
        <p:nvSpPr>
          <p:cNvPr id="14" name="Shape 12"/>
          <p:cNvSpPr/>
          <p:nvPr/>
        </p:nvSpPr>
        <p:spPr>
          <a:xfrm>
            <a:off x="3383280" y="2761488"/>
            <a:ext cx="2377440" cy="402336"/>
          </a:xfrm>
          <a:prstGeom prst="roundRect">
            <a:avLst>
              <a:gd name="adj" fmla="val 13636"/>
            </a:avLst>
          </a:prstGeom>
          <a:solidFill>
            <a:srgbClr val="FFFFFF"/>
          </a:solidFill>
          <a:ln w="12700">
            <a:solidFill>
              <a:srgbClr val="0F6E56"/>
            </a:solidFill>
            <a:prstDash val="solid"/>
          </a:ln>
        </p:spPr>
        <p:txBody>
          <a:bodyPr/>
          <a:lstStyle/>
          <a:p>
            <a:endParaRPr lang="en-US"/>
          </a:p>
        </p:txBody>
      </p:sp>
      <p:sp>
        <p:nvSpPr>
          <p:cNvPr id="15" name="Shape 13"/>
          <p:cNvSpPr/>
          <p:nvPr/>
        </p:nvSpPr>
        <p:spPr>
          <a:xfrm>
            <a:off x="3447288" y="2852928"/>
            <a:ext cx="219456" cy="219456"/>
          </a:xfrm>
          <a:prstGeom prst="ellipse">
            <a:avLst/>
          </a:prstGeom>
          <a:solidFill>
            <a:srgbClr val="0F6E56"/>
          </a:solidFill>
          <a:ln w="12700">
            <a:solidFill>
              <a:srgbClr val="0F6E56"/>
            </a:solidFill>
            <a:prstDash val="solid"/>
          </a:ln>
        </p:spPr>
        <p:txBody>
          <a:bodyPr/>
          <a:lstStyle/>
          <a:p>
            <a:endParaRPr lang="en-US"/>
          </a:p>
        </p:txBody>
      </p:sp>
      <p:sp>
        <p:nvSpPr>
          <p:cNvPr id="16" name="Text 14"/>
          <p:cNvSpPr/>
          <p:nvPr/>
        </p:nvSpPr>
        <p:spPr>
          <a:xfrm>
            <a:off x="3749040" y="2834640"/>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SI failure pattern library</a:t>
            </a:r>
            <a:endParaRPr lang="en-US" sz="950" dirty="0"/>
          </a:p>
        </p:txBody>
      </p:sp>
      <p:sp>
        <p:nvSpPr>
          <p:cNvPr id="17" name="Shape 15"/>
          <p:cNvSpPr/>
          <p:nvPr/>
        </p:nvSpPr>
        <p:spPr>
          <a:xfrm>
            <a:off x="3383280" y="3273552"/>
            <a:ext cx="2377440" cy="402336"/>
          </a:xfrm>
          <a:prstGeom prst="roundRect">
            <a:avLst>
              <a:gd name="adj" fmla="val 13636"/>
            </a:avLst>
          </a:prstGeom>
          <a:solidFill>
            <a:srgbClr val="FFFFFF"/>
          </a:solidFill>
          <a:ln w="12700">
            <a:solidFill>
              <a:srgbClr val="BA7517"/>
            </a:solidFill>
            <a:prstDash val="solid"/>
          </a:ln>
        </p:spPr>
        <p:txBody>
          <a:bodyPr/>
          <a:lstStyle/>
          <a:p>
            <a:endParaRPr lang="en-US"/>
          </a:p>
        </p:txBody>
      </p:sp>
      <p:sp>
        <p:nvSpPr>
          <p:cNvPr id="18" name="Shape 16"/>
          <p:cNvSpPr/>
          <p:nvPr/>
        </p:nvSpPr>
        <p:spPr>
          <a:xfrm>
            <a:off x="3447288" y="3364992"/>
            <a:ext cx="219456" cy="219456"/>
          </a:xfrm>
          <a:prstGeom prst="ellipse">
            <a:avLst/>
          </a:prstGeom>
          <a:solidFill>
            <a:srgbClr val="BA7517"/>
          </a:solidFill>
          <a:ln w="12700">
            <a:solidFill>
              <a:srgbClr val="BA7517"/>
            </a:solidFill>
            <a:prstDash val="solid"/>
          </a:ln>
        </p:spPr>
        <p:txBody>
          <a:bodyPr/>
          <a:lstStyle/>
          <a:p>
            <a:endParaRPr lang="en-US"/>
          </a:p>
        </p:txBody>
      </p:sp>
      <p:sp>
        <p:nvSpPr>
          <p:cNvPr id="19" name="Text 17"/>
          <p:cNvSpPr/>
          <p:nvPr/>
        </p:nvSpPr>
        <p:spPr>
          <a:xfrm>
            <a:off x="3749040" y="3346704"/>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Cross-session Jira memory</a:t>
            </a:r>
            <a:endParaRPr lang="en-US" sz="950" dirty="0"/>
          </a:p>
        </p:txBody>
      </p:sp>
      <p:sp>
        <p:nvSpPr>
          <p:cNvPr id="20" name="Shape 18"/>
          <p:cNvSpPr/>
          <p:nvPr/>
        </p:nvSpPr>
        <p:spPr>
          <a:xfrm>
            <a:off x="3383280" y="3785616"/>
            <a:ext cx="2377440" cy="402336"/>
          </a:xfrm>
          <a:prstGeom prst="roundRect">
            <a:avLst>
              <a:gd name="adj" fmla="val 13636"/>
            </a:avLst>
          </a:prstGeom>
          <a:solidFill>
            <a:srgbClr val="FFFFFF"/>
          </a:solidFill>
          <a:ln w="12700">
            <a:solidFill>
              <a:srgbClr val="993C1D"/>
            </a:solidFill>
            <a:prstDash val="solid"/>
          </a:ln>
        </p:spPr>
        <p:txBody>
          <a:bodyPr/>
          <a:lstStyle/>
          <a:p>
            <a:endParaRPr lang="en-US"/>
          </a:p>
        </p:txBody>
      </p:sp>
      <p:sp>
        <p:nvSpPr>
          <p:cNvPr id="21" name="Shape 19"/>
          <p:cNvSpPr/>
          <p:nvPr/>
        </p:nvSpPr>
        <p:spPr>
          <a:xfrm>
            <a:off x="3447288" y="3877056"/>
            <a:ext cx="219456" cy="219456"/>
          </a:xfrm>
          <a:prstGeom prst="ellipse">
            <a:avLst/>
          </a:prstGeom>
          <a:solidFill>
            <a:srgbClr val="993C1D"/>
          </a:solidFill>
          <a:ln w="12700">
            <a:solidFill>
              <a:srgbClr val="993C1D"/>
            </a:solidFill>
            <a:prstDash val="solid"/>
          </a:ln>
        </p:spPr>
        <p:txBody>
          <a:bodyPr/>
          <a:lstStyle/>
          <a:p>
            <a:endParaRPr lang="en-US"/>
          </a:p>
        </p:txBody>
      </p:sp>
      <p:sp>
        <p:nvSpPr>
          <p:cNvPr id="22" name="Text 20"/>
          <p:cNvSpPr/>
          <p:nvPr/>
        </p:nvSpPr>
        <p:spPr>
          <a:xfrm>
            <a:off x="3749040" y="3858768"/>
            <a:ext cx="1920240" cy="256032"/>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Live org context (MCP)</a:t>
            </a:r>
            <a:endParaRPr lang="en-US" sz="950" dirty="0"/>
          </a:p>
        </p:txBody>
      </p:sp>
      <p:sp>
        <p:nvSpPr>
          <p:cNvPr id="23" name="Shape 21"/>
          <p:cNvSpPr/>
          <p:nvPr/>
        </p:nvSpPr>
        <p:spPr>
          <a:xfrm>
            <a:off x="320040" y="1508760"/>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4" name="Text 22"/>
          <p:cNvSpPr/>
          <p:nvPr/>
        </p:nvSpPr>
        <p:spPr>
          <a:xfrm>
            <a:off x="457200" y="1581912"/>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Agent domain files</a:t>
            </a:r>
            <a:endParaRPr lang="en-US" sz="950" dirty="0"/>
          </a:p>
        </p:txBody>
      </p:sp>
      <p:sp>
        <p:nvSpPr>
          <p:cNvPr id="25" name="Text 23"/>
          <p:cNvSpPr/>
          <p:nvPr/>
        </p:nvSpPr>
        <p:spPr>
          <a:xfrm>
            <a:off x="457200" y="1837944"/>
            <a:ext cx="2331720" cy="201168"/>
          </a:xfrm>
          <a:prstGeom prst="rect">
            <a:avLst/>
          </a:prstGeom>
          <a:noFill/>
          <a:ln/>
        </p:spPr>
        <p:txBody>
          <a:bodyPr wrap="square" rtlCol="0" anchor="ctr"/>
          <a:lstStyle/>
          <a:p>
            <a:pPr marL="0" indent="0">
              <a:buNone/>
            </a:pPr>
            <a:r>
              <a:rPr lang="en-US" sz="800" dirty="0">
                <a:solidFill>
                  <a:srgbClr val="1B4F9B"/>
                </a:solidFill>
                <a:latin typeface="Courier New" pitchFamily="34" charset="0"/>
                <a:ea typeface="Courier New" pitchFamily="34" charset="-122"/>
                <a:cs typeface="Courier New" pitchFamily="34" charset="-120"/>
              </a:rPr>
              <a:t>src/lib/domains/salesforce/agents/</a:t>
            </a:r>
            <a:endParaRPr lang="en-US" sz="800" dirty="0"/>
          </a:p>
        </p:txBody>
      </p:sp>
      <p:sp>
        <p:nvSpPr>
          <p:cNvPr id="26" name="Shape 24"/>
          <p:cNvSpPr/>
          <p:nvPr/>
        </p:nvSpPr>
        <p:spPr>
          <a:xfrm>
            <a:off x="2926080" y="1837944"/>
            <a:ext cx="320040" cy="0"/>
          </a:xfrm>
          <a:prstGeom prst="line">
            <a:avLst/>
          </a:prstGeom>
          <a:noFill/>
          <a:ln w="12700">
            <a:solidFill>
              <a:srgbClr val="1B4F9B"/>
            </a:solidFill>
            <a:prstDash val="solid"/>
          </a:ln>
        </p:spPr>
        <p:txBody>
          <a:bodyPr/>
          <a:lstStyle/>
          <a:p>
            <a:endParaRPr lang="en-US"/>
          </a:p>
        </p:txBody>
      </p:sp>
      <p:sp>
        <p:nvSpPr>
          <p:cNvPr id="27" name="Text 25"/>
          <p:cNvSpPr/>
          <p:nvPr/>
        </p:nvSpPr>
        <p:spPr>
          <a:xfrm>
            <a:off x="3127248" y="1728216"/>
            <a:ext cx="164592" cy="228600"/>
          </a:xfrm>
          <a:prstGeom prst="rect">
            <a:avLst/>
          </a:prstGeom>
          <a:noFill/>
          <a:ln/>
        </p:spPr>
        <p:txBody>
          <a:bodyPr wrap="square" rtlCol="0" anchor="ctr"/>
          <a:lstStyle/>
          <a:p>
            <a:pPr marL="0" indent="0" algn="ctr">
              <a:buNone/>
            </a:pPr>
            <a:r>
              <a:rPr lang="en-US" sz="1300" b="1" dirty="0">
                <a:solidFill>
                  <a:srgbClr val="1B4F9B"/>
                </a:solidFill>
                <a:latin typeface="Arial" pitchFamily="34" charset="0"/>
                <a:ea typeface="Arial" pitchFamily="34" charset="-122"/>
                <a:cs typeface="Arial" pitchFamily="34" charset="-120"/>
              </a:rPr>
              <a:t>›</a:t>
            </a:r>
            <a:endParaRPr lang="en-US" sz="1300" dirty="0"/>
          </a:p>
        </p:txBody>
      </p:sp>
      <p:sp>
        <p:nvSpPr>
          <p:cNvPr id="28" name="Shape 26"/>
          <p:cNvSpPr/>
          <p:nvPr/>
        </p:nvSpPr>
        <p:spPr>
          <a:xfrm>
            <a:off x="320040" y="2532888"/>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9" name="Text 27"/>
          <p:cNvSpPr/>
          <p:nvPr/>
        </p:nvSpPr>
        <p:spPr>
          <a:xfrm>
            <a:off x="457200" y="2606040"/>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wellArchitectedPrinciples.ts</a:t>
            </a:r>
            <a:endParaRPr lang="en-US" sz="950" dirty="0"/>
          </a:p>
        </p:txBody>
      </p:sp>
      <p:sp>
        <p:nvSpPr>
          <p:cNvPr id="30" name="Text 28"/>
          <p:cNvSpPr/>
          <p:nvPr/>
        </p:nvSpPr>
        <p:spPr>
          <a:xfrm>
            <a:off x="457200" y="2862072"/>
            <a:ext cx="2331720" cy="201168"/>
          </a:xfrm>
          <a:prstGeom prst="rect">
            <a:avLst/>
          </a:prstGeom>
          <a:noFill/>
          <a:ln/>
        </p:spPr>
        <p:txBody>
          <a:bodyPr wrap="square" rtlCol="0" anchor="ctr"/>
          <a:lstStyle/>
          <a:p>
            <a:pPr marL="0" indent="0">
              <a:buNone/>
            </a:pPr>
            <a:r>
              <a:rPr lang="en-US" sz="800" dirty="0">
                <a:solidFill>
                  <a:srgbClr val="534AB7"/>
                </a:solidFill>
                <a:latin typeface="Courier New" pitchFamily="34" charset="0"/>
                <a:ea typeface="Courier New" pitchFamily="34" charset="-122"/>
                <a:cs typeface="Courier New" pitchFamily="34" charset="-120"/>
              </a:rPr>
              <a:t>src/lib/prompt/</a:t>
            </a:r>
            <a:endParaRPr lang="en-US" sz="800" dirty="0"/>
          </a:p>
        </p:txBody>
      </p:sp>
      <p:sp>
        <p:nvSpPr>
          <p:cNvPr id="31" name="Shape 29"/>
          <p:cNvSpPr/>
          <p:nvPr/>
        </p:nvSpPr>
        <p:spPr>
          <a:xfrm>
            <a:off x="2926080" y="2862072"/>
            <a:ext cx="320040" cy="0"/>
          </a:xfrm>
          <a:prstGeom prst="line">
            <a:avLst/>
          </a:prstGeom>
          <a:noFill/>
          <a:ln w="12700">
            <a:solidFill>
              <a:srgbClr val="534AB7"/>
            </a:solidFill>
            <a:prstDash val="solid"/>
          </a:ln>
        </p:spPr>
        <p:txBody>
          <a:bodyPr/>
          <a:lstStyle/>
          <a:p>
            <a:endParaRPr lang="en-US"/>
          </a:p>
        </p:txBody>
      </p:sp>
      <p:sp>
        <p:nvSpPr>
          <p:cNvPr id="32" name="Text 30"/>
          <p:cNvSpPr/>
          <p:nvPr/>
        </p:nvSpPr>
        <p:spPr>
          <a:xfrm>
            <a:off x="3127248" y="2752344"/>
            <a:ext cx="164592" cy="228600"/>
          </a:xfrm>
          <a:prstGeom prst="rect">
            <a:avLst/>
          </a:prstGeom>
          <a:noFill/>
          <a:ln/>
        </p:spPr>
        <p:txBody>
          <a:bodyPr wrap="square" rtlCol="0" anchor="ctr"/>
          <a:lstStyle/>
          <a:p>
            <a:pPr marL="0" indent="0" algn="ctr">
              <a:buNone/>
            </a:pPr>
            <a:r>
              <a:rPr lang="en-US" sz="1300" b="1" dirty="0">
                <a:solidFill>
                  <a:srgbClr val="534AB7"/>
                </a:solidFill>
                <a:latin typeface="Arial" pitchFamily="34" charset="0"/>
                <a:ea typeface="Arial" pitchFamily="34" charset="-122"/>
                <a:cs typeface="Arial" pitchFamily="34" charset="-120"/>
              </a:rPr>
              <a:t>›</a:t>
            </a:r>
            <a:endParaRPr lang="en-US" sz="1300" dirty="0"/>
          </a:p>
        </p:txBody>
      </p:sp>
      <p:sp>
        <p:nvSpPr>
          <p:cNvPr id="33" name="Shape 31"/>
          <p:cNvSpPr/>
          <p:nvPr/>
        </p:nvSpPr>
        <p:spPr>
          <a:xfrm>
            <a:off x="320040" y="3557016"/>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4" name="Text 32"/>
          <p:cNvSpPr/>
          <p:nvPr/>
        </p:nvSpPr>
        <p:spPr>
          <a:xfrm>
            <a:off x="457200" y="3630168"/>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Supabase — failure_patterns</a:t>
            </a:r>
            <a:endParaRPr lang="en-US" sz="950" dirty="0"/>
          </a:p>
        </p:txBody>
      </p:sp>
      <p:sp>
        <p:nvSpPr>
          <p:cNvPr id="35" name="Text 33"/>
          <p:cNvSpPr/>
          <p:nvPr/>
        </p:nvSpPr>
        <p:spPr>
          <a:xfrm>
            <a:off x="457200" y="3886200"/>
            <a:ext cx="2331720" cy="201168"/>
          </a:xfrm>
          <a:prstGeom prst="rect">
            <a:avLst/>
          </a:prstGeom>
          <a:noFill/>
          <a:ln/>
        </p:spPr>
        <p:txBody>
          <a:bodyPr wrap="square" rtlCol="0" anchor="ctr"/>
          <a:lstStyle/>
          <a:p>
            <a:pPr marL="0" indent="0">
              <a:buNone/>
            </a:pPr>
            <a:r>
              <a:rPr lang="en-US" sz="800" dirty="0">
                <a:solidFill>
                  <a:srgbClr val="0F6E56"/>
                </a:solidFill>
                <a:latin typeface="Courier New" pitchFamily="34" charset="0"/>
                <a:ea typeface="Courier New" pitchFamily="34" charset="-122"/>
                <a:cs typeface="Courier New" pitchFamily="34" charset="-120"/>
              </a:rPr>
              <a:t>patternRetrieval.ts</a:t>
            </a:r>
            <a:endParaRPr lang="en-US" sz="800" dirty="0"/>
          </a:p>
        </p:txBody>
      </p:sp>
      <p:sp>
        <p:nvSpPr>
          <p:cNvPr id="36" name="Shape 34"/>
          <p:cNvSpPr/>
          <p:nvPr/>
        </p:nvSpPr>
        <p:spPr>
          <a:xfrm>
            <a:off x="2926080" y="3886200"/>
            <a:ext cx="320040" cy="0"/>
          </a:xfrm>
          <a:prstGeom prst="line">
            <a:avLst/>
          </a:prstGeom>
          <a:noFill/>
          <a:ln w="12700">
            <a:solidFill>
              <a:srgbClr val="0F6E56"/>
            </a:solidFill>
            <a:prstDash val="solid"/>
          </a:ln>
        </p:spPr>
        <p:txBody>
          <a:bodyPr/>
          <a:lstStyle/>
          <a:p>
            <a:endParaRPr lang="en-US"/>
          </a:p>
        </p:txBody>
      </p:sp>
      <p:sp>
        <p:nvSpPr>
          <p:cNvPr id="37" name="Text 35"/>
          <p:cNvSpPr/>
          <p:nvPr/>
        </p:nvSpPr>
        <p:spPr>
          <a:xfrm>
            <a:off x="3127248" y="3776472"/>
            <a:ext cx="164592" cy="228600"/>
          </a:xfrm>
          <a:prstGeom prst="rect">
            <a:avLst/>
          </a:prstGeom>
          <a:noFill/>
          <a:ln/>
        </p:spPr>
        <p:txBody>
          <a:bodyPr wrap="square" rtlCol="0" anchor="ctr"/>
          <a:lstStyle/>
          <a:p>
            <a:pPr marL="0" indent="0" algn="ctr">
              <a:buNone/>
            </a:pPr>
            <a:r>
              <a:rPr lang="en-US" sz="1300" b="1" dirty="0">
                <a:solidFill>
                  <a:srgbClr val="0F6E56"/>
                </a:solidFill>
                <a:latin typeface="Arial" pitchFamily="34" charset="0"/>
                <a:ea typeface="Arial" pitchFamily="34" charset="-122"/>
                <a:cs typeface="Arial" pitchFamily="34" charset="-120"/>
              </a:rPr>
              <a:t>›</a:t>
            </a:r>
            <a:endParaRPr lang="en-US" sz="1300" dirty="0"/>
          </a:p>
        </p:txBody>
      </p:sp>
      <p:sp>
        <p:nvSpPr>
          <p:cNvPr id="38" name="Shape 36"/>
          <p:cNvSpPr/>
          <p:nvPr/>
        </p:nvSpPr>
        <p:spPr>
          <a:xfrm>
            <a:off x="6217920" y="1920240"/>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9" name="Text 37"/>
          <p:cNvSpPr/>
          <p:nvPr/>
        </p:nvSpPr>
        <p:spPr>
          <a:xfrm>
            <a:off x="6355080" y="1993392"/>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Jira ARBOARD project</a:t>
            </a:r>
            <a:endParaRPr lang="en-US" sz="950" dirty="0"/>
          </a:p>
        </p:txBody>
      </p:sp>
      <p:sp>
        <p:nvSpPr>
          <p:cNvPr id="40" name="Text 38"/>
          <p:cNvSpPr/>
          <p:nvPr/>
        </p:nvSpPr>
        <p:spPr>
          <a:xfrm>
            <a:off x="6355080" y="2249424"/>
            <a:ext cx="2331720" cy="201168"/>
          </a:xfrm>
          <a:prstGeom prst="rect">
            <a:avLst/>
          </a:prstGeom>
          <a:noFill/>
          <a:ln/>
        </p:spPr>
        <p:txBody>
          <a:bodyPr wrap="square" rtlCol="0" anchor="ctr"/>
          <a:lstStyle/>
          <a:p>
            <a:pPr marL="0" indent="0">
              <a:buNone/>
            </a:pPr>
            <a:r>
              <a:rPr lang="en-US" sz="800" dirty="0">
                <a:solidFill>
                  <a:srgbClr val="BA7517"/>
                </a:solidFill>
                <a:latin typeface="Courier New" pitchFamily="34" charset="0"/>
                <a:ea typeface="Courier New" pitchFamily="34" charset="-122"/>
                <a:cs typeface="Courier New" pitchFamily="34" charset="-120"/>
              </a:rPr>
              <a:t>jiraMemoryRetriever.ts</a:t>
            </a:r>
            <a:endParaRPr lang="en-US" sz="800" dirty="0"/>
          </a:p>
        </p:txBody>
      </p:sp>
      <p:sp>
        <p:nvSpPr>
          <p:cNvPr id="41" name="Shape 39"/>
          <p:cNvSpPr/>
          <p:nvPr/>
        </p:nvSpPr>
        <p:spPr>
          <a:xfrm>
            <a:off x="5897880" y="2249424"/>
            <a:ext cx="320040" cy="0"/>
          </a:xfrm>
          <a:prstGeom prst="line">
            <a:avLst/>
          </a:prstGeom>
          <a:noFill/>
          <a:ln w="12700">
            <a:solidFill>
              <a:srgbClr val="BA7517"/>
            </a:solidFill>
            <a:prstDash val="solid"/>
          </a:ln>
        </p:spPr>
        <p:txBody>
          <a:bodyPr/>
          <a:lstStyle/>
          <a:p>
            <a:endParaRPr lang="en-US"/>
          </a:p>
        </p:txBody>
      </p:sp>
      <p:sp>
        <p:nvSpPr>
          <p:cNvPr id="42" name="Text 40"/>
          <p:cNvSpPr/>
          <p:nvPr/>
        </p:nvSpPr>
        <p:spPr>
          <a:xfrm>
            <a:off x="5733288" y="2139696"/>
            <a:ext cx="182880" cy="228600"/>
          </a:xfrm>
          <a:prstGeom prst="rect">
            <a:avLst/>
          </a:prstGeom>
          <a:noFill/>
          <a:ln/>
        </p:spPr>
        <p:txBody>
          <a:bodyPr wrap="square" rtlCol="0" anchor="ctr"/>
          <a:lstStyle/>
          <a:p>
            <a:pPr marL="0" indent="0" algn="ctr">
              <a:buNone/>
            </a:pPr>
            <a:r>
              <a:rPr lang="en-US" sz="1300" b="1" dirty="0">
                <a:solidFill>
                  <a:srgbClr val="BA7517"/>
                </a:solidFill>
                <a:latin typeface="Arial" pitchFamily="34" charset="0"/>
                <a:ea typeface="Arial" pitchFamily="34" charset="-122"/>
                <a:cs typeface="Arial" pitchFamily="34" charset="-120"/>
              </a:rPr>
              <a:t>‹</a:t>
            </a:r>
            <a:endParaRPr lang="en-US" sz="1300" dirty="0"/>
          </a:p>
        </p:txBody>
      </p:sp>
      <p:sp>
        <p:nvSpPr>
          <p:cNvPr id="43" name="Shape 41"/>
          <p:cNvSpPr/>
          <p:nvPr/>
        </p:nvSpPr>
        <p:spPr>
          <a:xfrm>
            <a:off x="6217920" y="3108960"/>
            <a:ext cx="2606040" cy="658368"/>
          </a:xfrm>
          <a:prstGeom prst="roundRect">
            <a:avLst>
              <a:gd name="adj" fmla="val 11111"/>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44" name="Text 42"/>
          <p:cNvSpPr/>
          <p:nvPr/>
        </p:nvSpPr>
        <p:spPr>
          <a:xfrm>
            <a:off x="6355080" y="3182112"/>
            <a:ext cx="2331720" cy="237744"/>
          </a:xfrm>
          <a:prstGeom prst="rect">
            <a:avLst/>
          </a:prstGeom>
          <a:noFill/>
          <a:ln/>
        </p:spPr>
        <p:txBody>
          <a:bodyPr wrap="square" rtlCol="0" anchor="ctr"/>
          <a:lstStyle/>
          <a:p>
            <a:pPr marL="0" indent="0">
              <a:buNone/>
            </a:pPr>
            <a:r>
              <a:rPr lang="en-US" sz="950" b="1" dirty="0">
                <a:solidFill>
                  <a:srgbClr val="0F1E3C"/>
                </a:solidFill>
                <a:latin typeface="Arial" pitchFamily="34" charset="0"/>
                <a:ea typeface="Arial" pitchFamily="34" charset="-122"/>
                <a:cs typeface="Arial" pitchFamily="34" charset="-120"/>
              </a:rPr>
              <a:t>Salesforce org metadata</a:t>
            </a:r>
            <a:endParaRPr lang="en-US" sz="950" dirty="0"/>
          </a:p>
        </p:txBody>
      </p:sp>
      <p:sp>
        <p:nvSpPr>
          <p:cNvPr id="45" name="Text 43"/>
          <p:cNvSpPr/>
          <p:nvPr/>
        </p:nvSpPr>
        <p:spPr>
          <a:xfrm>
            <a:off x="6355080" y="3438144"/>
            <a:ext cx="2331720" cy="201168"/>
          </a:xfrm>
          <a:prstGeom prst="rect">
            <a:avLst/>
          </a:prstGeom>
          <a:noFill/>
          <a:ln/>
        </p:spPr>
        <p:txBody>
          <a:bodyPr wrap="square" rtlCol="0" anchor="ctr"/>
          <a:lstStyle/>
          <a:p>
            <a:pPr marL="0" indent="0">
              <a:buNone/>
            </a:pPr>
            <a:r>
              <a:rPr lang="en-US" sz="800" dirty="0">
                <a:solidFill>
                  <a:srgbClr val="993C1D"/>
                </a:solidFill>
                <a:latin typeface="Courier New" pitchFamily="34" charset="0"/>
                <a:ea typeface="Courier New" pitchFamily="34" charset="-122"/>
                <a:cs typeface="Courier New" pitchFamily="34" charset="-120"/>
              </a:rPr>
              <a:t>OrgMetadataCollector.ts</a:t>
            </a:r>
            <a:endParaRPr lang="en-US" sz="800" dirty="0"/>
          </a:p>
        </p:txBody>
      </p:sp>
      <p:sp>
        <p:nvSpPr>
          <p:cNvPr id="46" name="Shape 44"/>
          <p:cNvSpPr/>
          <p:nvPr/>
        </p:nvSpPr>
        <p:spPr>
          <a:xfrm>
            <a:off x="5897880" y="3438144"/>
            <a:ext cx="320040" cy="0"/>
          </a:xfrm>
          <a:prstGeom prst="line">
            <a:avLst/>
          </a:prstGeom>
          <a:noFill/>
          <a:ln w="12700">
            <a:solidFill>
              <a:srgbClr val="993C1D"/>
            </a:solidFill>
            <a:prstDash val="solid"/>
          </a:ln>
        </p:spPr>
        <p:txBody>
          <a:bodyPr/>
          <a:lstStyle/>
          <a:p>
            <a:endParaRPr lang="en-US"/>
          </a:p>
        </p:txBody>
      </p:sp>
      <p:sp>
        <p:nvSpPr>
          <p:cNvPr id="47" name="Text 45"/>
          <p:cNvSpPr/>
          <p:nvPr/>
        </p:nvSpPr>
        <p:spPr>
          <a:xfrm>
            <a:off x="5733288" y="3328416"/>
            <a:ext cx="182880" cy="228600"/>
          </a:xfrm>
          <a:prstGeom prst="rect">
            <a:avLst/>
          </a:prstGeom>
          <a:noFill/>
          <a:ln/>
        </p:spPr>
        <p:txBody>
          <a:bodyPr wrap="square" rtlCol="0" anchor="ctr"/>
          <a:lstStyle/>
          <a:p>
            <a:pPr marL="0" indent="0" algn="ctr">
              <a:buNone/>
            </a:pPr>
            <a:r>
              <a:rPr lang="en-US" sz="1300" b="1" dirty="0">
                <a:solidFill>
                  <a:srgbClr val="993C1D"/>
                </a:solidFill>
                <a:latin typeface="Arial" pitchFamily="34" charset="0"/>
                <a:ea typeface="Arial" pitchFamily="34" charset="-122"/>
                <a:cs typeface="Arial" pitchFamily="34" charset="-120"/>
              </a:rPr>
              <a:t>‹</a:t>
            </a:r>
            <a:endParaRPr lang="en-US" sz="1300" dirty="0"/>
          </a:p>
        </p:txBody>
      </p:sp>
      <p:sp>
        <p:nvSpPr>
          <p:cNvPr id="48" name="Text 46"/>
          <p:cNvSpPr/>
          <p:nvPr/>
        </p:nvSpPr>
        <p:spPr>
          <a:xfrm>
            <a:off x="411480" y="4617720"/>
            <a:ext cx="8321040" cy="256032"/>
          </a:xfrm>
          <a:prstGeom prst="rect">
            <a:avLst/>
          </a:prstGeom>
          <a:noFill/>
          <a:ln/>
        </p:spPr>
        <p:txBody>
          <a:bodyPr wrap="square" rtlCol="0" anchor="ctr"/>
          <a:lstStyle/>
          <a:p>
            <a:pPr marL="0" indent="0" algn="ctr">
              <a:buNone/>
            </a:pPr>
            <a:r>
              <a:rPr lang="en-US" sz="1000" i="1" dirty="0">
                <a:solidFill>
                  <a:srgbClr val="64635E"/>
                </a:solidFill>
                <a:latin typeface="Arial" pitchFamily="34" charset="0"/>
                <a:ea typeface="Arial" pitchFamily="34" charset="-122"/>
                <a:cs typeface="Arial" pitchFamily="34" charset="-120"/>
              </a:rPr>
              <a:t>Static knowledge (left) + Live retrieval (right) = full grounding for every agent on every session</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347472"/>
            <a:ext cx="8138160" cy="201168"/>
          </a:xfrm>
          <a:prstGeom prst="rect">
            <a:avLst/>
          </a:prstGeom>
          <a:noFill/>
          <a:ln/>
        </p:spPr>
        <p:txBody>
          <a:bodyPr wrap="square" rtlCol="0" anchor="ctr"/>
          <a:lstStyle/>
          <a:p>
            <a:pPr marL="0" indent="0" algn="l">
              <a:buNone/>
            </a:pPr>
            <a:r>
              <a:rPr lang="en-US" sz="900" b="1" kern="0" spc="300" dirty="0">
                <a:solidFill>
                  <a:srgbClr val="2E6DA4"/>
                </a:solidFill>
                <a:latin typeface="Arial" pitchFamily="34" charset="0"/>
                <a:ea typeface="Arial" pitchFamily="34" charset="-122"/>
                <a:cs typeface="Arial" pitchFamily="34" charset="-120"/>
              </a:rPr>
              <a:t>TECHNICAL APPENDIX — EXTENSIBILITY</a:t>
            </a:r>
            <a:endParaRPr lang="en-US" sz="900" dirty="0"/>
          </a:p>
        </p:txBody>
      </p:sp>
      <p:sp>
        <p:nvSpPr>
          <p:cNvPr id="3" name="Text 1"/>
          <p:cNvSpPr/>
          <p:nvPr/>
        </p:nvSpPr>
        <p:spPr>
          <a:xfrm>
            <a:off x="502920" y="594360"/>
            <a:ext cx="8138160" cy="640080"/>
          </a:xfrm>
          <a:prstGeom prst="rect">
            <a:avLst/>
          </a:prstGeom>
          <a:noFill/>
          <a:ln/>
        </p:spPr>
        <p:txBody>
          <a:bodyPr wrap="square" rtlCol="0" anchor="ctr"/>
          <a:lstStyle/>
          <a:p>
            <a:pPr marL="0" indent="0" algn="l">
              <a:buNone/>
            </a:pPr>
            <a:r>
              <a:rPr lang="en-US" sz="2600" b="1" dirty="0">
                <a:solidFill>
                  <a:srgbClr val="1A1A1A"/>
                </a:solidFill>
                <a:latin typeface="Arial" pitchFamily="34" charset="0"/>
                <a:ea typeface="Arial" pitchFamily="34" charset="-122"/>
                <a:cs typeface="Arial" pitchFamily="34" charset="-120"/>
              </a:rPr>
              <a:t>How to extend ARBoard for a new engagement</a:t>
            </a:r>
            <a:endParaRPr lang="en-US" sz="2600" dirty="0"/>
          </a:p>
        </p:txBody>
      </p:sp>
      <p:sp>
        <p:nvSpPr>
          <p:cNvPr id="4" name="Shape 2"/>
          <p:cNvSpPr/>
          <p:nvPr/>
        </p:nvSpPr>
        <p:spPr>
          <a:xfrm>
            <a:off x="502920" y="1207008"/>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298448"/>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6" name="Shape 4"/>
          <p:cNvSpPr/>
          <p:nvPr/>
        </p:nvSpPr>
        <p:spPr>
          <a:xfrm>
            <a:off x="411480" y="1298448"/>
            <a:ext cx="4160520" cy="329184"/>
          </a:xfrm>
          <a:prstGeom prst="roundRect">
            <a:avLst>
              <a:gd name="adj" fmla="val 22222"/>
            </a:avLst>
          </a:prstGeom>
          <a:solidFill>
            <a:srgbClr val="E1F5EE"/>
          </a:solidFill>
          <a:ln w="12700">
            <a:solidFill>
              <a:srgbClr val="E1F5EE"/>
            </a:solidFill>
            <a:prstDash val="solid"/>
          </a:ln>
        </p:spPr>
        <p:txBody>
          <a:bodyPr/>
          <a:lstStyle/>
          <a:p>
            <a:endParaRPr lang="en-US"/>
          </a:p>
        </p:txBody>
      </p:sp>
      <p:sp>
        <p:nvSpPr>
          <p:cNvPr id="7" name="Text 5"/>
          <p:cNvSpPr/>
          <p:nvPr/>
        </p:nvSpPr>
        <p:spPr>
          <a:xfrm>
            <a:off x="548640" y="1335024"/>
            <a:ext cx="3886200" cy="256032"/>
          </a:xfrm>
          <a:prstGeom prst="rect">
            <a:avLst/>
          </a:prstGeom>
          <a:noFill/>
          <a:ln/>
        </p:spPr>
        <p:txBody>
          <a:bodyPr wrap="square" rtlCol="0" anchor="ctr"/>
          <a:lstStyle/>
          <a:p>
            <a:pPr marL="0" indent="0">
              <a:buNone/>
            </a:pPr>
            <a:r>
              <a:rPr lang="en-US" sz="1100" b="1" dirty="0">
                <a:solidFill>
                  <a:srgbClr val="0F6E56"/>
                </a:solidFill>
                <a:latin typeface="Arial" pitchFamily="34" charset="0"/>
                <a:ea typeface="Arial" pitchFamily="34" charset="-122"/>
                <a:cs typeface="Arial" pitchFamily="34" charset="-120"/>
              </a:rPr>
              <a:t>Add a new SI failure pattern</a:t>
            </a:r>
            <a:endParaRPr lang="en-US" sz="1100" dirty="0"/>
          </a:p>
        </p:txBody>
      </p:sp>
      <p:sp>
        <p:nvSpPr>
          <p:cNvPr id="8" name="Text 6"/>
          <p:cNvSpPr/>
          <p:nvPr/>
        </p:nvSpPr>
        <p:spPr>
          <a:xfrm>
            <a:off x="548640" y="1700784"/>
            <a:ext cx="3886200" cy="292608"/>
          </a:xfrm>
          <a:prstGeom prst="rect">
            <a:avLst/>
          </a:prstGeom>
          <a:noFill/>
          <a:ln/>
        </p:spPr>
        <p:txBody>
          <a:bodyPr wrap="square" rtlCol="0" anchor="ctr"/>
          <a:lstStyle/>
          <a:p>
            <a:pPr marL="0" indent="0">
              <a:buNone/>
            </a:pPr>
            <a:r>
              <a:rPr lang="en-US" sz="950" b="1" dirty="0">
                <a:solidFill>
                  <a:srgbClr val="0F6E56"/>
                </a:solidFill>
                <a:latin typeface="Arial" pitchFamily="34" charset="0"/>
                <a:ea typeface="Arial" pitchFamily="34" charset="-122"/>
                <a:cs typeface="Arial" pitchFamily="34" charset="-120"/>
              </a:rPr>
              <a:t>1.  </a:t>
            </a:r>
            <a:r>
              <a:rPr lang="en-US" sz="950" dirty="0">
                <a:solidFill>
                  <a:srgbClr val="1A1A1A"/>
                </a:solidFill>
                <a:latin typeface="Arial" pitchFamily="34" charset="0"/>
                <a:ea typeface="Arial" pitchFamily="34" charset="-122"/>
                <a:cs typeface="Arial" pitchFamily="34" charset="-120"/>
              </a:rPr>
              <a:t>Insert row into Supabase failure_patterns table</a:t>
            </a:r>
            <a:endParaRPr lang="en-US" sz="950" dirty="0"/>
          </a:p>
        </p:txBody>
      </p:sp>
      <p:sp>
        <p:nvSpPr>
          <p:cNvPr id="9" name="Text 7"/>
          <p:cNvSpPr/>
          <p:nvPr/>
        </p:nvSpPr>
        <p:spPr>
          <a:xfrm>
            <a:off x="548640" y="2029968"/>
            <a:ext cx="3886200" cy="292608"/>
          </a:xfrm>
          <a:prstGeom prst="rect">
            <a:avLst/>
          </a:prstGeom>
          <a:noFill/>
          <a:ln/>
        </p:spPr>
        <p:txBody>
          <a:bodyPr wrap="square" rtlCol="0" anchor="ctr"/>
          <a:lstStyle/>
          <a:p>
            <a:pPr marL="0" indent="0">
              <a:buNone/>
            </a:pPr>
            <a:r>
              <a:rPr lang="en-US" sz="950" b="1" dirty="0">
                <a:solidFill>
                  <a:srgbClr val="0F6E56"/>
                </a:solidFill>
                <a:latin typeface="Arial" pitchFamily="34" charset="0"/>
                <a:ea typeface="Arial" pitchFamily="34" charset="-122"/>
                <a:cs typeface="Arial" pitchFamily="34" charset="-120"/>
              </a:rPr>
              <a:t>2.  </a:t>
            </a:r>
            <a:r>
              <a:rPr lang="en-US" sz="950" dirty="0">
                <a:solidFill>
                  <a:srgbClr val="1A1A1A"/>
                </a:solidFill>
                <a:latin typeface="Arial" pitchFamily="34" charset="0"/>
                <a:ea typeface="Arial" pitchFamily="34" charset="-122"/>
                <a:cs typeface="Arial" pitchFamily="34" charset="-120"/>
              </a:rPr>
              <a:t>Set component_tags to match relevant agents</a:t>
            </a:r>
            <a:endParaRPr lang="en-US" sz="950" dirty="0"/>
          </a:p>
        </p:txBody>
      </p:sp>
      <p:sp>
        <p:nvSpPr>
          <p:cNvPr id="10" name="Text 8"/>
          <p:cNvSpPr/>
          <p:nvPr/>
        </p:nvSpPr>
        <p:spPr>
          <a:xfrm>
            <a:off x="548640" y="2359152"/>
            <a:ext cx="3886200" cy="292608"/>
          </a:xfrm>
          <a:prstGeom prst="rect">
            <a:avLst/>
          </a:prstGeom>
          <a:noFill/>
          <a:ln/>
        </p:spPr>
        <p:txBody>
          <a:bodyPr wrap="square" rtlCol="0" anchor="ctr"/>
          <a:lstStyle/>
          <a:p>
            <a:pPr marL="0" indent="0">
              <a:buNone/>
            </a:pPr>
            <a:r>
              <a:rPr lang="en-US" sz="950" b="1" dirty="0">
                <a:solidFill>
                  <a:srgbClr val="0F6E56"/>
                </a:solidFill>
                <a:latin typeface="Arial" pitchFamily="34" charset="0"/>
                <a:ea typeface="Arial" pitchFamily="34" charset="-122"/>
                <a:cs typeface="Arial" pitchFamily="34" charset="-120"/>
              </a:rPr>
              <a:t>3.  </a:t>
            </a:r>
            <a:r>
              <a:rPr lang="en-US" sz="950" dirty="0">
                <a:solidFill>
                  <a:srgbClr val="1A1A1A"/>
                </a:solidFill>
                <a:latin typeface="Arial" pitchFamily="34" charset="0"/>
                <a:ea typeface="Arial" pitchFamily="34" charset="-122"/>
                <a:cs typeface="Arial" pitchFamily="34" charset="-120"/>
              </a:rPr>
              <a:t>Pattern auto-injects on next session — no code change</a:t>
            </a:r>
            <a:endParaRPr lang="en-US" sz="950" dirty="0"/>
          </a:p>
        </p:txBody>
      </p:sp>
      <p:sp>
        <p:nvSpPr>
          <p:cNvPr id="11" name="Text 9"/>
          <p:cNvSpPr/>
          <p:nvPr/>
        </p:nvSpPr>
        <p:spPr>
          <a:xfrm>
            <a:off x="548640" y="2779776"/>
            <a:ext cx="3886200" cy="182880"/>
          </a:xfrm>
          <a:prstGeom prst="rect">
            <a:avLst/>
          </a:prstGeom>
          <a:noFill/>
          <a:ln/>
        </p:spPr>
        <p:txBody>
          <a:bodyPr wrap="square" rtlCol="0" anchor="ctr"/>
          <a:lstStyle/>
          <a:p>
            <a:pPr marL="0" indent="0">
              <a:buNone/>
            </a:pPr>
            <a:r>
              <a:rPr lang="en-US" sz="800" b="1" dirty="0">
                <a:solidFill>
                  <a:srgbClr val="0F6E56"/>
                </a:solidFill>
                <a:latin typeface="Courier New" pitchFamily="34" charset="0"/>
                <a:ea typeface="Courier New" pitchFamily="34" charset="-122"/>
                <a:cs typeface="Courier New" pitchFamily="34" charset="-120"/>
              </a:rPr>
              <a:t>Supabase: failure_patterns table</a:t>
            </a:r>
            <a:endParaRPr lang="en-US" sz="800" dirty="0"/>
          </a:p>
        </p:txBody>
      </p:sp>
      <p:sp>
        <p:nvSpPr>
          <p:cNvPr id="12" name="Shape 10"/>
          <p:cNvSpPr/>
          <p:nvPr/>
        </p:nvSpPr>
        <p:spPr>
          <a:xfrm>
            <a:off x="4663440" y="1298448"/>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3" name="Shape 11"/>
          <p:cNvSpPr/>
          <p:nvPr/>
        </p:nvSpPr>
        <p:spPr>
          <a:xfrm>
            <a:off x="4663440" y="1298448"/>
            <a:ext cx="4160520" cy="329184"/>
          </a:xfrm>
          <a:prstGeom prst="roundRect">
            <a:avLst>
              <a:gd name="adj" fmla="val 22222"/>
            </a:avLst>
          </a:prstGeom>
          <a:solidFill>
            <a:srgbClr val="EBF2FA"/>
          </a:solidFill>
          <a:ln w="12700">
            <a:solidFill>
              <a:srgbClr val="EBF2FA"/>
            </a:solidFill>
            <a:prstDash val="solid"/>
          </a:ln>
        </p:spPr>
        <p:txBody>
          <a:bodyPr/>
          <a:lstStyle/>
          <a:p>
            <a:endParaRPr lang="en-US"/>
          </a:p>
        </p:txBody>
      </p:sp>
      <p:sp>
        <p:nvSpPr>
          <p:cNvPr id="14" name="Text 12"/>
          <p:cNvSpPr/>
          <p:nvPr/>
        </p:nvSpPr>
        <p:spPr>
          <a:xfrm>
            <a:off x="4800600" y="1335024"/>
            <a:ext cx="3886200" cy="256032"/>
          </a:xfrm>
          <a:prstGeom prst="rect">
            <a:avLst/>
          </a:prstGeom>
          <a:noFill/>
          <a:ln/>
        </p:spPr>
        <p:txBody>
          <a:bodyPr wrap="square" rtlCol="0" anchor="ctr"/>
          <a:lstStyle/>
          <a:p>
            <a:pPr marL="0" indent="0">
              <a:buNone/>
            </a:pPr>
            <a:r>
              <a:rPr lang="en-US" sz="1100" b="1" dirty="0">
                <a:solidFill>
                  <a:srgbClr val="1B4F9B"/>
                </a:solidFill>
                <a:latin typeface="Arial" pitchFamily="34" charset="0"/>
                <a:ea typeface="Arial" pitchFamily="34" charset="-122"/>
                <a:cs typeface="Arial" pitchFamily="34" charset="-120"/>
              </a:rPr>
              <a:t>Add a new specialist agent</a:t>
            </a:r>
            <a:endParaRPr lang="en-US" sz="1100" dirty="0"/>
          </a:p>
        </p:txBody>
      </p:sp>
      <p:sp>
        <p:nvSpPr>
          <p:cNvPr id="15" name="Text 13"/>
          <p:cNvSpPr/>
          <p:nvPr/>
        </p:nvSpPr>
        <p:spPr>
          <a:xfrm>
            <a:off x="4800600" y="1700784"/>
            <a:ext cx="3886200" cy="292608"/>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1.  </a:t>
            </a:r>
            <a:r>
              <a:rPr lang="en-US" sz="950" dirty="0">
                <a:solidFill>
                  <a:srgbClr val="1A1A1A"/>
                </a:solidFill>
                <a:latin typeface="Arial" pitchFamily="34" charset="0"/>
                <a:ea typeface="Arial" pitchFamily="34" charset="-122"/>
                <a:cs typeface="Arial" pitchFamily="34" charset="-120"/>
              </a:rPr>
              <a:t>Create src/lib/domains/salesforce/agents/newagent.ts</a:t>
            </a:r>
            <a:endParaRPr lang="en-US" sz="950" dirty="0"/>
          </a:p>
        </p:txBody>
      </p:sp>
      <p:sp>
        <p:nvSpPr>
          <p:cNvPr id="16" name="Text 14"/>
          <p:cNvSpPr/>
          <p:nvPr/>
        </p:nvSpPr>
        <p:spPr>
          <a:xfrm>
            <a:off x="4800600" y="2029968"/>
            <a:ext cx="3886200" cy="292608"/>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2.  </a:t>
            </a:r>
            <a:r>
              <a:rPr lang="en-US" sz="950" dirty="0">
                <a:solidFill>
                  <a:srgbClr val="1A1A1A"/>
                </a:solidFill>
                <a:latin typeface="Arial" pitchFamily="34" charset="0"/>
                <a:ea typeface="Arial" pitchFamily="34" charset="-122"/>
                <a:cs typeface="Arial" pitchFamily="34" charset="-120"/>
              </a:rPr>
              <a:t>Add agent key to wellArchitectedPrinciples.ts</a:t>
            </a:r>
            <a:endParaRPr lang="en-US" sz="950" dirty="0"/>
          </a:p>
        </p:txBody>
      </p:sp>
      <p:sp>
        <p:nvSpPr>
          <p:cNvPr id="17" name="Text 15"/>
          <p:cNvSpPr/>
          <p:nvPr/>
        </p:nvSpPr>
        <p:spPr>
          <a:xfrm>
            <a:off x="4800600" y="2359152"/>
            <a:ext cx="3886200" cy="292608"/>
          </a:xfrm>
          <a:prstGeom prst="rect">
            <a:avLst/>
          </a:prstGeom>
          <a:noFill/>
          <a:ln/>
        </p:spPr>
        <p:txBody>
          <a:bodyPr wrap="square" rtlCol="0" anchor="ctr"/>
          <a:lstStyle/>
          <a:p>
            <a:pPr marL="0" indent="0">
              <a:buNone/>
            </a:pPr>
            <a:r>
              <a:rPr lang="en-US" sz="950" b="1" dirty="0">
                <a:solidFill>
                  <a:srgbClr val="1B4F9B"/>
                </a:solidFill>
                <a:latin typeface="Arial" pitchFamily="34" charset="0"/>
                <a:ea typeface="Arial" pitchFamily="34" charset="-122"/>
                <a:cs typeface="Arial" pitchFamily="34" charset="-120"/>
              </a:rPr>
              <a:t>3.  </a:t>
            </a:r>
            <a:r>
              <a:rPr lang="en-US" sz="950" dirty="0">
                <a:solidFill>
                  <a:srgbClr val="1A1A1A"/>
                </a:solidFill>
                <a:latin typeface="Arial" pitchFamily="34" charset="0"/>
                <a:ea typeface="Arial" pitchFamily="34" charset="-122"/>
                <a:cs typeface="Arial" pitchFamily="34" charset="-120"/>
              </a:rPr>
              <a:t>Register in ForumOrchestrator phase config</a:t>
            </a:r>
            <a:endParaRPr lang="en-US" sz="950" dirty="0"/>
          </a:p>
        </p:txBody>
      </p:sp>
      <p:sp>
        <p:nvSpPr>
          <p:cNvPr id="18" name="Text 16"/>
          <p:cNvSpPr/>
          <p:nvPr/>
        </p:nvSpPr>
        <p:spPr>
          <a:xfrm>
            <a:off x="4800600" y="2779776"/>
            <a:ext cx="3886200" cy="182880"/>
          </a:xfrm>
          <a:prstGeom prst="rect">
            <a:avLst/>
          </a:prstGeom>
          <a:noFill/>
          <a:ln/>
        </p:spPr>
        <p:txBody>
          <a:bodyPr wrap="square" rtlCol="0" anchor="ctr"/>
          <a:lstStyle/>
          <a:p>
            <a:pPr marL="0" indent="0">
              <a:buNone/>
            </a:pPr>
            <a:r>
              <a:rPr lang="en-US" sz="800" b="1" dirty="0">
                <a:solidFill>
                  <a:srgbClr val="1B4F9B"/>
                </a:solidFill>
                <a:latin typeface="Courier New" pitchFamily="34" charset="0"/>
                <a:ea typeface="Courier New" pitchFamily="34" charset="-122"/>
                <a:cs typeface="Courier New" pitchFamily="34" charset="-120"/>
              </a:rPr>
              <a:t>domains/salesforce/agents/ + ForumOrchestrator.ts</a:t>
            </a:r>
            <a:endParaRPr lang="en-US" sz="800" dirty="0"/>
          </a:p>
        </p:txBody>
      </p:sp>
      <p:sp>
        <p:nvSpPr>
          <p:cNvPr id="19" name="Shape 17"/>
          <p:cNvSpPr/>
          <p:nvPr/>
        </p:nvSpPr>
        <p:spPr>
          <a:xfrm>
            <a:off x="411480" y="3108960"/>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0" name="Shape 18"/>
          <p:cNvSpPr/>
          <p:nvPr/>
        </p:nvSpPr>
        <p:spPr>
          <a:xfrm>
            <a:off x="411480" y="3108960"/>
            <a:ext cx="4160520" cy="329184"/>
          </a:xfrm>
          <a:prstGeom prst="roundRect">
            <a:avLst>
              <a:gd name="adj" fmla="val 22222"/>
            </a:avLst>
          </a:prstGeom>
          <a:solidFill>
            <a:srgbClr val="EEEDFE"/>
          </a:solidFill>
          <a:ln w="12700">
            <a:solidFill>
              <a:srgbClr val="EEEDFE"/>
            </a:solidFill>
            <a:prstDash val="solid"/>
          </a:ln>
        </p:spPr>
        <p:txBody>
          <a:bodyPr/>
          <a:lstStyle/>
          <a:p>
            <a:endParaRPr lang="en-US"/>
          </a:p>
        </p:txBody>
      </p:sp>
      <p:sp>
        <p:nvSpPr>
          <p:cNvPr id="21" name="Text 19"/>
          <p:cNvSpPr/>
          <p:nvPr/>
        </p:nvSpPr>
        <p:spPr>
          <a:xfrm>
            <a:off x="548640" y="3145536"/>
            <a:ext cx="3886200" cy="256032"/>
          </a:xfrm>
          <a:prstGeom prst="rect">
            <a:avLst/>
          </a:prstGeom>
          <a:noFill/>
          <a:ln/>
        </p:spPr>
        <p:txBody>
          <a:bodyPr wrap="square" rtlCol="0" anchor="ctr"/>
          <a:lstStyle/>
          <a:p>
            <a:pPr marL="0" indent="0">
              <a:buNone/>
            </a:pPr>
            <a:r>
              <a:rPr lang="en-US" sz="1100" b="1" dirty="0">
                <a:solidFill>
                  <a:srgbClr val="534AB7"/>
                </a:solidFill>
                <a:latin typeface="Arial" pitchFamily="34" charset="0"/>
                <a:ea typeface="Arial" pitchFamily="34" charset="-122"/>
                <a:cs typeface="Arial" pitchFamily="34" charset="-120"/>
              </a:rPr>
              <a:t>Add client-specific guardrails</a:t>
            </a:r>
            <a:endParaRPr lang="en-US" sz="1100" dirty="0"/>
          </a:p>
        </p:txBody>
      </p:sp>
      <p:sp>
        <p:nvSpPr>
          <p:cNvPr id="22" name="Text 20"/>
          <p:cNvSpPr/>
          <p:nvPr/>
        </p:nvSpPr>
        <p:spPr>
          <a:xfrm>
            <a:off x="548640" y="3511296"/>
            <a:ext cx="3886200" cy="292608"/>
          </a:xfrm>
          <a:prstGeom prst="rect">
            <a:avLst/>
          </a:prstGeom>
          <a:noFill/>
          <a:ln/>
        </p:spPr>
        <p:txBody>
          <a:bodyPr wrap="square" rtlCol="0" anchor="ctr"/>
          <a:lstStyle/>
          <a:p>
            <a:pPr marL="0" indent="0">
              <a:buNone/>
            </a:pPr>
            <a:r>
              <a:rPr lang="en-US" sz="950" b="1" dirty="0">
                <a:solidFill>
                  <a:srgbClr val="534AB7"/>
                </a:solidFill>
                <a:latin typeface="Arial" pitchFamily="34" charset="0"/>
                <a:ea typeface="Arial" pitchFamily="34" charset="-122"/>
                <a:cs typeface="Arial" pitchFamily="34" charset="-120"/>
              </a:rPr>
              <a:t>1.  </a:t>
            </a:r>
            <a:r>
              <a:rPr lang="en-US" sz="950" dirty="0">
                <a:solidFill>
                  <a:srgbClr val="1A1A1A"/>
                </a:solidFill>
                <a:latin typeface="Arial" pitchFamily="34" charset="0"/>
                <a:ea typeface="Arial" pitchFamily="34" charset="-122"/>
                <a:cs typeface="Arial" pitchFamily="34" charset="-120"/>
              </a:rPr>
              <a:t>Create src/lib/clients/{client}/config.ts</a:t>
            </a:r>
            <a:endParaRPr lang="en-US" sz="950" dirty="0"/>
          </a:p>
        </p:txBody>
      </p:sp>
      <p:sp>
        <p:nvSpPr>
          <p:cNvPr id="23" name="Text 21"/>
          <p:cNvSpPr/>
          <p:nvPr/>
        </p:nvSpPr>
        <p:spPr>
          <a:xfrm>
            <a:off x="548640" y="3840480"/>
            <a:ext cx="3886200" cy="292608"/>
          </a:xfrm>
          <a:prstGeom prst="rect">
            <a:avLst/>
          </a:prstGeom>
          <a:noFill/>
          <a:ln/>
        </p:spPr>
        <p:txBody>
          <a:bodyPr wrap="square" rtlCol="0" anchor="ctr"/>
          <a:lstStyle/>
          <a:p>
            <a:pPr marL="0" indent="0">
              <a:buNone/>
            </a:pPr>
            <a:r>
              <a:rPr lang="en-US" sz="950" b="1" dirty="0">
                <a:solidFill>
                  <a:srgbClr val="534AB7"/>
                </a:solidFill>
                <a:latin typeface="Arial" pitchFamily="34" charset="0"/>
                <a:ea typeface="Arial" pitchFamily="34" charset="-122"/>
                <a:cs typeface="Arial" pitchFamily="34" charset="-120"/>
              </a:rPr>
              <a:t>2.  </a:t>
            </a:r>
            <a:r>
              <a:rPr lang="en-US" sz="950" dirty="0">
                <a:solidFill>
                  <a:srgbClr val="1A1A1A"/>
                </a:solidFill>
                <a:latin typeface="Arial" pitchFamily="34" charset="0"/>
                <a:ea typeface="Arial" pitchFamily="34" charset="-122"/>
                <a:cs typeface="Arial" pitchFamily="34" charset="-120"/>
              </a:rPr>
              <a:t>Define object restrictions, compliance rules, data region</a:t>
            </a:r>
            <a:endParaRPr lang="en-US" sz="950" dirty="0"/>
          </a:p>
        </p:txBody>
      </p:sp>
      <p:sp>
        <p:nvSpPr>
          <p:cNvPr id="24" name="Text 22"/>
          <p:cNvSpPr/>
          <p:nvPr/>
        </p:nvSpPr>
        <p:spPr>
          <a:xfrm>
            <a:off x="548640" y="4169664"/>
            <a:ext cx="3886200" cy="292608"/>
          </a:xfrm>
          <a:prstGeom prst="rect">
            <a:avLst/>
          </a:prstGeom>
          <a:noFill/>
          <a:ln/>
        </p:spPr>
        <p:txBody>
          <a:bodyPr wrap="square" rtlCol="0" anchor="ctr"/>
          <a:lstStyle/>
          <a:p>
            <a:pPr marL="0" indent="0">
              <a:buNone/>
            </a:pPr>
            <a:r>
              <a:rPr lang="en-US" sz="950" b="1" dirty="0">
                <a:solidFill>
                  <a:srgbClr val="534AB7"/>
                </a:solidFill>
                <a:latin typeface="Arial" pitchFamily="34" charset="0"/>
                <a:ea typeface="Arial" pitchFamily="34" charset="-122"/>
                <a:cs typeface="Arial" pitchFamily="34" charset="-120"/>
              </a:rPr>
              <a:t>3.  </a:t>
            </a:r>
            <a:r>
              <a:rPr lang="en-US" sz="950" dirty="0">
                <a:solidFill>
                  <a:srgbClr val="1A1A1A"/>
                </a:solidFill>
                <a:latin typeface="Arial" pitchFamily="34" charset="0"/>
                <a:ea typeface="Arial" pitchFamily="34" charset="-122"/>
                <a:cs typeface="Arial" pitchFamily="34" charset="-120"/>
              </a:rPr>
              <a:t>Inject via ContextStore at session start</a:t>
            </a:r>
            <a:endParaRPr lang="en-US" sz="950" dirty="0"/>
          </a:p>
        </p:txBody>
      </p:sp>
      <p:sp>
        <p:nvSpPr>
          <p:cNvPr id="25" name="Text 23"/>
          <p:cNvSpPr/>
          <p:nvPr/>
        </p:nvSpPr>
        <p:spPr>
          <a:xfrm>
            <a:off x="548640" y="4590288"/>
            <a:ext cx="3886200" cy="182880"/>
          </a:xfrm>
          <a:prstGeom prst="rect">
            <a:avLst/>
          </a:prstGeom>
          <a:noFill/>
          <a:ln/>
        </p:spPr>
        <p:txBody>
          <a:bodyPr wrap="square" rtlCol="0" anchor="ctr"/>
          <a:lstStyle/>
          <a:p>
            <a:pPr marL="0" indent="0">
              <a:buNone/>
            </a:pPr>
            <a:r>
              <a:rPr lang="en-US" sz="800" b="1" dirty="0">
                <a:solidFill>
                  <a:srgbClr val="534AB7"/>
                </a:solidFill>
                <a:latin typeface="Courier New" pitchFamily="34" charset="0"/>
                <a:ea typeface="Courier New" pitchFamily="34" charset="-122"/>
                <a:cs typeface="Courier New" pitchFamily="34" charset="-120"/>
              </a:rPr>
              <a:t>src/lib/clients/{client}/config.ts</a:t>
            </a:r>
            <a:endParaRPr lang="en-US" sz="800" dirty="0"/>
          </a:p>
        </p:txBody>
      </p:sp>
      <p:sp>
        <p:nvSpPr>
          <p:cNvPr id="26" name="Shape 24"/>
          <p:cNvSpPr/>
          <p:nvPr/>
        </p:nvSpPr>
        <p:spPr>
          <a:xfrm>
            <a:off x="4663440" y="3108960"/>
            <a:ext cx="4160520" cy="1691640"/>
          </a:xfrm>
          <a:prstGeom prst="roundRect">
            <a:avLst>
              <a:gd name="adj" fmla="val 4324"/>
            </a:avLst>
          </a:prstGeom>
          <a:solidFill>
            <a:srgbClr val="FFFFFF"/>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7" name="Shape 25"/>
          <p:cNvSpPr/>
          <p:nvPr/>
        </p:nvSpPr>
        <p:spPr>
          <a:xfrm>
            <a:off x="4663440" y="3108960"/>
            <a:ext cx="4160520" cy="329184"/>
          </a:xfrm>
          <a:prstGeom prst="roundRect">
            <a:avLst>
              <a:gd name="adj" fmla="val 22222"/>
            </a:avLst>
          </a:prstGeom>
          <a:solidFill>
            <a:srgbClr val="FAEEDA"/>
          </a:solidFill>
          <a:ln w="12700">
            <a:solidFill>
              <a:srgbClr val="FAEEDA"/>
            </a:solidFill>
            <a:prstDash val="solid"/>
          </a:ln>
        </p:spPr>
        <p:txBody>
          <a:bodyPr/>
          <a:lstStyle/>
          <a:p>
            <a:endParaRPr lang="en-US"/>
          </a:p>
        </p:txBody>
      </p:sp>
      <p:sp>
        <p:nvSpPr>
          <p:cNvPr id="28" name="Text 26"/>
          <p:cNvSpPr/>
          <p:nvPr/>
        </p:nvSpPr>
        <p:spPr>
          <a:xfrm>
            <a:off x="4800600" y="3145536"/>
            <a:ext cx="3886200" cy="256032"/>
          </a:xfrm>
          <a:prstGeom prst="rect">
            <a:avLst/>
          </a:prstGeom>
          <a:noFill/>
          <a:ln/>
        </p:spPr>
        <p:txBody>
          <a:bodyPr wrap="square" rtlCol="0" anchor="ctr"/>
          <a:lstStyle/>
          <a:p>
            <a:pPr marL="0" indent="0">
              <a:buNone/>
            </a:pPr>
            <a:r>
              <a:rPr lang="en-US" sz="1100" b="1" dirty="0">
                <a:solidFill>
                  <a:srgbClr val="BA7517"/>
                </a:solidFill>
                <a:latin typeface="Arial" pitchFamily="34" charset="0"/>
                <a:ea typeface="Arial" pitchFamily="34" charset="-122"/>
                <a:cs typeface="Arial" pitchFamily="34" charset="-120"/>
              </a:rPr>
              <a:t>Add a new reference corpus (RAG)</a:t>
            </a:r>
            <a:endParaRPr lang="en-US" sz="1100" dirty="0"/>
          </a:p>
        </p:txBody>
      </p:sp>
      <p:sp>
        <p:nvSpPr>
          <p:cNvPr id="29" name="Text 27"/>
          <p:cNvSpPr/>
          <p:nvPr/>
        </p:nvSpPr>
        <p:spPr>
          <a:xfrm>
            <a:off x="4800600" y="3511296"/>
            <a:ext cx="3886200" cy="292608"/>
          </a:xfrm>
          <a:prstGeom prst="rect">
            <a:avLst/>
          </a:prstGeom>
          <a:noFill/>
          <a:ln/>
        </p:spPr>
        <p:txBody>
          <a:bodyPr wrap="square" rtlCol="0" anchor="ctr"/>
          <a:lstStyle/>
          <a:p>
            <a:pPr marL="0" indent="0">
              <a:buNone/>
            </a:pPr>
            <a:r>
              <a:rPr lang="en-US" sz="950" b="1" dirty="0">
                <a:solidFill>
                  <a:srgbClr val="BA7517"/>
                </a:solidFill>
                <a:latin typeface="Arial" pitchFamily="34" charset="0"/>
                <a:ea typeface="Arial" pitchFamily="34" charset="-122"/>
                <a:cs typeface="Arial" pitchFamily="34" charset="-120"/>
              </a:rPr>
              <a:t>1.  </a:t>
            </a:r>
            <a:r>
              <a:rPr lang="en-US" sz="950" dirty="0">
                <a:solidFill>
                  <a:srgbClr val="1A1A1A"/>
                </a:solidFill>
                <a:latin typeface="Arial" pitchFamily="34" charset="0"/>
                <a:ea typeface="Arial" pitchFamily="34" charset="-122"/>
                <a:cs typeface="Arial" pitchFamily="34" charset="-120"/>
              </a:rPr>
              <a:t>Enable pgvector extension in Supabase</a:t>
            </a:r>
            <a:endParaRPr lang="en-US" sz="950" dirty="0"/>
          </a:p>
        </p:txBody>
      </p:sp>
      <p:sp>
        <p:nvSpPr>
          <p:cNvPr id="30" name="Text 28"/>
          <p:cNvSpPr/>
          <p:nvPr/>
        </p:nvSpPr>
        <p:spPr>
          <a:xfrm>
            <a:off x="4800600" y="3840480"/>
            <a:ext cx="3886200" cy="292608"/>
          </a:xfrm>
          <a:prstGeom prst="rect">
            <a:avLst/>
          </a:prstGeom>
          <a:noFill/>
          <a:ln/>
        </p:spPr>
        <p:txBody>
          <a:bodyPr wrap="square" rtlCol="0" anchor="ctr"/>
          <a:lstStyle/>
          <a:p>
            <a:pPr marL="0" indent="0">
              <a:buNone/>
            </a:pPr>
            <a:r>
              <a:rPr lang="en-US" sz="950" b="1" dirty="0">
                <a:solidFill>
                  <a:srgbClr val="BA7517"/>
                </a:solidFill>
                <a:latin typeface="Arial" pitchFamily="34" charset="0"/>
                <a:ea typeface="Arial" pitchFamily="34" charset="-122"/>
                <a:cs typeface="Arial" pitchFamily="34" charset="-120"/>
              </a:rPr>
              <a:t>2.  </a:t>
            </a:r>
            <a:r>
              <a:rPr lang="en-US" sz="950" dirty="0">
                <a:solidFill>
                  <a:srgbClr val="1A1A1A"/>
                </a:solidFill>
                <a:latin typeface="Arial" pitchFamily="34" charset="0"/>
                <a:ea typeface="Arial" pitchFamily="34" charset="-122"/>
                <a:cs typeface="Arial" pitchFamily="34" charset="-120"/>
              </a:rPr>
              <a:t>Chunk + embed documents into vectors table</a:t>
            </a:r>
            <a:endParaRPr lang="en-US" sz="950" dirty="0"/>
          </a:p>
        </p:txBody>
      </p:sp>
      <p:sp>
        <p:nvSpPr>
          <p:cNvPr id="31" name="Text 29"/>
          <p:cNvSpPr/>
          <p:nvPr/>
        </p:nvSpPr>
        <p:spPr>
          <a:xfrm>
            <a:off x="4800600" y="4169664"/>
            <a:ext cx="3886200" cy="292608"/>
          </a:xfrm>
          <a:prstGeom prst="rect">
            <a:avLst/>
          </a:prstGeom>
          <a:noFill/>
          <a:ln/>
        </p:spPr>
        <p:txBody>
          <a:bodyPr wrap="square" rtlCol="0" anchor="ctr"/>
          <a:lstStyle/>
          <a:p>
            <a:pPr marL="0" indent="0">
              <a:buNone/>
            </a:pPr>
            <a:r>
              <a:rPr lang="en-US" sz="950" b="1" dirty="0">
                <a:solidFill>
                  <a:srgbClr val="BA7517"/>
                </a:solidFill>
                <a:latin typeface="Arial" pitchFamily="34" charset="0"/>
                <a:ea typeface="Arial" pitchFamily="34" charset="-122"/>
                <a:cs typeface="Arial" pitchFamily="34" charset="-120"/>
              </a:rPr>
              <a:t>3.  </a:t>
            </a:r>
            <a:r>
              <a:rPr lang="en-US" sz="950" dirty="0">
                <a:solidFill>
                  <a:srgbClr val="1A1A1A"/>
                </a:solidFill>
                <a:latin typeface="Arial" pitchFamily="34" charset="0"/>
                <a:ea typeface="Arial" pitchFamily="34" charset="-122"/>
                <a:cs typeface="Arial" pitchFamily="34" charset="-120"/>
              </a:rPr>
              <a:t>Retriever queries by similarity at session time</a:t>
            </a:r>
            <a:endParaRPr lang="en-US" sz="950" dirty="0"/>
          </a:p>
        </p:txBody>
      </p:sp>
      <p:sp>
        <p:nvSpPr>
          <p:cNvPr id="32" name="Text 30"/>
          <p:cNvSpPr/>
          <p:nvPr/>
        </p:nvSpPr>
        <p:spPr>
          <a:xfrm>
            <a:off x="4800600" y="4590288"/>
            <a:ext cx="3886200" cy="182880"/>
          </a:xfrm>
          <a:prstGeom prst="rect">
            <a:avLst/>
          </a:prstGeom>
          <a:noFill/>
          <a:ln/>
        </p:spPr>
        <p:txBody>
          <a:bodyPr wrap="square" rtlCol="0" anchor="ctr"/>
          <a:lstStyle/>
          <a:p>
            <a:pPr marL="0" indent="0">
              <a:buNone/>
            </a:pPr>
            <a:r>
              <a:rPr lang="en-US" sz="800" b="1" dirty="0">
                <a:solidFill>
                  <a:srgbClr val="BA7517"/>
                </a:solidFill>
                <a:latin typeface="Courier New" pitchFamily="34" charset="0"/>
                <a:ea typeface="Courier New" pitchFamily="34" charset="-122"/>
                <a:cs typeface="Courier New" pitchFamily="34" charset="-120"/>
              </a:rPr>
              <a:t>Supabase pgvector + new retriever in src/lib/memory/</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92608"/>
            <a:ext cx="8138160" cy="201168"/>
          </a:xfrm>
          <a:prstGeom prst="rect">
            <a:avLst/>
          </a:prstGeom>
          <a:noFill/>
          <a:ln/>
        </p:spPr>
        <p:txBody>
          <a:bodyPr wrap="square" rtlCol="0" anchor="ctr"/>
          <a:lstStyle/>
          <a:p>
            <a:pPr marL="0" indent="0">
              <a:buNone/>
            </a:pPr>
            <a:r>
              <a:rPr lang="en-US" sz="900" b="1" kern="0" spc="300" dirty="0">
                <a:solidFill>
                  <a:srgbClr val="2E6DA4"/>
                </a:solidFill>
                <a:latin typeface="Arial" pitchFamily="34" charset="0"/>
                <a:ea typeface="Arial" pitchFamily="34" charset="-122"/>
                <a:cs typeface="Arial" pitchFamily="34" charset="-120"/>
              </a:rPr>
              <a:t>TECHNICAL APPENDIX — COLLABORATION RETROSPECTIVE</a:t>
            </a:r>
            <a:endParaRPr lang="en-US" sz="900" dirty="0"/>
          </a:p>
        </p:txBody>
      </p:sp>
      <p:sp>
        <p:nvSpPr>
          <p:cNvPr id="3" name="Text 1"/>
          <p:cNvSpPr/>
          <p:nvPr/>
        </p:nvSpPr>
        <p:spPr>
          <a:xfrm>
            <a:off x="502920" y="530352"/>
            <a:ext cx="8138160" cy="502920"/>
          </a:xfrm>
          <a:prstGeom prst="rect">
            <a:avLst/>
          </a:prstGeom>
          <a:noFill/>
          <a:ln/>
        </p:spPr>
        <p:txBody>
          <a:bodyPr wrap="square" rtlCol="0" anchor="ctr"/>
          <a:lstStyle/>
          <a:p>
            <a:pPr marL="0" indent="0">
              <a:buNone/>
            </a:pPr>
            <a:r>
              <a:rPr lang="en-US" sz="2400" b="1" dirty="0">
                <a:solidFill>
                  <a:srgbClr val="1A1A1A"/>
                </a:solidFill>
                <a:latin typeface="Arial" pitchFamily="34" charset="0"/>
                <a:ea typeface="Arial" pitchFamily="34" charset="-122"/>
                <a:cs typeface="Arial" pitchFamily="34" charset="-120"/>
              </a:rPr>
              <a:t>Where human and AI challenged each other — and who was right</a:t>
            </a:r>
            <a:endParaRPr lang="en-US" sz="2400" dirty="0"/>
          </a:p>
        </p:txBody>
      </p:sp>
      <p:sp>
        <p:nvSpPr>
          <p:cNvPr id="4" name="Shape 2"/>
          <p:cNvSpPr/>
          <p:nvPr/>
        </p:nvSpPr>
        <p:spPr>
          <a:xfrm>
            <a:off x="502920" y="1078992"/>
            <a:ext cx="8138160" cy="0"/>
          </a:xfrm>
          <a:prstGeom prst="line">
            <a:avLst/>
          </a:prstGeom>
          <a:noFill/>
          <a:ln w="10160">
            <a:solidFill>
              <a:srgbClr val="EBEBEB"/>
            </a:solidFill>
            <a:prstDash val="solid"/>
          </a:ln>
        </p:spPr>
        <p:txBody>
          <a:bodyPr/>
          <a:lstStyle/>
          <a:p>
            <a:endParaRPr lang="en-US"/>
          </a:p>
        </p:txBody>
      </p:sp>
      <p:sp>
        <p:nvSpPr>
          <p:cNvPr id="5" name="Shape 3"/>
          <p:cNvSpPr/>
          <p:nvPr/>
        </p:nvSpPr>
        <p:spPr>
          <a:xfrm>
            <a:off x="411480" y="1170432"/>
            <a:ext cx="2578608" cy="292608"/>
          </a:xfrm>
          <a:prstGeom prst="roundRect">
            <a:avLst>
              <a:gd name="adj" fmla="val 18750"/>
            </a:avLst>
          </a:prstGeom>
          <a:solidFill>
            <a:srgbClr val="0F6E56"/>
          </a:solidFill>
          <a:ln w="12700">
            <a:solidFill>
              <a:srgbClr val="0F6E56"/>
            </a:solidFill>
            <a:prstDash val="solid"/>
          </a:ln>
        </p:spPr>
        <p:txBody>
          <a:bodyPr/>
          <a:lstStyle/>
          <a:p>
            <a:endParaRPr lang="en-US"/>
          </a:p>
        </p:txBody>
      </p:sp>
      <p:sp>
        <p:nvSpPr>
          <p:cNvPr id="6" name="Text 4"/>
          <p:cNvSpPr/>
          <p:nvPr/>
        </p:nvSpPr>
        <p:spPr>
          <a:xfrm>
            <a:off x="411480" y="1179576"/>
            <a:ext cx="2578608"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Human challenged AI — and was right</a:t>
            </a:r>
            <a:endParaRPr lang="en-US" sz="850" dirty="0"/>
          </a:p>
        </p:txBody>
      </p:sp>
      <p:sp>
        <p:nvSpPr>
          <p:cNvPr id="7" name="Shape 5"/>
          <p:cNvSpPr/>
          <p:nvPr/>
        </p:nvSpPr>
        <p:spPr>
          <a:xfrm>
            <a:off x="3090672" y="1170432"/>
            <a:ext cx="2578608" cy="292608"/>
          </a:xfrm>
          <a:prstGeom prst="roundRect">
            <a:avLst>
              <a:gd name="adj" fmla="val 18750"/>
            </a:avLst>
          </a:prstGeom>
          <a:solidFill>
            <a:srgbClr val="1B4F9B"/>
          </a:solidFill>
          <a:ln w="12700">
            <a:solidFill>
              <a:srgbClr val="1B4F9B"/>
            </a:solidFill>
            <a:prstDash val="solid"/>
          </a:ln>
        </p:spPr>
        <p:txBody>
          <a:bodyPr/>
          <a:lstStyle/>
          <a:p>
            <a:endParaRPr lang="en-US"/>
          </a:p>
        </p:txBody>
      </p:sp>
      <p:sp>
        <p:nvSpPr>
          <p:cNvPr id="8" name="Text 6"/>
          <p:cNvSpPr/>
          <p:nvPr/>
        </p:nvSpPr>
        <p:spPr>
          <a:xfrm>
            <a:off x="3090672" y="1179576"/>
            <a:ext cx="2578608"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AI challenged human — and was right</a:t>
            </a:r>
            <a:endParaRPr lang="en-US" sz="850" dirty="0"/>
          </a:p>
        </p:txBody>
      </p:sp>
      <p:sp>
        <p:nvSpPr>
          <p:cNvPr id="9" name="Shape 7"/>
          <p:cNvSpPr/>
          <p:nvPr/>
        </p:nvSpPr>
        <p:spPr>
          <a:xfrm>
            <a:off x="5760720" y="1170432"/>
            <a:ext cx="2578608" cy="292608"/>
          </a:xfrm>
          <a:prstGeom prst="roundRect">
            <a:avLst>
              <a:gd name="adj" fmla="val 18750"/>
            </a:avLst>
          </a:prstGeom>
          <a:solidFill>
            <a:srgbClr val="A32D2D"/>
          </a:solidFill>
          <a:ln w="12700">
            <a:solidFill>
              <a:srgbClr val="A32D2D"/>
            </a:solidFill>
            <a:prstDash val="solid"/>
          </a:ln>
        </p:spPr>
        <p:txBody>
          <a:bodyPr/>
          <a:lstStyle/>
          <a:p>
            <a:endParaRPr lang="en-US"/>
          </a:p>
        </p:txBody>
      </p:sp>
      <p:sp>
        <p:nvSpPr>
          <p:cNvPr id="10" name="Text 8"/>
          <p:cNvSpPr/>
          <p:nvPr/>
        </p:nvSpPr>
        <p:spPr>
          <a:xfrm>
            <a:off x="5760720" y="1179576"/>
            <a:ext cx="2578608" cy="274320"/>
          </a:xfrm>
          <a:prstGeom prst="rect">
            <a:avLst/>
          </a:prstGeom>
          <a:noFill/>
          <a:ln/>
        </p:spPr>
        <p:txBody>
          <a:bodyPr wrap="square" lIns="0" tIns="0" rIns="0" bIns="0" rtlCol="0" anchor="ctr"/>
          <a:lstStyle/>
          <a:p>
            <a:pPr marL="0" indent="0" algn="ctr">
              <a:buNone/>
            </a:pPr>
            <a:r>
              <a:rPr lang="en-US" sz="850" b="1" dirty="0">
                <a:solidFill>
                  <a:srgbClr val="FFFFFF"/>
                </a:solidFill>
                <a:latin typeface="Arial" pitchFamily="34" charset="0"/>
                <a:ea typeface="Arial" pitchFamily="34" charset="-122"/>
                <a:cs typeface="Arial" pitchFamily="34" charset="-120"/>
              </a:rPr>
              <a:t>AI was wrong</a:t>
            </a:r>
            <a:endParaRPr lang="en-US" sz="850" dirty="0"/>
          </a:p>
        </p:txBody>
      </p:sp>
      <p:sp>
        <p:nvSpPr>
          <p:cNvPr id="11" name="Shape 9"/>
          <p:cNvSpPr/>
          <p:nvPr/>
        </p:nvSpPr>
        <p:spPr>
          <a:xfrm>
            <a:off x="411480" y="1536192"/>
            <a:ext cx="2578608" cy="1005840"/>
          </a:xfrm>
          <a:prstGeom prst="roundRect">
            <a:avLst>
              <a:gd name="adj" fmla="val 7273"/>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2" name="Text 10"/>
          <p:cNvSpPr/>
          <p:nvPr/>
        </p:nvSpPr>
        <p:spPr>
          <a:xfrm>
            <a:off x="548640" y="1627632"/>
            <a:ext cx="2304288" cy="256032"/>
          </a:xfrm>
          <a:prstGeom prst="rect">
            <a:avLst/>
          </a:prstGeom>
          <a:noFill/>
          <a:ln/>
        </p:spPr>
        <p:txBody>
          <a:bodyPr wrap="square" rtlCol="0" anchor="ctr"/>
          <a:lstStyle/>
          <a:p>
            <a:pPr marL="0" indent="0">
              <a:buNone/>
            </a:pPr>
            <a:r>
              <a:rPr lang="en-US" sz="1000" b="1" dirty="0">
                <a:solidFill>
                  <a:srgbClr val="0F6E56"/>
                </a:solidFill>
                <a:latin typeface="Arial" pitchFamily="34" charset="0"/>
                <a:ea typeface="Arial" pitchFamily="34" charset="-122"/>
                <a:cs typeface="Arial" pitchFamily="34" charset="-120"/>
              </a:rPr>
              <a:t>Jira as memory source of truth</a:t>
            </a:r>
            <a:endParaRPr lang="en-US" sz="1000" dirty="0"/>
          </a:p>
        </p:txBody>
      </p:sp>
      <p:sp>
        <p:nvSpPr>
          <p:cNvPr id="13" name="Text 11"/>
          <p:cNvSpPr/>
          <p:nvPr/>
        </p:nvSpPr>
        <p:spPr>
          <a:xfrm>
            <a:off x="548640" y="1883664"/>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built a Supabase adrs table. You pointed out Jira already has everything. Simpler, no duplication, architects own it.</a:t>
            </a:r>
            <a:endParaRPr lang="en-US" sz="900" dirty="0"/>
          </a:p>
        </p:txBody>
      </p:sp>
      <p:sp>
        <p:nvSpPr>
          <p:cNvPr id="14" name="Shape 12"/>
          <p:cNvSpPr/>
          <p:nvPr/>
        </p:nvSpPr>
        <p:spPr>
          <a:xfrm>
            <a:off x="411480" y="2651760"/>
            <a:ext cx="2578608" cy="1005840"/>
          </a:xfrm>
          <a:prstGeom prst="roundRect">
            <a:avLst>
              <a:gd name="adj" fmla="val 7273"/>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5" name="Text 13"/>
          <p:cNvSpPr/>
          <p:nvPr/>
        </p:nvSpPr>
        <p:spPr>
          <a:xfrm>
            <a:off x="548640" y="2743200"/>
            <a:ext cx="2304288" cy="256032"/>
          </a:xfrm>
          <a:prstGeom prst="rect">
            <a:avLst/>
          </a:prstGeom>
          <a:noFill/>
          <a:ln/>
        </p:spPr>
        <p:txBody>
          <a:bodyPr wrap="square" rtlCol="0" anchor="ctr"/>
          <a:lstStyle/>
          <a:p>
            <a:pPr marL="0" indent="0">
              <a:buNone/>
            </a:pPr>
            <a:r>
              <a:rPr lang="en-US" sz="1000" b="1" dirty="0">
                <a:solidFill>
                  <a:srgbClr val="0F6E56"/>
                </a:solidFill>
                <a:latin typeface="Arial" pitchFamily="34" charset="0"/>
                <a:ea typeface="Arial" pitchFamily="34" charset="-122"/>
                <a:cs typeface="Arial" pitchFamily="34" charset="-120"/>
              </a:rPr>
              <a:t>Countersign logic was too blunt</a:t>
            </a:r>
            <a:endParaRPr lang="en-US" sz="1000" dirty="0"/>
          </a:p>
        </p:txBody>
      </p:sp>
      <p:sp>
        <p:nvSpPr>
          <p:cNvPr id="16" name="Text 14"/>
          <p:cNvSpPr/>
          <p:nvPr/>
        </p:nvSpPr>
        <p:spPr>
          <a:xfrm>
            <a:off x="548640" y="2999232"/>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made countersign available on every session. You said low-confidence decisions need forced assignment, not a one-click stamp.</a:t>
            </a:r>
            <a:endParaRPr lang="en-US" sz="900" dirty="0"/>
          </a:p>
        </p:txBody>
      </p:sp>
      <p:sp>
        <p:nvSpPr>
          <p:cNvPr id="17" name="Shape 15"/>
          <p:cNvSpPr/>
          <p:nvPr/>
        </p:nvSpPr>
        <p:spPr>
          <a:xfrm>
            <a:off x="411480" y="3767328"/>
            <a:ext cx="2578608" cy="1005840"/>
          </a:xfrm>
          <a:prstGeom prst="roundRect">
            <a:avLst>
              <a:gd name="adj" fmla="val 7273"/>
            </a:avLst>
          </a:prstGeom>
          <a:solidFill>
            <a:srgbClr val="E1F5EE"/>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18" name="Text 16"/>
          <p:cNvSpPr/>
          <p:nvPr/>
        </p:nvSpPr>
        <p:spPr>
          <a:xfrm>
            <a:off x="548640" y="3858768"/>
            <a:ext cx="2304288" cy="256032"/>
          </a:xfrm>
          <a:prstGeom prst="rect">
            <a:avLst/>
          </a:prstGeom>
          <a:noFill/>
          <a:ln/>
        </p:spPr>
        <p:txBody>
          <a:bodyPr wrap="square" rtlCol="0" anchor="ctr"/>
          <a:lstStyle/>
          <a:p>
            <a:pPr marL="0" indent="0">
              <a:buNone/>
            </a:pPr>
            <a:r>
              <a:rPr lang="en-US" sz="1000" b="1" dirty="0">
                <a:solidFill>
                  <a:srgbClr val="0F6E56"/>
                </a:solidFill>
                <a:latin typeface="Arial" pitchFamily="34" charset="0"/>
                <a:ea typeface="Arial" pitchFamily="34" charset="-122"/>
                <a:cs typeface="Arial" pitchFamily="34" charset="-120"/>
              </a:rPr>
              <a:t>Stopping to define personas</a:t>
            </a:r>
            <a:endParaRPr lang="en-US" sz="1000" dirty="0"/>
          </a:p>
        </p:txBody>
      </p:sp>
      <p:sp>
        <p:nvSpPr>
          <p:cNvPr id="19" name="Text 17"/>
          <p:cNvSpPr/>
          <p:nvPr/>
        </p:nvSpPr>
        <p:spPr>
          <a:xfrm>
            <a:off x="548640" y="4114800"/>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Midway through building the endorsement UI, you asked who actually runs this. Claude hadn't raised it. The answer shaped the whole flow.</a:t>
            </a:r>
            <a:endParaRPr lang="en-US" sz="900" dirty="0"/>
          </a:p>
        </p:txBody>
      </p:sp>
      <p:sp>
        <p:nvSpPr>
          <p:cNvPr id="20" name="Shape 18"/>
          <p:cNvSpPr/>
          <p:nvPr/>
        </p:nvSpPr>
        <p:spPr>
          <a:xfrm>
            <a:off x="3090672" y="1536192"/>
            <a:ext cx="2578608" cy="1005840"/>
          </a:xfrm>
          <a:prstGeom prst="roundRect">
            <a:avLst>
              <a:gd name="adj" fmla="val 7273"/>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1" name="Text 19"/>
          <p:cNvSpPr/>
          <p:nvPr/>
        </p:nvSpPr>
        <p:spPr>
          <a:xfrm>
            <a:off x="3227832" y="1627632"/>
            <a:ext cx="2304288" cy="256032"/>
          </a:xfrm>
          <a:prstGeom prst="rect">
            <a:avLst/>
          </a:prstGeom>
          <a:noFill/>
          <a:ln/>
        </p:spPr>
        <p:txBody>
          <a:bodyPr wrap="square" rtlCol="0" anchor="ctr"/>
          <a:lstStyle/>
          <a:p>
            <a:pPr marL="0" indent="0">
              <a:buNone/>
            </a:pPr>
            <a:r>
              <a:rPr lang="en-US" sz="1000" b="1" dirty="0">
                <a:solidFill>
                  <a:srgbClr val="1B4F9B"/>
                </a:solidFill>
                <a:latin typeface="Arial" pitchFamily="34" charset="0"/>
                <a:ea typeface="Arial" pitchFamily="34" charset="-122"/>
                <a:cs typeface="Arial" pitchFamily="34" charset="-120"/>
              </a:rPr>
              <a:t>pgvector RAG before Friday</a:t>
            </a:r>
            <a:endParaRPr lang="en-US" sz="1000" dirty="0"/>
          </a:p>
        </p:txBody>
      </p:sp>
      <p:sp>
        <p:nvSpPr>
          <p:cNvPr id="22" name="Text 20"/>
          <p:cNvSpPr/>
          <p:nvPr/>
        </p:nvSpPr>
        <p:spPr>
          <a:xfrm>
            <a:off x="3227832" y="1883664"/>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You wanted full WA Framework ingestion. Claude said too risky two days before demo. Static principles in 30 minutes instead.</a:t>
            </a:r>
            <a:endParaRPr lang="en-US" sz="900" dirty="0"/>
          </a:p>
        </p:txBody>
      </p:sp>
      <p:sp>
        <p:nvSpPr>
          <p:cNvPr id="23" name="Shape 21"/>
          <p:cNvSpPr/>
          <p:nvPr/>
        </p:nvSpPr>
        <p:spPr>
          <a:xfrm>
            <a:off x="3090672" y="2651760"/>
            <a:ext cx="2578608" cy="1005840"/>
          </a:xfrm>
          <a:prstGeom prst="roundRect">
            <a:avLst>
              <a:gd name="adj" fmla="val 7273"/>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4" name="Text 22"/>
          <p:cNvSpPr/>
          <p:nvPr/>
        </p:nvSpPr>
        <p:spPr>
          <a:xfrm>
            <a:off x="3227832" y="2743200"/>
            <a:ext cx="2304288" cy="256032"/>
          </a:xfrm>
          <a:prstGeom prst="rect">
            <a:avLst/>
          </a:prstGeom>
          <a:noFill/>
          <a:ln/>
        </p:spPr>
        <p:txBody>
          <a:bodyPr wrap="square" rtlCol="0" anchor="ctr"/>
          <a:lstStyle/>
          <a:p>
            <a:pPr marL="0" indent="0">
              <a:buNone/>
            </a:pPr>
            <a:r>
              <a:rPr lang="en-US" sz="1000" b="1" dirty="0">
                <a:solidFill>
                  <a:srgbClr val="1B4F9B"/>
                </a:solidFill>
                <a:latin typeface="Arial" pitchFamily="34" charset="0"/>
                <a:ea typeface="Arial" pitchFamily="34" charset="-122"/>
                <a:cs typeface="Arial" pitchFamily="34" charset="-120"/>
              </a:rPr>
              <a:t>MCP before functional build</a:t>
            </a:r>
            <a:endParaRPr lang="en-US" sz="1000" dirty="0"/>
          </a:p>
        </p:txBody>
      </p:sp>
      <p:sp>
        <p:nvSpPr>
          <p:cNvPr id="25" name="Text 23"/>
          <p:cNvSpPr/>
          <p:nvPr/>
        </p:nvSpPr>
        <p:spPr>
          <a:xfrm>
            <a:off x="3227832" y="2999232"/>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MCP was a priority early. Claude kept pushing it back — jsforce works, licensing blocks it. Right call. Everything else shipped.</a:t>
            </a:r>
            <a:endParaRPr lang="en-US" sz="900" dirty="0"/>
          </a:p>
        </p:txBody>
      </p:sp>
      <p:sp>
        <p:nvSpPr>
          <p:cNvPr id="26" name="Shape 24"/>
          <p:cNvSpPr/>
          <p:nvPr/>
        </p:nvSpPr>
        <p:spPr>
          <a:xfrm>
            <a:off x="3090672" y="3767328"/>
            <a:ext cx="2578608" cy="1005840"/>
          </a:xfrm>
          <a:prstGeom prst="roundRect">
            <a:avLst>
              <a:gd name="adj" fmla="val 7273"/>
            </a:avLst>
          </a:prstGeom>
          <a:solidFill>
            <a:srgbClr val="EBF2FA"/>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27" name="Text 25"/>
          <p:cNvSpPr/>
          <p:nvPr/>
        </p:nvSpPr>
        <p:spPr>
          <a:xfrm>
            <a:off x="3227832" y="3858768"/>
            <a:ext cx="2304288" cy="256032"/>
          </a:xfrm>
          <a:prstGeom prst="rect">
            <a:avLst/>
          </a:prstGeom>
          <a:noFill/>
          <a:ln/>
        </p:spPr>
        <p:txBody>
          <a:bodyPr wrap="square" rtlCol="0" anchor="ctr"/>
          <a:lstStyle/>
          <a:p>
            <a:pPr marL="0" indent="0">
              <a:buNone/>
            </a:pPr>
            <a:r>
              <a:rPr lang="en-US" sz="1000" b="1" dirty="0">
                <a:solidFill>
                  <a:srgbClr val="1B4F9B"/>
                </a:solidFill>
                <a:latin typeface="Arial" pitchFamily="34" charset="0"/>
                <a:ea typeface="Arial" pitchFamily="34" charset="-122"/>
                <a:cs typeface="Arial" pitchFamily="34" charset="-120"/>
              </a:rPr>
              <a:t>Opus vs Sonnet</a:t>
            </a:r>
            <a:endParaRPr lang="en-US" sz="1000" dirty="0"/>
          </a:p>
        </p:txBody>
      </p:sp>
      <p:sp>
        <p:nvSpPr>
          <p:cNvPr id="28" name="Text 26"/>
          <p:cNvSpPr/>
          <p:nvPr/>
        </p:nvSpPr>
        <p:spPr>
          <a:xfrm>
            <a:off x="3227832" y="4114800"/>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You asked about Opus quality. Claude said the grounding architecture does the lifting — 10x cost for marginal gain is not worth it.</a:t>
            </a:r>
            <a:endParaRPr lang="en-US" sz="900" dirty="0"/>
          </a:p>
        </p:txBody>
      </p:sp>
      <p:sp>
        <p:nvSpPr>
          <p:cNvPr id="29" name="Shape 27"/>
          <p:cNvSpPr/>
          <p:nvPr/>
        </p:nvSpPr>
        <p:spPr>
          <a:xfrm>
            <a:off x="5760720" y="1536192"/>
            <a:ext cx="2578608" cy="1005840"/>
          </a:xfrm>
          <a:prstGeom prst="roundRect">
            <a:avLst>
              <a:gd name="adj" fmla="val 7273"/>
            </a:avLst>
          </a:prstGeom>
          <a:solidFill>
            <a:srgbClr val="FC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0" name="Text 28"/>
          <p:cNvSpPr/>
          <p:nvPr/>
        </p:nvSpPr>
        <p:spPr>
          <a:xfrm>
            <a:off x="5897880" y="1627632"/>
            <a:ext cx="2304288" cy="256032"/>
          </a:xfrm>
          <a:prstGeom prst="rect">
            <a:avLst/>
          </a:prstGeom>
          <a:noFill/>
          <a:ln/>
        </p:spPr>
        <p:txBody>
          <a:bodyPr wrap="square" rtlCol="0" anchor="ctr"/>
          <a:lstStyle/>
          <a:p>
            <a:pPr marL="0" indent="0">
              <a:buNone/>
            </a:pPr>
            <a:r>
              <a:rPr lang="en-US" sz="1000" b="1" dirty="0">
                <a:solidFill>
                  <a:srgbClr val="A32D2D"/>
                </a:solidFill>
                <a:latin typeface="Arial" pitchFamily="34" charset="0"/>
                <a:ea typeface="Arial" pitchFamily="34" charset="-122"/>
                <a:cs typeface="Arial" pitchFamily="34" charset="-120"/>
              </a:rPr>
              <a:t>Cost estimate off by 10x</a:t>
            </a:r>
            <a:endParaRPr lang="en-US" sz="1000" dirty="0"/>
          </a:p>
        </p:txBody>
      </p:sp>
      <p:sp>
        <p:nvSpPr>
          <p:cNvPr id="31" name="Text 29"/>
          <p:cNvSpPr/>
          <p:nvPr/>
        </p:nvSpPr>
        <p:spPr>
          <a:xfrm>
            <a:off x="5897880" y="1883664"/>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said $2-3 per session. Real number after calculation: $0.29, and $0.08 after optimisation. Overestimate nearly changed the API key decision.</a:t>
            </a:r>
            <a:endParaRPr lang="en-US" sz="900" dirty="0"/>
          </a:p>
        </p:txBody>
      </p:sp>
      <p:sp>
        <p:nvSpPr>
          <p:cNvPr id="32" name="Shape 30"/>
          <p:cNvSpPr/>
          <p:nvPr/>
        </p:nvSpPr>
        <p:spPr>
          <a:xfrm>
            <a:off x="5760720" y="2651760"/>
            <a:ext cx="2578608" cy="1005840"/>
          </a:xfrm>
          <a:prstGeom prst="roundRect">
            <a:avLst>
              <a:gd name="adj" fmla="val 7273"/>
            </a:avLst>
          </a:prstGeom>
          <a:solidFill>
            <a:srgbClr val="FC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3" name="Text 31"/>
          <p:cNvSpPr/>
          <p:nvPr/>
        </p:nvSpPr>
        <p:spPr>
          <a:xfrm>
            <a:off x="5897880" y="2743200"/>
            <a:ext cx="2304288" cy="256032"/>
          </a:xfrm>
          <a:prstGeom prst="rect">
            <a:avLst/>
          </a:prstGeom>
          <a:noFill/>
          <a:ln/>
        </p:spPr>
        <p:txBody>
          <a:bodyPr wrap="square" rtlCol="0" anchor="ctr"/>
          <a:lstStyle/>
          <a:p>
            <a:pPr marL="0" indent="0">
              <a:buNone/>
            </a:pPr>
            <a:r>
              <a:rPr lang="en-US" sz="1000" b="1" dirty="0">
                <a:solidFill>
                  <a:srgbClr val="A32D2D"/>
                </a:solidFill>
                <a:latin typeface="Arial" pitchFamily="34" charset="0"/>
                <a:ea typeface="Arial" pitchFamily="34" charset="-122"/>
                <a:cs typeface="Arial" pitchFamily="34" charset="-120"/>
              </a:rPr>
              <a:t>Built infra that should not exist</a:t>
            </a:r>
            <a:endParaRPr lang="en-US" sz="1000" dirty="0"/>
          </a:p>
        </p:txBody>
      </p:sp>
      <p:sp>
        <p:nvSpPr>
          <p:cNvPr id="34" name="Text 32"/>
          <p:cNvSpPr/>
          <p:nvPr/>
        </p:nvSpPr>
        <p:spPr>
          <a:xfrm>
            <a:off x="5897880" y="2999232"/>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The Supabase adrs table was designed, migrated, and built before the simpler answer was found. Cost real build time.</a:t>
            </a:r>
            <a:endParaRPr lang="en-US" sz="900" dirty="0"/>
          </a:p>
        </p:txBody>
      </p:sp>
      <p:sp>
        <p:nvSpPr>
          <p:cNvPr id="35" name="Shape 33"/>
          <p:cNvSpPr/>
          <p:nvPr/>
        </p:nvSpPr>
        <p:spPr>
          <a:xfrm>
            <a:off x="5760720" y="3767328"/>
            <a:ext cx="2578608" cy="1005840"/>
          </a:xfrm>
          <a:prstGeom prst="roundRect">
            <a:avLst>
              <a:gd name="adj" fmla="val 7273"/>
            </a:avLst>
          </a:prstGeom>
          <a:solidFill>
            <a:srgbClr val="FCEBEB"/>
          </a:solidFill>
          <a:ln w="6350">
            <a:solidFill>
              <a:srgbClr val="D3D1C7"/>
            </a:solidFill>
            <a:prstDash val="solid"/>
          </a:ln>
          <a:effectLst>
            <a:outerShdw blurRad="63500" dist="25400" dir="2700000" algn="bl" rotWithShape="0">
              <a:srgbClr val="000000">
                <a:alpha val="6000"/>
              </a:srgbClr>
            </a:outerShdw>
          </a:effectLst>
        </p:spPr>
        <p:txBody>
          <a:bodyPr/>
          <a:lstStyle/>
          <a:p>
            <a:endParaRPr lang="en-US"/>
          </a:p>
        </p:txBody>
      </p:sp>
      <p:sp>
        <p:nvSpPr>
          <p:cNvPr id="36" name="Text 34"/>
          <p:cNvSpPr/>
          <p:nvPr/>
        </p:nvSpPr>
        <p:spPr>
          <a:xfrm>
            <a:off x="5897880" y="3858768"/>
            <a:ext cx="2304288" cy="256032"/>
          </a:xfrm>
          <a:prstGeom prst="rect">
            <a:avLst/>
          </a:prstGeom>
          <a:noFill/>
          <a:ln/>
        </p:spPr>
        <p:txBody>
          <a:bodyPr wrap="square" rtlCol="0" anchor="ctr"/>
          <a:lstStyle/>
          <a:p>
            <a:pPr marL="0" indent="0">
              <a:buNone/>
            </a:pPr>
            <a:r>
              <a:rPr lang="en-US" sz="1000" b="1" dirty="0">
                <a:solidFill>
                  <a:srgbClr val="A32D2D"/>
                </a:solidFill>
                <a:latin typeface="Arial" pitchFamily="34" charset="0"/>
                <a:ea typeface="Arial" pitchFamily="34" charset="-122"/>
                <a:cs typeface="Arial" pitchFamily="34" charset="-120"/>
              </a:rPr>
              <a:t>Misdiagnosed upload bug</a:t>
            </a:r>
            <a:endParaRPr lang="en-US" sz="1000" dirty="0"/>
          </a:p>
        </p:txBody>
      </p:sp>
      <p:sp>
        <p:nvSpPr>
          <p:cNvPr id="37" name="Text 35"/>
          <p:cNvSpPr/>
          <p:nvPr/>
        </p:nvSpPr>
        <p:spPr>
          <a:xfrm>
            <a:off x="5897880" y="4114800"/>
            <a:ext cx="2304288" cy="594360"/>
          </a:xfrm>
          <a:prstGeom prst="rect">
            <a:avLst/>
          </a:prstGeom>
          <a:noFill/>
          <a:ln/>
        </p:spPr>
        <p:txBody>
          <a:bodyPr wrap="square" rtlCol="0" anchor="t"/>
          <a:lstStyle/>
          <a:p>
            <a:pPr marL="0" indent="0">
              <a:buNone/>
            </a:pPr>
            <a:r>
              <a:rPr lang="en-US" sz="900" dirty="0">
                <a:solidFill>
                  <a:srgbClr val="1A1A1A"/>
                </a:solidFill>
                <a:latin typeface="Arial" pitchFamily="34" charset="0"/>
                <a:ea typeface="Arial" pitchFamily="34" charset="-122"/>
                <a:cs typeface="Arial" pitchFamily="34" charset="-120"/>
              </a:rPr>
              <a:t>Claude said Impact Analysis showing wrong content was mock mode behaviour. It was a real bug — extracted text not flowing to analyzeImpact.</a:t>
            </a:r>
            <a:endParaRPr lang="en-US" sz="900" dirty="0"/>
          </a:p>
        </p:txBody>
      </p:sp>
      <p:sp>
        <p:nvSpPr>
          <p:cNvPr id="38" name="Shape 36"/>
          <p:cNvSpPr/>
          <p:nvPr/>
        </p:nvSpPr>
        <p:spPr>
          <a:xfrm>
            <a:off x="411480" y="4553712"/>
            <a:ext cx="8321040" cy="347472"/>
          </a:xfrm>
          <a:prstGeom prst="roundRect">
            <a:avLst>
              <a:gd name="adj" fmla="val 15789"/>
            </a:avLst>
          </a:prstGeom>
          <a:solidFill>
            <a:srgbClr val="0F1E3C"/>
          </a:solidFill>
          <a:ln w="12700">
            <a:solidFill>
              <a:srgbClr val="0F1E3C"/>
            </a:solidFill>
            <a:prstDash val="solid"/>
          </a:ln>
        </p:spPr>
        <p:txBody>
          <a:bodyPr/>
          <a:lstStyle/>
          <a:p>
            <a:endParaRPr lang="en-US"/>
          </a:p>
        </p:txBody>
      </p:sp>
      <p:sp>
        <p:nvSpPr>
          <p:cNvPr id="39" name="Text 37"/>
          <p:cNvSpPr/>
          <p:nvPr/>
        </p:nvSpPr>
        <p:spPr>
          <a:xfrm>
            <a:off x="548640" y="4562856"/>
            <a:ext cx="8046720" cy="329184"/>
          </a:xfrm>
          <a:prstGeom prst="rect">
            <a:avLst/>
          </a:prstGeom>
          <a:noFill/>
          <a:ln/>
        </p:spPr>
        <p:txBody>
          <a:bodyPr wrap="square" rtlCol="0" anchor="ctr"/>
          <a:lstStyle/>
          <a:p>
            <a:pPr marL="0" indent="0">
              <a:buNone/>
            </a:pPr>
            <a:r>
              <a:rPr lang="en-US" sz="1000" b="1" dirty="0">
                <a:solidFill>
                  <a:srgbClr val="FFFFFF"/>
                </a:solidFill>
                <a:latin typeface="Arial" pitchFamily="34" charset="0"/>
                <a:ea typeface="Arial" pitchFamily="34" charset="-122"/>
                <a:cs typeface="Arial" pitchFamily="34" charset="-120"/>
              </a:rPr>
              <a:t>The pattern: human brought domain judgment + architectural instinct. AI brought systems thinking + timing discipline. Neither alone gets here.</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8FA"/>
        </a:solidFill>
        <a:effectLst/>
      </p:bgPr>
    </p:bg>
    <p:spTree>
      <p:nvGrpSpPr>
        <p:cNvPr id="1" name=""/>
        <p:cNvGrpSpPr/>
        <p:nvPr/>
      </p:nvGrpSpPr>
      <p:grpSpPr>
        <a:xfrm>
          <a:off x="0" y="0"/>
          <a:ext cx="0" cy="0"/>
          <a:chOff x="0" y="0"/>
          <a:chExt cx="0" cy="0"/>
        </a:xfrm>
      </p:grpSpPr>
      <p:sp>
        <p:nvSpPr>
          <p:cNvPr id="2" name="Text 0"/>
          <p:cNvSpPr/>
          <p:nvPr/>
        </p:nvSpPr>
        <p:spPr>
          <a:xfrm>
            <a:off x="411480" y="160000"/>
            <a:ext cx="8291040" cy="150000"/>
          </a:xfrm>
          <a:prstGeom prst="rect">
            <a:avLst/>
          </a:prstGeom>
          <a:noFill/>
          <a:ln/>
        </p:spPr>
        <p:txBody>
          <a:bodyPr wrap="square" rtlCol="0" anchor="ctr"/>
          <a:lstStyle/>
          <a:p>
            <a:pPr marL="0" indent="0" algn="l">
              <a:buNone/>
            </a:pPr>
            <a:r>
              <a:rPr lang="en-US" sz="800" b="1" kern="0" spc="300" dirty="0">
                <a:solidFill>
                  <a:srgbClr val="2E6DA4"/>
                </a:solidFill>
                <a:latin typeface="Arial" pitchFamily="34" charset="0"/>
              </a:rPr>
              <a:t>APPENDIX — ENGINEERING ARCHITECTURE</a:t>
            </a:r>
          </a:p>
        </p:txBody>
      </p:sp>
      <p:sp>
        <p:nvSpPr>
          <p:cNvPr id="3" name="Text 1"/>
          <p:cNvSpPr/>
          <p:nvPr/>
        </p:nvSpPr>
        <p:spPr>
          <a:xfrm>
            <a:off x="411480" y="320000"/>
            <a:ext cx="8291040" cy="340000"/>
          </a:xfrm>
          <a:prstGeom prst="rect">
            <a:avLst/>
          </a:prstGeom>
          <a:noFill/>
          <a:ln/>
        </p:spPr>
        <p:txBody>
          <a:bodyPr wrap="square" rtlCol="0" anchor="ctr"/>
          <a:lstStyle/>
          <a:p>
            <a:pPr marL="0" indent="0" algn="l">
              <a:buNone/>
            </a:pPr>
            <a:r>
              <a:rPr lang="en-US" sz="1800" b="1" dirty="0">
                <a:solidFill>
                  <a:srgbClr val="1A1A1A"/>
                </a:solidFill>
                <a:latin typeface="Arial" pitchFamily="34" charset="0"/>
              </a:rPr>
              <a:t>The full stack, top to bottom</a:t>
            </a:r>
          </a:p>
        </p:txBody>
      </p:sp>
      <p:sp>
        <p:nvSpPr>
          <p:cNvPr id="4" name="Shape divider"/>
          <p:cNvSpPr/>
          <p:nvPr/>
        </p:nvSpPr>
        <p:spPr>
          <a:xfrm>
            <a:off x="411480" y="690000"/>
            <a:ext cx="8291040" cy="0"/>
          </a:xfrm>
          <a:prstGeom prst="line">
            <a:avLst/>
          </a:prstGeom>
          <a:noFill/>
          <a:ln w="9525">
            <a:solidFill>
              <a:srgbClr val="EBEBEB"/>
            </a:solidFill>
            <a:prstDash val="solid"/>
          </a:ln>
        </p:spPr>
        <p:txBody>
          <a:bodyPr/>
          <a:lstStyle/>
          <a:p>
            <a:endParaRPr lang="en-US"/>
          </a:p>
        </p:txBody>
      </p:sp>
      <p:sp>
        <p:nvSpPr>
          <p:cNvPr id="10" name="L1Bg"/>
          <p:cNvSpPr/>
          <p:nvPr/>
        </p:nvSpPr>
        <p:spPr>
          <a:xfrm>
            <a:off x="411480" y="760000"/>
            <a:ext cx="8291040" cy="420000"/>
          </a:xfrm>
          <a:prstGeom prst="roundRect">
            <a:avLst>
              <a:gd name="adj" fmla="val 8000"/>
            </a:avLst>
          </a:prstGeom>
          <a:solidFill>
            <a:srgbClr val="E6F1FB"/>
          </a:solidFill>
          <a:ln w="6350">
            <a:solidFill>
              <a:srgbClr val="378ADD"/>
            </a:solidFill>
          </a:ln>
        </p:spPr>
        <p:txBody>
          <a:bodyPr wrap="square" lIns="140000" tIns="60000" anchor="t"/>
          <a:lstStyle/>
          <a:p>
            <a:pPr marL="0" indent="0">
              <a:buNone/>
            </a:pPr>
            <a:r>
              <a:rPr lang="en-US" sz="1100" b="1" dirty="0">
                <a:solidFill>
                  <a:srgbClr val="0C447C"/>
                </a:solidFill>
                <a:latin typeface="Arial" pitchFamily="34" charset="0"/>
              </a:rPr>
              <a:t>Frontend</a:t>
            </a:r>
          </a:p>
          <a:p>
            <a:pPr marL="0" indent="0">
              <a:buNone/>
            </a:pPr>
            <a:r>
              <a:rPr lang="en-US" sz="850" dirty="0">
                <a:solidFill>
                  <a:srgbClr val="185FA5"/>
                </a:solidFill>
                <a:latin typeface="Arial" pitchFamily="34" charset="0"/>
              </a:rPr>
              <a:t>Next.js 14 App Router  ·  React  ·  TypeScript  —  ForumTestUI.tsx, 3-mode landing page, SalesforceOrgBanner</a:t>
            </a:r>
          </a:p>
        </p:txBody>
      </p:sp>
      <p:cxnSp>
        <p:nvCxnSpPr>
          <p:cNvPr id="11" name="Arrow1"/>
          <p:cNvCxnSpPr/>
          <p:nvPr/>
        </p:nvCxnSpPr>
        <p:spPr>
          <a:xfrm>
            <a:off x="4557000" y="1180000"/>
            <a:ext cx="0" cy="90000"/>
          </a:xfrm>
          <a:prstGeom prst="straightConnector1">
            <a:avLst/>
          </a:prstGeom>
          <a:ln w="15875">
            <a:solidFill>
              <a:srgbClr val="888780"/>
            </a:solidFill>
            <a:tailEnd type="triangle" w="med" len="med"/>
          </a:ln>
        </p:spPr>
      </p:cxnSp>
      <p:sp>
        <p:nvSpPr>
          <p:cNvPr id="12" name="L2Bg"/>
          <p:cNvSpPr/>
          <p:nvPr/>
        </p:nvSpPr>
        <p:spPr>
          <a:xfrm>
            <a:off x="411480" y="1270000"/>
            <a:ext cx="8291040" cy="420000"/>
          </a:xfrm>
          <a:prstGeom prst="roundRect">
            <a:avLst>
              <a:gd name="adj" fmla="val 8000"/>
            </a:avLst>
          </a:prstGeom>
          <a:solidFill>
            <a:srgbClr val="E1F5EE"/>
          </a:solidFill>
          <a:ln w="6350">
            <a:solidFill>
              <a:srgbClr val="0F6E56"/>
            </a:solidFill>
          </a:ln>
        </p:spPr>
        <p:txBody>
          <a:bodyPr wrap="square" lIns="140000" tIns="60000" anchor="t"/>
          <a:lstStyle/>
          <a:p>
            <a:pPr marL="0" indent="0">
              <a:buNone/>
            </a:pPr>
            <a:r>
              <a:rPr lang="en-US" sz="1100" b="1" dirty="0">
                <a:solidFill>
                  <a:srgbClr val="085041"/>
                </a:solidFill>
                <a:latin typeface="Arial" pitchFamily="34" charset="0"/>
              </a:rPr>
              <a:t>API routes</a:t>
            </a:r>
          </a:p>
          <a:p>
            <a:pPr marL="0" indent="0">
              <a:buNone/>
            </a:pPr>
            <a:r>
              <a:rPr lang="en-US" sz="850" dirty="0">
                <a:solidFill>
                  <a:srgbClr val="0F6E56"/>
                </a:solidFill>
                <a:latin typeface="Arial" pitchFamily="34" charset="0"/>
              </a:rPr>
              <a:t>Node.js runtime  —  /api/upload, /api/analyse, /api/forum, /api/salesforce/status, /api/seed-patterns</a:t>
            </a:r>
          </a:p>
        </p:txBody>
      </p:sp>
      <p:cxnSp>
        <p:nvCxnSpPr>
          <p:cNvPr id="13" name="Arrow2"/>
          <p:cNvCxnSpPr/>
          <p:nvPr/>
        </p:nvCxnSpPr>
        <p:spPr>
          <a:xfrm>
            <a:off x="4557000" y="1690000"/>
            <a:ext cx="0" cy="90000"/>
          </a:xfrm>
          <a:prstGeom prst="straightConnector1">
            <a:avLst/>
          </a:prstGeom>
          <a:ln w="15875">
            <a:solidFill>
              <a:srgbClr val="888780"/>
            </a:solidFill>
            <a:tailEnd type="triangle" w="med" len="med"/>
          </a:ln>
        </p:spPr>
      </p:cxnSp>
      <p:sp>
        <p:nvSpPr>
          <p:cNvPr id="14" name="L3Bg"/>
          <p:cNvSpPr/>
          <p:nvPr/>
        </p:nvSpPr>
        <p:spPr>
          <a:xfrm>
            <a:off x="411480" y="1780000"/>
            <a:ext cx="8291040" cy="420000"/>
          </a:xfrm>
          <a:prstGeom prst="roundRect">
            <a:avLst>
              <a:gd name="adj" fmla="val 8000"/>
            </a:avLst>
          </a:prstGeom>
          <a:solidFill>
            <a:srgbClr val="EEEDFE"/>
          </a:solidFill>
          <a:ln w="6350">
            <a:solidFill>
              <a:srgbClr val="534AB7"/>
            </a:solidFill>
          </a:ln>
        </p:spPr>
        <p:txBody>
          <a:bodyPr wrap="square" lIns="140000" tIns="60000" anchor="t"/>
          <a:lstStyle/>
          <a:p>
            <a:pPr marL="0" indent="0">
              <a:buNone/>
            </a:pPr>
            <a:r>
              <a:rPr lang="en-US" sz="1100" b="1" dirty="0">
                <a:solidFill>
                  <a:srgbClr val="3C3489"/>
                </a:solidFill>
                <a:latin typeface="Arial" pitchFamily="34" charset="0"/>
              </a:rPr>
              <a:t>ForumOrchestrator.ts</a:t>
            </a:r>
          </a:p>
          <a:p>
            <a:pPr marL="0" indent="0">
              <a:buNone/>
            </a:pPr>
            <a:r>
              <a:rPr lang="en-US" sz="850" dirty="0">
                <a:solidFill>
                  <a:srgbClr val="534AB7"/>
                </a:solidFill>
                <a:latin typeface="Arial" pitchFamily="34" charset="0"/>
              </a:rPr>
              <a:t>ImpactAnalyser  ·  retrieveMemory + retrieveOrgLearnings  ·  contextInjector.ts</a:t>
            </a:r>
          </a:p>
        </p:txBody>
      </p:sp>
      <p:cxnSp>
        <p:nvCxnSpPr>
          <p:cNvPr id="15" name="Arrow3"/>
          <p:cNvCxnSpPr/>
          <p:nvPr/>
        </p:nvCxnSpPr>
        <p:spPr>
          <a:xfrm>
            <a:off x="4557000" y="2200000"/>
            <a:ext cx="0" cy="90000"/>
          </a:xfrm>
          <a:prstGeom prst="straightConnector1">
            <a:avLst/>
          </a:prstGeom>
          <a:ln w="15875">
            <a:solidFill>
              <a:srgbClr val="888780"/>
            </a:solidFill>
            <a:tailEnd type="triangle" w="med" len="med"/>
          </a:ln>
        </p:spPr>
      </p:cxnSp>
      <p:sp>
        <p:nvSpPr>
          <p:cNvPr id="16" name="L4Bg"/>
          <p:cNvSpPr/>
          <p:nvPr/>
        </p:nvSpPr>
        <p:spPr>
          <a:xfrm>
            <a:off x="411480" y="2290000"/>
            <a:ext cx="8291040" cy="560000"/>
          </a:xfrm>
          <a:prstGeom prst="roundRect">
            <a:avLst>
              <a:gd name="adj" fmla="val 6000"/>
            </a:avLst>
          </a:prstGeom>
          <a:solidFill>
            <a:srgbClr val="FAECE7"/>
          </a:solidFill>
          <a:ln w="6350">
            <a:solidFill>
              <a:srgbClr val="D85A30"/>
            </a:solidFill>
          </a:ln>
        </p:spPr>
        <p:txBody>
          <a:bodyPr wrap="square" lIns="140000" tIns="60000" anchor="t"/>
          <a:lstStyle/>
          <a:p>
            <a:pPr marL="0" indent="0">
              <a:buNone/>
            </a:pPr>
            <a:r>
              <a:rPr lang="en-US" sz="1100" b="1" dirty="0">
                <a:solidFill>
                  <a:srgbClr val="712B13"/>
                </a:solidFill>
                <a:latin typeface="Arial" pitchFamily="34" charset="0"/>
              </a:rPr>
              <a:t>Agent pipeline — 9 specialists, sequential</a:t>
            </a:r>
          </a:p>
          <a:p>
            <a:pPr marL="0" indent="0">
              <a:buNone/>
            </a:pPr>
            <a:r>
              <a:rPr lang="en-US" sz="850" dirty="0">
                <a:solidFill>
                  <a:srgbClr val="993C1D"/>
                </a:solidFill>
                <a:latin typeface="Arial" pitchFamily="34" charset="0"/>
              </a:rPr>
              <a:t>Designer → Apex → LWC → Flow → OmniStudio → Integration → Patterns → Judge → Scribe → Learner</a:t>
            </a:r>
          </a:p>
          <a:p>
            <a:pPr marL="0" indent="0">
              <a:buNone/>
            </a:pPr>
            <a:r>
              <a:rPr lang="en-US" sz="850" i="1" dirty="0">
                <a:solidFill>
                  <a:srgbClr val="993C1D"/>
                </a:solidFill>
                <a:latin typeface="Arial" pitchFamily="34" charset="0"/>
              </a:rPr>
              <a:t>Each agent call is a single Anthropic API request — output of one feeds the next</a:t>
            </a:r>
          </a:p>
        </p:txBody>
      </p:sp>
      <p:cxnSp>
        <p:nvCxnSpPr>
          <p:cNvPr id="17" name="Arrow4a"/>
          <p:cNvCxnSpPr/>
          <p:nvPr/>
        </p:nvCxnSpPr>
        <p:spPr>
          <a:xfrm>
            <a:off x="1700000" y="2850000"/>
            <a:ext cx="0" cy="100000"/>
          </a:xfrm>
          <a:prstGeom prst="straightConnector1">
            <a:avLst/>
          </a:prstGeom>
          <a:ln w="15875">
            <a:solidFill>
              <a:srgbClr val="888780"/>
            </a:solidFill>
            <a:tailEnd type="triangle" w="med" len="med"/>
          </a:ln>
        </p:spPr>
      </p:cxnSp>
      <p:cxnSp>
        <p:nvCxnSpPr>
          <p:cNvPr id="18" name="Arrow4b"/>
          <p:cNvCxnSpPr/>
          <p:nvPr/>
        </p:nvCxnSpPr>
        <p:spPr>
          <a:xfrm>
            <a:off x="4557000" y="2850000"/>
            <a:ext cx="0" cy="100000"/>
          </a:xfrm>
          <a:prstGeom prst="straightConnector1">
            <a:avLst/>
          </a:prstGeom>
          <a:ln w="15875">
            <a:solidFill>
              <a:srgbClr val="888780"/>
            </a:solidFill>
            <a:tailEnd type="triangle" w="med" len="med"/>
          </a:ln>
        </p:spPr>
      </p:cxnSp>
      <p:cxnSp>
        <p:nvCxnSpPr>
          <p:cNvPr id="19" name="Arrow4c"/>
          <p:cNvCxnSpPr/>
          <p:nvPr/>
        </p:nvCxnSpPr>
        <p:spPr>
          <a:xfrm>
            <a:off x="7400000" y="2850000"/>
            <a:ext cx="0" cy="100000"/>
          </a:xfrm>
          <a:prstGeom prst="straightConnector1">
            <a:avLst/>
          </a:prstGeom>
          <a:ln w="15875">
            <a:solidFill>
              <a:srgbClr val="888780"/>
            </a:solidFill>
            <a:tailEnd type="triangle" w="med" len="med"/>
          </a:ln>
        </p:spPr>
      </p:cxnSp>
      <p:sp>
        <p:nvSpPr>
          <p:cNvPr id="20" name="SvcAnthropic"/>
          <p:cNvSpPr/>
          <p:nvPr/>
        </p:nvSpPr>
        <p:spPr>
          <a:xfrm>
            <a:off x="411480" y="2950000"/>
            <a:ext cx="2651760" cy="780000"/>
          </a:xfrm>
          <a:prstGeom prst="roundRect">
            <a:avLst>
              <a:gd name="adj" fmla="val 6000"/>
            </a:avLst>
          </a:prstGeom>
          <a:solidFill>
            <a:srgbClr val="EAF3DE"/>
          </a:solidFill>
          <a:ln w="6350">
            <a:solidFill>
              <a:srgbClr val="639922"/>
            </a:solidFill>
          </a:ln>
        </p:spPr>
        <p:txBody>
          <a:bodyPr wrap="square" lIns="120000" tIns="80000" anchor="t"/>
          <a:lstStyle/>
          <a:p>
            <a:pPr marL="0" indent="0" algn="ctr">
              <a:buNone/>
            </a:pPr>
            <a:r>
              <a:rPr lang="en-US" sz="1050" b="1" dirty="0">
                <a:solidFill>
                  <a:srgbClr val="27500A"/>
                </a:solidFill>
                <a:latin typeface="Arial" pitchFamily="34" charset="0"/>
              </a:rPr>
              <a:t>Anthropic API</a:t>
            </a:r>
          </a:p>
          <a:p>
            <a:pPr marL="0" indent="0" algn="ctr">
              <a:buNone/>
            </a:pPr>
            <a:r>
              <a:rPr lang="en-US" sz="850" dirty="0">
                <a:solidFill>
                  <a:srgbClr val="3B6D11"/>
                </a:solidFill>
                <a:latin typeface="Arial" pitchFamily="34" charset="0"/>
              </a:rPr>
              <a:t>Claude Sonnet</a:t>
            </a:r>
          </a:p>
          <a:p>
            <a:pPr marL="0" indent="0" algn="ctr">
              <a:buNone/>
            </a:pPr>
            <a:r>
              <a:rPr lang="en-US" sz="850" dirty="0">
                <a:solidFill>
                  <a:srgbClr val="3B6D11"/>
                </a:solidFill>
                <a:latin typeface="Arial" pitchFamily="34" charset="0"/>
              </a:rPr>
              <a:t>9 sequential calls / session</a:t>
            </a:r>
          </a:p>
          <a:p>
            <a:pPr marL="0" indent="0" algn="ctr">
              <a:buNone/>
            </a:pPr>
            <a:r>
              <a:rPr lang="en-US" sz="850" dirty="0">
                <a:solidFill>
                  <a:srgbClr val="3B6D11"/>
                </a:solidFill>
                <a:latin typeface="Arial" pitchFamily="34" charset="0"/>
              </a:rPr>
              <a:t>Mock / Live toggle</a:t>
            </a:r>
          </a:p>
        </p:txBody>
      </p:sp>
      <p:sp>
        <p:nvSpPr>
          <p:cNvPr id="21" name="SvcSupabase"/>
          <p:cNvSpPr/>
          <p:nvPr/>
        </p:nvSpPr>
        <p:spPr>
          <a:xfrm>
            <a:off x="3227832" y="2950000"/>
            <a:ext cx="2651760" cy="780000"/>
          </a:xfrm>
          <a:prstGeom prst="roundRect">
            <a:avLst>
              <a:gd name="adj" fmla="val 6000"/>
            </a:avLst>
          </a:prstGeom>
          <a:solidFill>
            <a:srgbClr val="FAEEDA"/>
          </a:solidFill>
          <a:ln w="6350">
            <a:solidFill>
              <a:srgbClr val="BA7517"/>
            </a:solidFill>
          </a:ln>
        </p:spPr>
        <p:txBody>
          <a:bodyPr wrap="square" lIns="120000" tIns="80000" anchor="t"/>
          <a:lstStyle/>
          <a:p>
            <a:pPr marL="0" indent="0" algn="ctr">
              <a:buNone/>
            </a:pPr>
            <a:r>
              <a:rPr lang="en-US" sz="1050" b="1" dirty="0">
                <a:solidFill>
                  <a:srgbClr val="633806"/>
                </a:solidFill>
                <a:latin typeface="Arial" pitchFamily="34" charset="0"/>
              </a:rPr>
              <a:t>Supabase</a:t>
            </a:r>
          </a:p>
          <a:p>
            <a:pPr marL="0" indent="0" algn="ctr">
              <a:buNone/>
            </a:pPr>
            <a:r>
              <a:rPr lang="en-US" sz="850" dirty="0">
                <a:solidFill>
                  <a:srgbClr val="854F0B"/>
                </a:solidFill>
                <a:latin typeface="Arial" pitchFamily="34" charset="0"/>
              </a:rPr>
              <a:t>failure_patterns</a:t>
            </a:r>
          </a:p>
          <a:p>
            <a:pPr marL="0" indent="0" algn="ctr">
              <a:buNone/>
            </a:pPr>
            <a:r>
              <a:rPr lang="en-US" sz="850" dirty="0">
                <a:solidFill>
                  <a:srgbClr val="854F0B"/>
                </a:solidFill>
                <a:latin typeface="Arial" pitchFamily="34" charset="0"/>
              </a:rPr>
              <a:t>org_learnings</a:t>
            </a:r>
          </a:p>
          <a:p>
            <a:pPr marL="0" indent="0" algn="ctr">
              <a:buNone/>
            </a:pPr>
            <a:r>
              <a:rPr lang="en-US" sz="850" dirty="0">
                <a:solidFill>
                  <a:srgbClr val="854F0B"/>
                </a:solidFill>
                <a:latin typeface="Arial" pitchFamily="34" charset="0"/>
              </a:rPr>
              <a:t>sessions · signoffs</a:t>
            </a:r>
          </a:p>
        </p:txBody>
      </p:sp>
      <p:sp>
        <p:nvSpPr>
          <p:cNvPr id="22" name="SvcJira"/>
          <p:cNvSpPr/>
          <p:nvPr/>
        </p:nvSpPr>
        <p:spPr>
          <a:xfrm>
            <a:off x="6044184" y="2950000"/>
            <a:ext cx="2658336" cy="780000"/>
          </a:xfrm>
          <a:prstGeom prst="roundRect">
            <a:avLst>
              <a:gd name="adj" fmla="val 6000"/>
            </a:avLst>
          </a:prstGeom>
          <a:solidFill>
            <a:srgbClr val="FBEAF0"/>
          </a:solidFill>
          <a:ln w="6350">
            <a:solidFill>
              <a:srgbClr val="D4537E"/>
            </a:solidFill>
          </a:ln>
        </p:spPr>
        <p:txBody>
          <a:bodyPr wrap="square" lIns="120000" tIns="80000" anchor="t"/>
          <a:lstStyle/>
          <a:p>
            <a:pPr marL="0" indent="0" algn="ctr">
              <a:buNone/>
            </a:pPr>
            <a:r>
              <a:rPr lang="en-US" sz="1050" b="1" dirty="0">
                <a:solidFill>
                  <a:srgbClr val="4B1528"/>
                </a:solidFill>
                <a:latin typeface="Arial" pitchFamily="34" charset="0"/>
              </a:rPr>
              <a:t>Jira</a:t>
            </a:r>
          </a:p>
          <a:p>
            <a:pPr marL="0" indent="0" algn="ctr">
              <a:buNone/>
            </a:pPr>
            <a:r>
              <a:rPr lang="en-US" sz="850" dirty="0">
                <a:solidFill>
                  <a:srgbClr val="72243E"/>
                </a:solidFill>
                <a:latin typeface="Arial" pitchFamily="34" charset="0"/>
              </a:rPr>
              <a:t>Project ARBOARD</a:t>
            </a:r>
          </a:p>
          <a:p>
            <a:pPr marL="0" indent="0" algn="ctr">
              <a:buNone/>
            </a:pPr>
            <a:r>
              <a:rPr lang="en-US" sz="850" dirty="0">
                <a:solidFill>
                  <a:srgbClr val="72243E"/>
                </a:solidFill>
                <a:latin typeface="Arial" pitchFamily="34" charset="0"/>
              </a:rPr>
              <a:t>ADR storage</a:t>
            </a:r>
          </a:p>
          <a:p>
            <a:pPr marL="0" indent="0" algn="ctr">
              <a:buNone/>
            </a:pPr>
            <a:r>
              <a:rPr lang="en-US" sz="850" dirty="0">
                <a:solidFill>
                  <a:srgbClr val="72243E"/>
                </a:solidFill>
                <a:latin typeface="Arial" pitchFamily="34" charset="0"/>
              </a:rPr>
              <a:t>JQL retrieval</a:t>
            </a:r>
          </a:p>
        </p:txBody>
      </p:sp>
      <p:cxnSp>
        <p:nvCxnSpPr>
          <p:cNvPr id="23" name="Arrow5"/>
          <p:cNvCxnSpPr/>
          <p:nvPr/>
        </p:nvCxnSpPr>
        <p:spPr>
          <a:xfrm>
            <a:off x="4557000" y="3730000"/>
            <a:ext cx="0" cy="100000"/>
          </a:xfrm>
          <a:prstGeom prst="straightConnector1">
            <a:avLst/>
          </a:prstGeom>
          <a:ln w="15875">
            <a:solidFill>
              <a:srgbClr val="888780"/>
            </a:solidFill>
            <a:tailEnd type="triangle" w="med" len="med"/>
          </a:ln>
        </p:spPr>
      </p:cxnSp>
      <p:sp>
        <p:nvSpPr>
          <p:cNvPr id="24" name="FooterBg"/>
          <p:cNvSpPr/>
          <p:nvPr/>
        </p:nvSpPr>
        <p:spPr>
          <a:xfrm>
            <a:off x="411480" y="3830000"/>
            <a:ext cx="8291040" cy="380000"/>
          </a:xfrm>
          <a:prstGeom prst="roundRect">
            <a:avLst>
              <a:gd name="adj" fmla="val 8000"/>
            </a:avLst>
          </a:prstGeom>
          <a:solidFill>
            <a:srgbClr val="F1EFE8"/>
          </a:solidFill>
          <a:ln w="6350">
            <a:solidFill>
              <a:srgbClr val="B4B2A9"/>
            </a:solidFill>
          </a:ln>
        </p:spPr>
        <p:txBody>
          <a:bodyPr wrap="square" lIns="140000" anchor="ctr"/>
          <a:lstStyle/>
          <a:p>
            <a:pPr marL="0" indent="0">
              <a:buNone/>
            </a:pPr>
            <a:r>
              <a:rPr lang="en-US" sz="950" b="1" dirty="0">
                <a:solidFill>
                  <a:srgbClr val="2C2C2A"/>
                </a:solidFill>
                <a:latin typeface="Arial" pitchFamily="34" charset="0"/>
              </a:rPr>
              <a:t>Salesforce org connectivity:  </a:t>
            </a:r>
            <a:r>
              <a:rPr lang="en-US" sz="850" dirty="0">
                <a:solidFill>
                  <a:srgbClr val="5F5E5A"/>
                </a:solidFill>
                <a:latin typeface="Arial" pitchFamily="34" charset="0"/>
              </a:rPr>
              <a:t>Hosted MCP gateway → jsforce fallback — live metadata for grounding</a:t>
            </a:r>
          </a:p>
        </p:txBody>
      </p:sp>
      <p:sp>
        <p:nvSpPr>
          <p:cNvPr id="25" name="DeployFooter"/>
          <p:cNvSpPr/>
          <p:nvPr/>
        </p:nvSpPr>
        <p:spPr>
          <a:xfrm>
            <a:off x="411480" y="4260000"/>
            <a:ext cx="8291040" cy="220000"/>
          </a:xfrm>
          <a:prstGeom prst="rect">
            <a:avLst/>
          </a:prstGeom>
          <a:noFill/>
          <a:ln/>
        </p:spPr>
        <p:txBody>
          <a:bodyPr wrap="square" lIns="140000" anchor="ctr"/>
          <a:lstStyle/>
          <a:p>
            <a:pPr marL="0" indent="0" algn="ctr">
              <a:buNone/>
            </a:pPr>
            <a:r>
              <a:rPr lang="en-US" sz="800" i="1" dirty="0">
                <a:solidFill>
                  <a:srgbClr val="888780"/>
                </a:solidFill>
                <a:latin typeface="Arial" pitchFamily="34" charset="0"/>
              </a:rPr>
              <a:t>Deployed on Vercel — arboard.vercel.app</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2628</Words>
  <Application>Microsoft Office PowerPoint</Application>
  <PresentationFormat>On-screen Show (16:9)</PresentationFormat>
  <Paragraphs>451</Paragraphs>
  <Slides>20</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ARBoard — AI Architecture Review Board</dc:title>
  <dc:subject>PptxGenJS Presentation</dc:subject>
  <dc:creator>PptxGenJS</dc:creator>
  <cp:lastModifiedBy>Ganapatineedi, Rama</cp:lastModifiedBy>
  <cp:revision>2</cp:revision>
  <dcterms:created xsi:type="dcterms:W3CDTF">2026-06-27T03:16:30Z</dcterms:created>
  <dcterms:modified xsi:type="dcterms:W3CDTF">2026-06-30T06:14:21Z</dcterms:modified>
</cp:coreProperties>
</file>